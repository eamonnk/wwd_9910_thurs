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9144000"/>
  <p:notesSz cx="6858000" cy="9144000"/>
  <p:embeddedFontLst>
    <p:embeddedFont>
      <p:font typeface="Century Gothic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6" roundtripDataSignature="AMtx7mhQa5eAjyYL5e1ssi2UXnHRv+Gy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3D67C7B-5864-428A-B7D4-863B7755D205}">
  <a:tblStyle styleId="{B3D67C7B-5864-428A-B7D4-863B7755D20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F8747621-2962-4D52-A1C6-6E0ACD8E1043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CenturyGothic-regular.fntdata"/><Relationship Id="rId21" Type="http://schemas.openxmlformats.org/officeDocument/2006/relationships/slide" Target="slides/slide15.xml"/><Relationship Id="rId24" Type="http://schemas.openxmlformats.org/officeDocument/2006/relationships/font" Target="fonts/CenturyGothic-italic.fntdata"/><Relationship Id="rId23" Type="http://schemas.openxmlformats.org/officeDocument/2006/relationships/font" Target="fonts/CenturyGothic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customschemas.google.com/relationships/presentationmetadata" Target="metadata"/><Relationship Id="rId25" Type="http://schemas.openxmlformats.org/officeDocument/2006/relationships/font" Target="fonts/CenturyGothic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7de33efbdc_0_0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g27de33efbd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7de33efbdc_0_5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g27de33efbdc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7de33efbdc_0_6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g27de33efbdc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2462e055bf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2462e055b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7c8b48f772_0_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g37c8b48f77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5"/>
          <p:cNvSpPr txBox="1"/>
          <p:nvPr>
            <p:ph type="ctrTitle"/>
          </p:nvPr>
        </p:nvSpPr>
        <p:spPr>
          <a:xfrm>
            <a:off x="311700" y="925567"/>
            <a:ext cx="8520600" cy="2304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15"/>
          <p:cNvSpPr txBox="1"/>
          <p:nvPr>
            <p:ph idx="1" type="subTitle"/>
          </p:nvPr>
        </p:nvSpPr>
        <p:spPr>
          <a:xfrm>
            <a:off x="311700" y="3629900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15"/>
          <p:cNvSpPr txBox="1"/>
          <p:nvPr>
            <p:ph idx="12" type="sldNum"/>
          </p:nvPr>
        </p:nvSpPr>
        <p:spPr>
          <a:xfrm>
            <a:off x="84760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2000"/>
          </a:p>
        </p:txBody>
      </p:sp>
      <p:sp>
        <p:nvSpPr>
          <p:cNvPr id="14" name="Google Shape;14;p15"/>
          <p:cNvSpPr txBox="1"/>
          <p:nvPr>
            <p:ph idx="2" type="subTitle"/>
          </p:nvPr>
        </p:nvSpPr>
        <p:spPr>
          <a:xfrm>
            <a:off x="279775" y="4860867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">
  <p:cSld name="TITLE_AND_BODY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8" name="Google Shape;18;p16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7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1" name="Google Shape;21;p17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4" name="Google Shape;24;p18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8" name="Google Shape;28;p19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20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20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2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" name="Google Shape;39;p22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p22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3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3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4" name="Google Shape;44;p23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5" name="Google Shape;45;p23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6" name="Google Shape;46;p23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4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</a:lstStyle>
          <a:p/>
        </p:txBody>
      </p:sp>
      <p:sp>
        <p:nvSpPr>
          <p:cNvPr id="49" name="Google Shape;49;p24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5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p25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429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Char char="●"/>
              <a:defRPr b="0" i="0" sz="2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2600"/>
          </a:p>
        </p:txBody>
      </p:sp>
      <p:sp>
        <p:nvSpPr>
          <p:cNvPr id="9" name="Google Shape;9;p14"/>
          <p:cNvSpPr/>
          <p:nvPr/>
        </p:nvSpPr>
        <p:spPr>
          <a:xfrm>
            <a:off x="0" y="6542800"/>
            <a:ext cx="9140400" cy="3153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ites.google.com/mydit.ie/msccomputing/msc-dissertation?authuser=0" TargetMode="External"/><Relationship Id="rId4" Type="http://schemas.openxmlformats.org/officeDocument/2006/relationships/hyperlink" Target="http://lucasrizzo.com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mailto:lucas.rizzo@tudublin.ie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r4ds.had.co.nz/" TargetMode="External"/><Relationship Id="rId4" Type="http://schemas.openxmlformats.org/officeDocument/2006/relationships/hyperlink" Target="https://bookdown.org/rdpeng/rprogdatascience/" TargetMode="External"/><Relationship Id="rId5" Type="http://schemas.openxmlformats.org/officeDocument/2006/relationships/hyperlink" Target="https://wesmckinney.com/book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rstudio-education.github.io/hopr/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www.datacamp.com/" TargetMode="External"/><Relationship Id="rId4" Type="http://schemas.openxmlformats.org/officeDocument/2006/relationships/hyperlink" Target="https://www.datacamp.com/groups/shared_links/a5c5ef3c830e553a96bdf3364c75c7326015338026e31eb4cc16b1aa3a1d1945" TargetMode="External"/><Relationship Id="rId9" Type="http://schemas.openxmlformats.org/officeDocument/2006/relationships/hyperlink" Target="https://learn.datacamp.com/courses/web-scraping-in-r" TargetMode="External"/><Relationship Id="rId5" Type="http://schemas.openxmlformats.org/officeDocument/2006/relationships/hyperlink" Target="https://learn.datacamp.com/courses/intro-to-python-for-data-science" TargetMode="External"/><Relationship Id="rId6" Type="http://schemas.openxmlformats.org/officeDocument/2006/relationships/hyperlink" Target="https://learn.datacamp.com/courses/intermediate-python" TargetMode="External"/><Relationship Id="rId7" Type="http://schemas.openxmlformats.org/officeDocument/2006/relationships/hyperlink" Target="https://learn.datacamp.com/courses/free-introduction-to-r" TargetMode="External"/><Relationship Id="rId8" Type="http://schemas.openxmlformats.org/officeDocument/2006/relationships/hyperlink" Target="https://learn.datacamp.com/courses/introduction-to-importing-data-in-r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"/>
          <p:cNvSpPr txBox="1"/>
          <p:nvPr>
            <p:ph type="ctrTitle"/>
          </p:nvPr>
        </p:nvSpPr>
        <p:spPr>
          <a:xfrm>
            <a:off x="311700" y="925567"/>
            <a:ext cx="8520600" cy="2304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lang="en-GB"/>
              <a:t>Working With Data DATA9910</a:t>
            </a:r>
            <a:endParaRPr/>
          </a:p>
        </p:txBody>
      </p:sp>
      <p:sp>
        <p:nvSpPr>
          <p:cNvPr id="61" name="Google Shape;61;p1"/>
          <p:cNvSpPr txBox="1"/>
          <p:nvPr>
            <p:ph idx="1" type="subTitle"/>
          </p:nvPr>
        </p:nvSpPr>
        <p:spPr>
          <a:xfrm>
            <a:off x="311700" y="3803975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Lucas Rizzo</a:t>
            </a:r>
            <a:endParaRPr/>
          </a:p>
        </p:txBody>
      </p:sp>
      <p:pic>
        <p:nvPicPr>
          <p:cNvPr id="62" name="Google Shape;6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52375" y="3749896"/>
            <a:ext cx="3379925" cy="212777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"/>
          <p:cNvSpPr txBox="1"/>
          <p:nvPr>
            <p:ph idx="2" type="subTitle"/>
          </p:nvPr>
        </p:nvSpPr>
        <p:spPr>
          <a:xfrm>
            <a:off x="279775" y="4860867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/>
              <a:t>email: lucas.rizzo@tudublin.ie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About me	</a:t>
            </a:r>
            <a:endParaRPr/>
          </a:p>
        </p:txBody>
      </p:sp>
      <p:sp>
        <p:nvSpPr>
          <p:cNvPr id="69" name="Google Shape;69;p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5782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TU Dublin lecturer since 2020.</a:t>
            </a:r>
            <a:br>
              <a:rPr lang="en-GB"/>
            </a:br>
            <a:endParaRPr/>
          </a:p>
          <a:p>
            <a:pPr indent="-35782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MSc coordinator. Any questions about dissertation proposals give me a shout or check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MSc dissertation website</a:t>
            </a:r>
            <a:r>
              <a:rPr lang="en-GB"/>
              <a:t>.</a:t>
            </a:r>
            <a:br>
              <a:rPr lang="en-GB"/>
            </a:br>
            <a:endParaRPr/>
          </a:p>
          <a:p>
            <a:pPr indent="-35782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I’m from Belo Horizonte - Brazil and I have been living in Dublin since 2015.</a:t>
            </a:r>
            <a:br>
              <a:rPr lang="en-GB"/>
            </a:br>
            <a:endParaRPr/>
          </a:p>
          <a:p>
            <a:pPr indent="-35782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My research focus is on Artificial Intelligence, more specifically automated reasoning and computational models of argument.</a:t>
            </a:r>
            <a:br>
              <a:rPr lang="en-GB"/>
            </a:br>
            <a:endParaRPr/>
          </a:p>
          <a:p>
            <a:pPr indent="-357822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2325"/>
              <a:buChar char="○"/>
            </a:pPr>
            <a:r>
              <a:rPr lang="en-GB" sz="2150"/>
              <a:t>If you are interested in these topics you can have a look at my </a:t>
            </a:r>
            <a:r>
              <a:rPr lang="en-GB" sz="2150" u="sng">
                <a:solidFill>
                  <a:schemeClr val="hlink"/>
                </a:solidFill>
                <a:hlinkClick r:id="rId4"/>
              </a:rPr>
              <a:t>website</a:t>
            </a:r>
            <a:r>
              <a:rPr lang="en-GB" sz="2150"/>
              <a:t>.</a:t>
            </a:r>
            <a:br>
              <a:rPr lang="en-GB"/>
            </a:b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7de33efbdc_0_0"/>
          <p:cNvSpPr txBox="1"/>
          <p:nvPr>
            <p:ph type="title"/>
          </p:nvPr>
        </p:nvSpPr>
        <p:spPr>
          <a:xfrm>
            <a:off x="395850" y="559692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Lectures	</a:t>
            </a:r>
            <a:endParaRPr/>
          </a:p>
        </p:txBody>
      </p:sp>
      <p:sp>
        <p:nvSpPr>
          <p:cNvPr id="76" name="Google Shape;76;g27de33efbdc_0_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Full-time programme TU059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Mondays 16:00-18:00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Wednesdays 11:00-13:00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en-GB"/>
              <a:t>All classes and labs onsite (unless otherwise stated)</a:t>
            </a:r>
            <a:br>
              <a:rPr lang="en-GB"/>
            </a:b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Part-time programme TU060 and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Science Certificate TU256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Thursdays 18:00-22:00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en-GB"/>
              <a:t>Onsite CQ007 (and mirror online) Week 1, Week 6, and Week 13</a:t>
            </a:r>
            <a:endParaRPr b="1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en-GB"/>
              <a:t>Online classes, Week 2-5, Week 7-12</a:t>
            </a:r>
            <a:endParaRPr/>
          </a:p>
        </p:txBody>
      </p:sp>
      <p:sp>
        <p:nvSpPr>
          <p:cNvPr id="77" name="Google Shape;77;g27de33efbdc_0_0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Communication statement</a:t>
            </a:r>
            <a:endParaRPr/>
          </a:p>
        </p:txBody>
      </p:sp>
      <p:sp>
        <p:nvSpPr>
          <p:cNvPr id="83" name="Google Shape;83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617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5"/>
              <a:buChar char="●"/>
            </a:pPr>
            <a:r>
              <a:rPr lang="en-GB" sz="2205"/>
              <a:t>Outside class hours, we should communicate primarily through email: </a:t>
            </a:r>
            <a:r>
              <a:rPr lang="en-GB" sz="2205" u="sng">
                <a:solidFill>
                  <a:schemeClr val="hlink"/>
                </a:solidFill>
                <a:hlinkClick r:id="rId3"/>
              </a:rPr>
              <a:t>lucas.rizzo@tudublin.ie</a:t>
            </a:r>
            <a:br>
              <a:rPr lang="en-GB" sz="2205"/>
            </a:br>
            <a:endParaRPr sz="2205"/>
          </a:p>
          <a:p>
            <a:pPr indent="-368617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5"/>
              <a:buChar char="●"/>
            </a:pPr>
            <a:r>
              <a:rPr lang="en-GB" sz="2205"/>
              <a:t>You can send me emails any time, and it should be answered in 1 or 2 days maximum.</a:t>
            </a:r>
            <a:br>
              <a:rPr lang="en-GB" sz="2205"/>
            </a:br>
            <a:endParaRPr sz="2205"/>
          </a:p>
          <a:p>
            <a:pPr indent="-368617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5"/>
              <a:buChar char="●"/>
            </a:pPr>
            <a:r>
              <a:rPr lang="en-GB" sz="2205"/>
              <a:t>Pay attention to </a:t>
            </a:r>
            <a:r>
              <a:rPr b="1" lang="en-GB" sz="2205"/>
              <a:t>emails </a:t>
            </a:r>
            <a:r>
              <a:rPr lang="en-GB" sz="2205"/>
              <a:t>and </a:t>
            </a:r>
            <a:r>
              <a:rPr b="1" lang="en-GB" sz="2205"/>
              <a:t>announcements</a:t>
            </a:r>
            <a:r>
              <a:rPr lang="en-GB" sz="2205"/>
              <a:t> for this module in </a:t>
            </a:r>
            <a:r>
              <a:rPr b="1" lang="en-GB" sz="2205"/>
              <a:t>Brightspace</a:t>
            </a:r>
            <a:r>
              <a:rPr lang="en-GB" sz="2205"/>
              <a:t>! That is how I will let you know about updates or any recent changes in the module.</a:t>
            </a:r>
            <a:br>
              <a:rPr lang="en-GB" sz="2205"/>
            </a:br>
            <a:endParaRPr sz="220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t/>
            </a:r>
            <a:endParaRPr sz="220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 sz="2205"/>
          </a:p>
        </p:txBody>
      </p:sp>
      <p:sp>
        <p:nvSpPr>
          <p:cNvPr id="84" name="Google Shape;84;p4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Online material</a:t>
            </a:r>
            <a:endParaRPr/>
          </a:p>
        </p:txBody>
      </p:sp>
      <p:sp>
        <p:nvSpPr>
          <p:cNvPr id="90" name="Google Shape;90;p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Materials available through Brightspace</a:t>
            </a:r>
            <a:br>
              <a:rPr lang="en-GB"/>
            </a:b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Search for Working with Data DATA9910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Lecturer Lucas Rizzo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en-GB"/>
              <a:t>Be sure to enroll in the right programme, </a:t>
            </a:r>
            <a:r>
              <a:rPr b="1" lang="en-GB">
                <a:solidFill>
                  <a:srgbClr val="FF0000"/>
                </a:solidFill>
              </a:rPr>
              <a:t>TU059</a:t>
            </a:r>
            <a:r>
              <a:rPr b="1" lang="en-GB"/>
              <a:t> or </a:t>
            </a:r>
            <a:r>
              <a:rPr b="1" lang="en-GB">
                <a:solidFill>
                  <a:srgbClr val="FF0000"/>
                </a:solidFill>
              </a:rPr>
              <a:t>TU060/256</a:t>
            </a:r>
            <a:r>
              <a:rPr b="1" lang="en-GB"/>
              <a:t> as in the description of the course.</a:t>
            </a:r>
            <a:br>
              <a:rPr b="1" lang="en-GB"/>
            </a:b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91" name="Google Shape;91;p5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7de33efbdc_0_5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Reading list</a:t>
            </a:r>
            <a:endParaRPr/>
          </a:p>
        </p:txBody>
      </p:sp>
      <p:sp>
        <p:nvSpPr>
          <p:cNvPr id="97" name="Google Shape;97;g27de33efbdc_0_5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Essential Reading: </a:t>
            </a:r>
            <a:endParaRPr sz="20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GB" sz="2000"/>
              <a:t>Wickam &amp; Grolemund, </a:t>
            </a:r>
            <a:r>
              <a:rPr i="1" lang="en-GB" sz="2000"/>
              <a:t>R for Data Science</a:t>
            </a:r>
            <a:r>
              <a:rPr lang="en-GB" sz="2000"/>
              <a:t>, O’Reilly Press, 2016. Free at </a:t>
            </a:r>
            <a:r>
              <a:rPr lang="en-GB" sz="2000" u="sng">
                <a:solidFill>
                  <a:schemeClr val="hlink"/>
                </a:solidFill>
                <a:hlinkClick r:id="rId3"/>
              </a:rPr>
              <a:t>https://r4ds.had.co.nz/</a:t>
            </a:r>
            <a:r>
              <a:rPr lang="en-GB" sz="2000"/>
              <a:t> 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GB" sz="2000"/>
              <a:t>Andrew O. Finley, Jeffrey W. Doser, Vince Melfi, </a:t>
            </a:r>
            <a:r>
              <a:rPr i="1" lang="en-GB" sz="2000"/>
              <a:t>R Programming for Data Sciences</a:t>
            </a:r>
            <a:r>
              <a:rPr lang="en-GB" sz="2000"/>
              <a:t>. 2020. Free at </a:t>
            </a:r>
            <a:r>
              <a:rPr lang="en-GB" sz="2000" u="sng">
                <a:solidFill>
                  <a:schemeClr val="hlink"/>
                </a:solidFill>
                <a:hlinkClick r:id="rId4"/>
              </a:rPr>
              <a:t>https://bookdown.org/rdpeng/rprogdatascience/</a:t>
            </a:r>
            <a:r>
              <a:rPr lang="en-GB" sz="2000"/>
              <a:t> 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GB" sz="2000"/>
              <a:t>McKinney, Wes. </a:t>
            </a:r>
            <a:r>
              <a:rPr i="1" lang="en-GB" sz="2000"/>
              <a:t>Python for data analysis: Data wrangling with Pandas, NumPy, and IPython</a:t>
            </a:r>
            <a:r>
              <a:rPr lang="en-GB" sz="2000"/>
              <a:t>. " O'Reilly Media, Inc.", 2022. Open access HTML </a:t>
            </a:r>
            <a:r>
              <a:rPr lang="en-GB" sz="2000" u="sng">
                <a:solidFill>
                  <a:schemeClr val="hlink"/>
                </a:solidFill>
                <a:hlinkClick r:id="rId5"/>
              </a:rPr>
              <a:t>https://wesmckinney.com/book/</a:t>
            </a:r>
            <a:r>
              <a:rPr lang="en-GB" sz="2000"/>
              <a:t> 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98" name="Google Shape;98;g27de33efbdc_0_57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7de33efbdc_0_6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Reading list</a:t>
            </a:r>
            <a:endParaRPr/>
          </a:p>
        </p:txBody>
      </p:sp>
      <p:sp>
        <p:nvSpPr>
          <p:cNvPr id="104" name="Google Shape;104;g27de33efbdc_0_63"/>
          <p:cNvSpPr txBox="1"/>
          <p:nvPr>
            <p:ph idx="1" type="body"/>
          </p:nvPr>
        </p:nvSpPr>
        <p:spPr>
          <a:xfrm>
            <a:off x="311700" y="1308025"/>
            <a:ext cx="52743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Supplemental Reading:</a:t>
            </a:r>
            <a:endParaRPr sz="20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GB" sz="1900"/>
              <a:t>Bruce, Peter, Andrew Bruce, and Peter Gedeck. </a:t>
            </a:r>
            <a:r>
              <a:rPr i="1" lang="en-GB" sz="1900"/>
              <a:t>Practical statistics for data scientists: 50+ essential concepts using R and Python</a:t>
            </a:r>
            <a:r>
              <a:rPr lang="en-GB" sz="1900"/>
              <a:t>. O'Reilly Media, 2020</a:t>
            </a:r>
            <a:endParaRPr sz="1900">
              <a:solidFill>
                <a:srgbClr val="3C78D8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900"/>
              <a:buChar char="●"/>
            </a:pPr>
            <a:r>
              <a:rPr lang="en-GB" sz="1900"/>
              <a:t>Rafael C. Gonzalez, Richard E. Woods., </a:t>
            </a:r>
            <a:r>
              <a:rPr i="1" lang="en-GB" sz="1900"/>
              <a:t>Digital image processing</a:t>
            </a:r>
            <a:r>
              <a:rPr lang="en-GB" sz="1900"/>
              <a:t>, Pearson, 2017 </a:t>
            </a:r>
            <a:endParaRPr sz="1900">
              <a:solidFill>
                <a:srgbClr val="3C78D8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900"/>
              <a:buChar char="●"/>
            </a:pPr>
            <a:r>
              <a:rPr lang="en-GB" sz="1900"/>
              <a:t>Sweigart, </a:t>
            </a:r>
            <a:r>
              <a:rPr i="1" lang="en-GB" sz="1900"/>
              <a:t>Automate the Boring Stuff with Python</a:t>
            </a:r>
            <a:r>
              <a:rPr lang="en-GB" sz="1900"/>
              <a:t>, No Starch Press, 2019 </a:t>
            </a:r>
            <a:endParaRPr sz="1900">
              <a:solidFill>
                <a:srgbClr val="3C78D8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900"/>
              <a:buChar char="●"/>
            </a:pPr>
            <a:r>
              <a:rPr lang="en-GB" sz="1900"/>
              <a:t>Beaulieu, Learning SQL, O’Reilly Media, 2020 </a:t>
            </a:r>
            <a:r>
              <a:rPr i="1" lang="en-GB" sz="1900"/>
              <a:t>Hands on Programming with R</a:t>
            </a:r>
            <a:r>
              <a:rPr lang="en-GB" sz="1900"/>
              <a:t>: free </a:t>
            </a:r>
            <a:r>
              <a:rPr lang="en-GB" sz="1900" u="sng">
                <a:solidFill>
                  <a:schemeClr val="hlink"/>
                </a:solidFill>
                <a:hlinkClick r:id="rId3"/>
              </a:rPr>
              <a:t>here</a:t>
            </a:r>
            <a:r>
              <a:rPr lang="en-GB" sz="1900"/>
              <a:t> 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900"/>
              <a:buChar char="●"/>
            </a:pPr>
            <a:r>
              <a:rPr lang="en-GB" sz="1900"/>
              <a:t>Beaulieu, Learning SQL, O’Reilly Media, 2020</a:t>
            </a:r>
            <a:endParaRPr sz="1900"/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27de33efbdc_0_63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6" name="Google Shape;106;g27de33efbdc_0_63"/>
          <p:cNvSpPr txBox="1"/>
          <p:nvPr>
            <p:ph idx="1" type="body"/>
          </p:nvPr>
        </p:nvSpPr>
        <p:spPr>
          <a:xfrm>
            <a:off x="5152600" y="1779425"/>
            <a:ext cx="3855000" cy="14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3C78D8"/>
                </a:solidFill>
              </a:rPr>
              <a:t>(for those who need a detailed introduction to </a:t>
            </a:r>
            <a:r>
              <a:rPr b="1" lang="en-GB" sz="1600">
                <a:solidFill>
                  <a:srgbClr val="3C78D8"/>
                </a:solidFill>
              </a:rPr>
              <a:t>essential concepts in statistics</a:t>
            </a:r>
            <a:r>
              <a:rPr lang="en-GB" sz="1600">
                <a:solidFill>
                  <a:srgbClr val="3C78D8"/>
                </a:solidFill>
              </a:rPr>
              <a:t>)</a:t>
            </a:r>
            <a:endParaRPr sz="1600">
              <a:solidFill>
                <a:srgbClr val="3C78D8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GB" sz="1600">
                <a:solidFill>
                  <a:srgbClr val="3C78D8"/>
                </a:solidFill>
              </a:rPr>
            </a:br>
            <a:endParaRPr sz="1600"/>
          </a:p>
        </p:txBody>
      </p:sp>
      <p:sp>
        <p:nvSpPr>
          <p:cNvPr id="107" name="Google Shape;107;g27de33efbdc_0_63"/>
          <p:cNvSpPr txBox="1"/>
          <p:nvPr/>
        </p:nvSpPr>
        <p:spPr>
          <a:xfrm>
            <a:off x="5575325" y="3226475"/>
            <a:ext cx="3855000" cy="12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3C78D8"/>
                </a:solidFill>
              </a:rPr>
              <a:t>(for those interested in getting </a:t>
            </a:r>
            <a:br>
              <a:rPr lang="en-GB" sz="1600">
                <a:solidFill>
                  <a:srgbClr val="3C78D8"/>
                </a:solidFill>
              </a:rPr>
            </a:br>
            <a:r>
              <a:rPr lang="en-GB" sz="1600">
                <a:solidFill>
                  <a:srgbClr val="3C78D8"/>
                </a:solidFill>
              </a:rPr>
              <a:t>i</a:t>
            </a:r>
            <a:r>
              <a:rPr lang="en-GB" sz="1600">
                <a:solidFill>
                  <a:srgbClr val="3C78D8"/>
                </a:solidFill>
              </a:rPr>
              <a:t>n-depth</a:t>
            </a:r>
            <a:r>
              <a:rPr lang="en-GB" sz="1600">
                <a:solidFill>
                  <a:srgbClr val="3C78D8"/>
                </a:solidFill>
              </a:rPr>
              <a:t> knowledge of </a:t>
            </a:r>
            <a:r>
              <a:rPr b="1" lang="en-GB" sz="1600">
                <a:solidFill>
                  <a:srgbClr val="3C78D8"/>
                </a:solidFill>
              </a:rPr>
              <a:t>image data</a:t>
            </a:r>
            <a:r>
              <a:rPr lang="en-GB" sz="1600">
                <a:solidFill>
                  <a:srgbClr val="3C78D8"/>
                </a:solidFill>
              </a:rPr>
              <a:t>)</a:t>
            </a:r>
            <a:endParaRPr sz="1600">
              <a:solidFill>
                <a:srgbClr val="3C78D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	</a:t>
            </a:r>
            <a:endParaRPr sz="1600">
              <a:solidFill>
                <a:srgbClr val="3C78D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08" name="Google Shape;108;g27de33efbdc_0_63"/>
          <p:cNvSpPr txBox="1"/>
          <p:nvPr/>
        </p:nvSpPr>
        <p:spPr>
          <a:xfrm>
            <a:off x="5563900" y="4014525"/>
            <a:ext cx="38550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3C78D8"/>
                </a:solidFill>
              </a:rPr>
              <a:t>(for those unfamiliar with </a:t>
            </a:r>
            <a:r>
              <a:rPr b="1" lang="en-GB" sz="1600">
                <a:solidFill>
                  <a:srgbClr val="3C78D8"/>
                </a:solidFill>
              </a:rPr>
              <a:t>Python</a:t>
            </a:r>
            <a:r>
              <a:rPr lang="en-GB" sz="1600">
                <a:solidFill>
                  <a:srgbClr val="3C78D8"/>
                </a:solidFill>
              </a:rPr>
              <a:t>)</a:t>
            </a:r>
            <a:endParaRPr sz="1600">
              <a:solidFill>
                <a:srgbClr val="3C78D8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09" name="Google Shape;109;g27de33efbdc_0_63"/>
          <p:cNvSpPr txBox="1"/>
          <p:nvPr/>
        </p:nvSpPr>
        <p:spPr>
          <a:xfrm>
            <a:off x="5109951" y="4728825"/>
            <a:ext cx="35268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3C78D8"/>
                </a:solidFill>
              </a:rPr>
              <a:t>(for a more practical approach learning </a:t>
            </a:r>
            <a:r>
              <a:rPr b="1" lang="en-GB" sz="1600">
                <a:solidFill>
                  <a:srgbClr val="3C78D8"/>
                </a:solidFill>
              </a:rPr>
              <a:t>R</a:t>
            </a:r>
            <a:r>
              <a:rPr lang="en-GB" sz="1600">
                <a:solidFill>
                  <a:srgbClr val="3C78D8"/>
                </a:solidFill>
              </a:rPr>
              <a:t>)</a:t>
            </a:r>
            <a:endParaRPr sz="1600"/>
          </a:p>
        </p:txBody>
      </p:sp>
      <p:sp>
        <p:nvSpPr>
          <p:cNvPr id="110" name="Google Shape;110;g27de33efbdc_0_63"/>
          <p:cNvSpPr txBox="1"/>
          <p:nvPr/>
        </p:nvSpPr>
        <p:spPr>
          <a:xfrm>
            <a:off x="5102000" y="5863225"/>
            <a:ext cx="3855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3C78D8"/>
                </a:solidFill>
              </a:rPr>
              <a:t>(for those unfamiliar with </a:t>
            </a:r>
            <a:r>
              <a:rPr b="1" lang="en-GB" sz="1600">
                <a:solidFill>
                  <a:srgbClr val="3C78D8"/>
                </a:solidFill>
              </a:rPr>
              <a:t>SQL</a:t>
            </a:r>
            <a:r>
              <a:rPr lang="en-GB" sz="1600">
                <a:solidFill>
                  <a:srgbClr val="3C78D8"/>
                </a:solidFill>
              </a:rPr>
              <a:t>)</a:t>
            </a:r>
            <a:endParaRPr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2462e055bf_0_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Tech Stack</a:t>
            </a:r>
            <a:endParaRPr/>
          </a:p>
        </p:txBody>
      </p:sp>
      <p:sp>
        <p:nvSpPr>
          <p:cNvPr id="116" name="Google Shape;116;g22462e055bf_0_0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117" name="Google Shape;117;g22462e055bf_0_0"/>
          <p:cNvGraphicFramePr/>
          <p:nvPr/>
        </p:nvGraphicFramePr>
        <p:xfrm>
          <a:off x="255800" y="1373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{B3D67C7B-5864-428A-B7D4-863B7755D205}</a:tableStyleId>
              </a:tblPr>
              <a:tblGrid>
                <a:gridCol w="2365700"/>
                <a:gridCol w="1164725"/>
                <a:gridCol w="1151225"/>
                <a:gridCol w="1517350"/>
              </a:tblGrid>
              <a:tr h="3501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600"/>
                        <a:t>Python</a:t>
                      </a:r>
                      <a:endParaRPr b="1" sz="1600"/>
                    </a:p>
                  </a:txBody>
                  <a:tcPr marT="91425" marB="91425" marR="91425" marL="91425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600"/>
                        <a:t>R</a:t>
                      </a:r>
                      <a:endParaRPr b="1" sz="1600"/>
                    </a:p>
                  </a:txBody>
                  <a:tcPr marT="91425" marB="91425" marR="91425" marL="91425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 hMerge="1"/>
              </a:tr>
              <a:tr h="387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pandas </a:t>
                      </a:r>
                      <a:endParaRPr/>
                    </a:p>
                  </a:txBody>
                  <a:tcPr marT="91425" marB="91425" marR="91425" marL="91425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</a:rPr>
                        <a:t>requests </a:t>
                      </a:r>
                      <a:endParaRPr/>
                    </a:p>
                  </a:txBody>
                  <a:tcPr marT="91425" marB="91425" marR="91425" marL="91425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devtools</a:t>
                      </a:r>
                      <a:endParaRPr/>
                    </a:p>
                  </a:txBody>
                  <a:tcPr marT="91425" marB="91425" marR="91425" marL="91425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</a:rPr>
                        <a:t>Rraven</a:t>
                      </a:r>
                      <a:endParaRPr/>
                    </a:p>
                  </a:txBody>
                  <a:tcPr marT="91425" marB="91425" marR="91425" marL="91425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59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matplotlib </a:t>
                      </a:r>
                      <a:endParaRPr/>
                    </a:p>
                  </a:txBody>
                  <a:tcPr marT="91425" marB="91425" marR="91425" marL="91425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</a:rPr>
                        <a:t>scikit-image</a:t>
                      </a:r>
                      <a:endParaRPr/>
                    </a:p>
                  </a:txBody>
                  <a:tcPr marT="91425" marB="91425" marR="91425" marL="91425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warbleR</a:t>
                      </a:r>
                      <a:endParaRPr/>
                    </a:p>
                  </a:txBody>
                  <a:tcPr marT="91425" marB="91425" marR="91425" marL="91425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</a:rPr>
                        <a:t>maps</a:t>
                      </a:r>
                      <a:endParaRPr/>
                    </a:p>
                  </a:txBody>
                  <a:tcPr marT="91425" marB="91425" marR="91425" marL="91425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91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numpy </a:t>
                      </a:r>
                      <a:endParaRPr/>
                    </a:p>
                  </a:txBody>
                  <a:tcPr marT="91425" marB="91425" marR="91425" marL="91425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</a:rPr>
                        <a:t>os</a:t>
                      </a:r>
                      <a:endParaRPr/>
                    </a:p>
                  </a:txBody>
                  <a:tcPr marT="91425" marB="91425" marR="91425" marL="91425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ggplot2</a:t>
                      </a:r>
                      <a:endParaRPr/>
                    </a:p>
                  </a:txBody>
                  <a:tcPr marT="91425" marB="91425" marR="91425" marL="91425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</a:rPr>
                        <a:t>tuneR</a:t>
                      </a:r>
                      <a:endParaRPr/>
                    </a:p>
                  </a:txBody>
                  <a:tcPr marT="91425" marB="91425" marR="91425" marL="91425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91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sqlalchemy </a:t>
                      </a:r>
                      <a:endParaRPr/>
                    </a:p>
                  </a:txBody>
                  <a:tcPr marT="91425" marB="91425" marR="91425" marL="91425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</a:rPr>
                        <a:t>scipy </a:t>
                      </a:r>
                      <a:endParaRPr/>
                    </a:p>
                  </a:txBody>
                  <a:tcPr marT="91425" marB="91425" marR="91425" marL="91425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lattice</a:t>
                      </a:r>
                      <a:endParaRPr/>
                    </a:p>
                  </a:txBody>
                  <a:tcPr marT="91425" marB="91425" marR="91425" marL="91425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</a:rPr>
                        <a:t>seewave</a:t>
                      </a:r>
                      <a:endParaRPr/>
                    </a:p>
                  </a:txBody>
                  <a:tcPr marT="91425" marB="91425" marR="91425" marL="91425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91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psycopg2-binary</a:t>
                      </a:r>
                      <a:endParaRPr/>
                    </a:p>
                  </a:txBody>
                  <a:tcPr marT="91425" marB="91425" marR="91425" marL="91425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readr</a:t>
                      </a:r>
                      <a:endParaRPr/>
                    </a:p>
                  </a:txBody>
                  <a:tcPr marT="91425" marB="91425" marR="91425" marL="91425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signal</a:t>
                      </a:r>
                      <a:endParaRPr/>
                    </a:p>
                  </a:txBody>
                  <a:tcPr marT="91425" marB="91425" marR="91425" marL="91425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99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sqlalchemy_schemadisplay</a:t>
                      </a:r>
                      <a:endParaRPr/>
                    </a:p>
                  </a:txBody>
                  <a:tcPr marT="91425" marB="91425" marR="91425" marL="91425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rvest</a:t>
                      </a:r>
                      <a:endParaRPr/>
                    </a:p>
                  </a:txBody>
                  <a:tcPr marT="91425" marB="91425" marR="91425" marL="91425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audio</a:t>
                      </a:r>
                      <a:endParaRPr/>
                    </a:p>
                  </a:txBody>
                  <a:tcPr marT="91425" marB="91425" marR="91425" marL="91425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91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pillow </a:t>
                      </a:r>
                      <a:endParaRPr/>
                    </a:p>
                  </a:txBody>
                  <a:tcPr marT="91425" marB="91425" marR="91425" marL="91425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DBI</a:t>
                      </a:r>
                      <a:endParaRPr/>
                    </a:p>
                  </a:txBody>
                  <a:tcPr marT="91425" marB="91425" marR="91425" marL="91425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</a:rPr>
                        <a:t>odbc</a:t>
                      </a:r>
                      <a:endParaRPr/>
                    </a:p>
                  </a:txBody>
                  <a:tcPr marT="91425" marB="91425" marR="91425" marL="91425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91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ipython </a:t>
                      </a:r>
                      <a:endParaRPr/>
                    </a:p>
                  </a:txBody>
                  <a:tcPr marT="91425" marB="91425" marR="91425" marL="91425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RPostgres</a:t>
                      </a:r>
                      <a:endParaRPr/>
                    </a:p>
                  </a:txBody>
                  <a:tcPr marT="91425" marB="91425" marR="91425" marL="91425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</a:rPr>
                        <a:t>blob</a:t>
                      </a:r>
                      <a:endParaRPr/>
                    </a:p>
                  </a:txBody>
                  <a:tcPr marT="91425" marB="91425" marR="91425" marL="91425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91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jupyterlab </a:t>
                      </a:r>
                      <a:endParaRPr/>
                    </a:p>
                  </a:txBody>
                  <a:tcPr marT="91425" marB="91425" marR="91425" marL="91425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dplyr</a:t>
                      </a:r>
                      <a:endParaRPr/>
                    </a:p>
                  </a:txBody>
                  <a:tcPr marT="91425" marB="91425" marR="91425" marL="91425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</a:rPr>
                        <a:t>titanic</a:t>
                      </a:r>
                      <a:endParaRPr/>
                    </a:p>
                  </a:txBody>
                  <a:tcPr marT="91425" marB="91425" marR="91425" marL="91425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91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</a:rPr>
                        <a:t>seaborn</a:t>
                      </a:r>
                      <a:endParaRPr/>
                    </a:p>
                  </a:txBody>
                  <a:tcPr marT="91425" marB="91425" marR="91425" marL="91425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dbplyr</a:t>
                      </a:r>
                      <a:endParaRPr/>
                    </a:p>
                  </a:txBody>
                  <a:tcPr marT="91425" marB="91425" marR="91425" marL="91425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</a:rPr>
                        <a:t>rlang</a:t>
                      </a:r>
                      <a:endParaRPr/>
                    </a:p>
                  </a:txBody>
                  <a:tcPr marT="91425" marB="91425" marR="91425" marL="91425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  <p:sp>
        <p:nvSpPr>
          <p:cNvPr id="118" name="Google Shape;118;g22462e055bf_0_0"/>
          <p:cNvSpPr txBox="1"/>
          <p:nvPr/>
        </p:nvSpPr>
        <p:spPr>
          <a:xfrm>
            <a:off x="6588800" y="1373475"/>
            <a:ext cx="2449800" cy="15174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chemeClr val="dk1"/>
                </a:solidFill>
              </a:rPr>
              <a:t>PostgreSQL</a:t>
            </a:r>
            <a:br>
              <a:rPr b="1" lang="en-GB" sz="1700">
                <a:solidFill>
                  <a:schemeClr val="dk1"/>
                </a:solidFill>
              </a:rPr>
            </a:b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-GB" sz="1700">
                <a:solidFill>
                  <a:schemeClr val="dk1"/>
                </a:solidFill>
              </a:rPr>
              <a:t>Pgadmin4 (GUI)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-GB" sz="1700">
                <a:solidFill>
                  <a:schemeClr val="dk1"/>
                </a:solidFill>
              </a:rPr>
              <a:t>PostgreSQL server</a:t>
            </a:r>
            <a:br>
              <a:rPr b="1" lang="en-GB" sz="1700">
                <a:solidFill>
                  <a:schemeClr val="dk1"/>
                </a:solidFill>
              </a:rPr>
            </a:br>
            <a:br>
              <a:rPr b="1" lang="en-GB" sz="1700">
                <a:solidFill>
                  <a:schemeClr val="dk1"/>
                </a:solidFill>
              </a:rPr>
            </a:br>
            <a:br>
              <a:rPr b="1" lang="en-GB" sz="1700">
                <a:solidFill>
                  <a:schemeClr val="dk1"/>
                </a:solidFill>
              </a:rPr>
            </a:br>
            <a:endParaRPr sz="2800">
              <a:solidFill>
                <a:schemeClr val="dk2"/>
              </a:solidFill>
            </a:endParaRPr>
          </a:p>
        </p:txBody>
      </p:sp>
      <p:sp>
        <p:nvSpPr>
          <p:cNvPr id="119" name="Google Shape;119;g22462e055bf_0_0"/>
          <p:cNvSpPr txBox="1"/>
          <p:nvPr/>
        </p:nvSpPr>
        <p:spPr>
          <a:xfrm>
            <a:off x="6588800" y="3190725"/>
            <a:ext cx="2449800" cy="13935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chemeClr val="dk1"/>
                </a:solidFill>
              </a:rPr>
              <a:t>Notebooks</a:t>
            </a:r>
            <a:br>
              <a:rPr b="1" lang="en-GB" sz="1700">
                <a:solidFill>
                  <a:schemeClr val="dk1"/>
                </a:solidFill>
              </a:rPr>
            </a:b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-GB" sz="1700">
                <a:solidFill>
                  <a:schemeClr val="dk1"/>
                </a:solidFill>
              </a:rPr>
              <a:t>Jupyter (.ipynb)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-GB" sz="1700">
                <a:solidFill>
                  <a:schemeClr val="dk1"/>
                </a:solidFill>
              </a:rPr>
              <a:t>R (.rmd)</a:t>
            </a:r>
            <a:br>
              <a:rPr b="1" lang="en-GB" sz="1700">
                <a:solidFill>
                  <a:schemeClr val="dk1"/>
                </a:solidFill>
              </a:rPr>
            </a:br>
            <a:br>
              <a:rPr b="1" lang="en-GB" sz="1700">
                <a:solidFill>
                  <a:schemeClr val="dk1"/>
                </a:solidFill>
              </a:rPr>
            </a:br>
            <a:endParaRPr sz="2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Datacamp</a:t>
            </a:r>
            <a:endParaRPr/>
          </a:p>
        </p:txBody>
      </p:sp>
      <p:sp>
        <p:nvSpPr>
          <p:cNvPr id="125" name="Google Shape;125;p7"/>
          <p:cNvSpPr txBox="1"/>
          <p:nvPr>
            <p:ph idx="1" type="body"/>
          </p:nvPr>
        </p:nvSpPr>
        <p:spPr>
          <a:xfrm>
            <a:off x="311700" y="12318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entury Gothic"/>
              <a:buChar char="●"/>
            </a:pPr>
            <a:r>
              <a:rPr lang="en-GB" sz="2000">
                <a:solidFill>
                  <a:srgbClr val="564B3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You can access </a:t>
            </a:r>
            <a:r>
              <a:rPr lang="en-GB" sz="2000" u="sng">
                <a:solidFill>
                  <a:schemeClr val="hlink"/>
                </a:solidFill>
                <a:latin typeface="Century Gothic"/>
                <a:ea typeface="Century Gothic"/>
                <a:cs typeface="Century Gothic"/>
                <a:sym typeface="Century Gothic"/>
                <a:hlinkClick r:id="rId3"/>
              </a:rPr>
              <a:t>DataCamp </a:t>
            </a:r>
            <a:r>
              <a:rPr lang="en-GB" sz="2000">
                <a:solidFill>
                  <a:srgbClr val="564B3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courses for extra practice (that is highly recommended)</a:t>
            </a:r>
            <a:br>
              <a:rPr lang="en-GB" sz="2000">
                <a:solidFill>
                  <a:srgbClr val="564B3C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endParaRPr sz="2000">
              <a:solidFill>
                <a:srgbClr val="564B3C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entury Gothic"/>
              <a:buChar char="●"/>
            </a:pPr>
            <a:r>
              <a:rPr lang="en-GB" sz="2000">
                <a:solidFill>
                  <a:srgbClr val="564B3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Please create an account with the </a:t>
            </a:r>
            <a:r>
              <a:rPr b="1" lang="en-GB" sz="2000">
                <a:solidFill>
                  <a:srgbClr val="564B3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@mytudublin.ie</a:t>
            </a:r>
            <a:r>
              <a:rPr lang="en-GB" sz="2000">
                <a:solidFill>
                  <a:srgbClr val="564B3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domain to have </a:t>
            </a:r>
            <a:r>
              <a:rPr b="1" lang="en-GB" sz="2000">
                <a:solidFill>
                  <a:srgbClr val="564B3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free </a:t>
            </a:r>
            <a:r>
              <a:rPr lang="en-GB" sz="2000">
                <a:solidFill>
                  <a:srgbClr val="564B3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access to all courses through the link below</a:t>
            </a:r>
            <a:br>
              <a:rPr lang="en-GB" sz="2000">
                <a:solidFill>
                  <a:srgbClr val="564B3C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endParaRPr sz="2000">
              <a:solidFill>
                <a:srgbClr val="564B3C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 u="sng">
                <a:solidFill>
                  <a:schemeClr val="hlink"/>
                </a:solidFill>
                <a:latin typeface="Century Gothic"/>
                <a:ea typeface="Century Gothic"/>
                <a:cs typeface="Century Gothic"/>
                <a:sym typeface="Century Gothic"/>
                <a:hlinkClick r:id="rId4"/>
              </a:rPr>
              <a:t>Link to register on DataCamp</a:t>
            </a:r>
            <a:endParaRPr b="1" sz="2000">
              <a:solidFill>
                <a:srgbClr val="564B3C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564B3C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entury Gothic"/>
              <a:buChar char="●"/>
            </a:pPr>
            <a:r>
              <a:rPr lang="en-GB" sz="2000">
                <a:solidFill>
                  <a:srgbClr val="564B3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Some courses that might help you in the first weeks (not all there is covered in this module):</a:t>
            </a:r>
            <a:br>
              <a:rPr lang="en-GB" sz="2000">
                <a:solidFill>
                  <a:srgbClr val="564B3C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en-GB" sz="2000">
                <a:solidFill>
                  <a:srgbClr val="564B3C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n-GB" sz="2000" u="sng">
                <a:solidFill>
                  <a:schemeClr val="hlink"/>
                </a:solidFill>
                <a:latin typeface="Century Gothic"/>
                <a:ea typeface="Century Gothic"/>
                <a:cs typeface="Century Gothic"/>
                <a:sym typeface="Century Gothic"/>
                <a:hlinkClick r:id="rId5"/>
              </a:rPr>
              <a:t>Intro to Python for Data Science</a:t>
            </a:r>
            <a:br>
              <a:rPr lang="en-GB" sz="2000">
                <a:solidFill>
                  <a:srgbClr val="564B3C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n-GB" sz="2000" u="sng">
                <a:solidFill>
                  <a:schemeClr val="hlink"/>
                </a:solidFill>
                <a:latin typeface="Century Gothic"/>
                <a:ea typeface="Century Gothic"/>
                <a:cs typeface="Century Gothic"/>
                <a:sym typeface="Century Gothic"/>
                <a:hlinkClick r:id="rId6"/>
              </a:rPr>
              <a:t>Intermediate Python</a:t>
            </a:r>
            <a:endParaRPr sz="2000">
              <a:solidFill>
                <a:srgbClr val="564B3C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u="sng">
                <a:solidFill>
                  <a:schemeClr val="hlink"/>
                </a:solidFill>
                <a:latin typeface="Century Gothic"/>
                <a:ea typeface="Century Gothic"/>
                <a:cs typeface="Century Gothic"/>
                <a:sym typeface="Century Gothic"/>
                <a:hlinkClick r:id="rId7"/>
              </a:rPr>
              <a:t>	Introduction to R</a:t>
            </a:r>
            <a:endParaRPr sz="2000">
              <a:solidFill>
                <a:srgbClr val="564B3C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u="sng">
                <a:solidFill>
                  <a:schemeClr val="hlink"/>
                </a:solidFill>
                <a:latin typeface="Century Gothic"/>
                <a:ea typeface="Century Gothic"/>
                <a:cs typeface="Century Gothic"/>
                <a:sym typeface="Century Gothic"/>
                <a:hlinkClick r:id="rId8"/>
              </a:rPr>
              <a:t>Introduction to importing data to R</a:t>
            </a:r>
            <a:endParaRPr sz="2000">
              <a:solidFill>
                <a:srgbClr val="564B3C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u="sng">
                <a:solidFill>
                  <a:schemeClr val="hlink"/>
                </a:solidFill>
                <a:latin typeface="Century Gothic"/>
                <a:ea typeface="Century Gothic"/>
                <a:cs typeface="Century Gothic"/>
                <a:sym typeface="Century Gothic"/>
                <a:hlinkClick r:id="rId9"/>
              </a:rPr>
              <a:t>Web scraping in R</a:t>
            </a:r>
            <a:endParaRPr sz="2000"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564B3C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6" name="Google Shape;126;p7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27" name="Google Shape;127;p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163850" y="468325"/>
            <a:ext cx="763500" cy="76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Recordings	</a:t>
            </a:r>
            <a:endParaRPr/>
          </a:p>
        </p:txBody>
      </p:sp>
      <p:sp>
        <p:nvSpPr>
          <p:cNvPr id="133" name="Google Shape;133;p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4B3C"/>
              </a:buClr>
              <a:buSzPts val="2400"/>
              <a:buFont typeface="Century Gothic"/>
              <a:buChar char="●"/>
            </a:pPr>
            <a:r>
              <a:rPr lang="en-GB" sz="2400">
                <a:solidFill>
                  <a:srgbClr val="564B3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Recorded lectures (if recorded) are available in Brightspace.</a:t>
            </a:r>
            <a:endParaRPr sz="2400">
              <a:solidFill>
                <a:srgbClr val="564B3C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4B3C"/>
              </a:buClr>
              <a:buSzPts val="2400"/>
              <a:buFont typeface="Century Gothic"/>
              <a:buChar char="○"/>
            </a:pPr>
            <a:r>
              <a:rPr lang="en-GB" sz="2000">
                <a:solidFill>
                  <a:srgbClr val="564B3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Go to Module Tools &gt; Virtual Classroom</a:t>
            </a:r>
            <a:endParaRPr/>
          </a:p>
        </p:txBody>
      </p:sp>
      <p:sp>
        <p:nvSpPr>
          <p:cNvPr id="134" name="Google Shape;134;p8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35" name="Google Shape;13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5538" y="3098075"/>
            <a:ext cx="5132926" cy="292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Content</a:t>
            </a:r>
            <a:endParaRPr/>
          </a:p>
        </p:txBody>
      </p:sp>
      <p:sp>
        <p:nvSpPr>
          <p:cNvPr id="141" name="Google Shape;141;p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GB" sz="2100"/>
              <a:t>Foundational module for data science</a:t>
            </a:r>
            <a:br>
              <a:rPr lang="en-GB" sz="2100"/>
            </a:br>
            <a:br>
              <a:rPr lang="en-GB" sz="2100"/>
            </a:br>
            <a:br>
              <a:rPr lang="en-GB" sz="2100"/>
            </a:br>
            <a:br>
              <a:rPr lang="en-GB" sz="2100"/>
            </a:br>
            <a:br>
              <a:rPr lang="en-GB" sz="2100"/>
            </a:br>
            <a:br>
              <a:rPr lang="en-GB" sz="2100"/>
            </a:br>
            <a:br>
              <a:rPr lang="en-GB" sz="2100"/>
            </a:b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200"/>
              <a:buNone/>
            </a:pPr>
            <a:r>
              <a:t/>
            </a:r>
            <a:endParaRPr sz="2100"/>
          </a:p>
        </p:txBody>
      </p:sp>
      <p:sp>
        <p:nvSpPr>
          <p:cNvPr id="142" name="Google Shape;142;p9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43" name="Google Shape;143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1538" y="2394925"/>
            <a:ext cx="7420925" cy="35108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Assessment</a:t>
            </a:r>
            <a:endParaRPr/>
          </a:p>
        </p:txBody>
      </p:sp>
      <p:sp>
        <p:nvSpPr>
          <p:cNvPr id="149" name="Google Shape;149;p1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592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20"/>
              <a:buChar char="●"/>
            </a:pPr>
            <a:r>
              <a:rPr lang="en-GB" sz="2320"/>
              <a:t>L</a:t>
            </a:r>
            <a:r>
              <a:rPr lang="en-GB" sz="2320"/>
              <a:t>ab assignments </a:t>
            </a:r>
            <a:r>
              <a:rPr b="1" lang="en-GB" sz="2320"/>
              <a:t>(40%). </a:t>
            </a:r>
            <a:r>
              <a:rPr lang="en-GB" sz="2320"/>
              <a:t>Some labs are marked and will need to be submitted</a:t>
            </a:r>
            <a:endParaRPr sz="2320"/>
          </a:p>
          <a:p>
            <a:pPr indent="-3524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50"/>
              <a:buChar char="○"/>
            </a:pPr>
            <a:r>
              <a:rPr lang="en-GB" sz="1950"/>
              <a:t>SQL programming and data centric languages (Python/R) (20%) (Week 5)</a:t>
            </a:r>
            <a:endParaRPr sz="1950"/>
          </a:p>
          <a:p>
            <a:pPr indent="-352425" lvl="1" marL="914400" rtl="0" algn="l">
              <a:spcBef>
                <a:spcPts val="0"/>
              </a:spcBef>
              <a:spcAft>
                <a:spcPts val="0"/>
              </a:spcAft>
              <a:buSzPts val="1950"/>
              <a:buChar char="○"/>
            </a:pPr>
            <a:r>
              <a:rPr lang="en-GB" sz="2088"/>
              <a:t>I</a:t>
            </a:r>
            <a:r>
              <a:rPr lang="en-GB" sz="2088"/>
              <a:t>mage data lab (10%) (Week 10)</a:t>
            </a:r>
            <a:endParaRPr sz="2088"/>
          </a:p>
          <a:p>
            <a:pPr indent="-352425" lvl="1" marL="914400" rtl="0" algn="l">
              <a:spcBef>
                <a:spcPts val="0"/>
              </a:spcBef>
              <a:spcAft>
                <a:spcPts val="0"/>
              </a:spcAft>
              <a:buSzPts val="1950"/>
              <a:buChar char="○"/>
            </a:pPr>
            <a:r>
              <a:rPr lang="en-GB" sz="2088"/>
              <a:t>Audio data lab (10%) (Week 11)</a:t>
            </a:r>
            <a:endParaRPr sz="1950"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2320"/>
          </a:p>
          <a:p>
            <a:pPr indent="-37592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20"/>
              <a:buChar char="●"/>
            </a:pPr>
            <a:r>
              <a:rPr lang="en-GB" sz="2320"/>
              <a:t>Continuous assessment </a:t>
            </a:r>
            <a:r>
              <a:rPr b="1" lang="en-GB" sz="2320"/>
              <a:t>(60%)</a:t>
            </a:r>
            <a:r>
              <a:rPr lang="en-GB" sz="2320"/>
              <a:t>.</a:t>
            </a:r>
            <a:r>
              <a:rPr lang="en-GB" sz="2320"/>
              <a:t> Week 13</a:t>
            </a:r>
            <a:endParaRPr sz="2320"/>
          </a:p>
          <a:p>
            <a:pPr indent="-3524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50"/>
              <a:buChar char="○"/>
            </a:pPr>
            <a:r>
              <a:rPr lang="en-GB" sz="1950"/>
              <a:t>Select a dataset </a:t>
            </a:r>
            <a:r>
              <a:rPr lang="en-GB" sz="1950"/>
              <a:t>and create a notebook (data collection, cleaning, merging and some visualisation)</a:t>
            </a:r>
            <a:endParaRPr sz="2088"/>
          </a:p>
        </p:txBody>
      </p:sp>
      <p:sp>
        <p:nvSpPr>
          <p:cNvPr id="150" name="Google Shape;150;p10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7c8b48f772_0_6"/>
          <p:cNvSpPr txBox="1"/>
          <p:nvPr>
            <p:ph type="title"/>
          </p:nvPr>
        </p:nvSpPr>
        <p:spPr>
          <a:xfrm>
            <a:off x="311700" y="163942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Indicative schedule</a:t>
            </a:r>
            <a:endParaRPr/>
          </a:p>
        </p:txBody>
      </p:sp>
      <p:sp>
        <p:nvSpPr>
          <p:cNvPr id="156" name="Google Shape;156;g37c8b48f772_0_6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157" name="Google Shape;157;g37c8b48f772_0_6"/>
          <p:cNvGraphicFramePr/>
          <p:nvPr/>
        </p:nvGraphicFramePr>
        <p:xfrm>
          <a:off x="412000" y="7569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{F8747621-2962-4D52-A1C6-6E0ACD8E1043}</a:tableStyleId>
              </a:tblPr>
              <a:tblGrid>
                <a:gridCol w="1781900"/>
                <a:gridCol w="6247900"/>
              </a:tblGrid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1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Set up environment and R notebook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2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Review Python and practice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3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/>
                        <a:t>Review R</a:t>
                      </a:r>
                      <a:endParaRPr sz="12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/>
                        <a:t>I</a:t>
                      </a:r>
                      <a:r>
                        <a:rPr lang="en-GB" sz="1200" u="none" cap="none" strike="noStrike"/>
                        <a:t>mporting data with R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4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Intro SQL and aggregate queries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5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Databases and scripting languages </a:t>
                      </a:r>
                      <a:r>
                        <a:rPr b="1" lang="en-GB" sz="1200">
                          <a:solidFill>
                            <a:srgbClr val="E06666"/>
                          </a:solidFill>
                        </a:rPr>
                        <a:t>(</a:t>
                      </a:r>
                      <a:r>
                        <a:rPr b="1" lang="en-GB" sz="1200" u="sng">
                          <a:solidFill>
                            <a:srgbClr val="E06666"/>
                          </a:solidFill>
                        </a:rPr>
                        <a:t>To be submitted</a:t>
                      </a:r>
                      <a:r>
                        <a:rPr b="1" lang="en-GB" sz="1200">
                          <a:solidFill>
                            <a:srgbClr val="E06666"/>
                          </a:solidFill>
                        </a:rPr>
                        <a:t>)</a:t>
                      </a:r>
                      <a:endParaRPr b="1" sz="1200">
                        <a:solidFill>
                          <a:srgbClr val="E06666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3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6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Interpreting Data (summary statistics, data visualisation)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7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Review week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8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Data manipulation in R</a:t>
                      </a:r>
                      <a:endParaRPr sz="1200" u="none" cap="none" strike="noStrike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Pandas and Numpy</a:t>
                      </a:r>
                      <a:endParaRPr sz="12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9</a:t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Data visualisation in Python</a:t>
                      </a:r>
                      <a:endParaRPr sz="12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1200" u="none" cap="none" strike="noStrike"/>
                        <a:t>Data processing (regular expressions) 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10</a:t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Audio data (R and tuneR) </a:t>
                      </a:r>
                      <a:r>
                        <a:rPr b="1" lang="en-GB" sz="1200">
                          <a:solidFill>
                            <a:srgbClr val="E06666"/>
                          </a:solidFill>
                        </a:rPr>
                        <a:t>(</a:t>
                      </a:r>
                      <a:r>
                        <a:rPr b="1" lang="en-GB" sz="1200" u="sng">
                          <a:solidFill>
                            <a:srgbClr val="E06666"/>
                          </a:solidFill>
                        </a:rPr>
                        <a:t>To be submitted</a:t>
                      </a:r>
                      <a:r>
                        <a:rPr b="1" lang="en-GB" sz="1200">
                          <a:solidFill>
                            <a:srgbClr val="E06666"/>
                          </a:solidFill>
                        </a:rPr>
                        <a:t>)</a:t>
                      </a:r>
                      <a:endParaRPr sz="1200" u="none" cap="none" strike="noStrike">
                        <a:solidFill>
                          <a:srgbClr val="E06666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11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Image data (Python and skimage) </a:t>
                      </a:r>
                      <a:r>
                        <a:rPr b="1" lang="en-GB" sz="1200">
                          <a:solidFill>
                            <a:srgbClr val="E06666"/>
                          </a:solidFill>
                        </a:rPr>
                        <a:t>(</a:t>
                      </a:r>
                      <a:r>
                        <a:rPr b="1" lang="en-GB" sz="1200" u="sng">
                          <a:solidFill>
                            <a:srgbClr val="E06666"/>
                          </a:solidFill>
                        </a:rPr>
                        <a:t>To be submitted</a:t>
                      </a:r>
                      <a:r>
                        <a:rPr b="1" lang="en-GB" sz="1200">
                          <a:solidFill>
                            <a:srgbClr val="E06666"/>
                          </a:solidFill>
                        </a:rPr>
                        <a:t>)</a:t>
                      </a:r>
                      <a:endParaRPr b="1" sz="1200" u="none" cap="none" strike="noStrike">
                        <a:solidFill>
                          <a:srgbClr val="E06666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12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Time series (Python and Pandas)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13</a:t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Working on Assignment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200" u="sng" cap="none" strike="noStrike">
                          <a:solidFill>
                            <a:srgbClr val="E06666"/>
                          </a:solidFill>
                        </a:rPr>
                        <a:t>Assignment deadline</a:t>
                      </a:r>
                      <a:endParaRPr sz="1400" u="sng" cap="none" strike="noStrike">
                        <a:solidFill>
                          <a:srgbClr val="E06666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This week Tasks</a:t>
            </a:r>
            <a:endParaRPr/>
          </a:p>
        </p:txBody>
      </p:sp>
      <p:sp>
        <p:nvSpPr>
          <p:cNvPr id="163" name="Google Shape;163;p1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GB"/>
              <a:t>Download and Set Up R and R-Studio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GB"/>
              <a:t>Download and Set Up Python and Jupyter Notebook (see slides)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GB"/>
              <a:t>Explore the Sample R Notebook File</a:t>
            </a:r>
            <a:endParaRPr/>
          </a:p>
        </p:txBody>
      </p:sp>
      <p:sp>
        <p:nvSpPr>
          <p:cNvPr id="164" name="Google Shape;164;p12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3"/>
          <p:cNvSpPr txBox="1"/>
          <p:nvPr>
            <p:ph type="title"/>
          </p:nvPr>
        </p:nvSpPr>
        <p:spPr>
          <a:xfrm>
            <a:off x="1388100" y="637525"/>
            <a:ext cx="63678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GB"/>
              <a:t>Questions?</a:t>
            </a:r>
            <a:endParaRPr/>
          </a:p>
        </p:txBody>
      </p:sp>
      <p:sp>
        <p:nvSpPr>
          <p:cNvPr id="170" name="Google Shape;170;p13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8EA4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