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6858000" cx="9144000"/>
  <p:notesSz cx="6858000" cy="9144000"/>
  <p:embeddedFontLst>
    <p:embeddedFont>
      <p:font typeface="Book Antiqua"/>
      <p:regular r:id="rId74"/>
      <p:bold r:id="rId75"/>
      <p:italic r:id="rId76"/>
      <p:boldItalic r:id="rId77"/>
    </p:embeddedFont>
    <p:embeddedFont>
      <p:font typeface="Century Gothic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2" roundtripDataSignature="AMtx7mjHjy6qjhKsPEzJ3Dcind8tIDu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9562E7-F470-4489-A4F9-5E32ECF46DEB}">
  <a:tblStyle styleId="{D49562E7-F470-4489-A4F9-5E32ECF46DE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enturyGothic-italic.fntdata"/><Relationship Id="rId82" Type="http://customschemas.google.com/relationships/presentationmetadata" Target="metadata"/><Relationship Id="rId81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BookAntiqua-bold.fntdata"/><Relationship Id="rId30" Type="http://schemas.openxmlformats.org/officeDocument/2006/relationships/slide" Target="slides/slide24.xml"/><Relationship Id="rId74" Type="http://schemas.openxmlformats.org/officeDocument/2006/relationships/font" Target="fonts/BookAntiqua-regular.fntdata"/><Relationship Id="rId33" Type="http://schemas.openxmlformats.org/officeDocument/2006/relationships/slide" Target="slides/slide27.xml"/><Relationship Id="rId77" Type="http://schemas.openxmlformats.org/officeDocument/2006/relationships/font" Target="fonts/BookAntiqua-boldItalic.fntdata"/><Relationship Id="rId32" Type="http://schemas.openxmlformats.org/officeDocument/2006/relationships/slide" Target="slides/slide26.xml"/><Relationship Id="rId76" Type="http://schemas.openxmlformats.org/officeDocument/2006/relationships/font" Target="fonts/BookAntiqua-italic.fntdata"/><Relationship Id="rId35" Type="http://schemas.openxmlformats.org/officeDocument/2006/relationships/slide" Target="slides/slide29.xml"/><Relationship Id="rId79" Type="http://schemas.openxmlformats.org/officeDocument/2006/relationships/font" Target="fonts/CenturyGothic-bold.fntdata"/><Relationship Id="rId34" Type="http://schemas.openxmlformats.org/officeDocument/2006/relationships/slide" Target="slides/slide28.xml"/><Relationship Id="rId78" Type="http://schemas.openxmlformats.org/officeDocument/2006/relationships/font" Target="fonts/CenturyGothic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7e94a46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7e94a4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f6ad29f939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f6ad29f93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6ad29f939_0_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f6ad29f93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6ad29f939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f6ad29f93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6ad29f939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f6ad29f93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6ad29f939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f6ad29f93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f6ad29f939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f6ad29f93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b3f8ee040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cb3f8ee04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b3f8ee040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cb3f8ee04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b3f8ee040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cb3f8ee04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b3f8ee040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cb3f8ee04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b3f8ee040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cb3f8ee04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b3f8ee040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cb3f8ee04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b3f8ee040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cb3f8ee04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b3f8ee040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cb3f8ee04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b3f8ee040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cb3f8ee04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b3f8ee040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cb3f8ee04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b3f8ee040_0_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cb3f8ee04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b3f8ee040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cb3f8ee04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cb3f8ee040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cb3f8ee0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cb3f8ee040_0_1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cb3f8ee04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b3f8ee040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cb3f8ee04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cb3f8ee040_0_1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cb3f8ee04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cb3f8ee040_0_1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cb3f8ee04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cb3f8ee040_0_2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cb3f8ee04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b3f8ee040_0_1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cb3f8ee04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cb3f8ee040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cb3f8ee04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cb3f8ee040_0_1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cb3f8ee04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cb3f8ee040_0_2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cb3f8ee04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b3f8ee040_0_1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cb3f8ee04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b3f8ee040_0_1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cb3f8ee04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cb3f8ee040_0_1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cb3f8ee04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cb3f8ee040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cb3f8ee040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b3f8ee040_0_1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cb3f8ee04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cb3f8ee040_0_2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cb3f8ee040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cb3f8ee040_0_1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cb3f8ee04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cb3f8ee040_0_2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cb3f8ee04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cb3f8ee040_0_2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cb3f8ee04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cb3f8ee040_0_2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cb3f8ee04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cb3f8ee040_0_3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cb3f8ee040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cb3f8ee040_0_3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cb3f8ee040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cb3f8ee040_0_3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cb3f8ee040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cb3f8ee040_0_3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cb3f8ee04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cb3f8ee040_0_3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cb3f8ee040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cb3f8ee040_0_3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cb3f8ee04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cb3f8ee040_0_3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cb3f8ee04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cb3f8ee040_0_3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cb3f8ee040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cb3f8ee040_0_3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cb3f8ee040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cb3f8ee040_0_3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cb3f8ee040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cb3f8ee040_0_3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cb3f8ee040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cb3f8ee040_0_3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cb3f8ee04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f7a46a8028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f7a46a802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f7a46a8028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f7a46a80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f7a46a8028_0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f7a46a80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f7a46a8028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f7a46a802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f7a46a8028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f7a46a80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f7a46a8028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f7a46a802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cb3f8ee040_0_3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cb3f8ee040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f7a46a8028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f7a46a80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f7a46a8028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f7a46a802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f7a46a8028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f7a46a802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cb3f8ee040_0_3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cb3f8ee040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f7a46a8028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f7a46a802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5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5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5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5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6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3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3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63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63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50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png"/><Relationship Id="rId4" Type="http://schemas.openxmlformats.org/officeDocument/2006/relationships/image" Target="../media/image5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8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a7e94a46_0_114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g37ca7e94a46_0_1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g37ca7e94a46_0_114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{D49562E7-F470-4489-A4F9-5E32ECF46DEB}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manipulation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Filter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Arrange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Mutate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Join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Group</a:t>
            </a:r>
            <a:endParaRPr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6ad29f939_0_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Baby Names Dataset</a:t>
            </a:r>
            <a:endParaRPr/>
          </a:p>
        </p:txBody>
      </p:sp>
      <p:sp>
        <p:nvSpPr>
          <p:cNvPr id="89" name="Google Shape;89;gf6ad29f939_0_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Example dataset to practice data manipulation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At a Glance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Top 1000 Male and Female names in the US, from 1880 to 2008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258,000 records (1000 x 2 x 129)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Five Variables year, name, soundex, sex, prop</a:t>
            </a:r>
            <a:endParaRPr sz="2200"/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GB" sz="2200"/>
              <a:t>soundex:  code that describes the sound of the name. Names that sound similar will have the same soundex code.</a:t>
            </a:r>
            <a:endParaRPr sz="2200"/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GB" sz="2200"/>
              <a:t>prop: proportion of people of a certain sex with a name born in that year compared to the total births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0" name="Google Shape;90;gf6ad29f939_0_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6ad29f939_0_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1 – Import the Data</a:t>
            </a:r>
            <a:endParaRPr/>
          </a:p>
        </p:txBody>
      </p:sp>
      <p:sp>
        <p:nvSpPr>
          <p:cNvPr id="96" name="Google Shape;96;gf6ad29f939_0_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Import the files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bnames.csv.bz2 </a:t>
            </a:r>
            <a:r>
              <a:rPr lang="en-GB"/>
              <a:t>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births.csv</a:t>
            </a:r>
            <a:r>
              <a:rPr lang="en-GB"/>
              <a:t> from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babyData.zip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7" name="Google Shape;97;gf6ad29f939_0_6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" name="Google Shape;98;gf6ad29f939_0_69"/>
          <p:cNvSpPr txBox="1"/>
          <p:nvPr/>
        </p:nvSpPr>
        <p:spPr>
          <a:xfrm>
            <a:off x="740075" y="3976625"/>
            <a:ext cx="46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6ad29f939_0_7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1 - Tips</a:t>
            </a:r>
            <a:endParaRPr/>
          </a:p>
        </p:txBody>
      </p:sp>
      <p:sp>
        <p:nvSpPr>
          <p:cNvPr id="104" name="Google Shape;104;gf6ad29f939_0_7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First you'll need to unzip the files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read.csv</a:t>
            </a:r>
            <a:r>
              <a:rPr lang="en-GB"/>
              <a:t> can handle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bz2 </a:t>
            </a:r>
            <a:r>
              <a:rPr lang="en-GB"/>
              <a:t>compressed files automatically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5" name="Google Shape;105;gf6ad29f939_0_7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gf6ad29f939_0_75"/>
          <p:cNvSpPr txBox="1"/>
          <p:nvPr/>
        </p:nvSpPr>
        <p:spPr>
          <a:xfrm>
            <a:off x="414450" y="379900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6ad29f939_0_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1 - Answer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2" name="Google Shape;112;gf6ad29f939_0_8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gf6ad29f939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822975"/>
            <a:ext cx="71628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6ad29f939_0_8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2 – Explore your Name</a:t>
            </a:r>
            <a:endParaRPr/>
          </a:p>
        </p:txBody>
      </p:sp>
      <p:sp>
        <p:nvSpPr>
          <p:cNvPr id="119" name="Google Shape;119;gf6ad29f939_0_8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logical subsetting to extract your name from the dataset (or a name of your choice if yours isn't in it)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Plot the trend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prop </a:t>
            </a:r>
            <a:r>
              <a:rPr lang="en-GB"/>
              <a:t>over time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geom should you use?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 you need any extra aesthetics?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0" name="Google Shape;120;gf6ad29f939_0_8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gf6ad29f939_0_87"/>
          <p:cNvSpPr txBox="1"/>
          <p:nvPr/>
        </p:nvSpPr>
        <p:spPr>
          <a:xfrm>
            <a:off x="858475" y="4440400"/>
            <a:ext cx="46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6ad29f939_0_9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2 - Tips</a:t>
            </a:r>
            <a:endParaRPr/>
          </a:p>
        </p:txBody>
      </p:sp>
      <p:sp>
        <p:nvSpPr>
          <p:cNvPr id="127" name="Google Shape;127;gf6ad29f939_0_9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Don't forget to load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ggplot2 </a:t>
            </a:r>
            <a:r>
              <a:rPr lang="en-GB"/>
              <a:t>library!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 back over last week's work for a guide on how to do this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Examine the dataset for any strange or unexpected values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See if you can find these values in the dataset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Could aesthetics be used to make the cause of these values more clear?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8" name="Google Shape;128;gf6ad29f939_0_9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gf6ad29f939_0_93"/>
          <p:cNvSpPr txBox="1"/>
          <p:nvPr/>
        </p:nvSpPr>
        <p:spPr>
          <a:xfrm>
            <a:off x="858500" y="4558825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b3f8ee040_0_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2 - Answer</a:t>
            </a:r>
            <a:endParaRPr/>
          </a:p>
        </p:txBody>
      </p:sp>
      <p:sp>
        <p:nvSpPr>
          <p:cNvPr id="135" name="Google Shape;135;gcb3f8ee040_0_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6" name="Google Shape;136;gcb3f8ee04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512" y="1434350"/>
            <a:ext cx="4920978" cy="48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b3f8ee040_0_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Investigating Outliers</a:t>
            </a:r>
            <a:endParaRPr/>
          </a:p>
        </p:txBody>
      </p:sp>
      <p:sp>
        <p:nvSpPr>
          <p:cNvPr id="142" name="Google Shape;142;gcb3f8ee040_0_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Did you notice the zig-zag patterns in the previous slide? Let's investigate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3" name="Google Shape;143;gcb3f8ee040_0_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4" name="Google Shape;144;gcb3f8ee040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175" y="2444425"/>
            <a:ext cx="67627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b3f8ee040_0_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Using the Color Aesthetic to Separate Gender</a:t>
            </a:r>
            <a:endParaRPr/>
          </a:p>
        </p:txBody>
      </p:sp>
      <p:sp>
        <p:nvSpPr>
          <p:cNvPr id="150" name="Google Shape;150;gcb3f8ee040_0_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plot the trends for each gender separately we'll get a better overall picture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1" name="Google Shape;151;gcb3f8ee040_0_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2" name="Google Shape;152;gcb3f8ee040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975" y="2463275"/>
            <a:ext cx="4822325" cy="42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b3f8ee040_0_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Manipulating Data: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dplyr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8" name="Google Shape;158;gcb3f8ee040_0_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Let’s try to manipulate data in a different way 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dplyr </a:t>
            </a:r>
            <a:r>
              <a:rPr lang="en-GB"/>
              <a:t>package.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We'll be using a very basic toy dataset to demonstrate data manipulation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9" name="Google Shape;159;gcb3f8ee040_0_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gcb3f8ee040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13" y="3825863"/>
            <a:ext cx="55340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cb3f8ee040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2353" y="3152603"/>
            <a:ext cx="1660150" cy="2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b3f8ee040_0_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Filtering – Concept</a:t>
            </a:r>
            <a:endParaRPr/>
          </a:p>
        </p:txBody>
      </p:sp>
      <p:sp>
        <p:nvSpPr>
          <p:cNvPr id="167" name="Google Shape;167;gcb3f8ee040_0_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Suppose that we have the following data frame and wish to filter out the rows that have a value ‘blue’ for the colour variable.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8" name="Google Shape;168;gcb3f8ee040_0_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gcb3f8ee040_0_42"/>
          <p:cNvPicPr preferRelativeResize="0"/>
          <p:nvPr/>
        </p:nvPicPr>
        <p:blipFill rotWithShape="1">
          <a:blip r:embed="rId3">
            <a:alphaModFix/>
          </a:blip>
          <a:srcRect b="0" l="-1579" r="1578" t="0"/>
          <a:stretch/>
        </p:blipFill>
        <p:spPr>
          <a:xfrm>
            <a:off x="828675" y="2959550"/>
            <a:ext cx="748665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b3f8ee040_0_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Filtering Data</a:t>
            </a:r>
            <a:endParaRPr/>
          </a:p>
        </p:txBody>
      </p:sp>
      <p:sp>
        <p:nvSpPr>
          <p:cNvPr id="175" name="Google Shape;175;gcb3f8ee040_0_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Filtering data allows us to remove rows based on some condition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We've already looked at filtering rows using logical indexing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dplyr </a:t>
            </a:r>
            <a:r>
              <a:rPr lang="en-GB"/>
              <a:t>gives us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filter()</a:t>
            </a:r>
            <a:r>
              <a:rPr lang="en-GB"/>
              <a:t> function as an alternative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filter(df, expr)</a:t>
            </a:r>
            <a:br>
              <a:rPr lang="en-GB">
                <a:latin typeface="Courier"/>
                <a:ea typeface="Courier"/>
                <a:cs typeface="Courier"/>
                <a:sym typeface="Courier"/>
              </a:rPr>
            </a:b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6" name="Google Shape;176;gcb3f8ee040_0_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gcb3f8ee040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75" y="4981169"/>
            <a:ext cx="7550551" cy="8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cb3f8ee040_0_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Filtering Data – Another Example</a:t>
            </a:r>
            <a:endParaRPr/>
          </a:p>
        </p:txBody>
      </p:sp>
      <p:sp>
        <p:nvSpPr>
          <p:cNvPr id="183" name="Google Shape;183;gcb3f8ee040_0_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time we are filtering rows that have 1 or 4 in the value column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4" name="Google Shape;184;gcb3f8ee040_0_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5" name="Google Shape;185;gcb3f8ee040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850" y="2522875"/>
            <a:ext cx="7444124" cy="351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cb3f8ee040_0_54"/>
          <p:cNvSpPr/>
          <p:nvPr/>
        </p:nvSpPr>
        <p:spPr>
          <a:xfrm>
            <a:off x="2607800" y="5370725"/>
            <a:ext cx="727500" cy="524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gcb3f8ee040_0_54"/>
          <p:cNvCxnSpPr>
            <a:endCxn id="186" idx="4"/>
          </p:cNvCxnSpPr>
          <p:nvPr/>
        </p:nvCxnSpPr>
        <p:spPr>
          <a:xfrm rot="10800000">
            <a:off x="2971550" y="5895425"/>
            <a:ext cx="699300" cy="42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gcb3f8ee040_0_54"/>
          <p:cNvSpPr txBox="1"/>
          <p:nvPr/>
        </p:nvSpPr>
        <p:spPr>
          <a:xfrm>
            <a:off x="3663625" y="6127800"/>
            <a:ext cx="444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operator instead of using multiple “or”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b3f8ee040_0_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3 – Filter the babyNames dataset</a:t>
            </a:r>
            <a:endParaRPr/>
          </a:p>
        </p:txBody>
      </p:sp>
      <p:sp>
        <p:nvSpPr>
          <p:cNvPr id="194" name="Google Shape;194;gcb3f8ee040_0_8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the filter function to find all of the girls' names from the year 2000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5" name="Google Shape;195;gcb3f8ee040_0_8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gcb3f8ee040_0_81"/>
          <p:cNvSpPr txBox="1"/>
          <p:nvPr/>
        </p:nvSpPr>
        <p:spPr>
          <a:xfrm>
            <a:off x="1006500" y="3276025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cb3f8ee040_0_8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3 - Answer</a:t>
            </a:r>
            <a:endParaRPr/>
          </a:p>
        </p:txBody>
      </p:sp>
      <p:sp>
        <p:nvSpPr>
          <p:cNvPr id="202" name="Google Shape;202;gcb3f8ee040_0_8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3" name="Google Shape;203;gcb3f8ee040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688" y="1585913"/>
            <a:ext cx="5000625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b3f8ee040_0_9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Selecting Data - Concept</a:t>
            </a:r>
            <a:endParaRPr/>
          </a:p>
        </p:txBody>
      </p:sp>
      <p:sp>
        <p:nvSpPr>
          <p:cNvPr id="209" name="Google Shape;209;gcb3f8ee040_0_9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Suppose we wish to select the colour column from the dataframe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0" name="Google Shape;210;gcb3f8ee040_0_9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1" name="Google Shape;211;gcb3f8ee040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71475"/>
            <a:ext cx="5686550" cy="28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cb3f8ee040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3400" y="2363025"/>
            <a:ext cx="22288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b3f8ee040_0_9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Selecting Data – Another Example</a:t>
            </a:r>
            <a:endParaRPr/>
          </a:p>
        </p:txBody>
      </p:sp>
      <p:sp>
        <p:nvSpPr>
          <p:cNvPr id="218" name="Google Shape;218;gcb3f8ee040_0_9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Now suppose we want to select all columns except the colour column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9" name="Google Shape;219;gcb3f8ee040_0_9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0" name="Google Shape;220;gcb3f8ee040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5" y="2983788"/>
            <a:ext cx="5928000" cy="22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cb3f8ee040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2463" y="2350075"/>
            <a:ext cx="2257425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b3f8ee040_0_10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– Selecting Columns from babyNames</a:t>
            </a:r>
            <a:endParaRPr/>
          </a:p>
        </p:txBody>
      </p:sp>
      <p:sp>
        <p:nvSpPr>
          <p:cNvPr id="227" name="Google Shape;227;gcb3f8ee040_0_10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Select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year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lang="en-GB"/>
              <a:t>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sex </a:t>
            </a:r>
            <a:r>
              <a:rPr lang="en-GB"/>
              <a:t>columns from babyNames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8" name="Google Shape;228;gcb3f8ee040_0_10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9" name="Google Shape;229;gcb3f8ee040_0_105"/>
          <p:cNvSpPr txBox="1"/>
          <p:nvPr/>
        </p:nvSpPr>
        <p:spPr>
          <a:xfrm>
            <a:off x="641375" y="4035825"/>
            <a:ext cx="46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cb3f8ee040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4 - Hints</a:t>
            </a:r>
            <a:endParaRPr/>
          </a:p>
        </p:txBody>
      </p:sp>
      <p:sp>
        <p:nvSpPr>
          <p:cNvPr id="235" name="Google Shape;235;gcb3f8ee040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Sometimes it's easier to deselect columns you don't want than it is to select the columns you 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6" name="Google Shape;236;gcb3f8ee040_0_1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gcb3f8ee040_0_111"/>
          <p:cNvSpPr txBox="1"/>
          <p:nvPr/>
        </p:nvSpPr>
        <p:spPr>
          <a:xfrm>
            <a:off x="1480125" y="3749650"/>
            <a:ext cx="55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b3f8ee040_0_1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4 - Answer</a:t>
            </a:r>
            <a:endParaRPr/>
          </a:p>
        </p:txBody>
      </p:sp>
      <p:sp>
        <p:nvSpPr>
          <p:cNvPr id="243" name="Google Shape;243;gcb3f8ee040_0_1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4" name="Google Shape;244;gcb3f8ee040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575" y="1688363"/>
            <a:ext cx="48006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cb3f8ee040_0_1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Arranging Data - Concept</a:t>
            </a:r>
            <a:endParaRPr/>
          </a:p>
        </p:txBody>
      </p:sp>
      <p:sp>
        <p:nvSpPr>
          <p:cNvPr id="250" name="Google Shape;250;gcb3f8ee040_0_1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may also wish to arrange the rows of a data frame based on the values of a particular column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51" name="Google Shape;251;gcb3f8ee040_0_1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2" name="Google Shape;252;gcb3f8ee040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3148598"/>
            <a:ext cx="6062775" cy="24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cb3f8ee040_0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1750" y="2492288"/>
            <a:ext cx="2266950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cb3f8ee040_0_1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Arranging Data – Another Example</a:t>
            </a:r>
            <a:endParaRPr/>
          </a:p>
        </p:txBody>
      </p:sp>
      <p:sp>
        <p:nvSpPr>
          <p:cNvPr id="259" name="Google Shape;259;gcb3f8ee040_0_1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this example we're arranging the rows based on the value column in descending order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60" name="Google Shape;260;gcb3f8ee040_0_1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1" name="Google Shape;261;gcb3f8ee040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00" y="2943198"/>
            <a:ext cx="6111950" cy="29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cb3f8ee040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4363" y="2576613"/>
            <a:ext cx="2771775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cb3f8ee040_0_1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Try it Out</a:t>
            </a:r>
            <a:endParaRPr/>
          </a:p>
        </p:txBody>
      </p:sp>
      <p:sp>
        <p:nvSpPr>
          <p:cNvPr id="268" name="Google Shape;268;gcb3f8ee040_0_1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the following R code?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69" name="Google Shape;269;gcb3f8ee040_0_1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0" name="Google Shape;270;gcb3f8ee040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925" y="2205096"/>
            <a:ext cx="5312150" cy="6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cb3f8ee040_0_2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Try it Out</a:t>
            </a:r>
            <a:endParaRPr/>
          </a:p>
        </p:txBody>
      </p:sp>
      <p:sp>
        <p:nvSpPr>
          <p:cNvPr id="276" name="Google Shape;276;gcb3f8ee040_0_2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the following R code?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will sort first by colour (ascending), then by value (descending)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7" name="Google Shape;277;gcb3f8ee040_0_2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8" name="Google Shape;278;gcb3f8ee040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925" y="2205096"/>
            <a:ext cx="5312150" cy="6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cb3f8ee040_0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9475" y="3726300"/>
            <a:ext cx="1404750" cy="25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cb3f8ee040_0_1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– Reordering the babyNames dataset</a:t>
            </a:r>
            <a:endParaRPr/>
          </a:p>
        </p:txBody>
      </p:sp>
      <p:sp>
        <p:nvSpPr>
          <p:cNvPr id="285" name="Google Shape;285;gcb3f8ee040_0_1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Reorder the rows of babyNames from highest to lowest based on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prop </a:t>
            </a:r>
            <a:r>
              <a:rPr lang="en-GB"/>
              <a:t>variable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Which name had the highest proportion in a single year?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what year did your name had the highest proportion?</a:t>
            </a:r>
            <a:endParaRPr/>
          </a:p>
        </p:txBody>
      </p:sp>
      <p:sp>
        <p:nvSpPr>
          <p:cNvPr id="286" name="Google Shape;286;gcb3f8ee040_0_1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" name="Google Shape;287;gcb3f8ee040_0_141"/>
          <p:cNvSpPr txBox="1"/>
          <p:nvPr/>
        </p:nvSpPr>
        <p:spPr>
          <a:xfrm>
            <a:off x="868325" y="4233175"/>
            <a:ext cx="461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b3f8ee040_0_1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Hints</a:t>
            </a:r>
            <a:endParaRPr/>
          </a:p>
        </p:txBody>
      </p:sp>
      <p:sp>
        <p:nvSpPr>
          <p:cNvPr id="293" name="Google Shape;293;gcb3f8ee040_0_1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find the highest proportion for your own name, you'll first need to filter the dataset. You'll need a temporary variable for this</a:t>
            </a:r>
            <a:endParaRPr/>
          </a:p>
        </p:txBody>
      </p:sp>
      <p:sp>
        <p:nvSpPr>
          <p:cNvPr id="294" name="Google Shape;294;gcb3f8ee040_0_1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5" name="Google Shape;295;gcb3f8ee040_0_147"/>
          <p:cNvSpPr txBox="1"/>
          <p:nvPr/>
        </p:nvSpPr>
        <p:spPr>
          <a:xfrm>
            <a:off x="868325" y="4233175"/>
            <a:ext cx="509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cb3f8ee040_0_1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Answers</a:t>
            </a:r>
            <a:endParaRPr/>
          </a:p>
        </p:txBody>
      </p:sp>
      <p:sp>
        <p:nvSpPr>
          <p:cNvPr id="301" name="Google Shape;301;gcb3f8ee040_0_1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2" name="Google Shape;302;gcb3f8ee040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2089974"/>
            <a:ext cx="6637350" cy="5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cb3f8ee040_0_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725" y="3163525"/>
            <a:ext cx="352425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cb3f8ee040_0_2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Answers</a:t>
            </a:r>
            <a:endParaRPr/>
          </a:p>
        </p:txBody>
      </p:sp>
      <p:sp>
        <p:nvSpPr>
          <p:cNvPr id="309" name="Google Shape;309;gcb3f8ee040_0_2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0" name="Google Shape;310;gcb3f8ee040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713" y="1538867"/>
            <a:ext cx="57054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cb3f8ee040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9776" y="2706250"/>
            <a:ext cx="3447375" cy="30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cb3f8ee040_0_1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- Concept</a:t>
            </a:r>
            <a:endParaRPr/>
          </a:p>
        </p:txBody>
      </p:sp>
      <p:sp>
        <p:nvSpPr>
          <p:cNvPr id="317" name="Google Shape;317;gcb3f8ee040_0_1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Suppose that we wish to change the contents of a dataframe (mutate it) e.g. add a new column by performing a mathematical operation on existing variables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18" name="Google Shape;318;gcb3f8ee040_0_1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9" name="Google Shape;319;gcb3f8ee040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388" y="3152075"/>
            <a:ext cx="6791325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cb3f8ee040_0_1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– Another Example</a:t>
            </a:r>
            <a:endParaRPr/>
          </a:p>
        </p:txBody>
      </p:sp>
      <p:sp>
        <p:nvSpPr>
          <p:cNvPr id="325" name="Google Shape;325;gcb3f8ee040_0_1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6" name="Google Shape;326;gcb3f8ee040_0_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950" y="1600738"/>
            <a:ext cx="81153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cb3f8ee040_0_1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– Try it Out</a:t>
            </a:r>
            <a:endParaRPr/>
          </a:p>
        </p:txBody>
      </p:sp>
      <p:sp>
        <p:nvSpPr>
          <p:cNvPr id="332" name="Google Shape;332;gcb3f8ee040_0_1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this R code?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3" name="Google Shape;333;gcb3f8ee040_0_1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4" name="Google Shape;334;gcb3f8ee040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0" y="2316924"/>
            <a:ext cx="5416166" cy="5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cb3f8ee040_0_2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– Try it Out</a:t>
            </a:r>
            <a:endParaRPr/>
          </a:p>
        </p:txBody>
      </p:sp>
      <p:sp>
        <p:nvSpPr>
          <p:cNvPr id="340" name="Google Shape;340;gcb3f8ee040_0_2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this R code?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41" name="Google Shape;341;gcb3f8ee040_0_2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2" name="Google Shape;342;gcb3f8ee040_0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0" y="2316924"/>
            <a:ext cx="5416166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cb3f8ee040_0_2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7227" y="3139400"/>
            <a:ext cx="2081600" cy="301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cb3f8ee040_0_2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675" y="3198600"/>
            <a:ext cx="5373400" cy="31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cb3f8ee040_0_1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– Try it Out</a:t>
            </a:r>
            <a:endParaRPr/>
          </a:p>
        </p:txBody>
      </p:sp>
      <p:sp>
        <p:nvSpPr>
          <p:cNvPr id="350" name="Google Shape;350;gcb3f8ee040_0_1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this R code?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51" name="Google Shape;351;gcb3f8ee040_0_1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2" name="Google Shape;352;gcb3f8ee040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175" y="2237950"/>
            <a:ext cx="6643650" cy="7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cb3f8ee040_0_2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Mutating Data – Try it Out</a:t>
            </a:r>
            <a:endParaRPr/>
          </a:p>
        </p:txBody>
      </p:sp>
      <p:sp>
        <p:nvSpPr>
          <p:cNvPr id="358" name="Google Shape;358;gcb3f8ee040_0_27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happens if you run this R code?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59" name="Google Shape;359;gcb3f8ee040_0_2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0" name="Google Shape;360;gcb3f8ee040_0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175" y="2237950"/>
            <a:ext cx="6643650" cy="70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cb3f8ee040_0_2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6800" y="3224877"/>
            <a:ext cx="2450388" cy="30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cb3f8ee040_0_1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Summarising Data - Concept</a:t>
            </a:r>
            <a:endParaRPr/>
          </a:p>
        </p:txBody>
      </p:sp>
      <p:sp>
        <p:nvSpPr>
          <p:cNvPr id="367" name="Google Shape;367;gcb3f8ee040_0_18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Recall the summary statistics we introduced last week, we may wish to apply these to columns of values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result in this case is a new data frame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68" name="Google Shape;368;gcb3f8ee040_0_1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9" name="Google Shape;369;gcb3f8ee040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25" y="2953013"/>
            <a:ext cx="638175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cb3f8ee040_0_28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Summarising Data - Concept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75" name="Google Shape;375;gcb3f8ee040_0_28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More than one summary statistic may be calculated at a time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76" name="Google Shape;376;gcb3f8ee040_0_28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7" name="Google Shape;377;gcb3f8ee040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472325"/>
            <a:ext cx="72199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cb3f8ee040_0_29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6 - Summarising Data</a:t>
            </a:r>
            <a:endParaRPr/>
          </a:p>
        </p:txBody>
      </p:sp>
      <p:sp>
        <p:nvSpPr>
          <p:cNvPr id="383" name="Google Shape;383;gcb3f8ee040_0_29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Add a new column to babyNames that converts prop to a percentage. How do you do that?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a summary that displays the min and max percentage for your name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84" name="Google Shape;384;gcb3f8ee040_0_29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5" name="Google Shape;385;gcb3f8ee040_0_293"/>
          <p:cNvSpPr txBox="1"/>
          <p:nvPr/>
        </p:nvSpPr>
        <p:spPr>
          <a:xfrm>
            <a:off x="838725" y="4420675"/>
            <a:ext cx="54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cb3f8ee040_0_29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6 - Answer</a:t>
            </a:r>
            <a:endParaRPr/>
          </a:p>
        </p:txBody>
      </p:sp>
      <p:sp>
        <p:nvSpPr>
          <p:cNvPr id="391" name="Google Shape;391;gcb3f8ee040_0_29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2" name="Google Shape;392;gcb3f8ee040_0_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275" y="2146952"/>
            <a:ext cx="6265450" cy="25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cb3f8ee040_0_30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Joining Datasets with dplyr</a:t>
            </a:r>
            <a:endParaRPr/>
          </a:p>
        </p:txBody>
      </p:sp>
      <p:sp>
        <p:nvSpPr>
          <p:cNvPr id="398" name="Google Shape;398;gcb3f8ee040_0_30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Why might prop be a bad way to compare names across different years?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number of babies born each year is different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create a births dataset: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 number of boys and girls born each year between 1880 – 2008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260 records (2 x 130)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Three variables year, sex, birth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99" name="Google Shape;399;gcb3f8ee040_0_30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cb3f8ee040_0_3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Joining Datasets with dplyr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05" name="Google Shape;405;gcb3f8ee040_0_3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would you join these datasets? Describe a strategy (pseudo-code)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t/>
            </a:r>
            <a:endParaRPr/>
          </a:p>
        </p:txBody>
      </p:sp>
      <p:sp>
        <p:nvSpPr>
          <p:cNvPr id="406" name="Google Shape;406;gcb3f8ee040_0_3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7" name="Google Shape;407;gcb3f8ee040_0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2652175"/>
            <a:ext cx="836295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cb3f8ee040_0_3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Toy Example</a:t>
            </a:r>
            <a:endParaRPr/>
          </a:p>
        </p:txBody>
      </p:sp>
      <p:sp>
        <p:nvSpPr>
          <p:cNvPr id="413" name="Google Shape;413;gcb3f8ee040_0_3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will use this example dataset to explore the different ways to join dataframes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14" name="Google Shape;414;gcb3f8ee040_0_3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15" name="Google Shape;415;gcb3f8ee040_0_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973775"/>
            <a:ext cx="647700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cb3f8ee040_0_3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Toy Example</a:t>
            </a:r>
            <a:endParaRPr/>
          </a:p>
        </p:txBody>
      </p:sp>
      <p:sp>
        <p:nvSpPr>
          <p:cNvPr id="421" name="Google Shape;421;gcb3f8ee040_0_3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code below will create these dataframes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22" name="Google Shape;422;gcb3f8ee040_0_3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3" name="Google Shape;423;gcb3f8ee040_0_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38" y="2689925"/>
            <a:ext cx="7781925" cy="24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cb3f8ee040_0_3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Left Join</a:t>
            </a:r>
            <a:endParaRPr/>
          </a:p>
        </p:txBody>
      </p:sp>
      <p:sp>
        <p:nvSpPr>
          <p:cNvPr id="429" name="Google Shape;429;gcb3f8ee040_0_3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0" name="Google Shape;430;gcb3f8ee040_0_3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575" y="1678488"/>
            <a:ext cx="68389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cb3f8ee040_0_3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Inner Join</a:t>
            </a:r>
            <a:endParaRPr/>
          </a:p>
        </p:txBody>
      </p:sp>
      <p:sp>
        <p:nvSpPr>
          <p:cNvPr id="436" name="Google Shape;436;gcb3f8ee040_0_3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7" name="Google Shape;437;gcb3f8ee040_0_3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1526092"/>
            <a:ext cx="72199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cb3f8ee040_0_3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Semi-Join</a:t>
            </a:r>
            <a:endParaRPr/>
          </a:p>
        </p:txBody>
      </p:sp>
      <p:sp>
        <p:nvSpPr>
          <p:cNvPr id="443" name="Google Shape;443;gcb3f8ee040_0_3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4" name="Google Shape;444;gcb3f8ee040_0_3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1627067"/>
            <a:ext cx="67627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cb3f8ee040_0_3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Anti-Join</a:t>
            </a:r>
            <a:endParaRPr/>
          </a:p>
        </p:txBody>
      </p:sp>
      <p:sp>
        <p:nvSpPr>
          <p:cNvPr id="450" name="Google Shape;450;gcb3f8ee040_0_3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1" name="Google Shape;451;gcb3f8ee040_0_3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1568167"/>
            <a:ext cx="75628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cb3f8ee040_0_3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– Joining babyNames</a:t>
            </a:r>
            <a:endParaRPr/>
          </a:p>
        </p:txBody>
      </p:sp>
      <p:sp>
        <p:nvSpPr>
          <p:cNvPr id="457" name="Google Shape;457;gcb3f8ee040_0_3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Combine babyNames with births. So far, we've looked at joining on one column, only, but it's possible to join on 2.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a new column that shows the total number of babies born each year for each name.</a:t>
            </a:r>
            <a:endParaRPr/>
          </a:p>
        </p:txBody>
      </p:sp>
      <p:sp>
        <p:nvSpPr>
          <p:cNvPr id="458" name="Google Shape;458;gcb3f8ee040_0_3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9" name="Google Shape;459;gcb3f8ee040_0_353"/>
          <p:cNvSpPr txBox="1"/>
          <p:nvPr/>
        </p:nvSpPr>
        <p:spPr>
          <a:xfrm>
            <a:off x="838725" y="4420675"/>
            <a:ext cx="54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cb3f8ee040_0_3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Hints</a:t>
            </a:r>
            <a:endParaRPr/>
          </a:p>
        </p:txBody>
      </p:sp>
      <p:sp>
        <p:nvSpPr>
          <p:cNvPr id="465" name="Google Shape;465;gcb3f8ee040_0_3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Think about how to convert the proportion of babies born with a given name (and the total number of babies born) to find the actual number of babies born with a given name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Does it make sense to have 1.5 babies born with a particular name?</a:t>
            </a:r>
            <a:endParaRPr/>
          </a:p>
        </p:txBody>
      </p:sp>
      <p:sp>
        <p:nvSpPr>
          <p:cNvPr id="466" name="Google Shape;466;gcb3f8ee040_0_3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7" name="Google Shape;467;gcb3f8ee040_0_359"/>
          <p:cNvSpPr txBox="1"/>
          <p:nvPr/>
        </p:nvSpPr>
        <p:spPr>
          <a:xfrm>
            <a:off x="838725" y="4420675"/>
            <a:ext cx="54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cb3f8ee040_0_3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Answer</a:t>
            </a:r>
            <a:endParaRPr/>
          </a:p>
        </p:txBody>
      </p:sp>
      <p:sp>
        <p:nvSpPr>
          <p:cNvPr id="473" name="Google Shape;473;gcb3f8ee040_0_3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4" name="Google Shape;474;gcb3f8ee040_0_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7175" y="1533517"/>
            <a:ext cx="64674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cb3f8ee040_0_3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– Grouping by Hand (in theory!)</a:t>
            </a:r>
            <a:endParaRPr/>
          </a:p>
        </p:txBody>
      </p:sp>
      <p:sp>
        <p:nvSpPr>
          <p:cNvPr id="480" name="Google Shape;480;gcb3f8ee040_0_3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Calculate the total number of babies born (across all years) for a single name e.g. your name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Devise a strategy for calculating the total for every name (pseudo-code, though bonus points if you implement it!)</a:t>
            </a:r>
            <a:endParaRPr/>
          </a:p>
        </p:txBody>
      </p:sp>
      <p:sp>
        <p:nvSpPr>
          <p:cNvPr id="481" name="Google Shape;481;gcb3f8ee040_0_3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2" name="Google Shape;482;gcb3f8ee040_0_371"/>
          <p:cNvSpPr txBox="1"/>
          <p:nvPr/>
        </p:nvSpPr>
        <p:spPr>
          <a:xfrm>
            <a:off x="838725" y="4420675"/>
            <a:ext cx="54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f7a46a8028_0_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8 - Tips</a:t>
            </a:r>
            <a:endParaRPr/>
          </a:p>
        </p:txBody>
      </p:sp>
      <p:sp>
        <p:nvSpPr>
          <p:cNvPr id="488" name="Google Shape;488;gf7a46a8028_0_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calculate totals for a single name you'll need to filter your dataset first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Can you generalise your method in part 1 to work for each name in the dataset?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don't need to implement part 2, just have an idea of how you would do 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89" name="Google Shape;489;gf7a46a8028_0_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0" name="Google Shape;490;gf7a46a8028_0_17"/>
          <p:cNvSpPr txBox="1"/>
          <p:nvPr/>
        </p:nvSpPr>
        <p:spPr>
          <a:xfrm>
            <a:off x="838725" y="4420675"/>
            <a:ext cx="54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b="0" i="0" sz="2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f7a46a8028_0_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8 - Answer</a:t>
            </a:r>
            <a:endParaRPr/>
          </a:p>
        </p:txBody>
      </p:sp>
      <p:sp>
        <p:nvSpPr>
          <p:cNvPr id="496" name="Google Shape;496;gf7a46a8028_0_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97" name="Google Shape;497;gf7a46a8028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513" y="1720574"/>
            <a:ext cx="6566970" cy="44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f7a46a8028_0_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Strategy</a:t>
            </a:r>
            <a:endParaRPr/>
          </a:p>
        </p:txBody>
      </p:sp>
      <p:sp>
        <p:nvSpPr>
          <p:cNvPr id="503" name="Google Shape;503;gf7a46a8028_0_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4" name="Google Shape;504;gf7a46a8028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600" y="1508400"/>
            <a:ext cx="64770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f7a46a8028_0_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Split</a:t>
            </a:r>
            <a:endParaRPr/>
          </a:p>
        </p:txBody>
      </p:sp>
      <p:sp>
        <p:nvSpPr>
          <p:cNvPr id="510" name="Google Shape;510;gf7a46a8028_0_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1" name="Google Shape;511;gf7a46a8028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650" y="1509267"/>
            <a:ext cx="63627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f7a46a8028_0_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Apply</a:t>
            </a:r>
            <a:endParaRPr/>
          </a:p>
        </p:txBody>
      </p:sp>
      <p:sp>
        <p:nvSpPr>
          <p:cNvPr id="517" name="Google Shape;517;gf7a46a8028_0_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8" name="Google Shape;518;gf7a46a8028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600" y="1508400"/>
            <a:ext cx="63436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f7a46a8028_0_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Combine</a:t>
            </a:r>
            <a:endParaRPr/>
          </a:p>
        </p:txBody>
      </p:sp>
      <p:sp>
        <p:nvSpPr>
          <p:cNvPr id="524" name="Google Shape;524;gf7a46a8028_0_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5" name="Google Shape;525;gf7a46a8028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600" y="1508400"/>
            <a:ext cx="65532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cb3f8ee040_0_3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Splitting</a:t>
            </a:r>
            <a:endParaRPr/>
          </a:p>
        </p:txBody>
      </p:sp>
      <p:sp>
        <p:nvSpPr>
          <p:cNvPr id="531" name="Google Shape;531;gcb3f8ee040_0_3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first step is to group the rows of the data frame by name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result of this operation is simply the addition of groups to the metadata of the dataframe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Grouping </a:t>
            </a:r>
            <a:r>
              <a:rPr i="1" lang="en-GB" u="sng"/>
              <a:t>doesn't </a:t>
            </a:r>
            <a:r>
              <a:rPr lang="en-GB"/>
              <a:t>change how the data looks (apart from listing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how it's grouped) and how it acts with the other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dplyr </a:t>
            </a:r>
            <a:r>
              <a:rPr lang="en-GB"/>
              <a:t>verbs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32" name="Google Shape;532;gcb3f8ee040_0_3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3" name="Google Shape;533;gcb3f8ee040_0_3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100" y="3740263"/>
            <a:ext cx="46482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f7a46a8028_0_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Apply and Combine</a:t>
            </a:r>
            <a:endParaRPr/>
          </a:p>
        </p:txBody>
      </p:sp>
      <p:sp>
        <p:nvSpPr>
          <p:cNvPr id="539" name="Google Shape;539;gf7a46a8028_0_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second step applies a function to each group individually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40" name="Google Shape;540;gf7a46a8028_0_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1" name="Google Shape;541;gf7a46a8028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450" y="2614388"/>
            <a:ext cx="422910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f7a46a8028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Apply and Combine</a:t>
            </a:r>
            <a:endParaRPr/>
          </a:p>
        </p:txBody>
      </p:sp>
      <p:sp>
        <p:nvSpPr>
          <p:cNvPr id="547" name="Google Shape;547;gf7a46a8028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Other candidate summary functions include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min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median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max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quantile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sd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var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iqr</a:t>
            </a:r>
            <a:r>
              <a:rPr lang="en-GB"/>
              <a:t>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mad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nth </a:t>
            </a:r>
            <a:r>
              <a:rPr lang="en-GB"/>
              <a:t>(Extract the first, last or nth value from a vector)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 </a:t>
            </a:r>
            <a:r>
              <a:rPr lang="en-GB"/>
              <a:t>(gives the current group size, i.e.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summarise(namesBirths, n())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n_distinct </a:t>
            </a:r>
            <a:r>
              <a:rPr lang="en-GB"/>
              <a:t>(count the number of unique values in a set of vectors)</a:t>
            </a:r>
            <a:endParaRPr/>
          </a:p>
        </p:txBody>
      </p:sp>
      <p:sp>
        <p:nvSpPr>
          <p:cNvPr id="548" name="Google Shape;548;gf7a46a8028_0_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f7a46a8028_0_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Extra Grouping Criteria</a:t>
            </a:r>
            <a:endParaRPr/>
          </a:p>
        </p:txBody>
      </p:sp>
      <p:sp>
        <p:nvSpPr>
          <p:cNvPr id="554" name="Google Shape;554;gf7a46a8028_0_7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Groups may also be formed using more than one variable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55" name="Google Shape;555;gf7a46a8028_0_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6" name="Google Shape;556;gf7a46a8028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2824738"/>
            <a:ext cx="733425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cb3f8ee040_0_3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Extra Grouping Criteria</a:t>
            </a:r>
            <a:endParaRPr/>
          </a:p>
        </p:txBody>
      </p:sp>
      <p:sp>
        <p:nvSpPr>
          <p:cNvPr id="562" name="Google Shape;562;gcb3f8ee040_0_38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Summarising removes one level of grouping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63" name="Google Shape;563;gcb3f8ee040_0_3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4" name="Google Shape;564;gcb3f8ee040_0_3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498" y="2221573"/>
            <a:ext cx="5511300" cy="22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cb3f8ee040_0_3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3" y="3945575"/>
            <a:ext cx="4611825" cy="23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7a46a8028_0_10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Ungrouping Data</a:t>
            </a:r>
            <a:endParaRPr/>
          </a:p>
        </p:txBody>
      </p:sp>
      <p:sp>
        <p:nvSpPr>
          <p:cNvPr id="571" name="Google Shape;571;gf7a46a8028_0_10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When they are no longer required, it is best practice to remove grouping metadata with the ungroup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72" name="Google Shape;572;gf7a46a8028_0_10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73" name="Google Shape;573;gf7a46a8028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50" y="3243850"/>
            <a:ext cx="6661884" cy="8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f7a46a8028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579" name="Google Shape;579;gf7a46a8028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Filter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Arrange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Mutate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Summarise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Join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Group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80" name="Google Shape;580;gf7a46a8028_0_1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8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586" name="Google Shape;586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