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6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</p:sldIdLst>
  <p:sldSz cy="6858000" cx="9144000"/>
  <p:notesSz cx="6858000" cy="9144000"/>
  <p:embeddedFontLst>
    <p:embeddedFont>
      <p:font typeface="Roboto"/>
      <p:regular r:id="rId65"/>
      <p:bold r:id="rId66"/>
      <p:italic r:id="rId67"/>
      <p:boldItalic r:id="rId68"/>
    </p:embeddedFont>
    <p:embeddedFont>
      <p:font typeface="Book Antiqua"/>
      <p:regular r:id="rId69"/>
      <p:bold r:id="rId70"/>
      <p:italic r:id="rId71"/>
      <p:boldItalic r:id="rId72"/>
    </p:embeddedFont>
    <p:embeddedFont>
      <p:font typeface="Roboto Mono"/>
      <p:regular r:id="rId73"/>
      <p:bold r:id="rId74"/>
      <p:italic r:id="rId75"/>
      <p:boldItalic r:id="rId76"/>
    </p:embeddedFont>
    <p:embeddedFont>
      <p:font typeface="Century Gothic"/>
      <p:regular r:id="rId77"/>
      <p:bold r:id="rId78"/>
      <p:italic r:id="rId79"/>
      <p:boldItalic r:id="rId8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496CEE1-2483-4156-8A53-E88FDD7C6B85}">
  <a:tblStyle styleId="{F496CEE1-2483-4156-8A53-E88FDD7C6B85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80" Type="http://schemas.openxmlformats.org/officeDocument/2006/relationships/font" Target="fonts/CenturyGothic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73" Type="http://schemas.openxmlformats.org/officeDocument/2006/relationships/font" Target="fonts/RobotoMono-regular.fntdata"/><Relationship Id="rId72" Type="http://schemas.openxmlformats.org/officeDocument/2006/relationships/font" Target="fonts/BookAntiqua-boldItalic.fntdata"/><Relationship Id="rId31" Type="http://schemas.openxmlformats.org/officeDocument/2006/relationships/slide" Target="slides/slide25.xml"/><Relationship Id="rId75" Type="http://schemas.openxmlformats.org/officeDocument/2006/relationships/font" Target="fonts/RobotoMono-italic.fntdata"/><Relationship Id="rId30" Type="http://schemas.openxmlformats.org/officeDocument/2006/relationships/slide" Target="slides/slide24.xml"/><Relationship Id="rId74" Type="http://schemas.openxmlformats.org/officeDocument/2006/relationships/font" Target="fonts/RobotoMono-bold.fntdata"/><Relationship Id="rId33" Type="http://schemas.openxmlformats.org/officeDocument/2006/relationships/slide" Target="slides/slide27.xml"/><Relationship Id="rId77" Type="http://schemas.openxmlformats.org/officeDocument/2006/relationships/font" Target="fonts/CenturyGothic-regular.fntdata"/><Relationship Id="rId32" Type="http://schemas.openxmlformats.org/officeDocument/2006/relationships/slide" Target="slides/slide26.xml"/><Relationship Id="rId76" Type="http://schemas.openxmlformats.org/officeDocument/2006/relationships/font" Target="fonts/RobotoMono-boldItalic.fntdata"/><Relationship Id="rId35" Type="http://schemas.openxmlformats.org/officeDocument/2006/relationships/slide" Target="slides/slide29.xml"/><Relationship Id="rId79" Type="http://schemas.openxmlformats.org/officeDocument/2006/relationships/font" Target="fonts/CenturyGothic-italic.fntdata"/><Relationship Id="rId34" Type="http://schemas.openxmlformats.org/officeDocument/2006/relationships/slide" Target="slides/slide28.xml"/><Relationship Id="rId78" Type="http://schemas.openxmlformats.org/officeDocument/2006/relationships/font" Target="fonts/CenturyGothic-bold.fntdata"/><Relationship Id="rId71" Type="http://schemas.openxmlformats.org/officeDocument/2006/relationships/font" Target="fonts/BookAntiqua-italic.fntdata"/><Relationship Id="rId70" Type="http://schemas.openxmlformats.org/officeDocument/2006/relationships/font" Target="fonts/BookAntiqua-bold.fntdata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62" Type="http://schemas.openxmlformats.org/officeDocument/2006/relationships/slide" Target="slides/slide56.xml"/><Relationship Id="rId61" Type="http://schemas.openxmlformats.org/officeDocument/2006/relationships/slide" Target="slides/slide55.xml"/><Relationship Id="rId20" Type="http://schemas.openxmlformats.org/officeDocument/2006/relationships/slide" Target="slides/slide14.xml"/><Relationship Id="rId64" Type="http://schemas.openxmlformats.org/officeDocument/2006/relationships/slide" Target="slides/slide58.xml"/><Relationship Id="rId63" Type="http://schemas.openxmlformats.org/officeDocument/2006/relationships/slide" Target="slides/slide57.xml"/><Relationship Id="rId22" Type="http://schemas.openxmlformats.org/officeDocument/2006/relationships/slide" Target="slides/slide16.xml"/><Relationship Id="rId66" Type="http://schemas.openxmlformats.org/officeDocument/2006/relationships/font" Target="fonts/Roboto-bold.fntdata"/><Relationship Id="rId21" Type="http://schemas.openxmlformats.org/officeDocument/2006/relationships/slide" Target="slides/slide15.xml"/><Relationship Id="rId65" Type="http://schemas.openxmlformats.org/officeDocument/2006/relationships/font" Target="fonts/Roboto-regular.fntdata"/><Relationship Id="rId24" Type="http://schemas.openxmlformats.org/officeDocument/2006/relationships/slide" Target="slides/slide18.xml"/><Relationship Id="rId68" Type="http://schemas.openxmlformats.org/officeDocument/2006/relationships/font" Target="fonts/Roboto-boldItalic.fntdata"/><Relationship Id="rId23" Type="http://schemas.openxmlformats.org/officeDocument/2006/relationships/slide" Target="slides/slide17.xml"/><Relationship Id="rId67" Type="http://schemas.openxmlformats.org/officeDocument/2006/relationships/font" Target="fonts/Roboto-italic.fntdata"/><Relationship Id="rId60" Type="http://schemas.openxmlformats.org/officeDocument/2006/relationships/slide" Target="slides/slide54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69" Type="http://schemas.openxmlformats.org/officeDocument/2006/relationships/font" Target="fonts/BookAntiqua-regular.fntdata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55" Type="http://schemas.openxmlformats.org/officeDocument/2006/relationships/slide" Target="slides/slide49.xml"/><Relationship Id="rId10" Type="http://schemas.openxmlformats.org/officeDocument/2006/relationships/slide" Target="slides/slide4.xml"/><Relationship Id="rId54" Type="http://schemas.openxmlformats.org/officeDocument/2006/relationships/slide" Target="slides/slide48.xml"/><Relationship Id="rId13" Type="http://schemas.openxmlformats.org/officeDocument/2006/relationships/slide" Target="slides/slide7.xml"/><Relationship Id="rId57" Type="http://schemas.openxmlformats.org/officeDocument/2006/relationships/slide" Target="slides/slide51.xml"/><Relationship Id="rId12" Type="http://schemas.openxmlformats.org/officeDocument/2006/relationships/slide" Target="slides/slide6.xml"/><Relationship Id="rId56" Type="http://schemas.openxmlformats.org/officeDocument/2006/relationships/slide" Target="slides/slide50.xml"/><Relationship Id="rId15" Type="http://schemas.openxmlformats.org/officeDocument/2006/relationships/slide" Target="slides/slide9.xml"/><Relationship Id="rId59" Type="http://schemas.openxmlformats.org/officeDocument/2006/relationships/slide" Target="slides/slide53.xml"/><Relationship Id="rId14" Type="http://schemas.openxmlformats.org/officeDocument/2006/relationships/slide" Target="slides/slide8.xml"/><Relationship Id="rId58" Type="http://schemas.openxmlformats.org/officeDocument/2006/relationships/slide" Target="slides/slide52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" name="Google Shape;64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GB" sz="1800"/>
              <a:t>Entered text</a:t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200"/>
              <a:t>Slide 1: Introduction</a:t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200"/>
              <a:t>Start with a brief introduction to the topic of image processing.</a:t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200"/>
              <a:t>Mention that it's a crucial field in today's digital age.</a:t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200"/>
              <a:t>Explain that you'll be covering the basics, real-world applications, and key terminology.</a:t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200"/>
              <a:t>Slide 2: What is Image Processing?</a:t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200"/>
              <a:t>Define image processing as the manipulation of an image to extract information or enhance its features.</a:t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200"/>
              <a:t>Mention its wide range of applications, from photography to medical imaging.</a:t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200"/>
              <a:t>Slide 3: Importance of Image Processing</a:t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200"/>
              <a:t>Discuss the importance of image processing in various fields:</a:t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200"/>
              <a:t>Medical: Diagnosis and treatment planning.</a:t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200"/>
              <a:t>Entertainment: Special effects in movies and video games.</a:t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200"/>
              <a:t>Security: Face recognition and surveillance.</a:t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200"/>
              <a:t>Agriculture: Crop analysis and yield prediction.</a:t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200"/>
              <a:t>Manufacturing: Quality control and defect detection.</a:t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200"/>
              <a:t>Emphasize how it improves decision-making, saves time, and reduces errors.</a:t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200"/>
              <a:t>Slide 4: Real-world Applications</a:t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200"/>
              <a:t>4.1: Medical Imaging</a:t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200"/>
              <a:t>Explain how image processing is used in medical imaging.</a:t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200"/>
              <a:t>Mention applications like MRI, CT scans, and X-rays.</a:t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200"/>
              <a:t>Highlight its role in disease detection and treatment planning.</a:t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200"/>
              <a:t>4.2: Entertainment</a:t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200"/>
              <a:t>Discuss how image processing enhances visual effects in movies and video games.</a:t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200"/>
              <a:t>Mention CGI (Computer-Generated Imagery) and motion capture technology.</a:t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200"/>
              <a:t>4.3: Security</a:t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200"/>
              <a:t>Explain image processing's role in security through face recognition and surveillance systems.</a:t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200"/>
              <a:t>Emphasize its significance in crime prevention and national security.</a:t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200"/>
              <a:t>4.4: Agriculture</a:t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200"/>
              <a:t>Discuss its applications in agriculture, such as crop analysis and yield prediction.</a:t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200"/>
              <a:t>Explain how it helps farmers make informed decisions.</a:t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200"/>
              <a:t>4.5: Manufacturing</a:t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200"/>
              <a:t>Describe how image processing is used in manufacturing for quality control and defect detection.</a:t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200"/>
              <a:t>Mention its role in ensuring product consistency.</a:t>
            </a:r>
            <a:endParaRPr sz="120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7ca82664bc_0_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" name="Google Shape;72;g37ca82664b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3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" name="Google Shape;7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29db2c4bef2_0_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29db2c4bef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29db2c4bef2_0_55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29db2c4bef2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29db2c4bef2_0_108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29db2c4bef2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29db2c4bef2_0_84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29db2c4bef2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29db2c4bef2_0_128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29db2c4bef2_0_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29db2c4bef2_0_15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29db2c4bef2_0_1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29db2c4bef2_0_157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29db2c4bef2_0_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29db2c4bef2_0_166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29db2c4bef2_0_1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29db2c4bef2_0_9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29db2c4bef2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29db2c4bef2_0_206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29db2c4bef2_0_2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29db2c4bef2_0_222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29db2c4bef2_0_2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29e9fc10e61_0_222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29e9fc10e61_0_2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29db2c4bef2_0_96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29db2c4bef2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29db2c4bef2_0_255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29db2c4bef2_0_2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29db2c4bef2_0_266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29db2c4bef2_0_2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29db2c4bef2_0_38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29db2c4bef2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29e68b551a1_0_61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29e68b551a1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29e68b551a1_0_42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Google Shape;243;g29e68b551a1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29e68b551a1_0_76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29e68b551a1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29e68b551a1_0_89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g29e68b551a1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2a210787c5e_0_2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6" name="Google Shape;266;g2a210787c5e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29e68b551a1_0_98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6" name="Google Shape;276;g29e68b551a1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2a210787c5e_0_11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5" name="Google Shape;285;g2a210787c5e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29e68b551a1_0_111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6" name="Google Shape;296;g29e68b551a1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29e68b551a1_0_132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3" name="Google Shape;303;g29e68b551a1_0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29e68b551a1_0_142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0" name="Google Shape;310;g29e68b551a1_0_1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29e68b551a1_0_156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0" name="Google Shape;320;g29e68b551a1_0_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29e9fc10e61_0_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" name="Google Shape;332;g29e9fc10e6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29e68b551a1_0_178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0" name="Google Shape;340;g29e68b551a1_0_1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29e9fc10e61_0_27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8" name="Google Shape;348;g29e9fc10e61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29db2c4bef2_0_102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2" name="Google Shape;362;g29db2c4bef2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g29e9fc10e61_0_52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9" name="Google Shape;369;g29e9fc10e61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g29e9fc10e61_0_62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6" name="Google Shape;376;g29e9fc10e61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29e9fc10e61_0_73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5" name="Google Shape;385;g29e9fc10e61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g31ba3eb9670_0_2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4" name="Google Shape;394;g31ba3eb9670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g31ba3eb9670_0_16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3" name="Google Shape;403;g31ba3eb9670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g31ba3eb9670_0_26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1" name="Google Shape;411;g31ba3eb9670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g29e68b551a1_0_184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9" name="Google Shape;419;g29e68b551a1_0_1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g29e68b551a1_0_19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8" name="Google Shape;428;g29e68b551a1_0_1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g31ba3eb9670_0_37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8" name="Google Shape;438;g31ba3eb9670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g31ba3eb9670_0_5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9" name="Google Shape;449;g31ba3eb9670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g29e9fc10e61_0_98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0" name="Google Shape;460;g29e9fc10e61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g29e9fc10e61_0_115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0" name="Google Shape;470;g29e9fc10e61_0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g2a210787c5e_0_27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4" name="Google Shape;484;g2a210787c5e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g29e9fc10e61_0_136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1" name="Google Shape;501;g29e9fc10e61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g29e9fc10e61_0_152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0" name="Google Shape;510;g29e9fc10e61_0_1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g29e9fc10e61_0_162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1" name="Google Shape;521;g29e9fc10e61_0_1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g29e9fc10e61_0_172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2" name="Google Shape;532;g29e9fc10e61_0_1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g29e9fc10e61_0_192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3" name="Google Shape;543;g29e9fc10e61_0_1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g29e9fc10e61_0_20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2" name="Google Shape;552;g29e9fc10e61_0_2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g29e9fc10e61_0_233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3" name="Google Shape;563;g29e9fc10e61_0_2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gf7a46a8028_0_111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0" name="Google Shape;570;gf7a46a8028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g288e6d0fa6b_2_29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7" name="Google Shape;577;g288e6d0fa6b_2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gfcb44cb6a3_1_555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4" name="Google Shape;584;gfcb44cb6a3_1_5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p48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1" name="Google Shape;591;p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0" y="925567"/>
            <a:ext cx="8520600" cy="23040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3629900"/>
            <a:ext cx="8520600" cy="10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60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sz="2000"/>
          </a:p>
        </p:txBody>
      </p:sp>
      <p:sp>
        <p:nvSpPr>
          <p:cNvPr id="14" name="Google Shape;14;p2"/>
          <p:cNvSpPr txBox="1"/>
          <p:nvPr>
            <p:ph idx="2" type="subTitle"/>
          </p:nvPr>
        </p:nvSpPr>
        <p:spPr>
          <a:xfrm>
            <a:off x="279775" y="4860867"/>
            <a:ext cx="8520600" cy="10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683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1pPr>
            <a:lvl2pPr indent="-3429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/>
          <p:nvPr>
            <p:ph type="title"/>
          </p:nvPr>
        </p:nvSpPr>
        <p:spPr>
          <a:xfrm>
            <a:off x="490250" y="600200"/>
            <a:ext cx="6367800" cy="545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21" name="Google Shape;21;p4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 txBox="1"/>
          <p:nvPr>
            <p:ph type="title"/>
          </p:nvPr>
        </p:nvSpPr>
        <p:spPr>
          <a:xfrm>
            <a:off x="311700" y="2867800"/>
            <a:ext cx="8520600" cy="112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11700" y="1536633"/>
            <a:ext cx="39999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6"/>
          <p:cNvSpPr txBox="1"/>
          <p:nvPr>
            <p:ph idx="2" type="body"/>
          </p:nvPr>
        </p:nvSpPr>
        <p:spPr>
          <a:xfrm>
            <a:off x="4832400" y="1536633"/>
            <a:ext cx="39999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6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2" name="Google Shape;32;p7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type="title"/>
          </p:nvPr>
        </p:nvSpPr>
        <p:spPr>
          <a:xfrm>
            <a:off x="311700" y="740800"/>
            <a:ext cx="2808000" cy="10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5" name="Google Shape;35;p8"/>
          <p:cNvSpPr txBox="1"/>
          <p:nvPr>
            <p:ph idx="1" type="body"/>
          </p:nvPr>
        </p:nvSpPr>
        <p:spPr>
          <a:xfrm>
            <a:off x="311700" y="1852800"/>
            <a:ext cx="2808000" cy="42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6" name="Google Shape;36;p8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/>
          <p:cNvSpPr/>
          <p:nvPr/>
        </p:nvSpPr>
        <p:spPr>
          <a:xfrm>
            <a:off x="4572000" y="-167"/>
            <a:ext cx="457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9"/>
          <p:cNvSpPr txBox="1"/>
          <p:nvPr>
            <p:ph type="title"/>
          </p:nvPr>
        </p:nvSpPr>
        <p:spPr>
          <a:xfrm>
            <a:off x="265500" y="1644233"/>
            <a:ext cx="4045200" cy="1976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0" name="Google Shape;40;p9"/>
          <p:cNvSpPr txBox="1"/>
          <p:nvPr>
            <p:ph idx="1" type="subTitle"/>
          </p:nvPr>
        </p:nvSpPr>
        <p:spPr>
          <a:xfrm>
            <a:off x="265500" y="3737433"/>
            <a:ext cx="4045200" cy="16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1" name="Google Shape;41;p9"/>
          <p:cNvSpPr txBox="1"/>
          <p:nvPr>
            <p:ph idx="2" type="body"/>
          </p:nvPr>
        </p:nvSpPr>
        <p:spPr>
          <a:xfrm>
            <a:off x="4939500" y="965433"/>
            <a:ext cx="3837000" cy="49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683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1pPr>
            <a:lvl2pPr indent="-3429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42" name="Google Shape;42;p9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/>
          <p:nvPr>
            <p:ph idx="1" type="body"/>
          </p:nvPr>
        </p:nvSpPr>
        <p:spPr>
          <a:xfrm>
            <a:off x="311700" y="5640767"/>
            <a:ext cx="5998800" cy="80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</a:lstStyle>
          <a:p/>
        </p:txBody>
      </p:sp>
      <p:sp>
        <p:nvSpPr>
          <p:cNvPr id="45" name="Google Shape;45;p10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 txBox="1"/>
          <p:nvPr>
            <p:ph hasCustomPrompt="1" type="title"/>
          </p:nvPr>
        </p:nvSpPr>
        <p:spPr>
          <a:xfrm>
            <a:off x="311700" y="1474833"/>
            <a:ext cx="8520600" cy="2618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8" name="Google Shape;48;p11"/>
          <p:cNvSpPr txBox="1"/>
          <p:nvPr>
            <p:ph idx="1" type="body"/>
          </p:nvPr>
        </p:nvSpPr>
        <p:spPr>
          <a:xfrm>
            <a:off x="311700" y="4202967"/>
            <a:ext cx="8520600" cy="1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683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1pPr>
            <a:lvl2pPr indent="-3429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49" name="Google Shape;49;p11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BODY_1">
  <p:cSld name="TITLE_AND_BODY_1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3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" name="Google Shape;54;p13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683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1pPr>
            <a:lvl2pPr indent="-3429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_Pearson" showMasterSp="0">
  <p:cSld name="Title and Content_Pearson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type="title"/>
          </p:nvPr>
        </p:nvSpPr>
        <p:spPr>
          <a:xfrm>
            <a:off x="0" y="1"/>
            <a:ext cx="9144000" cy="8367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Book Antiqua"/>
              <a:buNone/>
              <a:defRPr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" type="body"/>
          </p:nvPr>
        </p:nvSpPr>
        <p:spPr>
          <a:xfrm>
            <a:off x="457200" y="1628800"/>
            <a:ext cx="8229600" cy="449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  <a:defRPr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1" type="ftr"/>
          </p:nvPr>
        </p:nvSpPr>
        <p:spPr>
          <a:xfrm>
            <a:off x="0" y="6597352"/>
            <a:ext cx="9144000" cy="288000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0" name="Google Shape;60;p14"/>
          <p:cNvSpPr txBox="1"/>
          <p:nvPr>
            <p:ph idx="12" type="sldNum"/>
          </p:nvPr>
        </p:nvSpPr>
        <p:spPr>
          <a:xfrm>
            <a:off x="8500892" y="6504885"/>
            <a:ext cx="648000" cy="380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Book Antiqua"/>
                <a:ea typeface="Book Antiqua"/>
                <a:cs typeface="Book Antiqua"/>
                <a:sym typeface="Book Antiqu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Book Antiqua"/>
                <a:ea typeface="Book Antiqua"/>
                <a:cs typeface="Book Antiqua"/>
                <a:sym typeface="Book Antiqu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Book Antiqua"/>
                <a:ea typeface="Book Antiqua"/>
                <a:cs typeface="Book Antiqua"/>
                <a:sym typeface="Book Antiqu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Book Antiqua"/>
                <a:ea typeface="Book Antiqua"/>
                <a:cs typeface="Book Antiqua"/>
                <a:sym typeface="Book Antiqu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Book Antiqua"/>
                <a:ea typeface="Book Antiqua"/>
                <a:cs typeface="Book Antiqua"/>
                <a:sym typeface="Book Antiqu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Book Antiqua"/>
                <a:ea typeface="Book Antiqua"/>
                <a:cs typeface="Book Antiqua"/>
                <a:sym typeface="Book Antiqu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Book Antiqua"/>
                <a:ea typeface="Book Antiqua"/>
                <a:cs typeface="Book Antiqua"/>
                <a:sym typeface="Book Antiqu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Book Antiqua"/>
                <a:ea typeface="Book Antiqua"/>
                <a:cs typeface="Book Antiqua"/>
                <a:sym typeface="Book Antiqu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Book Antiqua"/>
                <a:ea typeface="Book Antiqua"/>
                <a:cs typeface="Book Antiqua"/>
                <a:sym typeface="Book Antiqu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1" name="Google Shape;61;p14"/>
          <p:cNvSpPr txBox="1"/>
          <p:nvPr/>
        </p:nvSpPr>
        <p:spPr>
          <a:xfrm>
            <a:off x="827585" y="6227885"/>
            <a:ext cx="8280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1" lang="en-GB" sz="12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Punch, Enbody “The Practice of Computing Using Python”, ©2013 Pearson Addison-Wesley. All rights reserved</a:t>
            </a:r>
            <a:endParaRPr b="0" i="1" sz="12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683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Arial"/>
              <a:buChar char="●"/>
              <a:defRPr b="0" i="0" sz="2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sz="2600"/>
          </a:p>
        </p:txBody>
      </p:sp>
      <p:sp>
        <p:nvSpPr>
          <p:cNvPr id="9" name="Google Shape;9;p1"/>
          <p:cNvSpPr/>
          <p:nvPr/>
        </p:nvSpPr>
        <p:spPr>
          <a:xfrm>
            <a:off x="0" y="6542800"/>
            <a:ext cx="9140400" cy="315300"/>
          </a:xfrm>
          <a:prstGeom prst="rect">
            <a:avLst/>
          </a:prstGeom>
          <a:solidFill>
            <a:srgbClr val="0B539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hyperlink" Target="http://drive.google.com/file/d/1EzuBfTy44B-tbtbUl1unyOAaL-0LkAUM/view" TargetMode="External"/><Relationship Id="rId5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github.com/DAGsHub/audio-datasets" TargetMode="External"/><Relationship Id="rId4" Type="http://schemas.openxmlformats.org/officeDocument/2006/relationships/hyperlink" Target="https://freesound.org/" TargetMode="External"/><Relationship Id="rId5" Type="http://schemas.openxmlformats.org/officeDocument/2006/relationships/hyperlink" Target="https://research.google.com/audioset/" TargetMode="External"/><Relationship Id="rId6" Type="http://schemas.openxmlformats.org/officeDocument/2006/relationships/hyperlink" Target="https://github.com/karolpiczak/ESC-50" TargetMode="External"/><Relationship Id="rId7" Type="http://schemas.openxmlformats.org/officeDocument/2006/relationships/hyperlink" Target="https://github.com/turpaultn/DESED" TargetMode="External"/><Relationship Id="rId8" Type="http://schemas.openxmlformats.org/officeDocument/2006/relationships/hyperlink" Target="https://github.com/clovaai/voxceleb_trainer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drive.google.com/file/d/1oju8aZPF8wCbQaWs6uXfochFBZ4U7xEH/view?usp=sharing" TargetMode="External"/><Relationship Id="rId4" Type="http://schemas.openxmlformats.org/officeDocument/2006/relationships/hyperlink" Target="https://www.rdocumentation.org/packages/tuneR/versions/1.4.5/topics/readWave" TargetMode="External"/><Relationship Id="rId5" Type="http://schemas.openxmlformats.org/officeDocument/2006/relationships/hyperlink" Target="http://drive.google.com/file/d/1oju8aZPF8wCbQaWs6uXfochFBZ4U7xEH/view" TargetMode="External"/><Relationship Id="rId6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Relationship Id="rId4" Type="http://schemas.openxmlformats.org/officeDocument/2006/relationships/image" Target="../media/image6.png"/><Relationship Id="rId5" Type="http://schemas.openxmlformats.org/officeDocument/2006/relationships/hyperlink" Target="http://drive.google.com/file/d/1p6_1pAWzgrK01aYu9EB9TqZZX-GEXov1/view" TargetMode="External"/><Relationship Id="rId6" Type="http://schemas.openxmlformats.org/officeDocument/2006/relationships/image" Target="../media/image1.png"/><Relationship Id="rId7" Type="http://schemas.openxmlformats.org/officeDocument/2006/relationships/hyperlink" Target="http://drive.google.com/file/d/1oju8aZPF8wCbQaWs6uXfochFBZ4U7xEH/view" TargetMode="Externa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en.wikipedia.org/wiki/Pulse-code_modulation" TargetMode="External"/><Relationship Id="rId4" Type="http://schemas.openxmlformats.org/officeDocument/2006/relationships/image" Target="../media/image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0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5.png"/><Relationship Id="rId4" Type="http://schemas.openxmlformats.org/officeDocument/2006/relationships/image" Target="../media/image11.png"/><Relationship Id="rId5" Type="http://schemas.openxmlformats.org/officeDocument/2006/relationships/image" Target="../media/image10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2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2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4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4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hyperlink" Target="https://cran.r-project.org/web/packages/gsignal/vignettes/gsignal.html" TargetMode="Externa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6.png"/><Relationship Id="rId4" Type="http://schemas.openxmlformats.org/officeDocument/2006/relationships/image" Target="../media/image13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6.png"/><Relationship Id="rId4" Type="http://schemas.openxmlformats.org/officeDocument/2006/relationships/image" Target="../media/image13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8.png"/><Relationship Id="rId4" Type="http://schemas.openxmlformats.org/officeDocument/2006/relationships/image" Target="../media/image18.png"/><Relationship Id="rId5" Type="http://schemas.openxmlformats.org/officeDocument/2006/relationships/image" Target="../media/image15.png"/><Relationship Id="rId6" Type="http://schemas.openxmlformats.org/officeDocument/2006/relationships/image" Target="../media/image17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hyperlink" Target="https://www.youtube.com/watch?v=spUNpyF58BY&amp;ab_channel=3Blue1Brown" TargetMode="Externa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34.png"/><Relationship Id="rId4" Type="http://schemas.openxmlformats.org/officeDocument/2006/relationships/hyperlink" Target="https://www.rdocumentation.org/packages/seewave/versions/1.0/topics/spectro" TargetMode="External"/><Relationship Id="rId5" Type="http://schemas.openxmlformats.org/officeDocument/2006/relationships/hyperlink" Target="http://drive.google.com/file/d/1oju8aZPF8wCbQaWs6uXfochFBZ4U7xEH/view" TargetMode="External"/><Relationship Id="rId6" Type="http://schemas.openxmlformats.org/officeDocument/2006/relationships/image" Target="../media/image1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21.png"/><Relationship Id="rId4" Type="http://schemas.openxmlformats.org/officeDocument/2006/relationships/hyperlink" Target="http://drive.google.com/file/d/1F3H4pbVy2PG-8MJ74zurBg037C6TmSyC/view" TargetMode="External"/><Relationship Id="rId5" Type="http://schemas.openxmlformats.org/officeDocument/2006/relationships/image" Target="../media/image1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9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22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20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Relationship Id="rId3" Type="http://schemas.openxmlformats.org/officeDocument/2006/relationships/hyperlink" Target="https://www.rdocumentation.org/packages/seewave/versions/1.0/topics/spectro" TargetMode="Externa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23.png"/><Relationship Id="rId4" Type="http://schemas.openxmlformats.org/officeDocument/2006/relationships/image" Target="../media/image24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23.png"/><Relationship Id="rId4" Type="http://schemas.openxmlformats.org/officeDocument/2006/relationships/image" Target="../media/image24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26.png"/><Relationship Id="rId4" Type="http://schemas.openxmlformats.org/officeDocument/2006/relationships/image" Target="../media/image27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29.png"/><Relationship Id="rId4" Type="http://schemas.openxmlformats.org/officeDocument/2006/relationships/image" Target="../media/image31.png"/><Relationship Id="rId5" Type="http://schemas.openxmlformats.org/officeDocument/2006/relationships/image" Target="../media/image30.png"/><Relationship Id="rId6" Type="http://schemas.openxmlformats.org/officeDocument/2006/relationships/hyperlink" Target="http://drive.google.com/file/d/1FNowklDyiFc6QvAQLn4W8F8sHkZL73D7/view" TargetMode="External"/><Relationship Id="rId7" Type="http://schemas.openxmlformats.org/officeDocument/2006/relationships/image" Target="../media/image1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29.png"/><Relationship Id="rId4" Type="http://schemas.openxmlformats.org/officeDocument/2006/relationships/image" Target="../media/image31.png"/><Relationship Id="rId5" Type="http://schemas.openxmlformats.org/officeDocument/2006/relationships/image" Target="../media/image30.png"/><Relationship Id="rId6" Type="http://schemas.openxmlformats.org/officeDocument/2006/relationships/hyperlink" Target="http://drive.google.com/file/d/1FNowklDyiFc6QvAQLn4W8F8sHkZL73D7/view" TargetMode="External"/><Relationship Id="rId7" Type="http://schemas.openxmlformats.org/officeDocument/2006/relationships/image" Target="../media/image1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35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35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35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35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Relationship Id="rId3" Type="http://schemas.openxmlformats.org/officeDocument/2006/relationships/hyperlink" Target="https://drive.google.com/file/d/1EzuBfTy44B-tbtbUl1unyOAaL-0LkAUM/view?usp=sharing" TargetMode="External"/><Relationship Id="rId4" Type="http://schemas.openxmlformats.org/officeDocument/2006/relationships/hyperlink" Target="http://drive.google.com/file/d/1EzuBfTy44B-tbtbUl1unyOAaL-0LkAUM/view" TargetMode="External"/><Relationship Id="rId5" Type="http://schemas.openxmlformats.org/officeDocument/2006/relationships/image" Target="../media/image1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33.png"/><Relationship Id="rId4" Type="http://schemas.openxmlformats.org/officeDocument/2006/relationships/image" Target="../media/image32.png"/><Relationship Id="rId5" Type="http://schemas.openxmlformats.org/officeDocument/2006/relationships/hyperlink" Target="http://drive.google.com/file/d/1EzuBfTy44B-tbtbUl1unyOAaL-0LkAUM/view" TargetMode="External"/><Relationship Id="rId6" Type="http://schemas.openxmlformats.org/officeDocument/2006/relationships/image" Target="../media/image1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Relationship Id="rId3" Type="http://schemas.openxmlformats.org/officeDocument/2006/relationships/hyperlink" Target="https://app.datacamp.com/learn/courses/spoken-language-processing-in-python" TargetMode="External"/><Relationship Id="rId4" Type="http://schemas.openxmlformats.org/officeDocument/2006/relationships/hyperlink" Target="https://greenteapress.com/thinkdsp/thinkdsp.pdf" TargetMode="External"/><Relationship Id="rId5" Type="http://schemas.openxmlformats.org/officeDocument/2006/relationships/hyperlink" Target="https://librosa.org/doc/main/index.html" TargetMode="External"/><Relationship Id="rId6" Type="http://schemas.openxmlformats.org/officeDocument/2006/relationships/hyperlink" Target="https://www.tensorflow.org/api_docs/python/tf/signal" TargetMode="External"/><Relationship Id="rId7" Type="http://schemas.openxmlformats.org/officeDocument/2006/relationships/hyperlink" Target="https://docs.scipy.org/doc/scipy/reference/signal.html" TargetMode="Externa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Relationship Id="rId3" Type="http://schemas.openxmlformats.org/officeDocument/2006/relationships/hyperlink" Target="https://www.jeffdoser.com/files/for875/_book/digital-signal-processing" TargetMode="External"/><Relationship Id="rId4" Type="http://schemas.openxmlformats.org/officeDocument/2006/relationships/hyperlink" Target="https://cran.r-project.org/web/packages/gsignal/vignettes/gsignal.html" TargetMode="External"/><Relationship Id="rId9" Type="http://schemas.openxmlformats.org/officeDocument/2006/relationships/hyperlink" Target="https://www.jeffdoser.com/files/for875/_book/digital-signal-processing" TargetMode="External"/><Relationship Id="rId5" Type="http://schemas.openxmlformats.org/officeDocument/2006/relationships/hyperlink" Target="https://cran.r-project.org/web/packages/gsignal/vignettes/gsignal.html" TargetMode="External"/><Relationship Id="rId6" Type="http://schemas.openxmlformats.org/officeDocument/2006/relationships/hyperlink" Target="https://www.youtube.com/watch?v=spUNpyF58BY&amp;ab_channel=3Blue1Brown" TargetMode="External"/><Relationship Id="rId7" Type="http://schemas.openxmlformats.org/officeDocument/2006/relationships/hyperlink" Target="https://rpubs.com/eR_ic/dspr" TargetMode="External"/><Relationship Id="rId8" Type="http://schemas.openxmlformats.org/officeDocument/2006/relationships/hyperlink" Target="https://medium.com/@ageitgey/machine-learning-is-fun-part-6-how-to-do-speech-recognition-with-deep-learning-28293c162f7a" TargetMode="Externa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ctrTitle"/>
          </p:nvPr>
        </p:nvSpPr>
        <p:spPr>
          <a:xfrm>
            <a:off x="311700" y="925567"/>
            <a:ext cx="8520600" cy="23040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</a:pPr>
            <a:r>
              <a:rPr lang="en-GB"/>
              <a:t>Working With Data DATA9910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</a:pPr>
            <a:r>
              <a:rPr lang="en-GB"/>
              <a:t>Week 10</a:t>
            </a:r>
            <a:endParaRPr/>
          </a:p>
        </p:txBody>
      </p:sp>
      <p:sp>
        <p:nvSpPr>
          <p:cNvPr id="67" name="Google Shape;67;p15"/>
          <p:cNvSpPr txBox="1"/>
          <p:nvPr>
            <p:ph idx="1" type="subTitle"/>
          </p:nvPr>
        </p:nvSpPr>
        <p:spPr>
          <a:xfrm>
            <a:off x="311700" y="3803975"/>
            <a:ext cx="8520600" cy="10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Lucas Rizzo</a:t>
            </a:r>
            <a:endParaRPr/>
          </a:p>
        </p:txBody>
      </p:sp>
      <p:pic>
        <p:nvPicPr>
          <p:cNvPr id="68" name="Google Shape;6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52375" y="3749896"/>
            <a:ext cx="3379925" cy="2127775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5"/>
          <p:cNvSpPr txBox="1"/>
          <p:nvPr>
            <p:ph idx="2" type="subTitle"/>
          </p:nvPr>
        </p:nvSpPr>
        <p:spPr>
          <a:xfrm>
            <a:off x="279775" y="4860867"/>
            <a:ext cx="8520600" cy="10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GB"/>
              <a:t>email: lucas.rizzo@tudublin.ie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311700" y="163942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Indicative schedule</a:t>
            </a:r>
            <a:endParaRPr/>
          </a:p>
        </p:txBody>
      </p:sp>
      <p:sp>
        <p:nvSpPr>
          <p:cNvPr id="75" name="Google Shape;75;p16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graphicFrame>
        <p:nvGraphicFramePr>
          <p:cNvPr id="76" name="Google Shape;76;p16"/>
          <p:cNvGraphicFramePr/>
          <p:nvPr/>
        </p:nvGraphicFramePr>
        <p:xfrm>
          <a:off x="412000" y="75696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{F496CEE1-2483-4156-8A53-E88FDD7C6B85}</a:tableStyleId>
              </a:tblPr>
              <a:tblGrid>
                <a:gridCol w="1781900"/>
                <a:gridCol w="6247900"/>
              </a:tblGrid>
              <a:tr h="365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/>
                        <a:t>Week 1</a:t>
                      </a:r>
                      <a:endParaRPr b="1" sz="12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/>
                        <a:t>Set up environment and R notebook</a:t>
                      </a:r>
                      <a:endParaRPr sz="12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/>
                        <a:t>Week </a:t>
                      </a:r>
                      <a:r>
                        <a:rPr b="1" lang="en-GB" sz="1200"/>
                        <a:t>2</a:t>
                      </a:r>
                      <a:endParaRPr b="1" sz="12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/>
                        <a:t>Review Python and practice</a:t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/>
                        <a:t>Week </a:t>
                      </a:r>
                      <a:r>
                        <a:rPr b="1" lang="en-GB" sz="1200"/>
                        <a:t>3</a:t>
                      </a:r>
                      <a:endParaRPr b="1" sz="12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/>
                        <a:t>Review R</a:t>
                      </a:r>
                      <a:endParaRPr sz="1200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/>
                        <a:t>I</a:t>
                      </a:r>
                      <a:r>
                        <a:rPr lang="en-GB" sz="1200" u="none" cap="none" strike="noStrike"/>
                        <a:t>mporting data with R</a:t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/>
                        <a:t>Week </a:t>
                      </a:r>
                      <a:r>
                        <a:rPr b="1" lang="en-GB" sz="1200"/>
                        <a:t>4</a:t>
                      </a:r>
                      <a:endParaRPr b="1" sz="12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Intro SQL and aggregate queries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/>
                        <a:t>Week </a:t>
                      </a:r>
                      <a:r>
                        <a:rPr b="1" lang="en-GB" sz="1200"/>
                        <a:t>5</a:t>
                      </a:r>
                      <a:endParaRPr b="1" sz="12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Databases and scripting languages </a:t>
                      </a:r>
                      <a:r>
                        <a:rPr b="1" lang="en-GB" sz="1200">
                          <a:solidFill>
                            <a:srgbClr val="E06666"/>
                          </a:solidFill>
                        </a:rPr>
                        <a:t>(</a:t>
                      </a:r>
                      <a:r>
                        <a:rPr b="1" lang="en-GB" sz="1200" u="sng">
                          <a:solidFill>
                            <a:srgbClr val="E06666"/>
                          </a:solidFill>
                        </a:rPr>
                        <a:t>To be submitted</a:t>
                      </a:r>
                      <a:r>
                        <a:rPr b="1" lang="en-GB" sz="1200">
                          <a:solidFill>
                            <a:srgbClr val="E06666"/>
                          </a:solidFill>
                        </a:rPr>
                        <a:t>)</a:t>
                      </a:r>
                      <a:endParaRPr b="1" sz="1200">
                        <a:solidFill>
                          <a:srgbClr val="E06666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34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/>
                        <a:t>Week </a:t>
                      </a:r>
                      <a:r>
                        <a:rPr b="1" lang="en-GB" sz="1200"/>
                        <a:t>6</a:t>
                      </a:r>
                      <a:endParaRPr b="1" sz="1200" u="none" cap="none" strike="noStrike"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/>
                        <a:t>Interpreting Data (summary statistics, data visualisation)</a:t>
                      </a:r>
                      <a:endParaRPr sz="1200" u="none" cap="none" strike="noStrike"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/>
                        <a:t>Week </a:t>
                      </a:r>
                      <a:r>
                        <a:rPr b="1" lang="en-GB" sz="1200"/>
                        <a:t>7</a:t>
                      </a:r>
                      <a:endParaRPr b="1" sz="12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/>
                        <a:t>Review week</a:t>
                      </a:r>
                      <a:endParaRPr sz="12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/>
                        <a:t>Week </a:t>
                      </a:r>
                      <a:r>
                        <a:rPr b="1" lang="en-GB" sz="1200"/>
                        <a:t>8</a:t>
                      </a:r>
                      <a:endParaRPr b="1" sz="1200" u="none" cap="none" strike="noStrike"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/>
                        <a:t>Data manipulation in R</a:t>
                      </a:r>
                      <a:endParaRPr sz="1200" u="none" cap="none" strike="noStrike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Pandas and Numpy</a:t>
                      </a:r>
                      <a:endParaRPr sz="1200"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65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/>
                        <a:t>Week </a:t>
                      </a:r>
                      <a:r>
                        <a:rPr b="1" lang="en-GB" sz="1200"/>
                        <a:t>9</a:t>
                      </a:r>
                      <a:endParaRPr b="1"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/>
                        <a:t>Data visualisation in Python</a:t>
                      </a:r>
                      <a:endParaRPr sz="12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i="1" lang="en-GB" sz="1200" u="none" cap="none" strike="noStrike"/>
                        <a:t>Data processing (regular expressions) 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65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/>
                        <a:t>Week </a:t>
                      </a:r>
                      <a:r>
                        <a:rPr b="1" lang="en-GB" sz="1200"/>
                        <a:t>10</a:t>
                      </a:r>
                      <a:endParaRPr b="1"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Audio data (R and tuneR) </a:t>
                      </a:r>
                      <a:r>
                        <a:rPr b="1" lang="en-GB" sz="1200">
                          <a:solidFill>
                            <a:srgbClr val="E06666"/>
                          </a:solidFill>
                        </a:rPr>
                        <a:t>(</a:t>
                      </a:r>
                      <a:r>
                        <a:rPr b="1" lang="en-GB" sz="1200" u="sng">
                          <a:solidFill>
                            <a:srgbClr val="E06666"/>
                          </a:solidFill>
                        </a:rPr>
                        <a:t>To be submitted</a:t>
                      </a:r>
                      <a:r>
                        <a:rPr b="1" lang="en-GB" sz="1200">
                          <a:solidFill>
                            <a:srgbClr val="E06666"/>
                          </a:solidFill>
                        </a:rPr>
                        <a:t>)</a:t>
                      </a:r>
                      <a:endParaRPr sz="1200" u="none" cap="none" strike="noStrike">
                        <a:solidFill>
                          <a:srgbClr val="E06666"/>
                        </a:solidFill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/>
                        <a:t>Week </a:t>
                      </a:r>
                      <a:r>
                        <a:rPr b="1" lang="en-GB" sz="1200"/>
                        <a:t>11</a:t>
                      </a:r>
                      <a:endParaRPr b="1" sz="1200" u="none" cap="none" strike="noStrike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Image data (Python and skimage) </a:t>
                      </a:r>
                      <a:r>
                        <a:rPr b="1" lang="en-GB" sz="1200">
                          <a:solidFill>
                            <a:srgbClr val="E06666"/>
                          </a:solidFill>
                        </a:rPr>
                        <a:t>(</a:t>
                      </a:r>
                      <a:r>
                        <a:rPr b="1" lang="en-GB" sz="1200" u="sng">
                          <a:solidFill>
                            <a:srgbClr val="E06666"/>
                          </a:solidFill>
                        </a:rPr>
                        <a:t>To be submitted</a:t>
                      </a:r>
                      <a:r>
                        <a:rPr b="1" lang="en-GB" sz="1200">
                          <a:solidFill>
                            <a:srgbClr val="E06666"/>
                          </a:solidFill>
                        </a:rPr>
                        <a:t>)</a:t>
                      </a:r>
                      <a:endParaRPr b="1" sz="1200" u="none" cap="none" strike="noStrike">
                        <a:solidFill>
                          <a:srgbClr val="E06666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/>
                        <a:t>Week </a:t>
                      </a:r>
                      <a:r>
                        <a:rPr b="1" lang="en-GB" sz="1200"/>
                        <a:t>12</a:t>
                      </a:r>
                      <a:endParaRPr b="1" sz="1200" u="none" cap="none" strike="noStrike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Time series (Python and Pandas)</a:t>
                      </a:r>
                      <a:endParaRPr b="1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/>
                        <a:t>Week 13</a:t>
                      </a:r>
                      <a:endParaRPr b="1"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>
                          <a:solidFill>
                            <a:schemeClr val="dk1"/>
                          </a:solidFill>
                        </a:rPr>
                        <a:t>Working on Assignment</a:t>
                      </a:r>
                      <a:endParaRPr b="1" sz="12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GB" sz="1200" u="sng" cap="none" strike="noStrike">
                          <a:solidFill>
                            <a:srgbClr val="E06666"/>
                          </a:solidFill>
                        </a:rPr>
                        <a:t>Assignment deadline</a:t>
                      </a:r>
                      <a:endParaRPr sz="1400" u="sng" cap="none" strike="noStrike">
                        <a:solidFill>
                          <a:srgbClr val="E06666"/>
                        </a:solidFill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Overview</a:t>
            </a:r>
            <a:endParaRPr/>
          </a:p>
        </p:txBody>
      </p:sp>
      <p:sp>
        <p:nvSpPr>
          <p:cNvPr id="82" name="Google Shape;82;p17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Audio data introduction</a:t>
            </a:r>
            <a:endParaRPr/>
          </a:p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Seewave and tuneR packages</a:t>
            </a:r>
            <a:endParaRPr/>
          </a:p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Extracting audio properties</a:t>
            </a:r>
            <a:endParaRPr/>
          </a:p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Noise and filters in audio</a:t>
            </a:r>
            <a:endParaRPr/>
          </a:p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Audio visualisations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7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What is audio data?</a:t>
            </a:r>
            <a:endParaRPr/>
          </a:p>
        </p:txBody>
      </p:sp>
      <p:sp>
        <p:nvSpPr>
          <p:cNvPr id="89" name="Google Shape;89;p18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GB" sz="2000"/>
              <a:t>Representation of sound in a digital format</a:t>
            </a:r>
            <a:endParaRPr sz="2000"/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GB" sz="2000"/>
              <a:t>Collection of samples of </a:t>
            </a:r>
            <a:r>
              <a:rPr b="1" lang="en-GB" sz="2000"/>
              <a:t>sound waves captured over time</a:t>
            </a:r>
            <a:r>
              <a:rPr lang="en-GB" sz="2000"/>
              <a:t> (hence, a type of time series as well)</a:t>
            </a:r>
            <a:endParaRPr sz="2000"/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GB" sz="2000"/>
              <a:t>Each sample represents the </a:t>
            </a:r>
            <a:r>
              <a:rPr b="1" lang="en-GB" sz="2000"/>
              <a:t>amplitude of the sound wave at a specific point in time</a:t>
            </a:r>
            <a:r>
              <a:rPr lang="en-GB" sz="2000"/>
              <a:t> (pressure made by the sound in a microphone)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</p:txBody>
      </p:sp>
      <p:sp>
        <p:nvSpPr>
          <p:cNvPr id="90" name="Google Shape;90;p18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What is audio data?</a:t>
            </a:r>
            <a:endParaRPr/>
          </a:p>
        </p:txBody>
      </p:sp>
      <p:sp>
        <p:nvSpPr>
          <p:cNvPr id="96" name="Google Shape;96;p19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GB" sz="2000"/>
              <a:t>Representation of sound in a digital format</a:t>
            </a:r>
            <a:endParaRPr sz="2000"/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GB" sz="2000"/>
              <a:t>Collection of samples of </a:t>
            </a:r>
            <a:r>
              <a:rPr b="1" lang="en-GB" sz="2000"/>
              <a:t>sound waves captured over time</a:t>
            </a:r>
            <a:r>
              <a:rPr lang="en-GB" sz="2000"/>
              <a:t> (hence, a type of time series as well)</a:t>
            </a:r>
            <a:endParaRPr sz="2000"/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GB" sz="2000"/>
              <a:t>Each sample represents the </a:t>
            </a:r>
            <a:r>
              <a:rPr b="1" lang="en-GB" sz="2000"/>
              <a:t>amplitude of the sound wave at a specific point in time</a:t>
            </a:r>
            <a:r>
              <a:rPr lang="en-GB" sz="2000"/>
              <a:t> (pressure made by the sound in a microphone)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</p:txBody>
      </p:sp>
      <p:sp>
        <p:nvSpPr>
          <p:cNvPr id="97" name="Google Shape;97;p19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98" name="Google Shape;9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99163" y="4343242"/>
            <a:ext cx="7229475" cy="1990725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9"/>
          <p:cNvSpPr txBox="1"/>
          <p:nvPr/>
        </p:nvSpPr>
        <p:spPr>
          <a:xfrm>
            <a:off x="3591900" y="3857300"/>
            <a:ext cx="52404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A64E7A"/>
                </a:solidFill>
              </a:rPr>
              <a:t>Amplitude is the </a:t>
            </a:r>
            <a:r>
              <a:rPr b="1" lang="en-GB">
                <a:solidFill>
                  <a:srgbClr val="A64E7A"/>
                </a:solidFill>
              </a:rPr>
              <a:t>sound</a:t>
            </a:r>
            <a:r>
              <a:rPr b="1" lang="en-GB">
                <a:solidFill>
                  <a:srgbClr val="A64E7A"/>
                </a:solidFill>
              </a:rPr>
              <a:t> intensity measured in decibels (dB) which we perceive as loudness.</a:t>
            </a:r>
            <a:endParaRPr b="1">
              <a:solidFill>
                <a:srgbClr val="A64E7A"/>
              </a:solidFill>
            </a:endParaRPr>
          </a:p>
        </p:txBody>
      </p:sp>
      <p:pic>
        <p:nvPicPr>
          <p:cNvPr id="100" name="Google Shape;100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8275" y="6333975"/>
            <a:ext cx="1261850" cy="165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9"/>
          <p:cNvSpPr txBox="1"/>
          <p:nvPr/>
        </p:nvSpPr>
        <p:spPr>
          <a:xfrm rot="-5400000">
            <a:off x="-400727" y="383085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A64E7A"/>
                </a:solidFill>
              </a:rPr>
              <a:t>dBs</a:t>
            </a:r>
            <a:endParaRPr/>
          </a:p>
        </p:txBody>
      </p:sp>
      <p:sp>
        <p:nvSpPr>
          <p:cNvPr id="102" name="Google Shape;102;p19"/>
          <p:cNvSpPr txBox="1"/>
          <p:nvPr/>
        </p:nvSpPr>
        <p:spPr>
          <a:xfrm rot="-5400000">
            <a:off x="3272098" y="3832342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A64E7A"/>
                </a:solidFill>
              </a:rPr>
              <a:t>dBs</a:t>
            </a:r>
            <a:endParaRPr/>
          </a:p>
        </p:txBody>
      </p:sp>
      <p:sp>
        <p:nvSpPr>
          <p:cNvPr id="103" name="Google Shape;103;p19"/>
          <p:cNvSpPr txBox="1"/>
          <p:nvPr/>
        </p:nvSpPr>
        <p:spPr>
          <a:xfrm>
            <a:off x="5886775" y="615407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A64E7A"/>
                </a:solidFill>
              </a:rPr>
              <a:t>Time</a:t>
            </a:r>
            <a:endParaRPr/>
          </a:p>
        </p:txBody>
      </p:sp>
      <p:sp>
        <p:nvSpPr>
          <p:cNvPr id="104" name="Google Shape;104;p19"/>
          <p:cNvSpPr txBox="1"/>
          <p:nvPr/>
        </p:nvSpPr>
        <p:spPr>
          <a:xfrm>
            <a:off x="2230163" y="615407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A64E7A"/>
                </a:solidFill>
              </a:rPr>
              <a:t>Time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0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What is audio data?</a:t>
            </a:r>
            <a:endParaRPr/>
          </a:p>
        </p:txBody>
      </p:sp>
      <p:sp>
        <p:nvSpPr>
          <p:cNvPr id="110" name="Google Shape;110;p20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In R we can use </a:t>
            </a:r>
            <a:r>
              <a:rPr lang="en-GB">
                <a:latin typeface="Courier"/>
                <a:ea typeface="Courier"/>
                <a:cs typeface="Courier"/>
                <a:sym typeface="Courier"/>
              </a:rPr>
              <a:t>tuneR </a:t>
            </a:r>
            <a:r>
              <a:rPr lang="en-GB"/>
              <a:t>and </a:t>
            </a:r>
            <a:r>
              <a:rPr lang="en-GB">
                <a:latin typeface="Courier"/>
                <a:ea typeface="Courier"/>
                <a:cs typeface="Courier"/>
                <a:sym typeface="Courier"/>
              </a:rPr>
              <a:t>ggplot2 </a:t>
            </a:r>
            <a:r>
              <a:rPr lang="en-GB"/>
              <a:t>to show the </a:t>
            </a:r>
            <a:r>
              <a:rPr lang="en-GB"/>
              <a:t>waveform</a:t>
            </a:r>
            <a:r>
              <a:rPr lang="en-GB"/>
              <a:t> of an audio file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20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2" name="Google Shape;112;p20"/>
          <p:cNvSpPr txBox="1"/>
          <p:nvPr/>
        </p:nvSpPr>
        <p:spPr>
          <a:xfrm>
            <a:off x="418238" y="2641725"/>
            <a:ext cx="69354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library(tuneR)</a:t>
            </a:r>
            <a:endParaRPr sz="17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audio &lt;- readWave(</a:t>
            </a:r>
            <a:r>
              <a:rPr lang="en-GB" sz="17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"Bombycilla-cedrorum-313682.wav"</a:t>
            </a:r>
            <a:r>
              <a:rPr lang="en-GB" sz="17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17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plot(audio, main = </a:t>
            </a:r>
            <a:r>
              <a:rPr lang="en-GB" sz="17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"Audio Waveform"</a:t>
            </a:r>
            <a:r>
              <a:rPr lang="en-GB" sz="17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17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113" name="Google Shape;113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98050" y="3758600"/>
            <a:ext cx="5177025" cy="2930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20" title="Bombycilla-cedrorum-313682.wav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401950" y="4896175"/>
            <a:ext cx="721950" cy="721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1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Applications</a:t>
            </a:r>
            <a:endParaRPr/>
          </a:p>
        </p:txBody>
      </p:sp>
      <p:sp>
        <p:nvSpPr>
          <p:cNvPr id="120" name="Google Shape;120;p21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Audio is a type of </a:t>
            </a:r>
            <a:r>
              <a:rPr i="1" lang="en-GB"/>
              <a:t>signal. </a:t>
            </a:r>
            <a:r>
              <a:rPr lang="en-GB"/>
              <a:t>A signal is </a:t>
            </a:r>
            <a:r>
              <a:rPr b="1" lang="en-GB"/>
              <a:t>anything that carries quantitative information that varies with time</a:t>
            </a:r>
            <a:r>
              <a:rPr lang="en-GB"/>
              <a:t>, such as temperature, pressure, or any other independent variable.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Signals pervade our everyday life, thus the study of their behavior and </a:t>
            </a:r>
            <a:r>
              <a:rPr b="1" lang="en-GB"/>
              <a:t>how we can extract information from them is extremely important</a:t>
            </a:r>
            <a:r>
              <a:rPr lang="en-GB"/>
              <a:t>.</a:t>
            </a:r>
            <a:br>
              <a:rPr lang="en-GB"/>
            </a:b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Applications of digital signal processing, </a:t>
            </a:r>
            <a:r>
              <a:rPr b="1" lang="en-GB"/>
              <a:t>span numerous different fields</a:t>
            </a:r>
            <a:r>
              <a:rPr lang="en-GB"/>
              <a:t>, such as ecology, physics, communication, medicine, computer science, mathematics, and electrical engineering.</a:t>
            </a:r>
            <a:endParaRPr/>
          </a:p>
        </p:txBody>
      </p:sp>
      <p:sp>
        <p:nvSpPr>
          <p:cNvPr id="121" name="Google Shape;121;p21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2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Sources of audio data</a:t>
            </a:r>
            <a:endParaRPr/>
          </a:p>
        </p:txBody>
      </p:sp>
      <p:sp>
        <p:nvSpPr>
          <p:cNvPr id="127" name="Google Shape;127;p22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There are many repositories containing open source audio data:</a:t>
            </a:r>
            <a:endParaRPr/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GB" u="sng">
                <a:solidFill>
                  <a:schemeClr val="hlink"/>
                </a:solidFill>
                <a:hlinkClick r:id="rId3"/>
              </a:rPr>
              <a:t>DagsHub</a:t>
            </a:r>
            <a:r>
              <a:rPr lang="en-GB"/>
              <a:t>: audio datasets from a “</a:t>
            </a:r>
            <a:r>
              <a:rPr i="1" lang="en-GB"/>
              <a:t>centralized platform to host and manage machine learning projects</a:t>
            </a:r>
            <a:r>
              <a:rPr lang="en-GB"/>
              <a:t>”</a:t>
            </a:r>
            <a:endParaRPr/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GB" u="sng">
                <a:solidFill>
                  <a:schemeClr val="hlink"/>
                </a:solidFill>
                <a:hlinkClick r:id="rId4"/>
              </a:rPr>
              <a:t>Freesound</a:t>
            </a:r>
            <a:r>
              <a:rPr lang="en-GB"/>
              <a:t>: collaborative database of creative-commons licensed sounds</a:t>
            </a:r>
            <a:endParaRPr/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GB" u="sng">
                <a:solidFill>
                  <a:schemeClr val="hlink"/>
                </a:solidFill>
                <a:hlinkClick r:id="rId5"/>
              </a:rPr>
              <a:t>Audioset</a:t>
            </a:r>
            <a:r>
              <a:rPr lang="en-GB"/>
              <a:t>: large-scale dataset of manually annotated audio events</a:t>
            </a:r>
            <a:endParaRPr/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GB" u="sng">
                <a:solidFill>
                  <a:schemeClr val="hlink"/>
                </a:solidFill>
                <a:hlinkClick r:id="rId6"/>
              </a:rPr>
              <a:t>ECS-50</a:t>
            </a:r>
            <a:r>
              <a:rPr lang="en-GB"/>
              <a:t>: labeled collection of 2000 environmental audio recordings</a:t>
            </a:r>
            <a:endParaRPr/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GB" u="sng">
                <a:solidFill>
                  <a:schemeClr val="hlink"/>
                </a:solidFill>
                <a:hlinkClick r:id="rId7"/>
              </a:rPr>
              <a:t>Desed</a:t>
            </a:r>
            <a:r>
              <a:rPr lang="en-GB"/>
              <a:t>: Domestic environment sound event detections</a:t>
            </a:r>
            <a:endParaRPr/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GB" u="sng">
                <a:solidFill>
                  <a:schemeClr val="hlink"/>
                </a:solidFill>
                <a:hlinkClick r:id="rId8"/>
              </a:rPr>
              <a:t>VoxCeleb</a:t>
            </a:r>
            <a:r>
              <a:rPr lang="en-GB"/>
              <a:t>: 100,000 utterances for 1,251 celebrities, extracted from videos uploaded to YouTube</a:t>
            </a:r>
            <a:endParaRPr/>
          </a:p>
        </p:txBody>
      </p:sp>
      <p:sp>
        <p:nvSpPr>
          <p:cNvPr id="128" name="Google Shape;128;p22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3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Reading audio data</a:t>
            </a:r>
            <a:endParaRPr/>
          </a:p>
        </p:txBody>
      </p:sp>
      <p:sp>
        <p:nvSpPr>
          <p:cNvPr id="134" name="Google Shape;134;p23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>
                <a:latin typeface="Courier"/>
                <a:ea typeface="Courier"/>
                <a:cs typeface="Courier"/>
                <a:sym typeface="Courier"/>
              </a:rPr>
              <a:t>tuneR</a:t>
            </a:r>
            <a:r>
              <a:rPr lang="en-GB"/>
              <a:t> is a comprehensive R package for working with audio data.</a:t>
            </a: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It provides functions for reading, manipulating, and analyzing audio files.</a:t>
            </a: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It provides functions to read both mp3 (lossy compression format) and wav (uncompressed audio format) files </a:t>
            </a:r>
            <a:br>
              <a:rPr lang="en-GB"/>
            </a:br>
            <a:br>
              <a:rPr lang="en-GB"/>
            </a:br>
            <a:r>
              <a:rPr lang="en-GB" sz="17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library(tuneR)</a:t>
            </a:r>
            <a:endParaRPr sz="17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audio_wav &lt;- readWave(</a:t>
            </a:r>
            <a:r>
              <a:rPr lang="en-GB" sz="17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"Bombycilla-cedrorum-313682.wav"</a:t>
            </a:r>
            <a:r>
              <a:rPr lang="en-GB" sz="17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17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7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audio_mp3 &lt;- readMP3(</a:t>
            </a:r>
            <a:r>
              <a:rPr lang="en-GB" sz="17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"Bombycilla-cedrorum-313682.mp3"</a:t>
            </a:r>
            <a:r>
              <a:rPr lang="en-GB" sz="17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17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35" name="Google Shape;135;p23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4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Task 1</a:t>
            </a:r>
            <a:endParaRPr/>
          </a:p>
        </p:txBody>
      </p:sp>
      <p:sp>
        <p:nvSpPr>
          <p:cNvPr id="141" name="Google Shape;141;p24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Download the </a:t>
            </a:r>
            <a:r>
              <a:rPr lang="en-GB">
                <a:latin typeface="Courier"/>
                <a:ea typeface="Courier"/>
                <a:cs typeface="Courier"/>
                <a:sym typeface="Courier"/>
              </a:rPr>
              <a:t>laugh.wav</a:t>
            </a:r>
            <a:r>
              <a:rPr lang="en-GB"/>
              <a:t>           file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here</a:t>
            </a:r>
            <a:endParaRPr sz="17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Load it with the </a:t>
            </a:r>
            <a:r>
              <a:rPr lang="en-GB">
                <a:latin typeface="Courier"/>
                <a:ea typeface="Courier"/>
                <a:cs typeface="Courier"/>
                <a:sym typeface="Courier"/>
              </a:rPr>
              <a:t>readWave </a:t>
            </a:r>
            <a:r>
              <a:rPr lang="en-GB"/>
              <a:t>function and plot its waveform.</a:t>
            </a: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Analyse the waveform, and load the file again, but only the last “hiccup”. Check the documentation of </a:t>
            </a:r>
            <a:r>
              <a:rPr lang="en-GB" u="sng">
                <a:solidFill>
                  <a:schemeClr val="hlink"/>
                </a:solidFill>
                <a:hlinkClick r:id="rId4"/>
              </a:rPr>
              <a:t>readWave</a:t>
            </a:r>
            <a:r>
              <a:rPr lang="en-GB"/>
              <a:t> to identify the parameters you can use to load only a part of the file.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24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3" name="Google Shape;143;p24"/>
          <p:cNvSpPr txBox="1"/>
          <p:nvPr/>
        </p:nvSpPr>
        <p:spPr>
          <a:xfrm>
            <a:off x="3975225" y="4101575"/>
            <a:ext cx="3625200" cy="82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2"/>
                </a:solidFill>
                <a:latin typeface="Courier"/>
                <a:ea typeface="Courier"/>
                <a:cs typeface="Courier"/>
                <a:sym typeface="Courier"/>
              </a:rPr>
              <a:t>Solution in the next slide</a:t>
            </a:r>
            <a:r>
              <a:rPr lang="en-GB" sz="2200">
                <a:solidFill>
                  <a:schemeClr val="dk2"/>
                </a:solidFill>
                <a:latin typeface="Courier"/>
                <a:ea typeface="Courier"/>
                <a:cs typeface="Courier"/>
                <a:sym typeface="Courier"/>
              </a:rPr>
              <a:t>...</a:t>
            </a:r>
            <a:endParaRPr sz="2200">
              <a:solidFill>
                <a:schemeClr val="dk2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pic>
        <p:nvPicPr>
          <p:cNvPr id="144" name="Google Shape;144;p24" title="laugh.wav">
            <a:hlinkClick r:id="rId5"/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367886" y="1497744"/>
            <a:ext cx="486550" cy="486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5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Task 1</a:t>
            </a:r>
            <a:endParaRPr/>
          </a:p>
        </p:txBody>
      </p:sp>
      <p:sp>
        <p:nvSpPr>
          <p:cNvPr id="150" name="Google Shape;150;p25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151" name="Google Shape;151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6275" y="1511850"/>
            <a:ext cx="5511501" cy="33269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2" name="Google Shape;152;p25"/>
          <p:cNvCxnSpPr/>
          <p:nvPr/>
        </p:nvCxnSpPr>
        <p:spPr>
          <a:xfrm>
            <a:off x="5317850" y="4000500"/>
            <a:ext cx="377700" cy="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3" name="Google Shape;153;p25"/>
          <p:cNvCxnSpPr/>
          <p:nvPr/>
        </p:nvCxnSpPr>
        <p:spPr>
          <a:xfrm rot="10800000">
            <a:off x="5325750" y="3804900"/>
            <a:ext cx="1800" cy="1956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4" name="Google Shape;154;p25"/>
          <p:cNvCxnSpPr/>
          <p:nvPr/>
        </p:nvCxnSpPr>
        <p:spPr>
          <a:xfrm rot="10800000">
            <a:off x="5695550" y="3804900"/>
            <a:ext cx="1800" cy="1956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5" name="Google Shape;155;p25"/>
          <p:cNvSpPr txBox="1"/>
          <p:nvPr/>
        </p:nvSpPr>
        <p:spPr>
          <a:xfrm>
            <a:off x="5102700" y="4480650"/>
            <a:ext cx="1798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FF0000"/>
                </a:solidFill>
              </a:rPr>
              <a:t>Laugh part</a:t>
            </a:r>
            <a:endParaRPr sz="2200">
              <a:solidFill>
                <a:srgbClr val="FF0000"/>
              </a:solidFill>
            </a:endParaRPr>
          </a:p>
        </p:txBody>
      </p:sp>
      <p:sp>
        <p:nvSpPr>
          <p:cNvPr id="156" name="Google Shape;156;p25"/>
          <p:cNvSpPr txBox="1"/>
          <p:nvPr/>
        </p:nvSpPr>
        <p:spPr>
          <a:xfrm>
            <a:off x="342150" y="5158950"/>
            <a:ext cx="82101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audio &lt;- readWave(</a:t>
            </a:r>
            <a:r>
              <a:rPr lang="en-GB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"laugh.wav"</a:t>
            </a:r>
            <a:r>
              <a:rPr lang="en-GB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plot(audio, main = </a:t>
            </a:r>
            <a:r>
              <a:rPr lang="en-GB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"Audio Waveform"</a:t>
            </a:r>
            <a:r>
              <a:rPr lang="en-GB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audio &lt;- readWave(</a:t>
            </a:r>
            <a:r>
              <a:rPr lang="en-GB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"laugh.wav"</a:t>
            </a:r>
            <a:r>
              <a:rPr lang="en-GB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, from = </a:t>
            </a:r>
            <a:r>
              <a:rPr lang="en-GB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4.7</a:t>
            </a:r>
            <a:r>
              <a:rPr lang="en-GB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, to = </a:t>
            </a:r>
            <a:r>
              <a:rPr lang="en-GB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Inf</a:t>
            </a:r>
            <a:r>
              <a:rPr lang="en-GB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, units = </a:t>
            </a:r>
            <a:r>
              <a:rPr lang="en-GB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"seconds"</a:t>
            </a:r>
            <a:r>
              <a:rPr lang="en-GB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plot(audio, main = </a:t>
            </a:r>
            <a:r>
              <a:rPr lang="en-GB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"Audio Waveform"</a:t>
            </a:r>
            <a:r>
              <a:rPr lang="en-GB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157" name="Google Shape;157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11175" y="1115873"/>
            <a:ext cx="2808400" cy="165988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8" name="Google Shape;158;p25"/>
          <p:cNvCxnSpPr>
            <a:stCxn id="155" idx="0"/>
          </p:cNvCxnSpPr>
          <p:nvPr/>
        </p:nvCxnSpPr>
        <p:spPr>
          <a:xfrm rot="10800000">
            <a:off x="5666400" y="4014150"/>
            <a:ext cx="335400" cy="4665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9" name="Google Shape;159;p25"/>
          <p:cNvCxnSpPr>
            <a:stCxn id="155" idx="0"/>
            <a:endCxn id="157" idx="2"/>
          </p:cNvCxnSpPr>
          <p:nvPr/>
        </p:nvCxnSpPr>
        <p:spPr>
          <a:xfrm flipH="1" rot="10800000">
            <a:off x="6001800" y="2775750"/>
            <a:ext cx="1613700" cy="17049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160" name="Google Shape;160;p25" title="laugh_short.wav">
            <a:hlinkClick r:id="rId5"/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125950" y="1001100"/>
            <a:ext cx="278025" cy="278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25" title="laugh.wav">
            <a:hlinkClick r:id="rId7"/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280400" y="1356875"/>
            <a:ext cx="583200" cy="58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6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Extracting audio properties</a:t>
            </a:r>
            <a:endParaRPr/>
          </a:p>
        </p:txBody>
      </p:sp>
      <p:sp>
        <p:nvSpPr>
          <p:cNvPr id="167" name="Google Shape;167;p26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The audio object in </a:t>
            </a:r>
            <a:r>
              <a:rPr lang="en-GB">
                <a:latin typeface="Courier"/>
                <a:ea typeface="Courier"/>
                <a:cs typeface="Courier"/>
                <a:sym typeface="Courier"/>
              </a:rPr>
              <a:t>tuneR </a:t>
            </a:r>
            <a:r>
              <a:rPr lang="en-GB"/>
              <a:t>has several attributes that inform on essential properties</a:t>
            </a:r>
            <a:r>
              <a:rPr lang="en-GB"/>
              <a:t> </a:t>
            </a:r>
            <a:endParaRPr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168" name="Google Shape;168;p26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169" name="Google Shape;169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6425" y="2553262"/>
            <a:ext cx="5932800" cy="1751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7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Extracting audio properties</a:t>
            </a:r>
            <a:endParaRPr/>
          </a:p>
        </p:txBody>
      </p:sp>
      <p:sp>
        <p:nvSpPr>
          <p:cNvPr id="175" name="Google Shape;175;p27"/>
          <p:cNvSpPr txBox="1"/>
          <p:nvPr>
            <p:ph idx="1" type="body"/>
          </p:nvPr>
        </p:nvSpPr>
        <p:spPr>
          <a:xfrm>
            <a:off x="3537850" y="1273250"/>
            <a:ext cx="5294700" cy="48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496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75"/>
              <a:buChar char="●"/>
            </a:pPr>
            <a:r>
              <a:rPr b="1" lang="en-GB" sz="1675"/>
              <a:t>Left, right</a:t>
            </a:r>
            <a:r>
              <a:rPr lang="en-GB" sz="1675"/>
              <a:t>: amplitude values for each sample in the left and right channels.</a:t>
            </a:r>
            <a:endParaRPr sz="1675"/>
          </a:p>
          <a:p>
            <a:pPr indent="-33496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75"/>
              <a:buChar char="●"/>
            </a:pPr>
            <a:r>
              <a:rPr b="1" lang="en-GB" sz="1675"/>
              <a:t>Stereo</a:t>
            </a:r>
            <a:r>
              <a:rPr lang="en-GB" sz="1675"/>
              <a:t>:  flag to indicate two independent audio channels to create a sense of directionality and spatial depth</a:t>
            </a:r>
            <a:endParaRPr sz="1675"/>
          </a:p>
          <a:p>
            <a:pPr indent="-33496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75"/>
              <a:buChar char="●"/>
            </a:pPr>
            <a:r>
              <a:rPr b="1" lang="en-GB" sz="1675"/>
              <a:t>Samp.rate</a:t>
            </a:r>
            <a:r>
              <a:rPr lang="en-GB" sz="1675"/>
              <a:t>: number of samples recorded per second. Common values include 22.05 kHz (older audio formats), 44.1kHz (audio CDs), 48 kHz (DVD, blu-ray), 96 kHz (high-resolution audio recordings), 192 kHz (professional audio recording) </a:t>
            </a:r>
            <a:endParaRPr sz="1675"/>
          </a:p>
          <a:p>
            <a:pPr indent="-33496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75"/>
              <a:buChar char="●"/>
            </a:pPr>
            <a:r>
              <a:rPr b="1" lang="en-GB" sz="1675"/>
              <a:t>Bit</a:t>
            </a:r>
            <a:r>
              <a:rPr lang="en-GB" sz="1675"/>
              <a:t>: bit depth, number of bits used to represent each sample of audio data. 16 bits (audio CD), 24 bits (professional recordings), 32 bits (high-resolution audio formats)</a:t>
            </a:r>
            <a:endParaRPr sz="1675"/>
          </a:p>
          <a:p>
            <a:pPr indent="-33496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75"/>
              <a:buChar char="●"/>
            </a:pPr>
            <a:r>
              <a:rPr b="1" lang="en-GB" sz="1675"/>
              <a:t>PCM</a:t>
            </a:r>
            <a:r>
              <a:rPr lang="en-GB" sz="1675"/>
              <a:t>: If </a:t>
            </a:r>
            <a:r>
              <a:rPr lang="en-GB" sz="1675" u="sng">
                <a:solidFill>
                  <a:schemeClr val="hlink"/>
                </a:solidFill>
                <a:hlinkClick r:id="rId3"/>
              </a:rPr>
              <a:t>pulse-code modulation</a:t>
            </a:r>
            <a:r>
              <a:rPr lang="en-GB" sz="1675"/>
              <a:t> (PCM) was used to digitally represent sampled analog signals</a:t>
            </a:r>
            <a:endParaRPr sz="1675"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176" name="Google Shape;176;p27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177" name="Google Shape;177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2623650"/>
            <a:ext cx="3611375" cy="148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8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Extracting audio properties</a:t>
            </a:r>
            <a:endParaRPr/>
          </a:p>
        </p:txBody>
      </p:sp>
      <p:sp>
        <p:nvSpPr>
          <p:cNvPr id="183" name="Google Shape;183;p28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-35782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/>
              <a:t>Duration can also be extracted using the duration function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&gt; audio &lt;- readWave(</a:t>
            </a:r>
            <a:r>
              <a:rPr lang="en-GB" sz="14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"laugh.wav"</a:t>
            </a:r>
            <a:r>
              <a:rPr lang="en-GB" sz="14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14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&gt; duration_seconds &lt;- duration(audio)</a:t>
            </a:r>
            <a:endParaRPr sz="14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&gt; print(duration_seconds)</a:t>
            </a:r>
            <a:endParaRPr sz="14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[1] 5.041633</a:t>
            </a:r>
            <a:endParaRPr sz="15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5782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/>
              <a:t>Number of frames, range of amplitude and file size can also be extracted with R functions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num_frames &lt;- length(audio) </a:t>
            </a:r>
            <a:r>
              <a:rPr lang="en-GB" sz="1400">
                <a:solidFill>
                  <a:srgbClr val="D81B60"/>
                </a:solidFill>
                <a:latin typeface="Roboto Mono"/>
                <a:ea typeface="Roboto Mono"/>
                <a:cs typeface="Roboto Mono"/>
                <a:sym typeface="Roboto Mono"/>
              </a:rPr>
              <a:t># Measurement of the amplitude</a:t>
            </a:r>
            <a:endParaRPr sz="14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max_amplitude &lt;- max(audio@left) </a:t>
            </a:r>
            <a:r>
              <a:rPr lang="en-GB" sz="1400">
                <a:solidFill>
                  <a:srgbClr val="D81B60"/>
                </a:solidFill>
                <a:latin typeface="Roboto Mono"/>
                <a:ea typeface="Roboto Mono"/>
                <a:cs typeface="Roboto Mono"/>
                <a:sym typeface="Roboto Mono"/>
              </a:rPr>
              <a:t># Max amplitude of left channel</a:t>
            </a:r>
            <a:endParaRPr sz="14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min_amplitude &lt;- min(audio@left) </a:t>
            </a:r>
            <a:r>
              <a:rPr lang="en-GB" sz="1400">
                <a:solidFill>
                  <a:srgbClr val="D81B60"/>
                </a:solidFill>
                <a:latin typeface="Roboto Mono"/>
                <a:ea typeface="Roboto Mono"/>
                <a:cs typeface="Roboto Mono"/>
                <a:sym typeface="Roboto Mono"/>
              </a:rPr>
              <a:t># Min amplitude of left channel</a:t>
            </a:r>
            <a:endParaRPr sz="14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-GB" sz="14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file_size &lt;- file.size(</a:t>
            </a:r>
            <a:r>
              <a:rPr lang="en-GB" sz="14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"laugh.wav"</a:t>
            </a:r>
            <a:r>
              <a:rPr lang="en-GB" sz="14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 </a:t>
            </a:r>
            <a:r>
              <a:rPr lang="en-GB" sz="1400">
                <a:solidFill>
                  <a:srgbClr val="D81B60"/>
                </a:solidFill>
                <a:latin typeface="Roboto Mono"/>
                <a:ea typeface="Roboto Mono"/>
                <a:cs typeface="Roboto Mono"/>
                <a:sym typeface="Roboto Mono"/>
              </a:rPr>
              <a:t># File size in bytes</a:t>
            </a:r>
            <a:endParaRPr sz="1400">
              <a:solidFill>
                <a:srgbClr val="D81B6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28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9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Extracting audio properties</a:t>
            </a:r>
            <a:endParaRPr/>
          </a:p>
        </p:txBody>
      </p:sp>
      <p:sp>
        <p:nvSpPr>
          <p:cNvPr id="190" name="Google Shape;190;p29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Root Mean Square (rms) energy can be extracted to provide an indication of the signal's intensity or loudness.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These are usually used in a comparative manner, for </a:t>
            </a:r>
            <a:r>
              <a:rPr lang="en-GB"/>
              <a:t>example, between different segments of the signal.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787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&gt; rms_energy &lt;- rms(audio@left)</a:t>
            </a:r>
            <a:endParaRPr sz="1787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787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&gt; print(rms_energy)</a:t>
            </a:r>
            <a:endParaRPr sz="1787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787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[1] 1362.28</a:t>
            </a:r>
            <a:endParaRPr sz="1787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29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0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Task 2</a:t>
            </a:r>
            <a:endParaRPr/>
          </a:p>
        </p:txBody>
      </p:sp>
      <p:sp>
        <p:nvSpPr>
          <p:cNvPr id="197" name="Google Shape;197;p30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Complete the </a:t>
            </a:r>
            <a:r>
              <a:rPr lang="en-GB">
                <a:latin typeface="Courier"/>
                <a:ea typeface="Courier"/>
                <a:cs typeface="Courier"/>
                <a:sym typeface="Courier"/>
              </a:rPr>
              <a:t>print_audio_metadata</a:t>
            </a:r>
            <a:r>
              <a:rPr lang="en-GB"/>
              <a:t> function in the notebook and print: 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GB"/>
              <a:t>If the file is stereo or not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GB"/>
              <a:t>Sample rate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GB"/>
              <a:t>Bit depth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GB"/>
              <a:t>Number of channels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GB"/>
              <a:t>Duration in seconds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GB"/>
              <a:t>Number of frames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GB"/>
              <a:t>Min and max amplitude of each channel. </a:t>
            </a:r>
            <a:endParaRPr/>
          </a:p>
        </p:txBody>
      </p:sp>
      <p:sp>
        <p:nvSpPr>
          <p:cNvPr id="198" name="Google Shape;198;p30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99" name="Google Shape;199;p30"/>
          <p:cNvSpPr txBox="1"/>
          <p:nvPr/>
        </p:nvSpPr>
        <p:spPr>
          <a:xfrm>
            <a:off x="5171800" y="4872300"/>
            <a:ext cx="6930000" cy="19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&gt; print_audio_metadata("laugh.wav")</a:t>
            </a:r>
            <a:endParaRPr sz="1300">
              <a:solidFill>
                <a:srgbClr val="0000FF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Stereo: False</a:t>
            </a:r>
            <a:endParaRPr sz="13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Duration: 5.041633 seconds</a:t>
            </a:r>
            <a:endParaRPr sz="13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Sample Rate: 22050 Hz</a:t>
            </a:r>
            <a:endParaRPr sz="13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Bit Depth: 16 bits</a:t>
            </a:r>
            <a:endParaRPr sz="13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Number of Channels: 1 </a:t>
            </a:r>
            <a:endParaRPr sz="13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Number of Frames (Left): 111168 </a:t>
            </a:r>
            <a:endParaRPr sz="13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Min Amplitude (Left Channel): -12556 </a:t>
            </a:r>
            <a:endParaRPr sz="13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Max Amplitude (Left Channel): 11430</a:t>
            </a:r>
            <a:endParaRPr sz="13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00" name="Google Shape;200;p30"/>
          <p:cNvSpPr txBox="1"/>
          <p:nvPr/>
        </p:nvSpPr>
        <p:spPr>
          <a:xfrm>
            <a:off x="6618900" y="4108800"/>
            <a:ext cx="2468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2"/>
                </a:solidFill>
                <a:latin typeface="Courier"/>
                <a:ea typeface="Courier"/>
                <a:cs typeface="Courier"/>
                <a:sym typeface="Courier"/>
              </a:rPr>
              <a:t>Example using laugh.wav</a:t>
            </a:r>
            <a:endParaRPr sz="2200">
              <a:solidFill>
                <a:schemeClr val="dk2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201" name="Google Shape;201;p30"/>
          <p:cNvSpPr txBox="1"/>
          <p:nvPr/>
        </p:nvSpPr>
        <p:spPr>
          <a:xfrm>
            <a:off x="573425" y="4820175"/>
            <a:ext cx="3625200" cy="82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2"/>
                </a:solidFill>
                <a:latin typeface="Courier"/>
                <a:ea typeface="Courier"/>
                <a:cs typeface="Courier"/>
                <a:sym typeface="Courier"/>
              </a:rPr>
              <a:t>Solution in the next slide...</a:t>
            </a:r>
            <a:endParaRPr sz="2200">
              <a:solidFill>
                <a:schemeClr val="dk2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1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Task 2</a:t>
            </a:r>
            <a:endParaRPr/>
          </a:p>
        </p:txBody>
      </p:sp>
      <p:sp>
        <p:nvSpPr>
          <p:cNvPr id="207" name="Google Shape;207;p31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08" name="Google Shape;208;p31"/>
          <p:cNvSpPr txBox="1"/>
          <p:nvPr/>
        </p:nvSpPr>
        <p:spPr>
          <a:xfrm>
            <a:off x="249575" y="5602475"/>
            <a:ext cx="32979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2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209" name="Google Shape;209;p31"/>
          <p:cNvSpPr txBox="1"/>
          <p:nvPr/>
        </p:nvSpPr>
        <p:spPr>
          <a:xfrm>
            <a:off x="554675" y="1259675"/>
            <a:ext cx="7464600" cy="346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print(paste0(</a:t>
            </a:r>
            <a:r>
              <a:rPr lang="en-GB" sz="12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"Duration: "</a:t>
            </a:r>
            <a:r>
              <a:rPr lang="en-GB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, duration(audio), </a:t>
            </a:r>
            <a:r>
              <a:rPr lang="en-GB" sz="12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 seconds"</a:t>
            </a:r>
            <a:r>
              <a:rPr lang="en-GB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))</a:t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print(paste0(</a:t>
            </a:r>
            <a:r>
              <a:rPr lang="en-GB" sz="12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"Sample Rate: "</a:t>
            </a:r>
            <a:r>
              <a:rPr lang="en-GB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, sample_rate, </a:t>
            </a:r>
            <a:r>
              <a:rPr lang="en-GB" sz="12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"Hz\n"</a:t>
            </a:r>
            <a:r>
              <a:rPr lang="en-GB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))</a:t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print(paste0(</a:t>
            </a:r>
            <a:r>
              <a:rPr lang="en-GB" sz="12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"Bit Depth: "</a:t>
            </a:r>
            <a:r>
              <a:rPr lang="en-GB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, bit_depth, </a:t>
            </a:r>
            <a:r>
              <a:rPr lang="en-GB" sz="12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"bits\n"</a:t>
            </a:r>
            <a:r>
              <a:rPr lang="en-GB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))</a:t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print(paste0(</a:t>
            </a:r>
            <a:r>
              <a:rPr lang="en-GB" sz="12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"Number of Channels: "</a:t>
            </a:r>
            <a:r>
              <a:rPr lang="en-GB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, num_channels))</a:t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if</a:t>
            </a:r>
            <a:r>
              <a:rPr lang="en-GB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(length(audio@left) &gt; </a:t>
            </a:r>
            <a:r>
              <a:rPr lang="en-GB" sz="120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0</a:t>
            </a:r>
            <a:r>
              <a:rPr lang="en-GB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 {</a:t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print(paste0(</a:t>
            </a:r>
            <a:r>
              <a:rPr lang="en-GB" sz="12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"Number of Frames (Left): "</a:t>
            </a:r>
            <a:r>
              <a:rPr lang="en-GB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n-GB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length(audio@left)</a:t>
            </a:r>
            <a:r>
              <a:rPr lang="en-GB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))</a:t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print(paste0(</a:t>
            </a:r>
            <a:r>
              <a:rPr lang="en-GB" sz="12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"Min Amplitude (Left Channel): "</a:t>
            </a:r>
            <a:r>
              <a:rPr lang="en-GB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n-GB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min(audio@left)</a:t>
            </a:r>
            <a:r>
              <a:rPr lang="en-GB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))</a:t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print(paste0(</a:t>
            </a:r>
            <a:r>
              <a:rPr lang="en-GB" sz="12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"Max Amplitude (Left Channel): "</a:t>
            </a:r>
            <a:r>
              <a:rPr lang="en-GB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n-GB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max(audio@left)</a:t>
            </a:r>
            <a:r>
              <a:rPr lang="en-GB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))</a:t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if</a:t>
            </a:r>
            <a:r>
              <a:rPr lang="en-GB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(length(audio@right) &gt; </a:t>
            </a:r>
            <a:r>
              <a:rPr lang="en-GB" sz="120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0</a:t>
            </a:r>
            <a:r>
              <a:rPr lang="en-GB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 {</a:t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print(paste0(</a:t>
            </a:r>
            <a:r>
              <a:rPr lang="en-GB" sz="12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"Number of Frames (Right): "</a:t>
            </a:r>
            <a:r>
              <a:rPr lang="en-GB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n-GB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audio@right</a:t>
            </a:r>
            <a:r>
              <a:rPr lang="en-GB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))</a:t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print(paste0(</a:t>
            </a:r>
            <a:r>
              <a:rPr lang="en-GB" sz="12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"Min Amplitude (Right Channel): "</a:t>
            </a:r>
            <a:r>
              <a:rPr lang="en-GB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n-GB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min(audio@right)</a:t>
            </a:r>
            <a:r>
              <a:rPr lang="en-GB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))</a:t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print(paste0(</a:t>
            </a:r>
            <a:r>
              <a:rPr lang="en-GB" sz="12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"Max Amplitude (Right Channel): "</a:t>
            </a:r>
            <a:r>
              <a:rPr lang="en-GB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n-GB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max(audio@right)</a:t>
            </a:r>
            <a:r>
              <a:rPr lang="en-GB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))</a:t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10" name="Google Shape;210;p31"/>
          <p:cNvSpPr txBox="1"/>
          <p:nvPr/>
        </p:nvSpPr>
        <p:spPr>
          <a:xfrm>
            <a:off x="5728775" y="1150700"/>
            <a:ext cx="4836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2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Noise and Filters</a:t>
            </a:r>
            <a:endParaRPr/>
          </a:p>
        </p:txBody>
      </p:sp>
      <p:sp>
        <p:nvSpPr>
          <p:cNvPr id="216" name="Google Shape;216;p32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32500" lnSpcReduction="20000"/>
          </a:bodyPr>
          <a:lstStyle/>
          <a:p>
            <a:pPr indent="-370019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 sz="6852"/>
              <a:t>Using filters to remove noise and obtain only the desired portions of signals (audio) is a huge part of signal processing.</a:t>
            </a:r>
            <a:endParaRPr sz="6852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852"/>
          </a:p>
          <a:p>
            <a:pPr indent="-370019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 sz="6852"/>
              <a:t>Filtering audio data is important for both noise reduction and signal enhancement. For example:</a:t>
            </a:r>
            <a:endParaRPr sz="6852"/>
          </a:p>
          <a:p>
            <a:pPr indent="-370019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-GB" sz="6852"/>
              <a:t>Background noise reduction</a:t>
            </a:r>
            <a:endParaRPr sz="6852"/>
          </a:p>
          <a:p>
            <a:pPr indent="-370019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-GB" sz="6852"/>
              <a:t>Filtering audio </a:t>
            </a:r>
            <a:r>
              <a:rPr lang="en-GB" sz="6852"/>
              <a:t>frequencies</a:t>
            </a:r>
            <a:r>
              <a:rPr lang="en-GB" sz="6852"/>
              <a:t> for transmission efficiency and to comply with system constraints.</a:t>
            </a:r>
            <a:endParaRPr sz="6852"/>
          </a:p>
          <a:p>
            <a:pPr indent="-370019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-GB" sz="6852"/>
              <a:t>Speech and audio recognition by extracting relevant features from the audio signal</a:t>
            </a:r>
            <a:endParaRPr sz="6852"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GB"/>
            </a:b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32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3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Frequency</a:t>
            </a:r>
            <a:endParaRPr/>
          </a:p>
        </p:txBody>
      </p:sp>
      <p:sp>
        <p:nvSpPr>
          <p:cNvPr id="223" name="Google Shape;223;p33"/>
          <p:cNvSpPr txBox="1"/>
          <p:nvPr>
            <p:ph idx="1" type="body"/>
          </p:nvPr>
        </p:nvSpPr>
        <p:spPr>
          <a:xfrm>
            <a:off x="311700" y="1446758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Understanding audio frequency is important when filtering and separating audio signals.</a:t>
            </a:r>
            <a:endParaRPr/>
          </a:p>
        </p:txBody>
      </p:sp>
      <p:pic>
        <p:nvPicPr>
          <p:cNvPr id="224" name="Google Shape;224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6192250"/>
            <a:ext cx="1913100" cy="266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34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30" name="Google Shape;230;p34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Frequency</a:t>
            </a:r>
            <a:endParaRPr/>
          </a:p>
        </p:txBody>
      </p:sp>
      <p:sp>
        <p:nvSpPr>
          <p:cNvPr id="231" name="Google Shape;231;p34"/>
          <p:cNvSpPr txBox="1"/>
          <p:nvPr>
            <p:ph idx="1" type="body"/>
          </p:nvPr>
        </p:nvSpPr>
        <p:spPr>
          <a:xfrm>
            <a:off x="311700" y="1446758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Understanding audio frequency is important when filtering and separating audio signals.</a:t>
            </a:r>
            <a:endParaRPr/>
          </a:p>
        </p:txBody>
      </p:sp>
      <p:pic>
        <p:nvPicPr>
          <p:cNvPr id="232" name="Google Shape;232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2533600"/>
            <a:ext cx="6257850" cy="3900525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34"/>
          <p:cNvSpPr txBox="1"/>
          <p:nvPr/>
        </p:nvSpPr>
        <p:spPr>
          <a:xfrm>
            <a:off x="6919200" y="2605775"/>
            <a:ext cx="19131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A64E7A"/>
                </a:solidFill>
              </a:rPr>
              <a:t>Amplitude is the sound intensity measured in decibels (dB) which we perceive as loudness.</a:t>
            </a:r>
            <a:endParaRPr b="1">
              <a:solidFill>
                <a:srgbClr val="A64E7A"/>
              </a:solidFill>
            </a:endParaRPr>
          </a:p>
        </p:txBody>
      </p:sp>
      <p:sp>
        <p:nvSpPr>
          <p:cNvPr id="234" name="Google Shape;234;p34"/>
          <p:cNvSpPr txBox="1"/>
          <p:nvPr/>
        </p:nvSpPr>
        <p:spPr>
          <a:xfrm>
            <a:off x="4731800" y="6125501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A64E7A"/>
                </a:solidFill>
              </a:rPr>
              <a:t>Time</a:t>
            </a:r>
            <a:endParaRPr/>
          </a:p>
        </p:txBody>
      </p:sp>
      <p:sp>
        <p:nvSpPr>
          <p:cNvPr id="235" name="Google Shape;235;p34"/>
          <p:cNvSpPr txBox="1"/>
          <p:nvPr/>
        </p:nvSpPr>
        <p:spPr>
          <a:xfrm>
            <a:off x="6883700" y="4337100"/>
            <a:ext cx="19131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A64E7A"/>
                </a:solidFill>
              </a:rPr>
              <a:t>Frequency, measured in Hertz (Hz), indicates how many sound vibrations happen per second. People interpret frequency as low or high pitch.</a:t>
            </a:r>
            <a:endParaRPr b="1">
              <a:solidFill>
                <a:srgbClr val="A64E7A"/>
              </a:solidFill>
            </a:endParaRPr>
          </a:p>
        </p:txBody>
      </p:sp>
      <p:sp>
        <p:nvSpPr>
          <p:cNvPr id="236" name="Google Shape;236;p34"/>
          <p:cNvSpPr txBox="1"/>
          <p:nvPr/>
        </p:nvSpPr>
        <p:spPr>
          <a:xfrm rot="-5400000">
            <a:off x="-1299902" y="1832367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A64E7A"/>
                </a:solidFill>
              </a:rPr>
              <a:t>dBs</a:t>
            </a:r>
            <a:endParaRPr/>
          </a:p>
        </p:txBody>
      </p:sp>
      <p:pic>
        <p:nvPicPr>
          <p:cNvPr id="237" name="Google Shape;237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90123" y="6220825"/>
            <a:ext cx="1762125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p3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1700" y="6192250"/>
            <a:ext cx="19131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34"/>
          <p:cNvSpPr txBox="1"/>
          <p:nvPr/>
        </p:nvSpPr>
        <p:spPr>
          <a:xfrm rot="-5400000">
            <a:off x="-1259876" y="3827771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A64E7A"/>
                </a:solidFill>
              </a:rPr>
              <a:t>dBs</a:t>
            </a:r>
            <a:endParaRPr/>
          </a:p>
        </p:txBody>
      </p:sp>
      <p:sp>
        <p:nvSpPr>
          <p:cNvPr id="240" name="Google Shape;240;p34"/>
          <p:cNvSpPr txBox="1"/>
          <p:nvPr/>
        </p:nvSpPr>
        <p:spPr>
          <a:xfrm>
            <a:off x="1354801" y="6149504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A64E7A"/>
                </a:solidFill>
              </a:rPr>
              <a:t>Time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35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46" name="Google Shape;246;p35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Frequency</a:t>
            </a:r>
            <a:endParaRPr/>
          </a:p>
        </p:txBody>
      </p:sp>
      <p:sp>
        <p:nvSpPr>
          <p:cNvPr id="247" name="Google Shape;247;p35"/>
          <p:cNvSpPr txBox="1"/>
          <p:nvPr>
            <p:ph idx="1" type="body"/>
          </p:nvPr>
        </p:nvSpPr>
        <p:spPr>
          <a:xfrm>
            <a:off x="311700" y="1446758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Understanding audio frequency is important when filtering and separating audio signals.</a:t>
            </a:r>
            <a:br>
              <a:rPr lang="en-GB"/>
            </a:b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The human hearing range lies between 20 and 20,000 Hz. 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Most people perceive as low pitch all sounds below 500 Hz — like the plane engine roar. In turn, high pitch for is everything beyond 2,000 Hz (for example, a whistle.)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36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Noise and Filters</a:t>
            </a:r>
            <a:endParaRPr/>
          </a:p>
        </p:txBody>
      </p:sp>
      <p:sp>
        <p:nvSpPr>
          <p:cNvPr id="253" name="Google Shape;253;p36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In R, </a:t>
            </a:r>
            <a:r>
              <a:rPr lang="en-GB"/>
              <a:t>the </a:t>
            </a:r>
            <a:r>
              <a:rPr lang="en-GB">
                <a:latin typeface="Courier"/>
                <a:ea typeface="Courier"/>
                <a:cs typeface="Courier"/>
                <a:sym typeface="Courier"/>
              </a:rPr>
              <a:t>signal </a:t>
            </a:r>
            <a:r>
              <a:rPr lang="en-GB"/>
              <a:t>package provides various filter design and implementation functions</a:t>
            </a:r>
            <a:br>
              <a:rPr lang="en-GB"/>
            </a:b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We can see an example using a simulated signal.</a:t>
            </a:r>
            <a:br>
              <a:rPr lang="en-GB"/>
            </a:b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36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7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Noise and Filters</a:t>
            </a:r>
            <a:endParaRPr/>
          </a:p>
        </p:txBody>
      </p:sp>
      <p:sp>
        <p:nvSpPr>
          <p:cNvPr id="260" name="Google Shape;260;p37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In R, the </a:t>
            </a:r>
            <a:r>
              <a:rPr lang="en-GB">
                <a:latin typeface="Courier"/>
                <a:ea typeface="Courier"/>
                <a:cs typeface="Courier"/>
                <a:sym typeface="Courier"/>
              </a:rPr>
              <a:t>signal </a:t>
            </a:r>
            <a:r>
              <a:rPr lang="en-GB"/>
              <a:t>package provides various filter design and implementation functions</a:t>
            </a:r>
            <a:br>
              <a:rPr lang="en-GB"/>
            </a:b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We can see an example using a simulated signal.</a:t>
            </a:r>
            <a:br>
              <a:rPr lang="en-GB"/>
            </a:b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37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62" name="Google Shape;262;p37"/>
          <p:cNvSpPr txBox="1"/>
          <p:nvPr/>
        </p:nvSpPr>
        <p:spPr>
          <a:xfrm>
            <a:off x="311700" y="3968275"/>
            <a:ext cx="51894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library(signal)</a:t>
            </a:r>
            <a:endParaRPr sz="16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t &lt;- seq(</a:t>
            </a:r>
            <a:r>
              <a:rPr lang="en-GB" sz="160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0</a:t>
            </a:r>
            <a:r>
              <a:rPr lang="en-GB" sz="16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n-GB" sz="160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1</a:t>
            </a:r>
            <a:r>
              <a:rPr lang="en-GB" sz="16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, len = </a:t>
            </a:r>
            <a:r>
              <a:rPr lang="en-GB" sz="160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100</a:t>
            </a:r>
            <a:r>
              <a:rPr lang="en-GB" sz="16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16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sig &lt;- sin(</a:t>
            </a:r>
            <a:r>
              <a:rPr lang="en-GB" sz="160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2</a:t>
            </a:r>
            <a:r>
              <a:rPr lang="en-GB" sz="16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* pi * t)</a:t>
            </a:r>
            <a:endParaRPr sz="16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ggplot(mapping = aes(t, sig)) + </a:t>
            </a:r>
            <a:endParaRPr sz="16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geom_line()</a:t>
            </a:r>
            <a:endParaRPr sz="16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263" name="Google Shape;263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98375" y="3619875"/>
            <a:ext cx="3782624" cy="2662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38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Noise and Filters</a:t>
            </a:r>
            <a:endParaRPr/>
          </a:p>
        </p:txBody>
      </p:sp>
      <p:sp>
        <p:nvSpPr>
          <p:cNvPr id="269" name="Google Shape;269;p38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In R, the </a:t>
            </a:r>
            <a:r>
              <a:rPr lang="en-GB">
                <a:latin typeface="Courier"/>
                <a:ea typeface="Courier"/>
                <a:cs typeface="Courier"/>
                <a:sym typeface="Courier"/>
              </a:rPr>
              <a:t>signal </a:t>
            </a:r>
            <a:r>
              <a:rPr lang="en-GB"/>
              <a:t>package provides various filter design and implementation functions</a:t>
            </a:r>
            <a:br>
              <a:rPr lang="en-GB"/>
            </a:b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We can see an example using a simulated signal.</a:t>
            </a:r>
            <a:br>
              <a:rPr lang="en-GB"/>
            </a:b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38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71" name="Google Shape;271;p38"/>
          <p:cNvSpPr txBox="1"/>
          <p:nvPr/>
        </p:nvSpPr>
        <p:spPr>
          <a:xfrm>
            <a:off x="311700" y="3968275"/>
            <a:ext cx="51894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library(signal)</a:t>
            </a:r>
            <a:endParaRPr sz="16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t &lt;- seq(</a:t>
            </a:r>
            <a:r>
              <a:rPr lang="en-GB" sz="160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0</a:t>
            </a:r>
            <a:r>
              <a:rPr lang="en-GB" sz="16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n-GB" sz="160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1</a:t>
            </a:r>
            <a:r>
              <a:rPr lang="en-GB" sz="16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, len = </a:t>
            </a:r>
            <a:r>
              <a:rPr lang="en-GB" sz="160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100</a:t>
            </a:r>
            <a:r>
              <a:rPr lang="en-GB" sz="16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16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sig &lt;- sin(</a:t>
            </a:r>
            <a:r>
              <a:rPr lang="en-GB" sz="160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2</a:t>
            </a:r>
            <a:r>
              <a:rPr lang="en-GB" sz="16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* pi * t)</a:t>
            </a:r>
            <a:endParaRPr sz="16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ggplot(mapping = aes(t, sig)) + </a:t>
            </a:r>
            <a:endParaRPr sz="16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geom_line()</a:t>
            </a:r>
            <a:endParaRPr sz="16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272" name="Google Shape;272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98375" y="3619875"/>
            <a:ext cx="3782624" cy="2662250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38"/>
          <p:cNvSpPr txBox="1"/>
          <p:nvPr/>
        </p:nvSpPr>
        <p:spPr>
          <a:xfrm>
            <a:off x="6649650" y="3301775"/>
            <a:ext cx="1902600" cy="3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>
                <a:solidFill>
                  <a:srgbClr val="FF0000"/>
                </a:solidFill>
                <a:highlight>
                  <a:schemeClr val="lt1"/>
                </a:highlight>
              </a:rPr>
              <a:t>“Perfect” signal using the sinusoide </a:t>
            </a:r>
            <a:endParaRPr sz="1700">
              <a:solidFill>
                <a:srgbClr val="FF0000"/>
              </a:solidFill>
              <a:highlight>
                <a:schemeClr val="lt1"/>
              </a:highlight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39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Noise and Filters</a:t>
            </a:r>
            <a:endParaRPr/>
          </a:p>
        </p:txBody>
      </p:sp>
      <p:sp>
        <p:nvSpPr>
          <p:cNvPr id="279" name="Google Shape;279;p39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We can then add some noise to the previous signal</a:t>
            </a:r>
            <a:br>
              <a:rPr lang="en-GB"/>
            </a:br>
            <a:br>
              <a:rPr lang="en-GB"/>
            </a:br>
            <a:br>
              <a:rPr lang="en-GB"/>
            </a:br>
            <a:br>
              <a:rPr lang="en-GB"/>
            </a:b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Using the </a:t>
            </a:r>
            <a:r>
              <a:rPr lang="en-GB">
                <a:latin typeface="Courier"/>
                <a:ea typeface="Courier"/>
                <a:cs typeface="Courier"/>
                <a:sym typeface="Courier"/>
              </a:rPr>
              <a:t>signal</a:t>
            </a:r>
            <a:r>
              <a:rPr lang="en-GB"/>
              <a:t> package we</a:t>
            </a:r>
            <a:br>
              <a:rPr lang="en-GB"/>
            </a:br>
            <a:r>
              <a:rPr lang="en-GB"/>
              <a:t>will try to extract the original</a:t>
            </a:r>
            <a:br>
              <a:rPr lang="en-GB"/>
            </a:br>
            <a:r>
              <a:rPr lang="en-GB"/>
              <a:t>sinusoidal</a:t>
            </a:r>
            <a:r>
              <a:rPr lang="en-GB"/>
              <a:t> signal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39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81" name="Google Shape;281;p39"/>
          <p:cNvSpPr txBox="1"/>
          <p:nvPr/>
        </p:nvSpPr>
        <p:spPr>
          <a:xfrm>
            <a:off x="468075" y="2167300"/>
            <a:ext cx="73974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noisySig &lt;- sin(</a:t>
            </a:r>
            <a:r>
              <a:rPr lang="en-GB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2</a:t>
            </a:r>
            <a:r>
              <a:rPr lang="en-GB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* pi * t) + </a:t>
            </a:r>
            <a:r>
              <a:rPr lang="en-GB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0.25</a:t>
            </a:r>
            <a:r>
              <a:rPr lang="en-GB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* rnorm(length(t))</a:t>
            </a:r>
            <a:endParaRPr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ggplot() + </a:t>
            </a:r>
            <a:endParaRPr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geom_line(aes(t, noisySig), color = </a:t>
            </a:r>
            <a:r>
              <a:rPr lang="en-GB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"red"</a:t>
            </a:r>
            <a:r>
              <a:rPr lang="en-GB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282" name="Google Shape;282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90075" y="3225500"/>
            <a:ext cx="4105172" cy="2866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40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Noise and Filters</a:t>
            </a:r>
            <a:endParaRPr/>
          </a:p>
        </p:txBody>
      </p:sp>
      <p:sp>
        <p:nvSpPr>
          <p:cNvPr id="288" name="Google Shape;288;p40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We can then add some noise to the previous signal</a:t>
            </a:r>
            <a:br>
              <a:rPr lang="en-GB"/>
            </a:br>
            <a:br>
              <a:rPr lang="en-GB"/>
            </a:br>
            <a:br>
              <a:rPr lang="en-GB"/>
            </a:br>
            <a:br>
              <a:rPr lang="en-GB"/>
            </a:b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Using the </a:t>
            </a:r>
            <a:r>
              <a:rPr lang="en-GB">
                <a:latin typeface="Courier"/>
                <a:ea typeface="Courier"/>
                <a:cs typeface="Courier"/>
                <a:sym typeface="Courier"/>
              </a:rPr>
              <a:t>signal</a:t>
            </a:r>
            <a:r>
              <a:rPr lang="en-GB"/>
              <a:t> package we</a:t>
            </a:r>
            <a:br>
              <a:rPr lang="en-GB"/>
            </a:br>
            <a:r>
              <a:rPr lang="en-GB"/>
              <a:t>will try to extract the original</a:t>
            </a:r>
            <a:br>
              <a:rPr lang="en-GB"/>
            </a:br>
            <a:r>
              <a:rPr lang="en-GB"/>
              <a:t>sinusoidal signal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40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90" name="Google Shape;290;p40"/>
          <p:cNvSpPr txBox="1"/>
          <p:nvPr/>
        </p:nvSpPr>
        <p:spPr>
          <a:xfrm>
            <a:off x="468075" y="2167300"/>
            <a:ext cx="73974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noisySig &lt;- sin(</a:t>
            </a:r>
            <a:r>
              <a:rPr lang="en-GB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2</a:t>
            </a:r>
            <a:r>
              <a:rPr lang="en-GB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* pi * t) + </a:t>
            </a:r>
            <a:r>
              <a:rPr lang="en-GB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0.25</a:t>
            </a:r>
            <a:r>
              <a:rPr lang="en-GB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* rnorm(length(t))</a:t>
            </a:r>
            <a:endParaRPr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ggplot() + </a:t>
            </a:r>
            <a:endParaRPr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geom_line(aes(t, noisySig), color = </a:t>
            </a:r>
            <a:r>
              <a:rPr lang="en-GB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"red"</a:t>
            </a:r>
            <a:r>
              <a:rPr lang="en-GB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291" name="Google Shape;291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90075" y="3225500"/>
            <a:ext cx="4105172" cy="2866325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40"/>
          <p:cNvSpPr txBox="1"/>
          <p:nvPr/>
        </p:nvSpPr>
        <p:spPr>
          <a:xfrm>
            <a:off x="6527375" y="2276550"/>
            <a:ext cx="20970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Function is used to generate random numbers from a normal distribution.</a:t>
            </a:r>
            <a:endParaRPr b="1" sz="2200">
              <a:solidFill>
                <a:srgbClr val="FF0000"/>
              </a:solidFill>
            </a:endParaRPr>
          </a:p>
        </p:txBody>
      </p:sp>
      <p:cxnSp>
        <p:nvCxnSpPr>
          <p:cNvPr id="293" name="Google Shape;293;p40"/>
          <p:cNvCxnSpPr/>
          <p:nvPr/>
        </p:nvCxnSpPr>
        <p:spPr>
          <a:xfrm rot="10800000">
            <a:off x="4959300" y="2493750"/>
            <a:ext cx="1511400" cy="1701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41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Signal filters</a:t>
            </a:r>
            <a:endParaRPr/>
          </a:p>
        </p:txBody>
      </p:sp>
      <p:sp>
        <p:nvSpPr>
          <p:cNvPr id="299" name="Google Shape;299;p41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>
                <a:latin typeface="Courier"/>
                <a:ea typeface="Courier"/>
                <a:cs typeface="Courier"/>
                <a:sym typeface="Courier"/>
              </a:rPr>
              <a:t>signal</a:t>
            </a:r>
            <a:r>
              <a:rPr lang="en-GB"/>
              <a:t> provides a variety of functions for designing and applying digital filters.</a:t>
            </a:r>
            <a:br>
              <a:rPr lang="en-GB"/>
            </a:b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These filters act like cleaners for audio, selectively allowing or reducing certain frequencies.</a:t>
            </a:r>
            <a:br>
              <a:rPr lang="en-GB"/>
            </a:b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The choice depends on the specific cleaning needs, with trade-offs between simplicity and effectiveness.</a:t>
            </a:r>
            <a:br>
              <a:rPr lang="en-GB"/>
            </a:b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Each filter has its own way of cleaning, and the best one depends on the unique characteristics of the audio and the goals of the cleaning process.</a:t>
            </a:r>
            <a:endParaRPr/>
          </a:p>
        </p:txBody>
      </p:sp>
      <p:sp>
        <p:nvSpPr>
          <p:cNvPr id="300" name="Google Shape;300;p41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42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Signal filters</a:t>
            </a:r>
            <a:endParaRPr/>
          </a:p>
        </p:txBody>
      </p:sp>
      <p:sp>
        <p:nvSpPr>
          <p:cNvPr id="306" name="Google Shape;306;p42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Some examples include: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GB">
                <a:latin typeface="Courier"/>
                <a:ea typeface="Courier"/>
                <a:cs typeface="Courier"/>
                <a:sym typeface="Courier"/>
              </a:rPr>
              <a:t>fir1</a:t>
            </a:r>
            <a:r>
              <a:rPr lang="en-GB"/>
              <a:t>: designs a filter that cleans up the audio by letting through only certain frequencies and reducing the others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GB">
                <a:latin typeface="Courier"/>
                <a:ea typeface="Courier"/>
                <a:cs typeface="Courier"/>
                <a:sym typeface="Courier"/>
              </a:rPr>
              <a:t>butter</a:t>
            </a:r>
            <a:r>
              <a:rPr lang="en-GB"/>
              <a:t>: a smoother filter that cleans up audio by letting through frequencies up to a certain point and gradually reducing the others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GB">
                <a:latin typeface="Courier"/>
                <a:ea typeface="Courier"/>
                <a:cs typeface="Courier"/>
                <a:sym typeface="Courier"/>
              </a:rPr>
              <a:t>cheby1</a:t>
            </a:r>
            <a:r>
              <a:rPr lang="en-GB"/>
              <a:t>, </a:t>
            </a:r>
            <a:r>
              <a:rPr lang="en-GB">
                <a:latin typeface="Courier"/>
                <a:ea typeface="Courier"/>
                <a:cs typeface="Courier"/>
                <a:sym typeface="Courier"/>
              </a:rPr>
              <a:t>cheby2</a:t>
            </a:r>
            <a:r>
              <a:rPr lang="en-GB"/>
              <a:t>: reduces some frequencies while allowing others through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GB">
                <a:latin typeface="Courier"/>
                <a:ea typeface="Courier"/>
                <a:cs typeface="Courier"/>
                <a:sym typeface="Courier"/>
              </a:rPr>
              <a:t>ellip</a:t>
            </a:r>
            <a:r>
              <a:rPr lang="en-GB"/>
              <a:t>: reduces unwanted frequencies while allowing through the ones you want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For a more comprehensive explanation on how they work, check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here</a:t>
            </a:r>
            <a:r>
              <a:rPr lang="en-GB"/>
              <a:t>.</a:t>
            </a:r>
            <a:endParaRPr/>
          </a:p>
        </p:txBody>
      </p:sp>
      <p:sp>
        <p:nvSpPr>
          <p:cNvPr id="307" name="Google Shape;307;p42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43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Noise and Filters</a:t>
            </a:r>
            <a:endParaRPr/>
          </a:p>
        </p:txBody>
      </p:sp>
      <p:sp>
        <p:nvSpPr>
          <p:cNvPr id="313" name="Google Shape;313;p43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Using the butter filter we will try to recover the original signal</a:t>
            </a:r>
            <a:br>
              <a:rPr lang="en-GB"/>
            </a:br>
            <a:br>
              <a:rPr lang="en-GB"/>
            </a:br>
            <a:br>
              <a:rPr lang="en-GB"/>
            </a:b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43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15" name="Google Shape;315;p43"/>
          <p:cNvSpPr txBox="1"/>
          <p:nvPr/>
        </p:nvSpPr>
        <p:spPr>
          <a:xfrm>
            <a:off x="376475" y="2116425"/>
            <a:ext cx="6929100" cy="38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butterFilter &lt;- butter(</a:t>
            </a:r>
            <a:r>
              <a:rPr lang="en-GB" sz="150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3</a:t>
            </a:r>
            <a:r>
              <a:rPr lang="en-GB" sz="15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n-GB" sz="150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0.1</a:t>
            </a:r>
            <a:r>
              <a:rPr lang="en-GB" sz="15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15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recoveredSig &lt;- filter(butterFilter, noisySig)</a:t>
            </a:r>
            <a:br>
              <a:rPr lang="en-GB" sz="15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endParaRPr sz="15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allSignals &lt;- data.frame(t,</a:t>
            </a:r>
            <a:endParaRPr sz="15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                     </a:t>
            </a:r>
            <a:r>
              <a:rPr lang="en-GB" sz="15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S</a:t>
            </a:r>
            <a:r>
              <a:rPr lang="en-GB" sz="15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ig,</a:t>
            </a:r>
            <a:endParaRPr sz="15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                     noisySig,</a:t>
            </a:r>
            <a:endParaRPr sz="15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                     recoveredSig)</a:t>
            </a:r>
            <a:br>
              <a:rPr lang="en-GB" sz="15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endParaRPr sz="15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ggplot(allSignals, aes(t)) + </a:t>
            </a:r>
            <a:endParaRPr sz="15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geom_line(aes(y = sig,</a:t>
            </a:r>
            <a:endParaRPr sz="15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            color = </a:t>
            </a:r>
            <a:r>
              <a:rPr lang="en-GB" sz="15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"Original"</a:t>
            </a:r>
            <a:r>
              <a:rPr lang="en-GB" sz="15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)) + </a:t>
            </a:r>
            <a:endParaRPr sz="15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geom_line(aes(y = noisySig,</a:t>
            </a:r>
            <a:endParaRPr sz="15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            color = </a:t>
            </a:r>
            <a:r>
              <a:rPr lang="en-GB" sz="15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"Noisy"</a:t>
            </a:r>
            <a:r>
              <a:rPr lang="en-GB" sz="15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)) + </a:t>
            </a:r>
            <a:endParaRPr sz="15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geom_line(aes(y = recoveredSig,</a:t>
            </a:r>
            <a:endParaRPr sz="15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            color = </a:t>
            </a:r>
            <a:r>
              <a:rPr lang="en-GB" sz="15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"Recovered"</a:t>
            </a:r>
            <a:r>
              <a:rPr lang="en-GB" sz="15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)) + </a:t>
            </a:r>
            <a:endParaRPr sz="15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labs(x = </a:t>
            </a:r>
            <a:r>
              <a:rPr lang="en-GB" sz="15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"Time"</a:t>
            </a:r>
            <a:r>
              <a:rPr lang="en-GB" sz="15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, y = </a:t>
            </a:r>
            <a:r>
              <a:rPr lang="en-GB" sz="15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"Signal"</a:t>
            </a:r>
            <a:r>
              <a:rPr lang="en-GB" sz="15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15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316" name="Google Shape;316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62900" y="3187750"/>
            <a:ext cx="3972551" cy="2904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7" name="Google Shape;317;p4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54363" y="2254300"/>
            <a:ext cx="981075" cy="933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44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Noise and Filters</a:t>
            </a:r>
            <a:endParaRPr/>
          </a:p>
        </p:txBody>
      </p:sp>
      <p:sp>
        <p:nvSpPr>
          <p:cNvPr id="323" name="Google Shape;323;p44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Using the butter filter we will try to recover the original signal</a:t>
            </a:r>
            <a:br>
              <a:rPr lang="en-GB"/>
            </a:br>
            <a:br>
              <a:rPr lang="en-GB"/>
            </a:br>
            <a:br>
              <a:rPr lang="en-GB"/>
            </a:b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44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25" name="Google Shape;325;p44"/>
          <p:cNvSpPr txBox="1"/>
          <p:nvPr/>
        </p:nvSpPr>
        <p:spPr>
          <a:xfrm>
            <a:off x="376475" y="2116425"/>
            <a:ext cx="6929100" cy="38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butterFilter &lt;- butter(</a:t>
            </a:r>
            <a:r>
              <a:rPr lang="en-GB" sz="150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3</a:t>
            </a:r>
            <a:r>
              <a:rPr lang="en-GB" sz="15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n-GB" sz="150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0.1</a:t>
            </a:r>
            <a:r>
              <a:rPr lang="en-GB" sz="15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15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recoveredSig &lt;- filter(butterFilter, noisySig)</a:t>
            </a:r>
            <a:br>
              <a:rPr lang="en-GB" sz="15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endParaRPr sz="15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allSignals &lt;- data.frame(t,</a:t>
            </a:r>
            <a:endParaRPr sz="15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                     Sig,</a:t>
            </a:r>
            <a:endParaRPr sz="15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                     noisySig,</a:t>
            </a:r>
            <a:endParaRPr sz="15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                     recoveredSig)</a:t>
            </a:r>
            <a:br>
              <a:rPr lang="en-GB" sz="15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endParaRPr sz="15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ggplot(allSignals, aes(t)) + </a:t>
            </a:r>
            <a:endParaRPr sz="15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geom_line(aes(y = sig,</a:t>
            </a:r>
            <a:endParaRPr sz="15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            color = </a:t>
            </a:r>
            <a:r>
              <a:rPr lang="en-GB" sz="15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"Original"</a:t>
            </a:r>
            <a:r>
              <a:rPr lang="en-GB" sz="15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)) + </a:t>
            </a:r>
            <a:endParaRPr sz="15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geom_line(aes(y = noisySig,</a:t>
            </a:r>
            <a:endParaRPr sz="15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            color = </a:t>
            </a:r>
            <a:r>
              <a:rPr lang="en-GB" sz="15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"Noisy"</a:t>
            </a:r>
            <a:r>
              <a:rPr lang="en-GB" sz="15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)) + </a:t>
            </a:r>
            <a:endParaRPr sz="15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geom_line(aes(y = recoveredSig,</a:t>
            </a:r>
            <a:endParaRPr sz="15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            color = </a:t>
            </a:r>
            <a:r>
              <a:rPr lang="en-GB" sz="15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"Recovered"</a:t>
            </a:r>
            <a:r>
              <a:rPr lang="en-GB" sz="15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)) + </a:t>
            </a:r>
            <a:endParaRPr sz="15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labs(x = </a:t>
            </a:r>
            <a:r>
              <a:rPr lang="en-GB" sz="15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"Time"</a:t>
            </a:r>
            <a:r>
              <a:rPr lang="en-GB" sz="15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, y = </a:t>
            </a:r>
            <a:r>
              <a:rPr lang="en-GB" sz="15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"Signal"</a:t>
            </a:r>
            <a:r>
              <a:rPr lang="en-GB" sz="15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15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326" name="Google Shape;326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62900" y="3187750"/>
            <a:ext cx="3972551" cy="2904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7" name="Google Shape;327;p4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54363" y="2254300"/>
            <a:ext cx="981075" cy="933450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44"/>
          <p:cNvSpPr/>
          <p:nvPr/>
        </p:nvSpPr>
        <p:spPr>
          <a:xfrm>
            <a:off x="2258875" y="2197825"/>
            <a:ext cx="1668600" cy="2544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44"/>
          <p:cNvSpPr txBox="1"/>
          <p:nvPr/>
        </p:nvSpPr>
        <p:spPr>
          <a:xfrm>
            <a:off x="4039500" y="1953625"/>
            <a:ext cx="2065500" cy="41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FF0000"/>
                </a:solidFill>
                <a:highlight>
                  <a:schemeClr val="lt1"/>
                </a:highlight>
              </a:rPr>
              <a:t>We need to understand these</a:t>
            </a:r>
            <a:endParaRPr sz="2200">
              <a:solidFill>
                <a:srgbClr val="FF0000"/>
              </a:solidFill>
              <a:highlight>
                <a:schemeClr val="lt1"/>
              </a:highlight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45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Butterworth </a:t>
            </a:r>
            <a:r>
              <a:rPr lang="en-GB"/>
              <a:t>filter</a:t>
            </a:r>
            <a:endParaRPr/>
          </a:p>
        </p:txBody>
      </p:sp>
      <p:sp>
        <p:nvSpPr>
          <p:cNvPr id="335" name="Google Shape;335;p45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36" name="Google Shape;336;p45"/>
          <p:cNvSpPr txBox="1"/>
          <p:nvPr/>
        </p:nvSpPr>
        <p:spPr>
          <a:xfrm>
            <a:off x="311700" y="1536625"/>
            <a:ext cx="9144000" cy="17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butter(n,</a:t>
            </a:r>
            <a:endParaRPr sz="18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   W,</a:t>
            </a:r>
            <a:endParaRPr sz="18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   type = c(</a:t>
            </a:r>
            <a:r>
              <a:rPr lang="en-GB" sz="18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"low"</a:t>
            </a:r>
            <a:r>
              <a:rPr lang="en-GB" sz="18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n-GB" sz="18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"high"</a:t>
            </a:r>
            <a:r>
              <a:rPr lang="en-GB" sz="18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n-GB" sz="18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"stop"</a:t>
            </a:r>
            <a:r>
              <a:rPr lang="en-GB" sz="18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n-GB" sz="18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"pass"</a:t>
            </a:r>
            <a:r>
              <a:rPr lang="en-GB" sz="18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), </a:t>
            </a:r>
            <a:endParaRPr sz="18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   plane = c(</a:t>
            </a:r>
            <a:r>
              <a:rPr lang="en-GB" sz="18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"z"</a:t>
            </a:r>
            <a:r>
              <a:rPr lang="en-GB" sz="18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n-GB" sz="18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"s"</a:t>
            </a:r>
            <a:r>
              <a:rPr lang="en-GB" sz="18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), …)</a:t>
            </a:r>
            <a:endParaRPr sz="18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337" name="Google Shape;337;p45"/>
          <p:cNvSpPr txBox="1"/>
          <p:nvPr/>
        </p:nvSpPr>
        <p:spPr>
          <a:xfrm>
            <a:off x="311700" y="3763575"/>
            <a:ext cx="7763700" cy="41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7474F"/>
              </a:buClr>
              <a:buSzPts val="1800"/>
              <a:buChar char="●"/>
            </a:pPr>
            <a:r>
              <a:rPr b="1" lang="en-GB" sz="1800">
                <a:solidFill>
                  <a:srgbClr val="37474F"/>
                </a:solidFill>
              </a:rPr>
              <a:t>n</a:t>
            </a:r>
            <a:r>
              <a:rPr b="1" lang="en-GB" sz="1800">
                <a:solidFill>
                  <a:srgbClr val="37474F"/>
                </a:solidFill>
              </a:rPr>
              <a:t>:</a:t>
            </a:r>
            <a:r>
              <a:rPr lang="en-GB" sz="1800">
                <a:solidFill>
                  <a:srgbClr val="37474F"/>
                </a:solidFill>
              </a:rPr>
              <a:t> </a:t>
            </a:r>
            <a:r>
              <a:rPr lang="en-GB" sz="1800">
                <a:solidFill>
                  <a:srgbClr val="37474F"/>
                </a:solidFill>
              </a:rPr>
              <a:t>filter order, how quickly the filter responds to changes in frequency. Higher values generally result in a quicker decrease of the amplitude </a:t>
            </a:r>
            <a:endParaRPr sz="1800">
              <a:solidFill>
                <a:srgbClr val="37474F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7474F"/>
              </a:buClr>
              <a:buSzPts val="1800"/>
              <a:buChar char="●"/>
            </a:pPr>
            <a:r>
              <a:rPr b="1" lang="en-GB" sz="1800">
                <a:solidFill>
                  <a:srgbClr val="37474F"/>
                </a:solidFill>
              </a:rPr>
              <a:t>W:</a:t>
            </a:r>
            <a:r>
              <a:rPr lang="en-GB" sz="1800">
                <a:solidFill>
                  <a:srgbClr val="37474F"/>
                </a:solidFill>
              </a:rPr>
              <a:t> critical frequencies of the filter type</a:t>
            </a:r>
            <a:endParaRPr sz="1800">
              <a:solidFill>
                <a:srgbClr val="37474F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7474F"/>
              </a:buClr>
              <a:buSzPts val="1800"/>
              <a:buChar char="●"/>
            </a:pPr>
            <a:r>
              <a:rPr b="1" lang="en-GB" sz="1800">
                <a:solidFill>
                  <a:srgbClr val="37474F"/>
                </a:solidFill>
              </a:rPr>
              <a:t>type:</a:t>
            </a:r>
            <a:r>
              <a:rPr lang="en-GB" sz="1800">
                <a:solidFill>
                  <a:srgbClr val="37474F"/>
                </a:solidFill>
              </a:rPr>
              <a:t> low (default) / high, allows low-frequency components; stop/pass:  allows a specific range or band of frequencies to pass/stop</a:t>
            </a:r>
            <a:endParaRPr sz="1800">
              <a:solidFill>
                <a:srgbClr val="37474F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7474F"/>
              </a:buClr>
              <a:buSzPts val="1800"/>
              <a:buChar char="●"/>
            </a:pPr>
            <a:r>
              <a:rPr b="1" lang="en-GB" sz="1800">
                <a:solidFill>
                  <a:srgbClr val="37474F"/>
                </a:solidFill>
              </a:rPr>
              <a:t>plane</a:t>
            </a:r>
            <a:r>
              <a:rPr lang="en-GB" sz="1800">
                <a:solidFill>
                  <a:srgbClr val="37474F"/>
                </a:solidFill>
              </a:rPr>
              <a:t>: z (default) digital signals, s analog signals</a:t>
            </a:r>
            <a:endParaRPr sz="1800">
              <a:solidFill>
                <a:srgbClr val="37474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46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Task 3</a:t>
            </a:r>
            <a:endParaRPr/>
          </a:p>
        </p:txBody>
      </p:sp>
      <p:sp>
        <p:nvSpPr>
          <p:cNvPr id="343" name="Google Shape;343;p46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Some experimentation is usually necessary when </a:t>
            </a:r>
            <a:r>
              <a:rPr lang="en-GB"/>
              <a:t>applying</a:t>
            </a:r>
            <a:r>
              <a:rPr lang="en-GB"/>
              <a:t> filters. Play with the butter </a:t>
            </a:r>
            <a:r>
              <a:rPr lang="en-GB">
                <a:latin typeface="Courier"/>
                <a:ea typeface="Courier"/>
                <a:cs typeface="Courier"/>
                <a:sym typeface="Courier"/>
              </a:rPr>
              <a:t>n</a:t>
            </a:r>
            <a:r>
              <a:rPr lang="en-GB"/>
              <a:t> and </a:t>
            </a:r>
            <a:r>
              <a:rPr lang="en-GB">
                <a:latin typeface="Courier"/>
                <a:ea typeface="Courier"/>
                <a:cs typeface="Courier"/>
                <a:sym typeface="Courier"/>
              </a:rPr>
              <a:t>W </a:t>
            </a:r>
            <a:r>
              <a:rPr lang="en-GB"/>
              <a:t>filter values. Compare different results and see if you can better approximate the </a:t>
            </a:r>
            <a:r>
              <a:rPr lang="en-GB"/>
              <a:t>filtered</a:t>
            </a:r>
            <a:r>
              <a:rPr lang="en-GB"/>
              <a:t> signal to the original one.</a:t>
            </a:r>
            <a:endParaRPr/>
          </a:p>
        </p:txBody>
      </p:sp>
      <p:sp>
        <p:nvSpPr>
          <p:cNvPr id="344" name="Google Shape;344;p46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45" name="Google Shape;345;p46"/>
          <p:cNvSpPr txBox="1"/>
          <p:nvPr/>
        </p:nvSpPr>
        <p:spPr>
          <a:xfrm>
            <a:off x="573425" y="4820175"/>
            <a:ext cx="3625200" cy="82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2"/>
                </a:solidFill>
                <a:latin typeface="Courier"/>
                <a:ea typeface="Courier"/>
                <a:cs typeface="Courier"/>
                <a:sym typeface="Courier"/>
              </a:rPr>
              <a:t>Solution in the next slide...</a:t>
            </a:r>
            <a:endParaRPr sz="2200">
              <a:solidFill>
                <a:schemeClr val="dk2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47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Task 3</a:t>
            </a:r>
            <a:endParaRPr/>
          </a:p>
        </p:txBody>
      </p:sp>
      <p:sp>
        <p:nvSpPr>
          <p:cNvPr id="351" name="Google Shape;351;p47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352" name="Google Shape;352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650" y="1704075"/>
            <a:ext cx="3156471" cy="2309363"/>
          </a:xfrm>
          <a:prstGeom prst="rect">
            <a:avLst/>
          </a:prstGeom>
          <a:noFill/>
          <a:ln>
            <a:noFill/>
          </a:ln>
        </p:spPr>
      </p:pic>
      <p:sp>
        <p:nvSpPr>
          <p:cNvPr id="353" name="Google Shape;353;p47"/>
          <p:cNvSpPr txBox="1"/>
          <p:nvPr/>
        </p:nvSpPr>
        <p:spPr>
          <a:xfrm>
            <a:off x="3663025" y="2024850"/>
            <a:ext cx="2350500" cy="34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2"/>
                </a:solidFill>
              </a:rPr>
              <a:t>n = 4</a:t>
            </a:r>
            <a:endParaRPr sz="2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2"/>
                </a:solidFill>
              </a:rPr>
              <a:t>w = 0.1</a:t>
            </a:r>
            <a:endParaRPr sz="2200">
              <a:solidFill>
                <a:schemeClr val="dk2"/>
              </a:solidFill>
            </a:endParaRPr>
          </a:p>
        </p:txBody>
      </p:sp>
      <p:pic>
        <p:nvPicPr>
          <p:cNvPr id="354" name="Google Shape;354;p4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4801" y="4013450"/>
            <a:ext cx="3156476" cy="2360574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47"/>
          <p:cNvSpPr txBox="1"/>
          <p:nvPr/>
        </p:nvSpPr>
        <p:spPr>
          <a:xfrm>
            <a:off x="3663025" y="4537850"/>
            <a:ext cx="2350500" cy="34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2"/>
                </a:solidFill>
              </a:rPr>
              <a:t>n = 5</a:t>
            </a:r>
            <a:endParaRPr sz="2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2"/>
                </a:solidFill>
              </a:rPr>
              <a:t>w = 0.1</a:t>
            </a:r>
            <a:endParaRPr sz="2200">
              <a:solidFill>
                <a:schemeClr val="dk2"/>
              </a:solidFill>
            </a:endParaRPr>
          </a:p>
        </p:txBody>
      </p:sp>
      <p:pic>
        <p:nvPicPr>
          <p:cNvPr id="356" name="Google Shape;356;p4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005975" y="4168829"/>
            <a:ext cx="2825675" cy="2049812"/>
          </a:xfrm>
          <a:prstGeom prst="rect">
            <a:avLst/>
          </a:prstGeom>
          <a:noFill/>
          <a:ln>
            <a:noFill/>
          </a:ln>
        </p:spPr>
      </p:pic>
      <p:sp>
        <p:nvSpPr>
          <p:cNvPr id="357" name="Google Shape;357;p47"/>
          <p:cNvSpPr txBox="1"/>
          <p:nvPr/>
        </p:nvSpPr>
        <p:spPr>
          <a:xfrm>
            <a:off x="7831650" y="4542750"/>
            <a:ext cx="2350500" cy="34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2"/>
                </a:solidFill>
              </a:rPr>
              <a:t>n = 5</a:t>
            </a:r>
            <a:endParaRPr sz="2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2"/>
                </a:solidFill>
              </a:rPr>
              <a:t>w = 0.2</a:t>
            </a:r>
            <a:endParaRPr sz="2200">
              <a:solidFill>
                <a:schemeClr val="dk2"/>
              </a:solidFill>
            </a:endParaRPr>
          </a:p>
        </p:txBody>
      </p:sp>
      <p:pic>
        <p:nvPicPr>
          <p:cNvPr id="358" name="Google Shape;358;p4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005975" y="1811175"/>
            <a:ext cx="2758463" cy="2049825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47"/>
          <p:cNvSpPr txBox="1"/>
          <p:nvPr/>
        </p:nvSpPr>
        <p:spPr>
          <a:xfrm>
            <a:off x="7831650" y="2024850"/>
            <a:ext cx="2350500" cy="34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2"/>
                </a:solidFill>
              </a:rPr>
              <a:t>n = 4</a:t>
            </a:r>
            <a:endParaRPr sz="2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2"/>
                </a:solidFill>
              </a:rPr>
              <a:t>w = 0.2</a:t>
            </a:r>
            <a:endParaRPr sz="22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48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Fourier Transforms and Spectrograms</a:t>
            </a:r>
            <a:endParaRPr/>
          </a:p>
        </p:txBody>
      </p:sp>
      <p:sp>
        <p:nvSpPr>
          <p:cNvPr id="365" name="Google Shape;365;p48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10000"/>
          </a:bodyPr>
          <a:lstStyle/>
          <a:p>
            <a:pPr indent="-35782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/>
              <a:t>When working with signals both </a:t>
            </a:r>
            <a:r>
              <a:rPr b="1" lang="en-GB"/>
              <a:t>time domain and the frequency domain can provide valuable information</a:t>
            </a:r>
            <a:r>
              <a:rPr lang="en-GB"/>
              <a:t> about a signal.</a:t>
            </a:r>
            <a:br>
              <a:rPr lang="en-GB"/>
            </a:br>
            <a:endParaRPr/>
          </a:p>
          <a:p>
            <a:pPr indent="-35782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/>
              <a:t>In physics, engineering and mathematics, the </a:t>
            </a:r>
            <a:r>
              <a:rPr b="1" lang="en-GB"/>
              <a:t>Fourier transform</a:t>
            </a:r>
            <a:r>
              <a:rPr lang="en-GB"/>
              <a:t> (FT) is a type of transformation that maps a function from its original function space into another function space via integration.</a:t>
            </a:r>
            <a:br>
              <a:rPr lang="en-GB"/>
            </a:br>
            <a:endParaRPr/>
          </a:p>
          <a:p>
            <a:pPr indent="-35782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/>
              <a:t>The </a:t>
            </a:r>
            <a:r>
              <a:rPr b="1" lang="en-GB"/>
              <a:t>Discrete Fourier Transform</a:t>
            </a:r>
            <a:r>
              <a:rPr lang="en-GB"/>
              <a:t> (DFT) is a specific form of the Fourier Transform that allows </a:t>
            </a:r>
            <a:r>
              <a:rPr b="1" lang="en-GB"/>
              <a:t>switching from the </a:t>
            </a:r>
            <a:r>
              <a:rPr b="1" i="1" lang="en-GB"/>
              <a:t>time </a:t>
            </a:r>
            <a:r>
              <a:rPr b="1" lang="en-GB"/>
              <a:t>domain to the </a:t>
            </a:r>
            <a:r>
              <a:rPr b="1" i="1" lang="en-GB"/>
              <a:t>frequency </a:t>
            </a:r>
            <a:r>
              <a:rPr b="1" lang="en-GB"/>
              <a:t>domain</a:t>
            </a:r>
            <a:r>
              <a:rPr lang="en-GB"/>
              <a:t> to build the </a:t>
            </a:r>
            <a:r>
              <a:rPr b="1" lang="en-GB"/>
              <a:t>frequency spectrum</a:t>
            </a:r>
            <a:r>
              <a:rPr lang="en-GB"/>
              <a:t> of the original time wave.</a:t>
            </a:r>
            <a:br>
              <a:rPr lang="en-GB"/>
            </a:br>
            <a:endParaRPr/>
          </a:p>
          <a:p>
            <a:pPr indent="-35782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/>
              <a:t>For a visual explanation of Fourier Transform check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here</a:t>
            </a:r>
            <a:r>
              <a:rPr lang="en-GB"/>
              <a:t>.</a:t>
            </a:r>
            <a:endParaRPr/>
          </a:p>
        </p:txBody>
      </p:sp>
      <p:sp>
        <p:nvSpPr>
          <p:cNvPr id="366" name="Google Shape;366;p48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49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Fourier Transforms and Spectrograms</a:t>
            </a:r>
            <a:endParaRPr/>
          </a:p>
        </p:txBody>
      </p:sp>
      <p:sp>
        <p:nvSpPr>
          <p:cNvPr id="372" name="Google Shape;372;p49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A </a:t>
            </a:r>
            <a:r>
              <a:rPr b="1" lang="en-GB"/>
              <a:t>Short-Time Fourier Transform (STFT)</a:t>
            </a:r>
            <a:r>
              <a:rPr lang="en-GB"/>
              <a:t>, is computed when a window is “slided” along the signal and a DFT is computed at each of these slides</a:t>
            </a:r>
            <a:br>
              <a:rPr lang="en-GB"/>
            </a:b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This way we represent the signals in the frequency spectrum, while also maintaining most of the information from the time dimension.</a:t>
            </a:r>
            <a:br>
              <a:rPr lang="en-GB"/>
            </a:b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The results for a STFT are usually plotted in a </a:t>
            </a:r>
            <a:r>
              <a:rPr b="1" lang="en-GB"/>
              <a:t>spectrogram.</a:t>
            </a:r>
            <a:r>
              <a:rPr lang="en-GB"/>
              <a:t> 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49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8" name="Google Shape;378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11825" y="3083050"/>
            <a:ext cx="5740275" cy="3411375"/>
          </a:xfrm>
          <a:prstGeom prst="rect">
            <a:avLst/>
          </a:prstGeom>
          <a:noFill/>
          <a:ln>
            <a:noFill/>
          </a:ln>
        </p:spPr>
      </p:pic>
      <p:sp>
        <p:nvSpPr>
          <p:cNvPr id="379" name="Google Shape;379;p50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Fourier Transforms and Spectrograms</a:t>
            </a:r>
            <a:endParaRPr/>
          </a:p>
        </p:txBody>
      </p:sp>
      <p:sp>
        <p:nvSpPr>
          <p:cNvPr id="380" name="Google Shape;380;p50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The </a:t>
            </a:r>
            <a:r>
              <a:rPr lang="en-GB">
                <a:latin typeface="Courier"/>
                <a:ea typeface="Courier"/>
                <a:cs typeface="Courier"/>
                <a:sym typeface="Courier"/>
              </a:rPr>
              <a:t>seewave</a:t>
            </a:r>
            <a:r>
              <a:rPr lang="en-GB"/>
              <a:t> package provides the </a:t>
            </a:r>
            <a:r>
              <a:rPr lang="en-GB" u="sng">
                <a:solidFill>
                  <a:schemeClr val="hlink"/>
                </a:solidFill>
                <a:latin typeface="Courier"/>
                <a:ea typeface="Courier"/>
                <a:cs typeface="Courier"/>
                <a:sym typeface="Courier"/>
                <a:hlinkClick r:id="rId4"/>
              </a:rPr>
              <a:t>spectro</a:t>
            </a:r>
            <a:r>
              <a:rPr lang="en-GB"/>
              <a:t> </a:t>
            </a:r>
            <a:r>
              <a:rPr lang="en-GB"/>
              <a:t>function</a:t>
            </a:r>
            <a:br>
              <a:rPr lang="en-GB"/>
            </a:br>
            <a:endParaRPr sz="2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library(seewave)</a:t>
            </a:r>
            <a:endParaRPr sz="14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audio &lt;- readWave(</a:t>
            </a:r>
            <a:r>
              <a:rPr lang="en-GB" sz="14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"laugh.wav"</a:t>
            </a:r>
            <a:r>
              <a:rPr lang="en-GB" sz="14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14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spectro(audio)</a:t>
            </a:r>
            <a:endParaRPr sz="14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50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382" name="Google Shape;382;p50" title="laugh.wav">
            <a:hlinkClick r:id="rId5"/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864025" y="2323525"/>
            <a:ext cx="583200" cy="58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51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Fourier Transforms and Spectrograms</a:t>
            </a:r>
            <a:endParaRPr/>
          </a:p>
        </p:txBody>
      </p:sp>
      <p:sp>
        <p:nvSpPr>
          <p:cNvPr id="388" name="Google Shape;388;p51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The </a:t>
            </a:r>
            <a:r>
              <a:rPr lang="en-GB">
                <a:latin typeface="Courier"/>
                <a:ea typeface="Courier"/>
                <a:cs typeface="Courier"/>
                <a:sym typeface="Courier"/>
              </a:rPr>
              <a:t>seewave</a:t>
            </a:r>
            <a:r>
              <a:rPr lang="en-GB"/>
              <a:t> package provides the </a:t>
            </a:r>
            <a:r>
              <a:rPr lang="en-GB">
                <a:latin typeface="Courier"/>
                <a:ea typeface="Courier"/>
                <a:cs typeface="Courier"/>
                <a:sym typeface="Courier"/>
              </a:rPr>
              <a:t>spectro </a:t>
            </a:r>
            <a:r>
              <a:rPr lang="en-GB"/>
              <a:t>function</a:t>
            </a:r>
            <a:br>
              <a:rPr lang="en-GB"/>
            </a:br>
            <a:endParaRPr sz="2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library(seewave)</a:t>
            </a:r>
            <a:endParaRPr sz="14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audio &lt;- readWave(</a:t>
            </a:r>
            <a:r>
              <a:rPr lang="en-GB" sz="14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"tico.wav"</a:t>
            </a:r>
            <a:r>
              <a:rPr lang="en-GB" sz="14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14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spectro(audio)</a:t>
            </a:r>
            <a:endParaRPr sz="14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51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390" name="Google Shape;390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92398" y="3179350"/>
            <a:ext cx="5537474" cy="3320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1" name="Google Shape;391;p51" title="tico.wav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136773" y="2244675"/>
            <a:ext cx="692825" cy="692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52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Spectrograms example applications</a:t>
            </a:r>
            <a:endParaRPr/>
          </a:p>
        </p:txBody>
      </p:sp>
      <p:sp>
        <p:nvSpPr>
          <p:cNvPr id="397" name="Google Shape;397;p52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52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399" name="Google Shape;399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9150" y="2223575"/>
            <a:ext cx="8445701" cy="1205433"/>
          </a:xfrm>
          <a:prstGeom prst="rect">
            <a:avLst/>
          </a:prstGeom>
          <a:noFill/>
          <a:ln>
            <a:noFill/>
          </a:ln>
        </p:spPr>
      </p:pic>
      <p:sp>
        <p:nvSpPr>
          <p:cNvPr id="400" name="Google Shape;400;p52"/>
          <p:cNvSpPr txBox="1"/>
          <p:nvPr/>
        </p:nvSpPr>
        <p:spPr>
          <a:xfrm>
            <a:off x="1099350" y="3806775"/>
            <a:ext cx="6945300" cy="13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Char char="●"/>
            </a:pPr>
            <a:r>
              <a:rPr lang="en-GB" sz="2200">
                <a:solidFill>
                  <a:schemeClr val="dk2"/>
                </a:solidFill>
              </a:rPr>
              <a:t>20 millisecond sound snippet with a lot of low-frequency energy and not much energy in the higher frequencies. That’s typical of “male” voices.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53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Spectrograms example applications</a:t>
            </a:r>
            <a:endParaRPr/>
          </a:p>
        </p:txBody>
      </p:sp>
      <p:sp>
        <p:nvSpPr>
          <p:cNvPr id="406" name="Google Shape;406;p53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07" name="Google Shape;407;p53"/>
          <p:cNvSpPr txBox="1"/>
          <p:nvPr/>
        </p:nvSpPr>
        <p:spPr>
          <a:xfrm>
            <a:off x="1099350" y="4513875"/>
            <a:ext cx="69453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Char char="●"/>
            </a:pPr>
            <a:r>
              <a:rPr lang="en-GB" sz="2200">
                <a:solidFill>
                  <a:schemeClr val="dk2"/>
                </a:solidFill>
              </a:rPr>
              <a:t>The full spectrogram of the “hello” word</a:t>
            </a:r>
            <a:endParaRPr/>
          </a:p>
        </p:txBody>
      </p:sp>
      <p:pic>
        <p:nvPicPr>
          <p:cNvPr id="408" name="Google Shape;408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1500" y="1460817"/>
            <a:ext cx="7901006" cy="27940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54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Spectrograms example applications</a:t>
            </a:r>
            <a:endParaRPr/>
          </a:p>
        </p:txBody>
      </p:sp>
      <p:sp>
        <p:nvSpPr>
          <p:cNvPr id="414" name="Google Shape;414;p54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15" name="Google Shape;415;p54"/>
          <p:cNvSpPr txBox="1"/>
          <p:nvPr/>
        </p:nvSpPr>
        <p:spPr>
          <a:xfrm>
            <a:off x="1099350" y="4684350"/>
            <a:ext cx="6945300" cy="16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Char char="●"/>
            </a:pPr>
            <a:r>
              <a:rPr lang="en-GB" sz="2200">
                <a:solidFill>
                  <a:schemeClr val="dk2"/>
                </a:solidFill>
              </a:rPr>
              <a:t>Slice of </a:t>
            </a:r>
            <a:r>
              <a:rPr lang="en-GB" sz="2200">
                <a:solidFill>
                  <a:schemeClr val="dk2"/>
                </a:solidFill>
              </a:rPr>
              <a:t>spectrogram</a:t>
            </a:r>
            <a:r>
              <a:rPr lang="en-GB" sz="2200">
                <a:solidFill>
                  <a:schemeClr val="dk2"/>
                </a:solidFill>
              </a:rPr>
              <a:t> fed into a deep neural network. For each little audio slice, it will try to figure out the letter that corresponds the sound currently being spoken.</a:t>
            </a:r>
            <a:endParaRPr/>
          </a:p>
        </p:txBody>
      </p:sp>
      <p:pic>
        <p:nvPicPr>
          <p:cNvPr id="416" name="Google Shape;416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54325" y="1623567"/>
            <a:ext cx="4635346" cy="27940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55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</a:t>
            </a:r>
            <a:r>
              <a:rPr lang="en-GB"/>
              <a:t>pectro Function</a:t>
            </a:r>
            <a:endParaRPr/>
          </a:p>
        </p:txBody>
      </p:sp>
      <p:sp>
        <p:nvSpPr>
          <p:cNvPr id="422" name="Google Shape;422;p55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-36512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 sz="8600"/>
              <a:t>The </a:t>
            </a:r>
            <a:r>
              <a:rPr lang="en-GB" sz="8600" u="sng">
                <a:solidFill>
                  <a:schemeClr val="hlink"/>
                </a:solidFill>
                <a:latin typeface="Courier"/>
                <a:ea typeface="Courier"/>
                <a:cs typeface="Courier"/>
                <a:sym typeface="Courier"/>
                <a:hlinkClick r:id="rId3"/>
              </a:rPr>
              <a:t>spectro</a:t>
            </a:r>
            <a:r>
              <a:rPr lang="en-GB" sz="8600">
                <a:latin typeface="Courier"/>
                <a:ea typeface="Courier"/>
                <a:cs typeface="Courier"/>
                <a:sym typeface="Courier"/>
              </a:rPr>
              <a:t> </a:t>
            </a:r>
            <a:r>
              <a:rPr lang="en-GB" sz="8600"/>
              <a:t>function</a:t>
            </a:r>
            <a:r>
              <a:rPr lang="en-GB" sz="8600"/>
              <a:t> also has a long list of parameters that allows us to control how the spectrogram is created.</a:t>
            </a:r>
            <a:endParaRPr sz="8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600"/>
          </a:p>
          <a:p>
            <a:pPr indent="-36512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 sz="8600"/>
              <a:t>Let’s see how some of them work… </a:t>
            </a:r>
            <a:endParaRPr sz="8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55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24" name="Google Shape;424;p55"/>
          <p:cNvSpPr txBox="1"/>
          <p:nvPr/>
        </p:nvSpPr>
        <p:spPr>
          <a:xfrm>
            <a:off x="610500" y="2401324"/>
            <a:ext cx="9645900" cy="23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GB" sz="1550">
                <a:solidFill>
                  <a:srgbClr val="66666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Usage</a:t>
            </a:r>
            <a:endParaRPr b="1" sz="1550">
              <a:solidFill>
                <a:srgbClr val="666666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</a:rPr>
              <a:t>spectro(wave, f, channel = 1, wl = 512, wn = "hanning", zp = 0,</a:t>
            </a:r>
            <a:endParaRPr sz="11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</a:rPr>
              <a:t>ovlp = 0, noisereduction = NULL, fastdisp = FALSE,</a:t>
            </a:r>
            <a:endParaRPr sz="11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</a:rPr>
              <a:t>complex = FALSE, norm = TRUE, correction="none",</a:t>
            </a:r>
            <a:endParaRPr sz="11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</a:rPr>
              <a:t>fftw = FALSE, dB = "max0", dBref = NULL, plot = TRUE,</a:t>
            </a:r>
            <a:endParaRPr sz="11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</a:rPr>
              <a:t>flog = FALSE, grid = TRUE, osc = FALSE, scale = TRUE, cont = FALSE,</a:t>
            </a:r>
            <a:endParaRPr sz="11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</a:rPr>
              <a:t>collevels = NULL, palette = spectro.colors,</a:t>
            </a:r>
            <a:endParaRPr sz="11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</a:rPr>
              <a:t>contlevels = NULL, colcont = "black",</a:t>
            </a:r>
            <a:endParaRPr sz="11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</a:rPr>
              <a:t>colbg = "white", colgrid = "black",</a:t>
            </a:r>
            <a:endParaRPr sz="11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</a:rPr>
              <a:t>colaxis = "black", collab="black",</a:t>
            </a:r>
            <a:endParaRPr sz="11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</a:rPr>
              <a:t>cexlab = 1, cexaxis = 1, </a:t>
            </a:r>
            <a:endParaRPr sz="11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</a:rPr>
              <a:t>tlab = "Time (s)",</a:t>
            </a:r>
            <a:endParaRPr sz="1100">
              <a:solidFill>
                <a:schemeClr val="dk1"/>
              </a:solidFill>
              <a:highlight>
                <a:srgbClr val="FFFFFF"/>
              </a:highlight>
            </a:endParaRPr>
          </a:p>
        </p:txBody>
      </p:sp>
      <p:sp>
        <p:nvSpPr>
          <p:cNvPr id="425" name="Google Shape;425;p55"/>
          <p:cNvSpPr txBox="1"/>
          <p:nvPr/>
        </p:nvSpPr>
        <p:spPr>
          <a:xfrm>
            <a:off x="5832300" y="2646675"/>
            <a:ext cx="3000000" cy="22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</a:rPr>
              <a:t>flab = "Frequency (kHz)",</a:t>
            </a:r>
            <a:endParaRPr sz="11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</a:rPr>
              <a:t>alab = "Amplitude",</a:t>
            </a:r>
            <a:endParaRPr sz="11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</a:rPr>
              <a:t>scalelab = "Amplitude\n(dB)",</a:t>
            </a:r>
            <a:endParaRPr sz="11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</a:rPr>
              <a:t>main = NULL,</a:t>
            </a:r>
            <a:endParaRPr sz="11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</a:rPr>
              <a:t>scalefontlab = 1, scalecexlab =0.75,</a:t>
            </a:r>
            <a:endParaRPr sz="11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</a:rPr>
              <a:t>axisX = TRUE, axisY = TRUE, tlim = NULL, trel = TRUE,</a:t>
            </a:r>
            <a:endParaRPr sz="11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</a:rPr>
              <a:t>flim = NULL, flimd = NULL,</a:t>
            </a:r>
            <a:endParaRPr sz="11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</a:rPr>
              <a:t>widths = c(6,1), heights = c(3,1),</a:t>
            </a:r>
            <a:endParaRPr sz="11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</a:rPr>
              <a:t>oma = rep(0,4),</a:t>
            </a:r>
            <a:endParaRPr sz="11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</a:rPr>
              <a:t>listen=FALSE,</a:t>
            </a:r>
            <a:endParaRPr sz="11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</a:rPr>
              <a:t>...)</a:t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56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Spectro Function</a:t>
            </a:r>
            <a:endParaRPr/>
          </a:p>
        </p:txBody>
      </p:sp>
      <p:sp>
        <p:nvSpPr>
          <p:cNvPr id="431" name="Google Shape;431;p56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432" name="Google Shape;432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0524" y="4109824"/>
            <a:ext cx="3978950" cy="2354075"/>
          </a:xfrm>
          <a:prstGeom prst="rect">
            <a:avLst/>
          </a:prstGeom>
          <a:noFill/>
          <a:ln>
            <a:noFill/>
          </a:ln>
        </p:spPr>
      </p:pic>
      <p:sp>
        <p:nvSpPr>
          <p:cNvPr id="433" name="Google Shape;433;p56"/>
          <p:cNvSpPr txBox="1"/>
          <p:nvPr/>
        </p:nvSpPr>
        <p:spPr>
          <a:xfrm>
            <a:off x="4679025" y="4109825"/>
            <a:ext cx="3929100" cy="88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2"/>
                </a:solidFill>
                <a:latin typeface="Courier"/>
                <a:ea typeface="Courier"/>
                <a:cs typeface="Courier"/>
                <a:sym typeface="Courier"/>
              </a:rPr>
              <a:t>spectro(tico, </a:t>
            </a:r>
            <a:r>
              <a:rPr b="1" lang="en-GB" sz="2200">
                <a:solidFill>
                  <a:schemeClr val="dk2"/>
                </a:solidFill>
                <a:latin typeface="Courier"/>
                <a:ea typeface="Courier"/>
                <a:cs typeface="Courier"/>
                <a:sym typeface="Courier"/>
              </a:rPr>
              <a:t>wl=64</a:t>
            </a:r>
            <a:r>
              <a:rPr lang="en-GB" sz="2200">
                <a:solidFill>
                  <a:schemeClr val="dk2"/>
                </a:solidFill>
                <a:latin typeface="Courier"/>
                <a:ea typeface="Courier"/>
                <a:cs typeface="Courier"/>
                <a:sym typeface="Courier"/>
              </a:rPr>
              <a:t>)</a:t>
            </a:r>
            <a:br>
              <a:rPr lang="en-GB" sz="2200">
                <a:solidFill>
                  <a:schemeClr val="dk2"/>
                </a:solidFill>
              </a:rPr>
            </a:br>
            <a:br>
              <a:rPr lang="en-GB" sz="2200">
                <a:solidFill>
                  <a:schemeClr val="dk2"/>
                </a:solidFill>
              </a:rPr>
            </a:br>
            <a:r>
              <a:rPr lang="en-GB" sz="2200">
                <a:solidFill>
                  <a:schemeClr val="dk2"/>
                </a:solidFill>
              </a:rPr>
              <a:t>Shorter window lengths provide better time resolution.</a:t>
            </a:r>
            <a:endParaRPr sz="2200">
              <a:solidFill>
                <a:schemeClr val="dk2"/>
              </a:solidFill>
            </a:endParaRPr>
          </a:p>
        </p:txBody>
      </p:sp>
      <p:sp>
        <p:nvSpPr>
          <p:cNvPr id="434" name="Google Shape;434;p56"/>
          <p:cNvSpPr txBox="1"/>
          <p:nvPr/>
        </p:nvSpPr>
        <p:spPr>
          <a:xfrm>
            <a:off x="4750025" y="1535975"/>
            <a:ext cx="4098000" cy="88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2"/>
                </a:solidFill>
                <a:latin typeface="Courier"/>
                <a:ea typeface="Courier"/>
                <a:cs typeface="Courier"/>
                <a:sym typeface="Courier"/>
              </a:rPr>
              <a:t>spectro(tico, </a:t>
            </a:r>
            <a:r>
              <a:rPr b="1" lang="en-GB" sz="2200">
                <a:solidFill>
                  <a:schemeClr val="dk2"/>
                </a:solidFill>
                <a:latin typeface="Courier"/>
                <a:ea typeface="Courier"/>
                <a:cs typeface="Courier"/>
                <a:sym typeface="Courier"/>
              </a:rPr>
              <a:t>wl=5096</a:t>
            </a:r>
            <a:r>
              <a:rPr lang="en-GB" sz="2200">
                <a:solidFill>
                  <a:schemeClr val="dk2"/>
                </a:solidFill>
                <a:latin typeface="Courier"/>
                <a:ea typeface="Courier"/>
                <a:cs typeface="Courier"/>
                <a:sym typeface="Courier"/>
              </a:rPr>
              <a:t>)</a:t>
            </a:r>
            <a:br>
              <a:rPr lang="en-GB" sz="2200">
                <a:solidFill>
                  <a:schemeClr val="dk2"/>
                </a:solidFill>
                <a:latin typeface="Courier"/>
                <a:ea typeface="Courier"/>
                <a:cs typeface="Courier"/>
                <a:sym typeface="Courier"/>
              </a:rPr>
            </a:br>
            <a:br>
              <a:rPr lang="en-GB" sz="2200">
                <a:solidFill>
                  <a:schemeClr val="dk2"/>
                </a:solidFill>
              </a:rPr>
            </a:br>
            <a:r>
              <a:rPr lang="en-GB" sz="2200">
                <a:solidFill>
                  <a:schemeClr val="dk2"/>
                </a:solidFill>
              </a:rPr>
              <a:t>Longer window lengths provide better frequency resolution. </a:t>
            </a:r>
            <a:endParaRPr sz="2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2"/>
              </a:solidFill>
            </a:endParaRPr>
          </a:p>
        </p:txBody>
      </p:sp>
      <p:pic>
        <p:nvPicPr>
          <p:cNvPr id="435" name="Google Shape;435;p5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4100" y="1509267"/>
            <a:ext cx="3855364" cy="22649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0" name="Google Shape;440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4100" y="1509267"/>
            <a:ext cx="3855364" cy="2264958"/>
          </a:xfrm>
          <a:prstGeom prst="rect">
            <a:avLst/>
          </a:prstGeom>
          <a:noFill/>
          <a:ln>
            <a:noFill/>
          </a:ln>
        </p:spPr>
      </p:pic>
      <p:sp>
        <p:nvSpPr>
          <p:cNvPr id="441" name="Google Shape;441;p57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Spectro Function</a:t>
            </a:r>
            <a:endParaRPr/>
          </a:p>
        </p:txBody>
      </p:sp>
      <p:sp>
        <p:nvSpPr>
          <p:cNvPr id="442" name="Google Shape;442;p57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443" name="Google Shape;443;p5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0524" y="4109824"/>
            <a:ext cx="3978950" cy="2354075"/>
          </a:xfrm>
          <a:prstGeom prst="rect">
            <a:avLst/>
          </a:prstGeom>
          <a:noFill/>
          <a:ln>
            <a:noFill/>
          </a:ln>
        </p:spPr>
      </p:pic>
      <p:sp>
        <p:nvSpPr>
          <p:cNvPr id="444" name="Google Shape;444;p57"/>
          <p:cNvSpPr txBox="1"/>
          <p:nvPr/>
        </p:nvSpPr>
        <p:spPr>
          <a:xfrm>
            <a:off x="4679025" y="4109825"/>
            <a:ext cx="3929100" cy="88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2"/>
                </a:solidFill>
                <a:latin typeface="Courier"/>
                <a:ea typeface="Courier"/>
                <a:cs typeface="Courier"/>
                <a:sym typeface="Courier"/>
              </a:rPr>
              <a:t>spectro(tico, </a:t>
            </a:r>
            <a:r>
              <a:rPr b="1" lang="en-GB" sz="2200">
                <a:solidFill>
                  <a:schemeClr val="dk2"/>
                </a:solidFill>
                <a:latin typeface="Courier"/>
                <a:ea typeface="Courier"/>
                <a:cs typeface="Courier"/>
                <a:sym typeface="Courier"/>
              </a:rPr>
              <a:t>wl=64</a:t>
            </a:r>
            <a:r>
              <a:rPr lang="en-GB" sz="2200">
                <a:solidFill>
                  <a:schemeClr val="dk2"/>
                </a:solidFill>
                <a:latin typeface="Courier"/>
                <a:ea typeface="Courier"/>
                <a:cs typeface="Courier"/>
                <a:sym typeface="Courier"/>
              </a:rPr>
              <a:t>)</a:t>
            </a:r>
            <a:br>
              <a:rPr lang="en-GB" sz="2200">
                <a:solidFill>
                  <a:schemeClr val="dk2"/>
                </a:solidFill>
              </a:rPr>
            </a:br>
            <a:br>
              <a:rPr lang="en-GB" sz="2200">
                <a:solidFill>
                  <a:schemeClr val="dk2"/>
                </a:solidFill>
              </a:rPr>
            </a:br>
            <a:r>
              <a:rPr lang="en-GB" sz="2200">
                <a:solidFill>
                  <a:schemeClr val="dk2"/>
                </a:solidFill>
              </a:rPr>
              <a:t>Shorter window lengths provide better time resolution.</a:t>
            </a:r>
            <a:endParaRPr sz="2200">
              <a:solidFill>
                <a:schemeClr val="dk2"/>
              </a:solidFill>
            </a:endParaRPr>
          </a:p>
        </p:txBody>
      </p:sp>
      <p:sp>
        <p:nvSpPr>
          <p:cNvPr id="445" name="Google Shape;445;p57"/>
          <p:cNvSpPr txBox="1"/>
          <p:nvPr/>
        </p:nvSpPr>
        <p:spPr>
          <a:xfrm>
            <a:off x="4750025" y="1535975"/>
            <a:ext cx="4098000" cy="88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2"/>
                </a:solidFill>
                <a:latin typeface="Courier"/>
                <a:ea typeface="Courier"/>
                <a:cs typeface="Courier"/>
                <a:sym typeface="Courier"/>
              </a:rPr>
              <a:t>spectro(tico, </a:t>
            </a:r>
            <a:r>
              <a:rPr b="1" lang="en-GB" sz="2200">
                <a:solidFill>
                  <a:schemeClr val="dk2"/>
                </a:solidFill>
                <a:latin typeface="Courier"/>
                <a:ea typeface="Courier"/>
                <a:cs typeface="Courier"/>
                <a:sym typeface="Courier"/>
              </a:rPr>
              <a:t>wl=256</a:t>
            </a:r>
            <a:r>
              <a:rPr lang="en-GB" sz="2200">
                <a:solidFill>
                  <a:schemeClr val="dk2"/>
                </a:solidFill>
                <a:latin typeface="Courier"/>
                <a:ea typeface="Courier"/>
                <a:cs typeface="Courier"/>
                <a:sym typeface="Courier"/>
              </a:rPr>
              <a:t>)</a:t>
            </a:r>
            <a:br>
              <a:rPr lang="en-GB" sz="2200">
                <a:solidFill>
                  <a:schemeClr val="dk2"/>
                </a:solidFill>
                <a:latin typeface="Courier"/>
                <a:ea typeface="Courier"/>
                <a:cs typeface="Courier"/>
                <a:sym typeface="Courier"/>
              </a:rPr>
            </a:br>
            <a:br>
              <a:rPr lang="en-GB" sz="2200">
                <a:solidFill>
                  <a:schemeClr val="dk2"/>
                </a:solidFill>
              </a:rPr>
            </a:br>
            <a:r>
              <a:rPr lang="en-GB" sz="2200">
                <a:solidFill>
                  <a:schemeClr val="dk2"/>
                </a:solidFill>
              </a:rPr>
              <a:t>Longer window lengths provide better frequency resolution. </a:t>
            </a:r>
            <a:endParaRPr sz="2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2"/>
              </a:solidFill>
            </a:endParaRPr>
          </a:p>
        </p:txBody>
      </p:sp>
      <p:sp>
        <p:nvSpPr>
          <p:cNvPr id="446" name="Google Shape;446;p57"/>
          <p:cNvSpPr txBox="1"/>
          <p:nvPr/>
        </p:nvSpPr>
        <p:spPr>
          <a:xfrm>
            <a:off x="1679025" y="1298775"/>
            <a:ext cx="3000000" cy="1046700"/>
          </a:xfrm>
          <a:prstGeom prst="rect">
            <a:avLst/>
          </a:prstGeom>
          <a:solidFill>
            <a:srgbClr val="F4CCCC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Clearer identification of distinct frequencies. Poorer time resolution, meaning quick changes in frequency are harder to detect.</a:t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58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Spectro Function</a:t>
            </a:r>
            <a:endParaRPr/>
          </a:p>
        </p:txBody>
      </p:sp>
      <p:sp>
        <p:nvSpPr>
          <p:cNvPr id="452" name="Google Shape;452;p58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453" name="Google Shape;453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0524" y="4109824"/>
            <a:ext cx="3978950" cy="2354075"/>
          </a:xfrm>
          <a:prstGeom prst="rect">
            <a:avLst/>
          </a:prstGeom>
          <a:noFill/>
          <a:ln>
            <a:noFill/>
          </a:ln>
        </p:spPr>
      </p:pic>
      <p:sp>
        <p:nvSpPr>
          <p:cNvPr id="454" name="Google Shape;454;p58"/>
          <p:cNvSpPr txBox="1"/>
          <p:nvPr/>
        </p:nvSpPr>
        <p:spPr>
          <a:xfrm>
            <a:off x="4679025" y="4109825"/>
            <a:ext cx="3929100" cy="88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2"/>
                </a:solidFill>
                <a:latin typeface="Courier"/>
                <a:ea typeface="Courier"/>
                <a:cs typeface="Courier"/>
                <a:sym typeface="Courier"/>
              </a:rPr>
              <a:t>spectro(tico, </a:t>
            </a:r>
            <a:r>
              <a:rPr b="1" lang="en-GB" sz="2200">
                <a:solidFill>
                  <a:schemeClr val="dk2"/>
                </a:solidFill>
                <a:latin typeface="Courier"/>
                <a:ea typeface="Courier"/>
                <a:cs typeface="Courier"/>
                <a:sym typeface="Courier"/>
              </a:rPr>
              <a:t>wl=64</a:t>
            </a:r>
            <a:r>
              <a:rPr lang="en-GB" sz="2200">
                <a:solidFill>
                  <a:schemeClr val="dk2"/>
                </a:solidFill>
                <a:latin typeface="Courier"/>
                <a:ea typeface="Courier"/>
                <a:cs typeface="Courier"/>
                <a:sym typeface="Courier"/>
              </a:rPr>
              <a:t>)</a:t>
            </a:r>
            <a:br>
              <a:rPr lang="en-GB" sz="2200">
                <a:solidFill>
                  <a:schemeClr val="dk2"/>
                </a:solidFill>
              </a:rPr>
            </a:br>
            <a:br>
              <a:rPr lang="en-GB" sz="2200">
                <a:solidFill>
                  <a:schemeClr val="dk2"/>
                </a:solidFill>
              </a:rPr>
            </a:br>
            <a:r>
              <a:rPr lang="en-GB" sz="2200">
                <a:solidFill>
                  <a:schemeClr val="dk2"/>
                </a:solidFill>
              </a:rPr>
              <a:t>Shorter window lengths provide better time resolution.</a:t>
            </a:r>
            <a:endParaRPr sz="2200">
              <a:solidFill>
                <a:schemeClr val="dk2"/>
              </a:solidFill>
            </a:endParaRPr>
          </a:p>
        </p:txBody>
      </p:sp>
      <p:sp>
        <p:nvSpPr>
          <p:cNvPr id="455" name="Google Shape;455;p58"/>
          <p:cNvSpPr txBox="1"/>
          <p:nvPr/>
        </p:nvSpPr>
        <p:spPr>
          <a:xfrm>
            <a:off x="4750025" y="1535975"/>
            <a:ext cx="4098000" cy="88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2"/>
                </a:solidFill>
                <a:latin typeface="Courier"/>
                <a:ea typeface="Courier"/>
                <a:cs typeface="Courier"/>
                <a:sym typeface="Courier"/>
              </a:rPr>
              <a:t>spectro(tico, </a:t>
            </a:r>
            <a:r>
              <a:rPr b="1" lang="en-GB" sz="2200">
                <a:solidFill>
                  <a:schemeClr val="dk2"/>
                </a:solidFill>
                <a:latin typeface="Courier"/>
                <a:ea typeface="Courier"/>
                <a:cs typeface="Courier"/>
                <a:sym typeface="Courier"/>
              </a:rPr>
              <a:t>wl=256</a:t>
            </a:r>
            <a:r>
              <a:rPr lang="en-GB" sz="2200">
                <a:solidFill>
                  <a:schemeClr val="dk2"/>
                </a:solidFill>
                <a:latin typeface="Courier"/>
                <a:ea typeface="Courier"/>
                <a:cs typeface="Courier"/>
                <a:sym typeface="Courier"/>
              </a:rPr>
              <a:t>)</a:t>
            </a:r>
            <a:br>
              <a:rPr lang="en-GB" sz="2200">
                <a:solidFill>
                  <a:schemeClr val="dk2"/>
                </a:solidFill>
                <a:latin typeface="Courier"/>
                <a:ea typeface="Courier"/>
                <a:cs typeface="Courier"/>
                <a:sym typeface="Courier"/>
              </a:rPr>
            </a:br>
            <a:br>
              <a:rPr lang="en-GB" sz="2200">
                <a:solidFill>
                  <a:schemeClr val="dk2"/>
                </a:solidFill>
              </a:rPr>
            </a:br>
            <a:r>
              <a:rPr lang="en-GB" sz="2200">
                <a:solidFill>
                  <a:schemeClr val="dk2"/>
                </a:solidFill>
              </a:rPr>
              <a:t>Longer window lengths provide better frequency resolution. </a:t>
            </a:r>
            <a:endParaRPr sz="2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2"/>
              </a:solidFill>
            </a:endParaRPr>
          </a:p>
        </p:txBody>
      </p:sp>
      <p:sp>
        <p:nvSpPr>
          <p:cNvPr id="456" name="Google Shape;456;p58"/>
          <p:cNvSpPr txBox="1"/>
          <p:nvPr/>
        </p:nvSpPr>
        <p:spPr>
          <a:xfrm>
            <a:off x="1619475" y="3926625"/>
            <a:ext cx="3000000" cy="831300"/>
          </a:xfrm>
          <a:prstGeom prst="rect">
            <a:avLst/>
          </a:prstGeom>
          <a:solidFill>
            <a:srgbClr val="F4CCCC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Better for detecting rapid changes in the signal. Less accurate frequency representation.</a:t>
            </a:r>
            <a:endParaRPr/>
          </a:p>
        </p:txBody>
      </p:sp>
      <p:pic>
        <p:nvPicPr>
          <p:cNvPr id="457" name="Google Shape;457;p5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4100" y="1509267"/>
            <a:ext cx="3855364" cy="22649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59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Spectro Function</a:t>
            </a:r>
            <a:endParaRPr/>
          </a:p>
        </p:txBody>
      </p:sp>
      <p:sp>
        <p:nvSpPr>
          <p:cNvPr id="463" name="Google Shape;463;p59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64" name="Google Shape;464;p59"/>
          <p:cNvSpPr txBox="1"/>
          <p:nvPr/>
        </p:nvSpPr>
        <p:spPr>
          <a:xfrm>
            <a:off x="4679025" y="4109825"/>
            <a:ext cx="5607900" cy="88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2"/>
                </a:solidFill>
                <a:latin typeface="Courier"/>
                <a:ea typeface="Courier"/>
                <a:cs typeface="Courier"/>
                <a:sym typeface="Courier"/>
              </a:rPr>
              <a:t>spectro(tico, </a:t>
            </a:r>
            <a:r>
              <a:rPr b="1" lang="en-GB" sz="1900">
                <a:solidFill>
                  <a:schemeClr val="dk2"/>
                </a:solidFill>
                <a:latin typeface="Courier"/>
                <a:ea typeface="Courier"/>
                <a:cs typeface="Courier"/>
                <a:sym typeface="Courier"/>
              </a:rPr>
              <a:t>tlim=c(0.5,1.5)</a:t>
            </a:r>
            <a:r>
              <a:rPr lang="en-GB" sz="1900">
                <a:solidFill>
                  <a:schemeClr val="dk2"/>
                </a:solidFill>
                <a:latin typeface="Courier"/>
                <a:ea typeface="Courier"/>
                <a:cs typeface="Courier"/>
                <a:sym typeface="Courier"/>
              </a:rPr>
              <a:t>)</a:t>
            </a:r>
            <a:br>
              <a:rPr lang="en-GB" sz="2200">
                <a:solidFill>
                  <a:schemeClr val="dk2"/>
                </a:solidFill>
              </a:rPr>
            </a:br>
            <a:br>
              <a:rPr lang="en-GB" sz="2200">
                <a:solidFill>
                  <a:schemeClr val="dk2"/>
                </a:solidFill>
              </a:rPr>
            </a:br>
            <a:r>
              <a:rPr lang="en-GB" sz="2200">
                <a:solidFill>
                  <a:schemeClr val="dk2"/>
                </a:solidFill>
                <a:latin typeface="Courier"/>
                <a:ea typeface="Courier"/>
                <a:cs typeface="Courier"/>
                <a:sym typeface="Courier"/>
              </a:rPr>
              <a:t>t</a:t>
            </a:r>
            <a:r>
              <a:rPr lang="en-GB" sz="2200">
                <a:solidFill>
                  <a:schemeClr val="dk2"/>
                </a:solidFill>
                <a:latin typeface="Courier"/>
                <a:ea typeface="Courier"/>
                <a:cs typeface="Courier"/>
                <a:sym typeface="Courier"/>
              </a:rPr>
              <a:t>lim </a:t>
            </a:r>
            <a:r>
              <a:rPr lang="en-GB" sz="2200">
                <a:solidFill>
                  <a:schemeClr val="dk2"/>
                </a:solidFill>
              </a:rPr>
              <a:t>specifies the time windows </a:t>
            </a:r>
            <a:br>
              <a:rPr lang="en-GB" sz="2200">
                <a:solidFill>
                  <a:schemeClr val="dk2"/>
                </a:solidFill>
              </a:rPr>
            </a:br>
            <a:r>
              <a:rPr lang="en-GB" sz="2200">
                <a:solidFill>
                  <a:schemeClr val="dk2"/>
                </a:solidFill>
              </a:rPr>
              <a:t>to analyse</a:t>
            </a:r>
            <a:endParaRPr sz="2200">
              <a:solidFill>
                <a:schemeClr val="dk2"/>
              </a:solidFill>
            </a:endParaRPr>
          </a:p>
        </p:txBody>
      </p:sp>
      <p:sp>
        <p:nvSpPr>
          <p:cNvPr id="465" name="Google Shape;465;p59"/>
          <p:cNvSpPr txBox="1"/>
          <p:nvPr/>
        </p:nvSpPr>
        <p:spPr>
          <a:xfrm>
            <a:off x="4750025" y="1535975"/>
            <a:ext cx="4385400" cy="88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2"/>
                </a:solidFill>
                <a:latin typeface="Courier"/>
                <a:ea typeface="Courier"/>
                <a:cs typeface="Courier"/>
                <a:sym typeface="Courier"/>
              </a:rPr>
              <a:t>spectro(tico,</a:t>
            </a:r>
            <a:r>
              <a:rPr b="1" lang="en-GB" sz="2200">
                <a:solidFill>
                  <a:schemeClr val="dk2"/>
                </a:solidFill>
                <a:latin typeface="Courier"/>
                <a:ea typeface="Courier"/>
                <a:cs typeface="Courier"/>
                <a:sym typeface="Courier"/>
              </a:rPr>
              <a:t>flim=c(2,6)</a:t>
            </a:r>
            <a:r>
              <a:rPr lang="en-GB" sz="2200">
                <a:solidFill>
                  <a:schemeClr val="dk2"/>
                </a:solidFill>
                <a:latin typeface="Courier"/>
                <a:ea typeface="Courier"/>
                <a:cs typeface="Courier"/>
                <a:sym typeface="Courier"/>
              </a:rPr>
              <a:t>)</a:t>
            </a:r>
            <a:br>
              <a:rPr lang="en-GB" sz="2200">
                <a:solidFill>
                  <a:schemeClr val="dk2"/>
                </a:solidFill>
                <a:latin typeface="Courier"/>
                <a:ea typeface="Courier"/>
                <a:cs typeface="Courier"/>
                <a:sym typeface="Courier"/>
              </a:rPr>
            </a:br>
            <a:br>
              <a:rPr lang="en-GB" sz="2200">
                <a:solidFill>
                  <a:schemeClr val="dk2"/>
                </a:solidFill>
              </a:rPr>
            </a:br>
            <a:r>
              <a:rPr lang="en-GB" sz="2200">
                <a:solidFill>
                  <a:schemeClr val="dk2"/>
                </a:solidFill>
                <a:latin typeface="Courier"/>
                <a:ea typeface="Courier"/>
                <a:cs typeface="Courier"/>
                <a:sym typeface="Courier"/>
              </a:rPr>
              <a:t>flim </a:t>
            </a:r>
            <a:r>
              <a:rPr lang="en-GB" sz="2200">
                <a:solidFill>
                  <a:schemeClr val="dk2"/>
                </a:solidFill>
              </a:rPr>
              <a:t>specifies the range of frequencies to focus (like a zoom)</a:t>
            </a:r>
            <a:endParaRPr sz="2200">
              <a:solidFill>
                <a:schemeClr val="dk2"/>
              </a:solidFill>
            </a:endParaRPr>
          </a:p>
        </p:txBody>
      </p:sp>
      <p:pic>
        <p:nvPicPr>
          <p:cNvPr id="466" name="Google Shape;466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0525" y="1535976"/>
            <a:ext cx="3929100" cy="2326894"/>
          </a:xfrm>
          <a:prstGeom prst="rect">
            <a:avLst/>
          </a:prstGeom>
          <a:noFill/>
          <a:ln>
            <a:noFill/>
          </a:ln>
        </p:spPr>
      </p:pic>
      <p:pic>
        <p:nvPicPr>
          <p:cNvPr id="467" name="Google Shape;467;p5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0525" y="4121346"/>
            <a:ext cx="3929099" cy="22835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60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Spectro Function</a:t>
            </a:r>
            <a:endParaRPr/>
          </a:p>
        </p:txBody>
      </p:sp>
      <p:sp>
        <p:nvSpPr>
          <p:cNvPr id="473" name="Google Shape;473;p60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74" name="Google Shape;474;p60"/>
          <p:cNvSpPr txBox="1"/>
          <p:nvPr/>
        </p:nvSpPr>
        <p:spPr>
          <a:xfrm>
            <a:off x="5238425" y="318800"/>
            <a:ext cx="4385400" cy="88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2"/>
                </a:solidFill>
                <a:latin typeface="Courier"/>
                <a:ea typeface="Courier"/>
                <a:cs typeface="Courier"/>
                <a:sym typeface="Courier"/>
              </a:rPr>
              <a:t>spectro(audio, </a:t>
            </a:r>
            <a:r>
              <a:rPr b="1" lang="en-GB" sz="2200">
                <a:solidFill>
                  <a:schemeClr val="dk2"/>
                </a:solidFill>
                <a:latin typeface="Courier"/>
                <a:ea typeface="Courier"/>
                <a:cs typeface="Courier"/>
                <a:sym typeface="Courier"/>
              </a:rPr>
              <a:t>noisereduction = 1</a:t>
            </a:r>
            <a:r>
              <a:rPr lang="en-GB" sz="2200">
                <a:solidFill>
                  <a:schemeClr val="dk2"/>
                </a:solidFill>
                <a:latin typeface="Courier"/>
                <a:ea typeface="Courier"/>
                <a:cs typeface="Courier"/>
                <a:sym typeface="Courier"/>
              </a:rPr>
              <a:t>)</a:t>
            </a:r>
            <a:endParaRPr sz="2200">
              <a:solidFill>
                <a:schemeClr val="dk2"/>
              </a:solidFill>
            </a:endParaRPr>
          </a:p>
        </p:txBody>
      </p:sp>
      <p:pic>
        <p:nvPicPr>
          <p:cNvPr id="475" name="Google Shape;475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0450" y="3643667"/>
            <a:ext cx="4167203" cy="2448158"/>
          </a:xfrm>
          <a:prstGeom prst="rect">
            <a:avLst/>
          </a:prstGeom>
          <a:noFill/>
          <a:ln>
            <a:noFill/>
          </a:ln>
        </p:spPr>
      </p:pic>
      <p:sp>
        <p:nvSpPr>
          <p:cNvPr id="476" name="Google Shape;476;p60"/>
          <p:cNvSpPr txBox="1"/>
          <p:nvPr/>
        </p:nvSpPr>
        <p:spPr>
          <a:xfrm>
            <a:off x="395075" y="1356875"/>
            <a:ext cx="4385400" cy="88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2"/>
                </a:solidFill>
                <a:latin typeface="Courier"/>
                <a:ea typeface="Courier"/>
                <a:cs typeface="Courier"/>
                <a:sym typeface="Courier"/>
              </a:rPr>
              <a:t>nosiereduction</a:t>
            </a:r>
            <a:r>
              <a:rPr lang="en-GB" sz="2200">
                <a:solidFill>
                  <a:schemeClr val="dk2"/>
                </a:solidFill>
                <a:latin typeface="Courier"/>
                <a:ea typeface="Courier"/>
                <a:cs typeface="Courier"/>
                <a:sym typeface="Courier"/>
              </a:rPr>
              <a:t> </a:t>
            </a:r>
            <a:r>
              <a:rPr lang="en-GB" sz="2200">
                <a:solidFill>
                  <a:schemeClr val="dk2"/>
                </a:solidFill>
              </a:rPr>
              <a:t>can be applied along the rows (frequency) with value 1 or columns (time) with value 2</a:t>
            </a:r>
            <a:endParaRPr sz="2200">
              <a:solidFill>
                <a:schemeClr val="dk2"/>
              </a:solidFill>
            </a:endParaRPr>
          </a:p>
        </p:txBody>
      </p:sp>
      <p:sp>
        <p:nvSpPr>
          <p:cNvPr id="477" name="Google Shape;477;p60"/>
          <p:cNvSpPr txBox="1"/>
          <p:nvPr/>
        </p:nvSpPr>
        <p:spPr>
          <a:xfrm>
            <a:off x="1139600" y="3093225"/>
            <a:ext cx="2208000" cy="3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3F51B5"/>
                </a:solidFill>
              </a:rPr>
              <a:t>Noisy example</a:t>
            </a:r>
            <a:endParaRPr sz="2200">
              <a:solidFill>
                <a:srgbClr val="3F51B5"/>
              </a:solidFill>
            </a:endParaRPr>
          </a:p>
        </p:txBody>
      </p:sp>
      <p:pic>
        <p:nvPicPr>
          <p:cNvPr id="478" name="Google Shape;478;p6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95650" y="1166575"/>
            <a:ext cx="3512426" cy="238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9" name="Google Shape;479;p6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344763" y="4416134"/>
            <a:ext cx="3414200" cy="2276141"/>
          </a:xfrm>
          <a:prstGeom prst="rect">
            <a:avLst/>
          </a:prstGeom>
          <a:noFill/>
          <a:ln>
            <a:noFill/>
          </a:ln>
        </p:spPr>
      </p:pic>
      <p:sp>
        <p:nvSpPr>
          <p:cNvPr id="480" name="Google Shape;480;p60"/>
          <p:cNvSpPr txBox="1"/>
          <p:nvPr/>
        </p:nvSpPr>
        <p:spPr>
          <a:xfrm>
            <a:off x="5344775" y="3550425"/>
            <a:ext cx="4385400" cy="88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2"/>
                </a:solidFill>
                <a:latin typeface="Courier"/>
                <a:ea typeface="Courier"/>
                <a:cs typeface="Courier"/>
                <a:sym typeface="Courier"/>
              </a:rPr>
              <a:t>spectro(audio, </a:t>
            </a:r>
            <a:r>
              <a:rPr b="1" lang="en-GB" sz="2200">
                <a:solidFill>
                  <a:schemeClr val="dk2"/>
                </a:solidFill>
                <a:latin typeface="Courier"/>
                <a:ea typeface="Courier"/>
                <a:cs typeface="Courier"/>
                <a:sym typeface="Courier"/>
              </a:rPr>
              <a:t>noisereduction = 2</a:t>
            </a:r>
            <a:r>
              <a:rPr lang="en-GB" sz="2200">
                <a:solidFill>
                  <a:schemeClr val="dk2"/>
                </a:solidFill>
                <a:latin typeface="Courier"/>
                <a:ea typeface="Courier"/>
                <a:cs typeface="Courier"/>
                <a:sym typeface="Courier"/>
              </a:rPr>
              <a:t>)</a:t>
            </a:r>
            <a:endParaRPr sz="2200">
              <a:solidFill>
                <a:schemeClr val="dk2"/>
              </a:solidFill>
            </a:endParaRPr>
          </a:p>
        </p:txBody>
      </p:sp>
      <p:pic>
        <p:nvPicPr>
          <p:cNvPr id="481" name="Google Shape;481;p60" title="tico_short.wav">
            <a:hlinkClick r:id="rId6"/>
          </p:cNvPr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56400" y="2994975"/>
            <a:ext cx="583200" cy="58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61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Spectro Function</a:t>
            </a:r>
            <a:endParaRPr/>
          </a:p>
        </p:txBody>
      </p:sp>
      <p:sp>
        <p:nvSpPr>
          <p:cNvPr id="487" name="Google Shape;487;p61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88" name="Google Shape;488;p61"/>
          <p:cNvSpPr txBox="1"/>
          <p:nvPr/>
        </p:nvSpPr>
        <p:spPr>
          <a:xfrm>
            <a:off x="5238425" y="318800"/>
            <a:ext cx="4385400" cy="88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2"/>
                </a:solidFill>
                <a:latin typeface="Courier"/>
                <a:ea typeface="Courier"/>
                <a:cs typeface="Courier"/>
                <a:sym typeface="Courier"/>
              </a:rPr>
              <a:t>spectro(audio, </a:t>
            </a:r>
            <a:r>
              <a:rPr b="1" lang="en-GB" sz="2200">
                <a:solidFill>
                  <a:schemeClr val="dk2"/>
                </a:solidFill>
                <a:latin typeface="Courier"/>
                <a:ea typeface="Courier"/>
                <a:cs typeface="Courier"/>
                <a:sym typeface="Courier"/>
              </a:rPr>
              <a:t>noisereduction = 1</a:t>
            </a:r>
            <a:r>
              <a:rPr lang="en-GB" sz="2200">
                <a:solidFill>
                  <a:schemeClr val="dk2"/>
                </a:solidFill>
                <a:latin typeface="Courier"/>
                <a:ea typeface="Courier"/>
                <a:cs typeface="Courier"/>
                <a:sym typeface="Courier"/>
              </a:rPr>
              <a:t>)</a:t>
            </a:r>
            <a:endParaRPr sz="2200">
              <a:solidFill>
                <a:schemeClr val="dk2"/>
              </a:solidFill>
            </a:endParaRPr>
          </a:p>
        </p:txBody>
      </p:sp>
      <p:pic>
        <p:nvPicPr>
          <p:cNvPr id="489" name="Google Shape;489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0450" y="3643667"/>
            <a:ext cx="4167203" cy="2448158"/>
          </a:xfrm>
          <a:prstGeom prst="rect">
            <a:avLst/>
          </a:prstGeom>
          <a:noFill/>
          <a:ln>
            <a:noFill/>
          </a:ln>
        </p:spPr>
      </p:pic>
      <p:sp>
        <p:nvSpPr>
          <p:cNvPr id="490" name="Google Shape;490;p61"/>
          <p:cNvSpPr txBox="1"/>
          <p:nvPr/>
        </p:nvSpPr>
        <p:spPr>
          <a:xfrm>
            <a:off x="395075" y="1356875"/>
            <a:ext cx="4385400" cy="88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2"/>
                </a:solidFill>
                <a:latin typeface="Courier"/>
                <a:ea typeface="Courier"/>
                <a:cs typeface="Courier"/>
                <a:sym typeface="Courier"/>
              </a:rPr>
              <a:t>nosiereduction </a:t>
            </a:r>
            <a:r>
              <a:rPr lang="en-GB" sz="2200">
                <a:solidFill>
                  <a:schemeClr val="dk2"/>
                </a:solidFill>
              </a:rPr>
              <a:t>can be applied along the rows (frequency) with value 1 or columns (time) with value 2</a:t>
            </a:r>
            <a:endParaRPr sz="2200">
              <a:solidFill>
                <a:schemeClr val="dk2"/>
              </a:solidFill>
            </a:endParaRPr>
          </a:p>
        </p:txBody>
      </p:sp>
      <p:sp>
        <p:nvSpPr>
          <p:cNvPr id="491" name="Google Shape;491;p61"/>
          <p:cNvSpPr txBox="1"/>
          <p:nvPr/>
        </p:nvSpPr>
        <p:spPr>
          <a:xfrm>
            <a:off x="1139600" y="3093225"/>
            <a:ext cx="2208000" cy="3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3F51B5"/>
                </a:solidFill>
              </a:rPr>
              <a:t>Noisy example</a:t>
            </a:r>
            <a:endParaRPr sz="2200">
              <a:solidFill>
                <a:srgbClr val="3F51B5"/>
              </a:solidFill>
            </a:endParaRPr>
          </a:p>
        </p:txBody>
      </p:sp>
      <p:pic>
        <p:nvPicPr>
          <p:cNvPr id="492" name="Google Shape;492;p6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95650" y="1166575"/>
            <a:ext cx="3512426" cy="238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3" name="Google Shape;493;p6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344763" y="4416134"/>
            <a:ext cx="3414200" cy="2276141"/>
          </a:xfrm>
          <a:prstGeom prst="rect">
            <a:avLst/>
          </a:prstGeom>
          <a:noFill/>
          <a:ln>
            <a:noFill/>
          </a:ln>
        </p:spPr>
      </p:pic>
      <p:sp>
        <p:nvSpPr>
          <p:cNvPr id="494" name="Google Shape;494;p61"/>
          <p:cNvSpPr txBox="1"/>
          <p:nvPr/>
        </p:nvSpPr>
        <p:spPr>
          <a:xfrm>
            <a:off x="5344775" y="3550425"/>
            <a:ext cx="4385400" cy="88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2"/>
                </a:solidFill>
                <a:latin typeface="Courier"/>
                <a:ea typeface="Courier"/>
                <a:cs typeface="Courier"/>
                <a:sym typeface="Courier"/>
              </a:rPr>
              <a:t>spectro(audio, </a:t>
            </a:r>
            <a:r>
              <a:rPr b="1" lang="en-GB" sz="2200">
                <a:solidFill>
                  <a:schemeClr val="dk2"/>
                </a:solidFill>
                <a:latin typeface="Courier"/>
                <a:ea typeface="Courier"/>
                <a:cs typeface="Courier"/>
                <a:sym typeface="Courier"/>
              </a:rPr>
              <a:t>noisereduction = 2</a:t>
            </a:r>
            <a:r>
              <a:rPr lang="en-GB" sz="2200">
                <a:solidFill>
                  <a:schemeClr val="dk2"/>
                </a:solidFill>
                <a:latin typeface="Courier"/>
                <a:ea typeface="Courier"/>
                <a:cs typeface="Courier"/>
                <a:sym typeface="Courier"/>
              </a:rPr>
              <a:t>)</a:t>
            </a:r>
            <a:endParaRPr sz="2200">
              <a:solidFill>
                <a:schemeClr val="dk2"/>
              </a:solidFill>
            </a:endParaRPr>
          </a:p>
        </p:txBody>
      </p:sp>
      <p:sp>
        <p:nvSpPr>
          <p:cNvPr id="495" name="Google Shape;495;p61"/>
          <p:cNvSpPr txBox="1"/>
          <p:nvPr/>
        </p:nvSpPr>
        <p:spPr>
          <a:xfrm>
            <a:off x="4322625" y="1464175"/>
            <a:ext cx="3000000" cy="985200"/>
          </a:xfrm>
          <a:prstGeom prst="rect">
            <a:avLst/>
          </a:prstGeom>
          <a:solidFill>
            <a:srgbClr val="F4CCCC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chemeClr val="dk1"/>
                </a:solidFill>
              </a:rPr>
              <a:t>It is an </a:t>
            </a:r>
            <a:r>
              <a:rPr b="1" lang="en-GB" sz="1300">
                <a:solidFill>
                  <a:schemeClr val="dk1"/>
                </a:solidFill>
              </a:rPr>
              <a:t>image filter, not a signal filter. The principle consists in subtracting each spectrogram row or column by its median</a:t>
            </a:r>
            <a:endParaRPr b="1" sz="1600">
              <a:solidFill>
                <a:schemeClr val="dk1"/>
              </a:solidFill>
            </a:endParaRPr>
          </a:p>
        </p:txBody>
      </p:sp>
      <p:cxnSp>
        <p:nvCxnSpPr>
          <p:cNvPr id="496" name="Google Shape;496;p61"/>
          <p:cNvCxnSpPr/>
          <p:nvPr/>
        </p:nvCxnSpPr>
        <p:spPr>
          <a:xfrm flipH="1" rot="10800000">
            <a:off x="442306" y="1785425"/>
            <a:ext cx="2410500" cy="141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97" name="Google Shape;497;p61"/>
          <p:cNvCxnSpPr>
            <a:stCxn id="495" idx="1"/>
          </p:cNvCxnSpPr>
          <p:nvPr/>
        </p:nvCxnSpPr>
        <p:spPr>
          <a:xfrm rot="10800000">
            <a:off x="2928225" y="1794775"/>
            <a:ext cx="1394400" cy="1620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498" name="Google Shape;498;p61" title="tico_short.wav">
            <a:hlinkClick r:id="rId6"/>
          </p:cNvPr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56400" y="2994975"/>
            <a:ext cx="583200" cy="58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62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-GB"/>
              <a:t>Spectro Function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4" name="Google Shape;504;p62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The spectro function can also return the time, frequency, and amplitude values of the decompositions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62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506" name="Google Shape;506;p62"/>
          <p:cNvSpPr txBox="1"/>
          <p:nvPr/>
        </p:nvSpPr>
        <p:spPr>
          <a:xfrm>
            <a:off x="468050" y="2967300"/>
            <a:ext cx="4924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audio &lt;- readWave(</a:t>
            </a:r>
            <a:r>
              <a:rPr lang="en-GB" sz="15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"laugh.wav"</a:t>
            </a:r>
            <a:r>
              <a:rPr lang="en-GB" sz="15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15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fft_data = spectro(audio)</a:t>
            </a:r>
            <a:endParaRPr sz="15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507" name="Google Shape;507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50" y="3771650"/>
            <a:ext cx="7265000" cy="1138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63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Spectro Function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3" name="Google Shape;513;p63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The spectro function can also return the time, frequency, and amplitude values of the FFT decompositions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4" name="Google Shape;514;p63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515" name="Google Shape;515;p63"/>
          <p:cNvSpPr txBox="1"/>
          <p:nvPr/>
        </p:nvSpPr>
        <p:spPr>
          <a:xfrm>
            <a:off x="468050" y="2967300"/>
            <a:ext cx="4924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audio &lt;- readWave(</a:t>
            </a:r>
            <a:r>
              <a:rPr lang="en-GB" sz="15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"laugh.wav"</a:t>
            </a:r>
            <a:r>
              <a:rPr lang="en-GB" sz="15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15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fft_data = spectro(audio)</a:t>
            </a:r>
            <a:endParaRPr sz="15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516" name="Google Shape;516;p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50" y="3771650"/>
            <a:ext cx="7265000" cy="1138775"/>
          </a:xfrm>
          <a:prstGeom prst="rect">
            <a:avLst/>
          </a:prstGeom>
          <a:noFill/>
          <a:ln>
            <a:noFill/>
          </a:ln>
        </p:spPr>
      </p:pic>
      <p:sp>
        <p:nvSpPr>
          <p:cNvPr id="517" name="Google Shape;517;p63"/>
          <p:cNvSpPr/>
          <p:nvPr/>
        </p:nvSpPr>
        <p:spPr>
          <a:xfrm>
            <a:off x="2309750" y="3978450"/>
            <a:ext cx="1007400" cy="437400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8" name="Google Shape;518;p63"/>
          <p:cNvSpPr txBox="1"/>
          <p:nvPr/>
        </p:nvSpPr>
        <p:spPr>
          <a:xfrm>
            <a:off x="3245850" y="3679125"/>
            <a:ext cx="23199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FF0000"/>
                </a:solidFill>
                <a:highlight>
                  <a:schemeClr val="lt1"/>
                </a:highlight>
              </a:rPr>
              <a:t>Number of columns</a:t>
            </a:r>
            <a:endParaRPr sz="2200">
              <a:solidFill>
                <a:srgbClr val="FF0000"/>
              </a:solidFill>
              <a:highlight>
                <a:schemeClr val="lt1"/>
              </a:highlight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64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Spectro Function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4" name="Google Shape;524;p64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The spectro function can also return the time, frequency, and amplitude values of the FFT decompositions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" name="Google Shape;525;p64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526" name="Google Shape;526;p64"/>
          <p:cNvSpPr txBox="1"/>
          <p:nvPr/>
        </p:nvSpPr>
        <p:spPr>
          <a:xfrm>
            <a:off x="468050" y="2967300"/>
            <a:ext cx="4924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audio &lt;- readWave(</a:t>
            </a:r>
            <a:r>
              <a:rPr lang="en-GB" sz="15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"laugh.wav"</a:t>
            </a:r>
            <a:r>
              <a:rPr lang="en-GB" sz="15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15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fft_data = spectro(audio)</a:t>
            </a:r>
            <a:endParaRPr sz="15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527" name="Google Shape;527;p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50" y="3771650"/>
            <a:ext cx="7265000" cy="1138775"/>
          </a:xfrm>
          <a:prstGeom prst="rect">
            <a:avLst/>
          </a:prstGeom>
          <a:noFill/>
          <a:ln>
            <a:noFill/>
          </a:ln>
        </p:spPr>
      </p:pic>
      <p:sp>
        <p:nvSpPr>
          <p:cNvPr id="528" name="Google Shape;528;p64"/>
          <p:cNvSpPr/>
          <p:nvPr/>
        </p:nvSpPr>
        <p:spPr>
          <a:xfrm>
            <a:off x="2309750" y="4273525"/>
            <a:ext cx="1007400" cy="437400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9" name="Google Shape;529;p64"/>
          <p:cNvSpPr txBox="1"/>
          <p:nvPr/>
        </p:nvSpPr>
        <p:spPr>
          <a:xfrm>
            <a:off x="3266275" y="4232774"/>
            <a:ext cx="23199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FF0000"/>
                </a:solidFill>
                <a:highlight>
                  <a:schemeClr val="lt1"/>
                </a:highlight>
              </a:rPr>
              <a:t>Number of rows</a:t>
            </a:r>
            <a:endParaRPr sz="2200">
              <a:solidFill>
                <a:srgbClr val="FF0000"/>
              </a:solidFill>
              <a:highlight>
                <a:schemeClr val="lt1"/>
              </a:highlight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65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Spectro Function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5" name="Google Shape;535;p65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The spectro function can also return the time, frequency, and amplitude values of the FFT decompositions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6" name="Google Shape;536;p65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537" name="Google Shape;537;p65"/>
          <p:cNvSpPr txBox="1"/>
          <p:nvPr/>
        </p:nvSpPr>
        <p:spPr>
          <a:xfrm>
            <a:off x="468050" y="2967300"/>
            <a:ext cx="4924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audio &lt;- readWave(</a:t>
            </a:r>
            <a:r>
              <a:rPr lang="en-GB" sz="15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"laugh.wav"</a:t>
            </a:r>
            <a:r>
              <a:rPr lang="en-GB" sz="15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15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fft_data = spectro(audio)</a:t>
            </a:r>
            <a:endParaRPr sz="15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538" name="Google Shape;538;p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50" y="3771650"/>
            <a:ext cx="7265000" cy="1138775"/>
          </a:xfrm>
          <a:prstGeom prst="rect">
            <a:avLst/>
          </a:prstGeom>
          <a:noFill/>
          <a:ln>
            <a:noFill/>
          </a:ln>
        </p:spPr>
      </p:pic>
      <p:sp>
        <p:nvSpPr>
          <p:cNvPr id="539" name="Google Shape;539;p65"/>
          <p:cNvSpPr/>
          <p:nvPr/>
        </p:nvSpPr>
        <p:spPr>
          <a:xfrm>
            <a:off x="2370800" y="4538075"/>
            <a:ext cx="1790700" cy="437400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0" name="Google Shape;540;p65"/>
          <p:cNvSpPr txBox="1"/>
          <p:nvPr/>
        </p:nvSpPr>
        <p:spPr>
          <a:xfrm>
            <a:off x="4186824" y="4131023"/>
            <a:ext cx="23199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FF0000"/>
                </a:solidFill>
                <a:highlight>
                  <a:schemeClr val="lt1"/>
                </a:highlight>
              </a:rPr>
              <a:t>Amplitude value for each column and row</a:t>
            </a:r>
            <a:endParaRPr sz="2200">
              <a:solidFill>
                <a:srgbClr val="FF0000"/>
              </a:solidFill>
              <a:highlight>
                <a:schemeClr val="lt1"/>
              </a:highlight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66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Task 4</a:t>
            </a:r>
            <a:endParaRPr/>
          </a:p>
        </p:txBody>
      </p:sp>
      <p:sp>
        <p:nvSpPr>
          <p:cNvPr id="546" name="Google Shape;546;p66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Download the bird song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here</a:t>
            </a:r>
            <a:r>
              <a:rPr lang="en-GB"/>
              <a:t>. It should sound like that</a:t>
            </a: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Plot its </a:t>
            </a:r>
            <a:r>
              <a:rPr lang="en-GB"/>
              <a:t>spectrogram</a:t>
            </a:r>
            <a:r>
              <a:rPr lang="en-GB"/>
              <a:t> using spectro.</a:t>
            </a: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Using the previous parameters, try to provide a clearer representation of the bird sounds.</a:t>
            </a:r>
            <a:endParaRPr/>
          </a:p>
        </p:txBody>
      </p:sp>
      <p:sp>
        <p:nvSpPr>
          <p:cNvPr id="547" name="Google Shape;547;p66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548" name="Google Shape;548;p66"/>
          <p:cNvSpPr txBox="1"/>
          <p:nvPr/>
        </p:nvSpPr>
        <p:spPr>
          <a:xfrm>
            <a:off x="573425" y="4820175"/>
            <a:ext cx="3625200" cy="82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2"/>
                </a:solidFill>
                <a:latin typeface="Courier"/>
                <a:ea typeface="Courier"/>
                <a:cs typeface="Courier"/>
                <a:sym typeface="Courier"/>
              </a:rPr>
              <a:t>Example s</a:t>
            </a:r>
            <a:r>
              <a:rPr lang="en-GB" sz="2200">
                <a:solidFill>
                  <a:schemeClr val="dk2"/>
                </a:solidFill>
                <a:latin typeface="Courier"/>
                <a:ea typeface="Courier"/>
                <a:cs typeface="Courier"/>
                <a:sym typeface="Courier"/>
              </a:rPr>
              <a:t>olution in the next slide...</a:t>
            </a:r>
            <a:endParaRPr sz="2200">
              <a:solidFill>
                <a:schemeClr val="dk2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pic>
        <p:nvPicPr>
          <p:cNvPr id="549" name="Google Shape;549;p66" title="Bombycilla-cedrorum-313682.wav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772400" y="1519823"/>
            <a:ext cx="583200" cy="58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p67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Task 4</a:t>
            </a:r>
            <a:endParaRPr/>
          </a:p>
        </p:txBody>
      </p:sp>
      <p:sp>
        <p:nvSpPr>
          <p:cNvPr id="555" name="Google Shape;555;p67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556" name="Google Shape;556;p67"/>
          <p:cNvSpPr txBox="1"/>
          <p:nvPr/>
        </p:nvSpPr>
        <p:spPr>
          <a:xfrm>
            <a:off x="311700" y="1536625"/>
            <a:ext cx="58443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spectro(audio, flim=c(</a:t>
            </a:r>
            <a:r>
              <a:rPr lang="en-GB" sz="160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5</a:t>
            </a:r>
            <a:r>
              <a:rPr lang="en-GB" sz="16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n-GB" sz="160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10</a:t>
            </a:r>
            <a:r>
              <a:rPr lang="en-GB" sz="16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), wl=</a:t>
            </a:r>
            <a:r>
              <a:rPr lang="en-GB" sz="160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2048, </a:t>
            </a:r>
            <a:r>
              <a:rPr lang="en-GB" sz="1600">
                <a:solidFill>
                  <a:srgbClr val="595959"/>
                </a:solidFill>
                <a:latin typeface="Roboto Mono"/>
                <a:ea typeface="Roboto Mono"/>
                <a:cs typeface="Roboto Mono"/>
                <a:sym typeface="Roboto Mono"/>
              </a:rPr>
              <a:t>noisereduction </a:t>
            </a:r>
            <a:r>
              <a:rPr lang="en-GB" sz="160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= 1</a:t>
            </a:r>
            <a:r>
              <a:rPr lang="en-GB" sz="16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16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557" name="Google Shape;557;p67"/>
          <p:cNvSpPr txBox="1"/>
          <p:nvPr/>
        </p:nvSpPr>
        <p:spPr>
          <a:xfrm>
            <a:off x="6216975" y="1399950"/>
            <a:ext cx="19536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2"/>
                </a:solidFill>
              </a:rPr>
              <a:t>Original</a:t>
            </a:r>
            <a:endParaRPr sz="2200">
              <a:solidFill>
                <a:schemeClr val="dk2"/>
              </a:solidFill>
            </a:endParaRPr>
          </a:p>
        </p:txBody>
      </p:sp>
      <p:pic>
        <p:nvPicPr>
          <p:cNvPr id="558" name="Google Shape;558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91350" y="2120125"/>
            <a:ext cx="3000251" cy="1783386"/>
          </a:xfrm>
          <a:prstGeom prst="rect">
            <a:avLst/>
          </a:prstGeom>
          <a:noFill/>
          <a:ln>
            <a:noFill/>
          </a:ln>
        </p:spPr>
      </p:pic>
      <p:pic>
        <p:nvPicPr>
          <p:cNvPr id="559" name="Google Shape;559;p6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2516775"/>
            <a:ext cx="4976432" cy="2968398"/>
          </a:xfrm>
          <a:prstGeom prst="rect">
            <a:avLst/>
          </a:prstGeom>
          <a:noFill/>
          <a:ln>
            <a:noFill/>
          </a:ln>
        </p:spPr>
      </p:pic>
      <p:pic>
        <p:nvPicPr>
          <p:cNvPr id="560" name="Google Shape;560;p67" title="Bombycilla-cedrorum-313682.wav">
            <a:hlinkClick r:id="rId5"/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358075" y="3971998"/>
            <a:ext cx="583200" cy="58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68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Python</a:t>
            </a:r>
            <a:endParaRPr/>
          </a:p>
        </p:txBody>
      </p:sp>
      <p:sp>
        <p:nvSpPr>
          <p:cNvPr id="566" name="Google Shape;566;p68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Python is also great for </a:t>
            </a:r>
            <a:r>
              <a:rPr lang="en-GB"/>
              <a:t>digital</a:t>
            </a:r>
            <a:r>
              <a:rPr lang="en-GB"/>
              <a:t> signal processing.</a:t>
            </a:r>
            <a:br>
              <a:rPr lang="en-GB"/>
            </a:b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Datacamp has a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spoken language processing in Python course</a:t>
            </a:r>
            <a:r>
              <a:rPr lang="en-GB"/>
              <a:t> which also introduces audio data.</a:t>
            </a:r>
            <a:br>
              <a:rPr lang="en-GB"/>
            </a:b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 u="sng">
                <a:solidFill>
                  <a:schemeClr val="hlink"/>
                </a:solidFill>
                <a:hlinkClick r:id="rId4"/>
              </a:rPr>
              <a:t>Digital Signal Processing in Python</a:t>
            </a:r>
            <a:r>
              <a:rPr lang="en-GB"/>
              <a:t>, fr</a:t>
            </a:r>
            <a:r>
              <a:rPr lang="en-GB"/>
              <a:t>ee O’Reilly book.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Common packages include </a:t>
            </a:r>
            <a:r>
              <a:rPr lang="en-GB" u="sng">
                <a:solidFill>
                  <a:schemeClr val="hlink"/>
                </a:solidFill>
                <a:hlinkClick r:id="rId5"/>
              </a:rPr>
              <a:t>Librosa</a:t>
            </a:r>
            <a:r>
              <a:rPr lang="en-GB"/>
              <a:t>, </a:t>
            </a:r>
            <a:r>
              <a:rPr lang="en-GB" u="sng">
                <a:solidFill>
                  <a:schemeClr val="hlink"/>
                </a:solidFill>
                <a:hlinkClick r:id="rId6"/>
              </a:rPr>
              <a:t>TensorFlow Signal Processing</a:t>
            </a:r>
            <a:r>
              <a:rPr lang="en-GB"/>
              <a:t>, </a:t>
            </a:r>
            <a:r>
              <a:rPr lang="en-GB" u="sng">
                <a:solidFill>
                  <a:schemeClr val="hlink"/>
                </a:solidFill>
                <a:hlinkClick r:id="rId7"/>
              </a:rPr>
              <a:t>scipy.signal</a:t>
            </a:r>
            <a:r>
              <a:rPr lang="en-GB"/>
              <a:t>, etc. </a:t>
            </a:r>
            <a:endParaRPr/>
          </a:p>
        </p:txBody>
      </p:sp>
      <p:sp>
        <p:nvSpPr>
          <p:cNvPr id="567" name="Google Shape;567;p68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p69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Summary </a:t>
            </a:r>
            <a:endParaRPr/>
          </a:p>
        </p:txBody>
      </p:sp>
      <p:sp>
        <p:nvSpPr>
          <p:cNvPr id="573" name="Google Shape;573;p69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7274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70"/>
              <a:buChar char="●"/>
            </a:pPr>
            <a:r>
              <a:rPr lang="en-GB" sz="2270"/>
              <a:t>Audio data definition</a:t>
            </a:r>
            <a:endParaRPr sz="2270"/>
          </a:p>
          <a:p>
            <a:pPr indent="-37274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70"/>
              <a:buChar char="●"/>
            </a:pPr>
            <a:r>
              <a:rPr lang="en-GB" sz="2270"/>
              <a:t>Sources of audio data</a:t>
            </a:r>
            <a:endParaRPr sz="2270"/>
          </a:p>
          <a:p>
            <a:pPr indent="-37274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70"/>
              <a:buChar char="●"/>
            </a:pPr>
            <a:r>
              <a:rPr lang="en-GB" sz="2270"/>
              <a:t>Reading audio files</a:t>
            </a:r>
            <a:endParaRPr sz="2270"/>
          </a:p>
          <a:p>
            <a:pPr indent="-37274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70"/>
              <a:buChar char="●"/>
            </a:pPr>
            <a:r>
              <a:rPr lang="en-GB" sz="2270"/>
              <a:t>Extracting some audio properties</a:t>
            </a:r>
            <a:endParaRPr sz="2270"/>
          </a:p>
          <a:p>
            <a:pPr indent="-37274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70"/>
              <a:buChar char="●"/>
            </a:pPr>
            <a:r>
              <a:rPr lang="en-GB" sz="2270"/>
              <a:t>Noise and filters</a:t>
            </a:r>
            <a:endParaRPr sz="2270"/>
          </a:p>
          <a:p>
            <a:pPr indent="-37274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70"/>
              <a:buChar char="●"/>
            </a:pPr>
            <a:r>
              <a:rPr lang="en-GB" sz="2270"/>
              <a:t>Spectrograms</a:t>
            </a:r>
            <a:endParaRPr sz="2270"/>
          </a:p>
        </p:txBody>
      </p:sp>
      <p:sp>
        <p:nvSpPr>
          <p:cNvPr id="574" name="Google Shape;574;p69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p70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References</a:t>
            </a:r>
            <a:endParaRPr/>
          </a:p>
        </p:txBody>
      </p:sp>
      <p:sp>
        <p:nvSpPr>
          <p:cNvPr id="580" name="Google Shape;580;p70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GB" u="sng">
                <a:solidFill>
                  <a:schemeClr val="hlink"/>
                </a:solidFill>
                <a:hlinkClick r:id="rId3"/>
              </a:rPr>
              <a:t>R Programming for Data Sciences (Chapter 14), Jeffrey W. Doser</a:t>
            </a:r>
            <a:endParaRPr/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GB" u="sng">
                <a:solidFill>
                  <a:schemeClr val="hlink"/>
                </a:solidFill>
                <a:hlinkClick r:id="rId4"/>
              </a:rPr>
              <a:t>Cran quick tutorial for signal processing in </a:t>
            </a:r>
            <a:r>
              <a:rPr lang="en-GB" u="sng">
                <a:solidFill>
                  <a:schemeClr val="hlink"/>
                </a:solidFill>
                <a:hlinkClick r:id="rId5"/>
              </a:rPr>
              <a:t>R</a:t>
            </a:r>
            <a:endParaRPr/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GB" u="sng">
                <a:solidFill>
                  <a:schemeClr val="hlink"/>
                </a:solidFill>
                <a:hlinkClick r:id="rId6"/>
              </a:rPr>
              <a:t>Fourier Transform visually explained</a:t>
            </a:r>
            <a:r>
              <a:rPr lang="en-GB"/>
              <a:t> (Youtube)</a:t>
            </a:r>
            <a:endParaRPr/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GB" u="sng">
                <a:solidFill>
                  <a:schemeClr val="hlink"/>
                </a:solidFill>
                <a:hlinkClick r:id="rId7"/>
              </a:rPr>
              <a:t>R in Digital Signal Processing</a:t>
            </a:r>
            <a:r>
              <a:rPr lang="en-GB"/>
              <a:t> (Rpubs quick tutorial)</a:t>
            </a:r>
            <a:endParaRPr/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GB" u="sng">
                <a:solidFill>
                  <a:schemeClr val="hlink"/>
                </a:solidFill>
                <a:hlinkClick r:id="rId8"/>
              </a:rPr>
              <a:t>Speech recognition with deep learning</a:t>
            </a:r>
            <a:r>
              <a:rPr lang="en-GB"/>
              <a:t> (Medium) </a:t>
            </a:r>
            <a:br>
              <a:rPr lang="en-GB" u="sng">
                <a:solidFill>
                  <a:schemeClr val="hlink"/>
                </a:solidFill>
                <a:hlinkClick r:id="rId9"/>
              </a:rPr>
            </a:b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1" name="Google Shape;581;p70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5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p71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Lab</a:t>
            </a:r>
            <a:endParaRPr/>
          </a:p>
        </p:txBody>
      </p:sp>
      <p:sp>
        <p:nvSpPr>
          <p:cNvPr id="587" name="Google Shape;587;p71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Please work on the assignment in week 10 folder. This will need to be submitted by Week 11.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8" name="Google Shape;588;p71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p72"/>
          <p:cNvSpPr txBox="1"/>
          <p:nvPr>
            <p:ph type="title"/>
          </p:nvPr>
        </p:nvSpPr>
        <p:spPr>
          <a:xfrm>
            <a:off x="1388100" y="637525"/>
            <a:ext cx="6367800" cy="545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-GB"/>
              <a:t>Questions?</a:t>
            </a:r>
            <a:endParaRPr/>
          </a:p>
        </p:txBody>
      </p:sp>
      <p:sp>
        <p:nvSpPr>
          <p:cNvPr id="594" name="Google Shape;594;p72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8EA4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