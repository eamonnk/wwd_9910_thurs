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y="6858000" cx="9144000"/>
  <p:notesSz cx="6858000" cy="9144000"/>
  <p:embeddedFontLst>
    <p:embeddedFont>
      <p:font typeface="Helvetica Neue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2" roundtripDataSignature="AMtx7mgwB6EmUtkZHvyfUHIkp1On+X9g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AC4DC7-8643-4BEA-9C6F-D1F6324A7F7A}">
  <a:tblStyle styleId="{52AC4DC7-8643-4BEA-9C6F-D1F6324A7F7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customschemas.google.com/relationships/presentationmetadata" Target="meta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HelveticaNeue-boldItalic.fntdata"/><Relationship Id="rId70" Type="http://schemas.openxmlformats.org/officeDocument/2006/relationships/font" Target="fonts/HelveticaNeue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HelveticaNeue-regular.fntdata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HelveticaNeue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c8c859fe9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7c8c859fe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b377eac00_0_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cb377eac0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59de9f849c_0_1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259de9f849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9de9f849c_0_17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259de9f849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19e5914e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2f19e5914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f19e5914ec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f19e5914e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19e5914ec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2f19e5914e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19e5914ec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2f19e5914e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19e5914ec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f19e5914e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19e5914ec_0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f19e5914e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19e5914ec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f19e5914e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19e5914ec_0_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2f19e5914e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19e5914ec_0_7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2f19e5914e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cb377eac00_0_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cb377eac0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0722be17dd_1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0722be17dd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0722be17dd_1_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0722be17dd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0722be17dd_1_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0722be17dd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0722be17dd_1_1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0722be17dd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0722be17dd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0722be17d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0722be17dd_1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0722be17dd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0722be17dd_1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0722be17dd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0722be17dd_1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0722be17dd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cb377eac00_0_7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gcb377eac0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cb377eac00_0_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cb377eac0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1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1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4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4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46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4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4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4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5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40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naconda.org/conda-forge/r-irkernel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rdocumentation.org/packages/utils/versions/3.6.2/topics/read.table" TargetMode="External"/><Relationship Id="rId4" Type="http://schemas.openxmlformats.org/officeDocument/2006/relationships/image" Target="../media/image17.png"/><Relationship Id="rId5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hyperlink" Target="https://readr.tidyverse.org/reference/parse_number.html" TargetMode="External"/><Relationship Id="rId10" Type="http://schemas.openxmlformats.org/officeDocument/2006/relationships/hyperlink" Target="https://readr.tidyverse.org/reference/parse_datetime.html" TargetMode="External"/><Relationship Id="rId13" Type="http://schemas.openxmlformats.org/officeDocument/2006/relationships/hyperlink" Target="https://readr.tidyverse.org/reference/parse_guess.html" TargetMode="External"/><Relationship Id="rId12" Type="http://schemas.openxmlformats.org/officeDocument/2006/relationships/hyperlink" Target="https://readr.tidyverse.org/reference/col_skip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readr.tidyverse.org/reference/parse_atomic.html" TargetMode="External"/><Relationship Id="rId4" Type="http://schemas.openxmlformats.org/officeDocument/2006/relationships/hyperlink" Target="https://readr.tidyverse.org/reference/parse_atomic.html" TargetMode="External"/><Relationship Id="rId9" Type="http://schemas.openxmlformats.org/officeDocument/2006/relationships/hyperlink" Target="https://readr.tidyverse.org/reference/parse_datetime.html" TargetMode="External"/><Relationship Id="rId15" Type="http://schemas.openxmlformats.org/officeDocument/2006/relationships/image" Target="../media/image29.png"/><Relationship Id="rId14" Type="http://schemas.openxmlformats.org/officeDocument/2006/relationships/image" Target="../media/image24.png"/><Relationship Id="rId5" Type="http://schemas.openxmlformats.org/officeDocument/2006/relationships/hyperlink" Target="https://readr.tidyverse.org/reference/parse_atomic.html" TargetMode="External"/><Relationship Id="rId6" Type="http://schemas.openxmlformats.org/officeDocument/2006/relationships/hyperlink" Target="https://readr.tidyverse.org/reference/parse_atomic.html" TargetMode="External"/><Relationship Id="rId7" Type="http://schemas.openxmlformats.org/officeDocument/2006/relationships/hyperlink" Target="https://readr.tidyverse.org/reference/parse_factor.html" TargetMode="External"/><Relationship Id="rId8" Type="http://schemas.openxmlformats.org/officeDocument/2006/relationships/hyperlink" Target="https://readr.tidyverse.org/reference/parse_datetime.html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rdocumentation.org/packages/readr/versions/1.3.1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learn.datacamp.com/courses/free-introduction-to-r" TargetMode="External"/><Relationship Id="rId4" Type="http://schemas.openxmlformats.org/officeDocument/2006/relationships/hyperlink" Target="https://learn.datacamp.com/courses/intermediate-r" TargetMode="External"/><Relationship Id="rId5" Type="http://schemas.openxmlformats.org/officeDocument/2006/relationships/hyperlink" Target="https://campus.datacamp.com/courses/introduction-to-importing-data-in-r/" TargetMode="External"/><Relationship Id="rId6" Type="http://schemas.openxmlformats.org/officeDocument/2006/relationships/hyperlink" Target="https://learn.datacamp.com/courses/dealing-with-missing-data-in-r" TargetMode="External"/><Relationship Id="rId7" Type="http://schemas.openxmlformats.org/officeDocument/2006/relationships/hyperlink" Target="https://campus.datacamp.com/courses/web-scraping-in-r/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3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c8c859fe9_0_57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69" name="Google Shape;69;g37c8c859fe9_0_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0" name="Google Shape;70;g37c8c859fe9_0_57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{52AC4DC7-8643-4BEA-9C6F-D1F6324A7F7A}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R, i</a:t>
                      </a:r>
                      <a:r>
                        <a:rPr lang="en-GB" sz="1200" u="none" cap="none" strike="noStrike"/>
                        <a:t>mporting data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rgbClr val="333333"/>
                </a:solidFill>
              </a:rPr>
              <a:t>Last week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Python introduction/review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Any questions? </a:t>
            </a:r>
            <a:endParaRPr/>
          </a:p>
        </p:txBody>
      </p:sp>
      <p:sp>
        <p:nvSpPr>
          <p:cNvPr id="77" name="Google Shape;77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Introduction to R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Data Types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Vectors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Data Frames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Importing data to 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b377eac00_0_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kernel on Jupyter notebook (no Anaconda)</a:t>
            </a:r>
            <a:endParaRPr/>
          </a:p>
        </p:txBody>
      </p:sp>
      <p:sp>
        <p:nvSpPr>
          <p:cNvPr id="90" name="Google Shape;90;gcb377eac00_0_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Open a terminal and start R or work on the R console in RStudio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Run</a:t>
            </a:r>
            <a:endParaRPr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Courier"/>
              <a:buChar char="○"/>
            </a:pP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install.packages('IRkernel')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Courier"/>
              <a:buChar char="○"/>
            </a:pP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IRkernel::installspec()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Restart Jupyter (if running)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1" name="Google Shape;91;gcb377eac00_0_6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2" name="Google Shape;92;gcb377eac00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425" y="4201724"/>
            <a:ext cx="7991177" cy="189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cb377eac00_0_63"/>
          <p:cNvSpPr/>
          <p:nvPr/>
        </p:nvSpPr>
        <p:spPr>
          <a:xfrm>
            <a:off x="7110450" y="4670175"/>
            <a:ext cx="1338000" cy="7635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9de9f849c_0_17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kernel on Jupyter notebook (with Anaconda)</a:t>
            </a:r>
            <a:endParaRPr/>
          </a:p>
        </p:txBody>
      </p:sp>
      <p:sp>
        <p:nvSpPr>
          <p:cNvPr id="99" name="Google Shape;99;g259de9f849c_0_17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Open the command prompt from the navigator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00" name="Google Shape;100;g259de9f849c_0_17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1" name="Google Shape;101;g259de9f849c_0_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525" y="2195625"/>
            <a:ext cx="6130926" cy="377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59de9f849c_0_170"/>
          <p:cNvSpPr/>
          <p:nvPr/>
        </p:nvSpPr>
        <p:spPr>
          <a:xfrm>
            <a:off x="5043850" y="4035800"/>
            <a:ext cx="583200" cy="3141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9de9f849c_0_17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kernel on Jupyter notebook (with Anaconda)</a:t>
            </a:r>
            <a:endParaRPr/>
          </a:p>
        </p:txBody>
      </p:sp>
      <p:sp>
        <p:nvSpPr>
          <p:cNvPr id="108" name="Google Shape;108;g259de9f849c_0_179"/>
          <p:cNvSpPr txBox="1"/>
          <p:nvPr>
            <p:ph idx="1" type="body"/>
          </p:nvPr>
        </p:nvSpPr>
        <p:spPr>
          <a:xfrm>
            <a:off x="311700" y="1536624"/>
            <a:ext cx="8520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Run the conda install command and follow any instructions in the prompt:</a:t>
            </a:r>
            <a:br>
              <a:rPr lang="en-GB"/>
            </a:br>
            <a:br>
              <a:rPr lang="en-GB"/>
            </a:br>
            <a:r>
              <a:rPr lang="en-GB">
                <a:latin typeface="Courier"/>
                <a:ea typeface="Courier"/>
                <a:cs typeface="Courier"/>
                <a:sym typeface="Courier"/>
              </a:rPr>
              <a:t>conda install -c conda-forge r-irkernel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Any issues check here</a:t>
            </a:r>
            <a:br>
              <a:rPr lang="en-GB"/>
            </a:br>
            <a:r>
              <a:rPr lang="en-GB" u="sng">
                <a:solidFill>
                  <a:schemeClr val="hlink"/>
                </a:solidFill>
                <a:hlinkClick r:id="rId3"/>
              </a:rPr>
              <a:t>https://anaconda.org/conda-forge/r-irkernel</a:t>
            </a:r>
            <a:r>
              <a:rPr lang="en-GB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09" name="Google Shape;109;g259de9f849c_0_17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0" name="Google Shape;110;g259de9f849c_0_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863" y="3276600"/>
            <a:ext cx="5934075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introduction in the notebook</a:t>
            </a: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Review the notebook available in Brightspace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br>
              <a:rPr lang="en-GB"/>
            </a:br>
            <a:endParaRPr/>
          </a:p>
        </p:txBody>
      </p:sp>
      <p:sp>
        <p:nvSpPr>
          <p:cNvPr id="117" name="Google Shape;117;p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000" y="2164900"/>
            <a:ext cx="8566002" cy="238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19e5914ec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Quizz (1)</a:t>
            </a:r>
            <a:endParaRPr/>
          </a:p>
        </p:txBody>
      </p:sp>
      <p:sp>
        <p:nvSpPr>
          <p:cNvPr id="124" name="Google Shape;124;g2f19e5914ec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three variables in R: one numeric, one logical, and one character. Check their types using the `class()` function.</a:t>
            </a:r>
            <a:endParaRPr/>
          </a:p>
        </p:txBody>
      </p:sp>
      <p:sp>
        <p:nvSpPr>
          <p:cNvPr id="125" name="Google Shape;125;g2f19e5914ec_0_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6" name="Google Shape;126;g2f19e5914e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863" y="2780750"/>
            <a:ext cx="391477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2f19e5914ec_0_0"/>
          <p:cNvSpPr/>
          <p:nvPr/>
        </p:nvSpPr>
        <p:spPr>
          <a:xfrm>
            <a:off x="600550" y="2605650"/>
            <a:ext cx="5947500" cy="27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19e5914ec_0_1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Quizz (2)</a:t>
            </a:r>
            <a:endParaRPr/>
          </a:p>
        </p:txBody>
      </p:sp>
      <p:sp>
        <p:nvSpPr>
          <p:cNvPr id="133" name="Google Shape;133;g2f19e5914ec_0_1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a numeric value to an integer and a character type. Observe and explain what happens when you try to perform mathematical operations on each type.</a:t>
            </a:r>
            <a:endParaRPr/>
          </a:p>
        </p:txBody>
      </p:sp>
      <p:sp>
        <p:nvSpPr>
          <p:cNvPr id="134" name="Google Shape;134;g2f19e5914ec_0_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5" name="Google Shape;135;g2f19e5914ec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988" y="3021238"/>
            <a:ext cx="5800725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f19e5914ec_0_10"/>
          <p:cNvSpPr/>
          <p:nvPr/>
        </p:nvSpPr>
        <p:spPr>
          <a:xfrm>
            <a:off x="731225" y="3021250"/>
            <a:ext cx="6659400" cy="359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19e5914ec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Quizz (3)</a:t>
            </a:r>
            <a:endParaRPr/>
          </a:p>
        </p:txBody>
      </p:sp>
      <p:sp>
        <p:nvSpPr>
          <p:cNvPr id="142" name="Google Shape;142;g2f19e5914ec_0_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a numeric vector with both integer and double values. Use the `typeof()` function to determine the type of each element in the vector.</a:t>
            </a:r>
            <a:endParaRPr/>
          </a:p>
        </p:txBody>
      </p:sp>
      <p:sp>
        <p:nvSpPr>
          <p:cNvPr id="143" name="Google Shape;143;g2f19e5914ec_0_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4" name="Google Shape;144;g2f19e5914ec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500" y="3342875"/>
            <a:ext cx="53340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f19e5914ec_0_20"/>
          <p:cNvSpPr/>
          <p:nvPr/>
        </p:nvSpPr>
        <p:spPr>
          <a:xfrm>
            <a:off x="513375" y="3099650"/>
            <a:ext cx="5947500" cy="27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19e5914ec_0_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Quizz (4)</a:t>
            </a:r>
            <a:endParaRPr/>
          </a:p>
        </p:txBody>
      </p:sp>
      <p:sp>
        <p:nvSpPr>
          <p:cNvPr id="151" name="Google Shape;151;g2f19e5914ec_0_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a vector containing the numbers from 1 to 10. Write R code to calculate the sum, mean, and standard deviation of the vector.</a:t>
            </a:r>
            <a:endParaRPr/>
          </a:p>
        </p:txBody>
      </p:sp>
      <p:sp>
        <p:nvSpPr>
          <p:cNvPr id="152" name="Google Shape;152;g2f19e5914ec_0_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3" name="Google Shape;153;g2f19e5914ec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852" y="3009300"/>
            <a:ext cx="5373650" cy="312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2f19e5914ec_0_30"/>
          <p:cNvSpPr/>
          <p:nvPr/>
        </p:nvSpPr>
        <p:spPr>
          <a:xfrm>
            <a:off x="586925" y="3009300"/>
            <a:ext cx="6232200" cy="312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19e5914ec_0_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Quizz (5)</a:t>
            </a:r>
            <a:endParaRPr/>
          </a:p>
        </p:txBody>
      </p:sp>
      <p:sp>
        <p:nvSpPr>
          <p:cNvPr id="160" name="Google Shape;160;g2f19e5914ec_0_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Create a list containing at least one element of each basic data type (numeric, logical, character). Access and print the second element of the list.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2f19e5914ec_0_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2" name="Google Shape;162;g2f19e5914ec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925" y="3207575"/>
            <a:ext cx="502920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f19e5914ec_0_40"/>
          <p:cNvSpPr/>
          <p:nvPr/>
        </p:nvSpPr>
        <p:spPr>
          <a:xfrm>
            <a:off x="503675" y="2993100"/>
            <a:ext cx="5947500" cy="27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19e5914ec_0_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Quizz (6)</a:t>
            </a:r>
            <a:endParaRPr/>
          </a:p>
        </p:txBody>
      </p:sp>
      <p:sp>
        <p:nvSpPr>
          <p:cNvPr id="169" name="Google Shape;169;g2f19e5914ec_0_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a function in R that takes a vector as input and returns a list with the following components: the length of the vector, the sum of its elements, and the product of its elements.</a:t>
            </a:r>
            <a:endParaRPr/>
          </a:p>
        </p:txBody>
      </p:sp>
      <p:sp>
        <p:nvSpPr>
          <p:cNvPr id="170" name="Google Shape;170;g2f19e5914ec_0_4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1" name="Google Shape;171;g2f19e5914ec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000" y="3146988"/>
            <a:ext cx="55054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2f19e5914ec_0_49"/>
          <p:cNvSpPr/>
          <p:nvPr/>
        </p:nvSpPr>
        <p:spPr>
          <a:xfrm>
            <a:off x="581175" y="2967075"/>
            <a:ext cx="6015300" cy="288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19e5914ec_0_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Quizz (7)</a:t>
            </a:r>
            <a:endParaRPr/>
          </a:p>
        </p:txBody>
      </p:sp>
      <p:sp>
        <p:nvSpPr>
          <p:cNvPr id="178" name="Google Shape;178;g2f19e5914ec_0_5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a data frame with three columns: Name (character), Age (numeric), and IsStudent (logical). Add at least five rows of data.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2f19e5914ec_0_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0" name="Google Shape;180;g2f19e5914ec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125" y="3087000"/>
            <a:ext cx="51816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2f19e5914ec_0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5988" y="3087000"/>
            <a:ext cx="19335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2f19e5914ec_0_57"/>
          <p:cNvSpPr/>
          <p:nvPr/>
        </p:nvSpPr>
        <p:spPr>
          <a:xfrm>
            <a:off x="561825" y="2741275"/>
            <a:ext cx="8270400" cy="27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19e5914ec_0_6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Quizz (8)</a:t>
            </a:r>
            <a:endParaRPr/>
          </a:p>
        </p:txBody>
      </p:sp>
      <p:sp>
        <p:nvSpPr>
          <p:cNvPr id="188" name="Google Shape;188;g2f19e5914ec_0_6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R code to add a new column to the data frame created in Exercise 7, which calculates the age of each person in months.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2f19e5914ec_0_6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0" name="Google Shape;190;g2f19e5914ec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550" y="3056450"/>
            <a:ext cx="5311025" cy="126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2f19e5914ec_0_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1313" y="2718875"/>
            <a:ext cx="2981325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2f19e5914ec_0_67"/>
          <p:cNvSpPr/>
          <p:nvPr/>
        </p:nvSpPr>
        <p:spPr>
          <a:xfrm>
            <a:off x="494000" y="2625025"/>
            <a:ext cx="8520600" cy="27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19e5914ec_0_7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 Quizz (9)</a:t>
            </a:r>
            <a:endParaRPr/>
          </a:p>
        </p:txBody>
      </p:sp>
      <p:sp>
        <p:nvSpPr>
          <p:cNvPr id="198" name="Google Shape;198;g2f19e5914ec_0_7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the `subset()` function to filter the data frame for rows where `IsStudent` is `TRUE`.</a:t>
            </a:r>
            <a:endParaRPr/>
          </a:p>
        </p:txBody>
      </p:sp>
      <p:sp>
        <p:nvSpPr>
          <p:cNvPr id="199" name="Google Shape;199;g2f19e5914ec_0_7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0" name="Google Shape;200;g2f19e5914ec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675" y="3011625"/>
            <a:ext cx="31623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2f19e5914ec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075" y="3187850"/>
            <a:ext cx="36195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2f19e5914ec_0_79"/>
          <p:cNvSpPr/>
          <p:nvPr/>
        </p:nvSpPr>
        <p:spPr>
          <a:xfrm>
            <a:off x="600550" y="2644400"/>
            <a:ext cx="7904100" cy="279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Importing Data to R</a:t>
            </a:r>
            <a:endParaRPr/>
          </a:p>
        </p:txBody>
      </p:sp>
      <p:sp>
        <p:nvSpPr>
          <p:cNvPr id="208" name="Google Shape;208;p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578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Text file formats often use </a:t>
            </a:r>
            <a:r>
              <a:rPr b="1" lang="en-GB"/>
              <a:t>delimiters</a:t>
            </a:r>
            <a:r>
              <a:rPr lang="en-GB"/>
              <a:t> to separate the different elements in a line</a:t>
            </a:r>
            <a:endParaRPr/>
          </a:p>
          <a:p>
            <a:pPr indent="-3578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most common format is </a:t>
            </a:r>
            <a:r>
              <a:rPr b="1" lang="en-GB"/>
              <a:t>comma separated values</a:t>
            </a:r>
            <a:r>
              <a:rPr lang="en-GB"/>
              <a:t> (csv)</a:t>
            </a:r>
            <a:endParaRPr/>
          </a:p>
          <a:p>
            <a:pPr indent="-3578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However, any character (or sequence of characters) may be used</a:t>
            </a:r>
            <a:endParaRPr/>
          </a:p>
          <a:p>
            <a:pPr indent="-3578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extension sometimes gives additional information (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.tsv</a:t>
            </a:r>
            <a:r>
              <a:rPr lang="en-GB"/>
              <a:t> = tab,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.csv</a:t>
            </a:r>
            <a:r>
              <a:rPr lang="en-GB"/>
              <a:t> = comma)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Lucas,Rizzo,d12345678</a:t>
            </a:r>
            <a:r>
              <a:rPr lang="en-GB"/>
              <a:t> (comma separated)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Lucas	Rizzo 	d12345678</a:t>
            </a:r>
            <a:r>
              <a:rPr lang="en-GB"/>
              <a:t> (tab separated)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7"/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Creating CSV Files</a:t>
            </a:r>
            <a:endParaRPr/>
          </a:p>
        </p:txBody>
      </p:sp>
      <p:sp>
        <p:nvSpPr>
          <p:cNvPr id="215" name="Google Shape;215;p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CSV files</a:t>
            </a:r>
            <a:r>
              <a:rPr lang="en-GB"/>
              <a:t> can be created with any text editor.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your text editor does not save as csv files, just change their extension to .csv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Applications such as </a:t>
            </a:r>
            <a:r>
              <a:rPr b="1" lang="en-GB"/>
              <a:t>Excel </a:t>
            </a:r>
            <a:r>
              <a:rPr lang="en-GB"/>
              <a:t>also allow you to create CSV files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CSV files are useful because they're </a:t>
            </a:r>
            <a:r>
              <a:rPr b="1" lang="en-GB"/>
              <a:t>portable </a:t>
            </a:r>
            <a:r>
              <a:rPr lang="en-GB"/>
              <a:t>and </a:t>
            </a:r>
            <a:r>
              <a:rPr b="1" lang="en-GB"/>
              <a:t>simple </a:t>
            </a:r>
            <a:r>
              <a:rPr lang="en-GB"/>
              <a:t>to work with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9500" y="3718550"/>
            <a:ext cx="4721076" cy="246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Locating Files on Disk</a:t>
            </a:r>
            <a:endParaRPr/>
          </a:p>
        </p:txBody>
      </p:sp>
      <p:sp>
        <p:nvSpPr>
          <p:cNvPr id="223" name="Google Shape;223;p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567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5"/>
              <a:buChar char="●"/>
            </a:pPr>
            <a:r>
              <a:rPr lang="en-GB" sz="1904"/>
              <a:t>When we read or write a file in R we need to tell the interpreter where to find the file.</a:t>
            </a:r>
            <a:br>
              <a:rPr lang="en-GB" sz="1904"/>
            </a:br>
            <a:endParaRPr sz="1904"/>
          </a:p>
          <a:p>
            <a:pPr indent="-349567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5"/>
              <a:buChar char="●"/>
            </a:pPr>
            <a:r>
              <a:rPr lang="en-GB" sz="1904"/>
              <a:t>File paths can be </a:t>
            </a:r>
            <a:r>
              <a:rPr b="1" lang="en-GB" sz="1904"/>
              <a:t>relative </a:t>
            </a:r>
            <a:r>
              <a:rPr lang="en-GB" sz="1904"/>
              <a:t>or </a:t>
            </a:r>
            <a:r>
              <a:rPr b="1" lang="en-GB" sz="1904"/>
              <a:t>absolute</a:t>
            </a:r>
            <a:endParaRPr b="1" sz="1904"/>
          </a:p>
          <a:p>
            <a:pPr indent="-329882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95"/>
              <a:buChar char="○"/>
            </a:pPr>
            <a:r>
              <a:rPr lang="en-GB" sz="1595"/>
              <a:t>Absolute paths give the full path on disk</a:t>
            </a:r>
            <a:endParaRPr sz="1595"/>
          </a:p>
          <a:p>
            <a:pPr indent="-329882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95"/>
              <a:buChar char="■"/>
            </a:pPr>
            <a:r>
              <a:rPr lang="en-GB" sz="1595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C:\Users\453526\data\data.csv</a:t>
            </a:r>
            <a:r>
              <a:rPr lang="en-GB" sz="1595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1595"/>
              <a:t>or </a:t>
            </a:r>
            <a:r>
              <a:rPr lang="en-GB" sz="1595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/home/453526/data/data.csv</a:t>
            </a:r>
            <a:r>
              <a:rPr lang="en-GB" sz="1595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1595"/>
              <a:t>on Unix</a:t>
            </a:r>
            <a:endParaRPr sz="1595"/>
          </a:p>
          <a:p>
            <a:pPr indent="-329882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95"/>
              <a:buChar char="○"/>
            </a:pPr>
            <a:r>
              <a:rPr lang="en-GB" sz="1595"/>
              <a:t>Relative paths are relative to the path of the file reading/writing the external file</a:t>
            </a:r>
            <a:endParaRPr sz="1595"/>
          </a:p>
          <a:p>
            <a:pPr indent="-329882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95"/>
              <a:buChar char="■"/>
            </a:pPr>
            <a:r>
              <a:rPr lang="en-GB" sz="1595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data.csv</a:t>
            </a:r>
            <a:r>
              <a:rPr lang="en-GB" sz="1595"/>
              <a:t> (in the same folder) or </a:t>
            </a:r>
            <a:br>
              <a:rPr lang="en-GB" sz="1595"/>
            </a:br>
            <a:r>
              <a:rPr lang="en-GB" sz="1595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../data.csv</a:t>
            </a:r>
            <a:r>
              <a:rPr lang="en-GB" sz="1595"/>
              <a:t> (one folder above)</a:t>
            </a:r>
            <a:br>
              <a:rPr lang="en-GB" sz="1595"/>
            </a:br>
            <a:endParaRPr sz="1595"/>
          </a:p>
          <a:p>
            <a:pPr indent="-349567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5"/>
              <a:buChar char="●"/>
            </a:pPr>
            <a:r>
              <a:rPr b="1" i="1" lang="en-GB" sz="1904"/>
              <a:t>Absolute paths should generally be avoided! </a:t>
            </a:r>
            <a:endParaRPr b="1" i="1" sz="1904"/>
          </a:p>
          <a:p>
            <a:pPr indent="-349567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5"/>
              <a:buChar char="○"/>
            </a:pPr>
            <a:r>
              <a:rPr lang="en-GB" sz="1904"/>
              <a:t>They are not portable so they won't work on someone else's machine</a:t>
            </a:r>
            <a:endParaRPr sz="190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190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904"/>
          </a:p>
        </p:txBody>
      </p:sp>
      <p:sp>
        <p:nvSpPr>
          <p:cNvPr id="224" name="Google Shape;224;p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More about absolute and relative paths</a:t>
            </a:r>
            <a:endParaRPr/>
          </a:p>
        </p:txBody>
      </p:sp>
      <p:sp>
        <p:nvSpPr>
          <p:cNvPr id="230" name="Google Shape;230;p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70"/>
              <a:buChar char="●"/>
            </a:pPr>
            <a:r>
              <a:rPr b="1" lang="en-GB" sz="2170"/>
              <a:t>Absolute paths</a:t>
            </a:r>
            <a:r>
              <a:rPr lang="en-GB" sz="2170"/>
              <a:t> begin with a drive letter (e.g. </a:t>
            </a:r>
            <a:r>
              <a:rPr lang="en-GB" sz="2170">
                <a:latin typeface="Courier"/>
                <a:ea typeface="Courier"/>
                <a:cs typeface="Courier"/>
                <a:sym typeface="Courier"/>
              </a:rPr>
              <a:t>C:\</a:t>
            </a:r>
            <a:r>
              <a:rPr lang="en-GB" sz="2170"/>
              <a:t> on windows) or a slash on Unix</a:t>
            </a:r>
            <a:endParaRPr sz="2170"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70"/>
              <a:buChar char="●"/>
            </a:pPr>
            <a:r>
              <a:rPr b="1" lang="en-GB" sz="2170"/>
              <a:t>Relative paths</a:t>
            </a:r>
            <a:r>
              <a:rPr lang="en-GB" sz="2170"/>
              <a:t> tell the interpreter how to find a file relative to the current working directory</a:t>
            </a:r>
            <a:endParaRPr sz="2170"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70"/>
              <a:buChar char="●"/>
            </a:pPr>
            <a:r>
              <a:rPr lang="en-GB" sz="2170"/>
              <a:t>The </a:t>
            </a:r>
            <a:r>
              <a:rPr b="1" lang="en-GB" sz="2170"/>
              <a:t>current working directory</a:t>
            </a:r>
            <a:r>
              <a:rPr lang="en-GB" sz="2170"/>
              <a:t> is usually the directory in which the script resides</a:t>
            </a:r>
            <a:endParaRPr sz="2170"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70"/>
              <a:buChar char="●"/>
            </a:pPr>
            <a:r>
              <a:rPr lang="en-GB" sz="2170"/>
              <a:t>You can check and set the current working directory using the </a:t>
            </a:r>
            <a:r>
              <a:rPr b="1" lang="en-GB" sz="2170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getwd()</a:t>
            </a:r>
            <a:r>
              <a:rPr lang="en-GB" sz="2170"/>
              <a:t> and </a:t>
            </a:r>
            <a:r>
              <a:rPr b="1" lang="en-GB" sz="2170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setwd()</a:t>
            </a:r>
            <a:r>
              <a:rPr lang="en-GB" sz="2170"/>
              <a:t> functions in R.</a:t>
            </a:r>
            <a:endParaRPr sz="2170"/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70"/>
              <a:buChar char="●"/>
            </a:pPr>
            <a:r>
              <a:rPr lang="en-GB" sz="2170"/>
              <a:t>The </a:t>
            </a:r>
            <a:r>
              <a:rPr b="1" lang="en-GB" sz="2170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dir()</a:t>
            </a:r>
            <a:r>
              <a:rPr lang="en-GB" sz="2170"/>
              <a:t> function will show all the files in the current working directory</a:t>
            </a:r>
            <a:endParaRPr sz="2170"/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170"/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2170"/>
          </a:p>
        </p:txBody>
      </p:sp>
      <p:sp>
        <p:nvSpPr>
          <p:cNvPr id="231" name="Google Shape;231;p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cb377eac00_0_8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Dataset</a:t>
            </a:r>
            <a:endParaRPr/>
          </a:p>
        </p:txBody>
      </p:sp>
      <p:sp>
        <p:nvSpPr>
          <p:cNvPr id="237" name="Google Shape;237;gcb377eac00_0_8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To exemplify R options to import data we are going to use the </a:t>
            </a:r>
            <a:r>
              <a:rPr b="1" lang="en-GB"/>
              <a:t>Iris dataset</a:t>
            </a:r>
            <a:r>
              <a:rPr lang="en-GB"/>
              <a:t> with some small modifications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famous iris data set gives the measurements in centimeters of the variables sepal length and width and petal length and width, respectively, for 50 flowers from each of 3 species of iris. The species are Iris setosa, versicolor, and virginica.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38" name="Google Shape;238;gcb377eac00_0_8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Reading Delimited Files in Base R</a:t>
            </a:r>
            <a:endParaRPr/>
          </a:p>
        </p:txBody>
      </p:sp>
      <p:sp>
        <p:nvSpPr>
          <p:cNvPr id="244" name="Google Shape;244;p1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 provides 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read.table()</a:t>
            </a:r>
            <a:r>
              <a:rPr lang="en-GB"/>
              <a:t> function to read delimited files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Notice that the path is relative, this means it will look for the file in the current working directory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sep </a:t>
            </a:r>
            <a:r>
              <a:rPr lang="en-GB"/>
              <a:t>parameter tells R which character is used to delimit the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46" name="Google Shape;246;p10"/>
          <p:cNvCxnSpPr/>
          <p:nvPr/>
        </p:nvCxnSpPr>
        <p:spPr>
          <a:xfrm flipH="1" rot="10800000">
            <a:off x="4059400" y="4442300"/>
            <a:ext cx="2460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7" name="Google Shape;247;p10"/>
          <p:cNvCxnSpPr/>
          <p:nvPr/>
        </p:nvCxnSpPr>
        <p:spPr>
          <a:xfrm rot="10800000">
            <a:off x="6402725" y="4449650"/>
            <a:ext cx="134700" cy="32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" name="Google Shape;248;p10"/>
          <p:cNvSpPr txBox="1"/>
          <p:nvPr/>
        </p:nvSpPr>
        <p:spPr>
          <a:xfrm>
            <a:off x="3348400" y="4745900"/>
            <a:ext cx="1514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 to file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5835575" y="4699950"/>
            <a:ext cx="1514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separator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1015050" y="3849350"/>
            <a:ext cx="7113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GB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iris &lt;- read.table(</a:t>
            </a:r>
            <a:r>
              <a:rPr b="0" i="0" lang="en-GB" sz="27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"iris.csv"</a:t>
            </a:r>
            <a:r>
              <a:rPr b="0" i="0" lang="en-GB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sep = </a:t>
            </a:r>
            <a:r>
              <a:rPr b="0" i="0" lang="en-GB" sz="27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","</a:t>
            </a:r>
            <a:r>
              <a:rPr b="0" i="0" lang="en-GB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read.table()</a:t>
            </a:r>
            <a:endParaRPr/>
          </a:p>
        </p:txBody>
      </p:sp>
      <p:sp>
        <p:nvSpPr>
          <p:cNvPr id="256" name="Google Shape;256;p11"/>
          <p:cNvSpPr txBox="1"/>
          <p:nvPr>
            <p:ph idx="1" type="body"/>
          </p:nvPr>
        </p:nvSpPr>
        <p:spPr>
          <a:xfrm>
            <a:off x="311700" y="12318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Many arguments can be passed. Read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documentation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the default behaviour of read.table is to </a:t>
            </a:r>
            <a:r>
              <a:rPr b="1" lang="en-GB"/>
              <a:t>not </a:t>
            </a:r>
            <a:r>
              <a:rPr lang="en-GB"/>
              <a:t>import the first column as header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8" name="Google Shape;2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373" y="4977150"/>
            <a:ext cx="6570249" cy="140623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/>
          <p:nvPr/>
        </p:nvSpPr>
        <p:spPr>
          <a:xfrm>
            <a:off x="5427500" y="5242375"/>
            <a:ext cx="891900" cy="295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11"/>
          <p:cNvCxnSpPr>
            <a:endCxn id="259" idx="6"/>
          </p:cNvCxnSpPr>
          <p:nvPr/>
        </p:nvCxnSpPr>
        <p:spPr>
          <a:xfrm rot="10800000">
            <a:off x="6319400" y="5389975"/>
            <a:ext cx="1312800" cy="3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p11"/>
          <p:cNvSpPr txBox="1"/>
          <p:nvPr/>
        </p:nvSpPr>
        <p:spPr>
          <a:xfrm>
            <a:off x="7656925" y="5342875"/>
            <a:ext cx="109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Spaces are replaced by dots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572" y="2583447"/>
            <a:ext cx="5195732" cy="16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 txBox="1"/>
          <p:nvPr/>
        </p:nvSpPr>
        <p:spPr>
          <a:xfrm>
            <a:off x="800375" y="437070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GB" sz="19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iris &lt;- read.table(</a:t>
            </a:r>
            <a:r>
              <a:rPr i="0" lang="en-GB" sz="1900" u="none" cap="none" strike="noStrike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"iris.csv"</a:t>
            </a:r>
            <a:r>
              <a:rPr i="0" lang="en-GB" sz="19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sep = </a:t>
            </a:r>
            <a:r>
              <a:rPr i="0" lang="en-GB" sz="1900" u="none" cap="none" strike="noStrike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","</a:t>
            </a:r>
            <a:r>
              <a:rPr i="0" lang="en-GB" sz="19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header = </a:t>
            </a:r>
            <a:r>
              <a:rPr i="0" lang="en-GB" sz="1900" u="none" cap="none" strike="noStrike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TRUE</a:t>
            </a:r>
            <a:r>
              <a:rPr i="0" lang="en-GB" sz="19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i="0" sz="19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Inspecting a Data Frame</a:t>
            </a:r>
            <a:endParaRPr/>
          </a:p>
        </p:txBody>
      </p:sp>
      <p:sp>
        <p:nvSpPr>
          <p:cNvPr id="269" name="Google Shape;269;p1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It's always a good idea to inspect a data frame after you have imported it to make sure it looks as you would expect it to.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str()</a:t>
            </a:r>
            <a:r>
              <a:rPr lang="en-GB"/>
              <a:t> function (short for structure) is an easy way to get a summary of a data frame structure.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1" name="Google Shape;271;p12"/>
          <p:cNvSpPr txBox="1"/>
          <p:nvPr/>
        </p:nvSpPr>
        <p:spPr>
          <a:xfrm>
            <a:off x="479625" y="3499450"/>
            <a:ext cx="8618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 iris &lt;- read.table(</a:t>
            </a:r>
            <a:r>
              <a:rPr i="0" lang="en-GB" sz="1400" u="none" cap="none" strike="noStrike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"iris.csv"</a:t>
            </a: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, sep = ",", header = </a:t>
            </a:r>
            <a:r>
              <a:rPr i="0" lang="en-GB" sz="1400" u="none" cap="none" strike="noStrike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TRUE</a:t>
            </a: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 str(iris)</a:t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'data.frame':	150 obs. of  6 variables:</a:t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X			: int  1 2 3 4 5 6 7 8 9 10 ...</a:t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Sepal.Length	: num  5.1 4.9 4.7 4.6 5 5.4 4.6 5 4.4 4.9 ...</a:t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Sepal.Width 	: num  3.5 3 3.2 3.1 3.6 3.9 3.4 3.4 2.9 3.1 ...</a:t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Petal.Length	: num  1.4 1.4 1.3 1.5 1.4 1.7 1.4 1.5 1.4 1.5 ...</a:t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Petal.Width 	: num  0.2 0.2 0.2 0.2 0.2 0.4 0.3 0.2 0.2 0.1 ...</a:t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Species     	: chr  "setosa" "setosa" "setosa" "setosa" ...</a:t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Automatic Type Conversions</a:t>
            </a:r>
            <a:endParaRPr/>
          </a:p>
        </p:txBody>
      </p:sp>
      <p:sp>
        <p:nvSpPr>
          <p:cNvPr id="277" name="Google Shape;277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Notice that the </a:t>
            </a: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Species</a:t>
            </a:r>
            <a:r>
              <a:rPr b="1" lang="en-GB"/>
              <a:t> </a:t>
            </a:r>
            <a:r>
              <a:rPr lang="en-GB"/>
              <a:t>column has been imported as a character type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convert strings to factors with 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stringsAsFactors </a:t>
            </a:r>
            <a:r>
              <a:rPr lang="en-GB"/>
              <a:t>parameter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479625" y="3499450"/>
            <a:ext cx="10065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 iris &lt;- read.table(</a:t>
            </a:r>
            <a:r>
              <a:rPr i="0" lang="en-GB" sz="1300" u="none" cap="none" strike="noStrike">
                <a:solidFill>
                  <a:srgbClr val="38761D"/>
                </a:solidFill>
                <a:latin typeface="Courier"/>
                <a:ea typeface="Courier"/>
                <a:cs typeface="Courier"/>
                <a:sym typeface="Courier"/>
              </a:rPr>
              <a:t>"iris.csv"</a:t>
            </a: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, sep = ",", header = </a:t>
            </a:r>
            <a:r>
              <a:rPr i="0" lang="en-GB" sz="1300" u="none" cap="none" strike="noStrike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TRUE, </a:t>
            </a:r>
            <a:r>
              <a:rPr i="0" lang="en-GB" sz="13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stringsAsFactors =</a:t>
            </a:r>
            <a:r>
              <a:rPr i="0" lang="en-GB" sz="1300" u="none" cap="none" strike="noStrike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 TRUE</a:t>
            </a: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i="0" sz="13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 str(iris)</a:t>
            </a:r>
            <a:endParaRPr i="0" sz="13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'data.frame':	150 obs. of  6 variables:</a:t>
            </a:r>
            <a:endParaRPr i="0" sz="13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X			: int  1 2 3 4 5 6 7 8 9 10 ...</a:t>
            </a:r>
            <a:endParaRPr i="0" sz="13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Sepal.Length	: num  5.1 4.9 4.7 4.6 5 5.4 4.6 5 4.4 4.9 ...</a:t>
            </a:r>
            <a:endParaRPr i="0" sz="13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Sepal.Width 	: num  3.5 3 3.2 3.1 3.6 3.9 3.4 3.4 2.9 3.1 ...</a:t>
            </a:r>
            <a:endParaRPr i="0" sz="13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Petal.Length	: num  1.4 1.4 1.3 1.5 1.4 1.7 1.4 1.5 1.4 1.5 ...</a:t>
            </a:r>
            <a:endParaRPr i="0" sz="13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Petal.Width 	: num  0.2 0.2 0.2 0.2 0.2 0.4 0.3 0.2 0.2 0.1 ...</a:t>
            </a:r>
            <a:endParaRPr i="0" sz="13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$ Species   	: </a:t>
            </a:r>
            <a:r>
              <a:rPr b="1"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Factor </a:t>
            </a:r>
            <a:r>
              <a:rPr i="0" lang="en-GB" sz="13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w/ 3 levels "setosa","versicolor",..: 1 1 1 1 1 1 1 1 1 1 ...</a:t>
            </a:r>
            <a:endParaRPr i="0" sz="13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Handling missing data when importing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6000">
                <a:solidFill>
                  <a:srgbClr val="1155CC"/>
                </a:solidFill>
              </a:rPr>
              <a:t>Missing values</a:t>
            </a:r>
            <a:r>
              <a:rPr lang="en-GB" sz="6000"/>
              <a:t> can cause problems when importing a dataset</a:t>
            </a:r>
            <a:endParaRPr sz="6000"/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6000"/>
              <a:t>Consider the following data with missing values on the 4th line</a:t>
            </a:r>
            <a:endParaRPr sz="6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820"/>
              <a:buNone/>
            </a:pPr>
            <a:r>
              <a:t/>
            </a:r>
            <a:endParaRPr sz="6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820"/>
              <a:buNone/>
            </a:pPr>
            <a:r>
              <a:t/>
            </a:r>
            <a:endParaRPr sz="6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820"/>
              <a:buNone/>
            </a:pPr>
            <a:r>
              <a:t/>
            </a:r>
            <a:endParaRPr sz="6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820"/>
              <a:buNone/>
            </a:pPr>
            <a:r>
              <a:t/>
            </a:r>
            <a:endParaRPr sz="6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820"/>
              <a:buNone/>
            </a:pPr>
            <a:r>
              <a:t/>
            </a:r>
            <a:endParaRPr sz="6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820"/>
              <a:buNone/>
            </a:pPr>
            <a:r>
              <a:t/>
            </a:r>
            <a:endParaRPr sz="6000"/>
          </a:p>
          <a:p>
            <a:pPr indent="-3524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6000"/>
              <a:t>When importing it...</a:t>
            </a:r>
            <a:endParaRPr sz="6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307690"/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7" name="Google Shape;2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325" y="2394574"/>
            <a:ext cx="8094951" cy="17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4"/>
          <p:cNvSpPr/>
          <p:nvPr/>
        </p:nvSpPr>
        <p:spPr>
          <a:xfrm>
            <a:off x="361825" y="3128875"/>
            <a:ext cx="748800" cy="353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14"/>
          <p:cNvCxnSpPr>
            <a:endCxn id="288" idx="4"/>
          </p:cNvCxnSpPr>
          <p:nvPr/>
        </p:nvCxnSpPr>
        <p:spPr>
          <a:xfrm flipH="1" rot="10800000">
            <a:off x="673225" y="3482275"/>
            <a:ext cx="63000" cy="1009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14"/>
          <p:cNvSpPr txBox="1"/>
          <p:nvPr/>
        </p:nvSpPr>
        <p:spPr>
          <a:xfrm>
            <a:off x="412325" y="4415875"/>
            <a:ext cx="123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</a:rPr>
              <a:t>Empty row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291" name="Google Shape;2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25" y="5448925"/>
            <a:ext cx="8292747" cy="5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Handling missing data when importing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read.table()</a:t>
            </a:r>
            <a:r>
              <a:rPr lang="en-GB"/>
              <a:t> can automatically replace missing values with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NAs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fill </a:t>
            </a:r>
            <a:r>
              <a:rPr lang="en-GB"/>
              <a:t>parameter lets us instruct R to fill in missing values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9" name="Google Shape;2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313" y="3124200"/>
            <a:ext cx="50006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5"/>
          <p:cNvSpPr/>
          <p:nvPr/>
        </p:nvSpPr>
        <p:spPr>
          <a:xfrm>
            <a:off x="2753025" y="3703425"/>
            <a:ext cx="1607100" cy="446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13" y="4441088"/>
            <a:ext cx="802957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Handling missing data when importing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we look further at the imported file, we can see that we have </a:t>
            </a:r>
            <a:r>
              <a:rPr b="1" lang="en-GB"/>
              <a:t>inconsistent ways</a:t>
            </a:r>
            <a:r>
              <a:rPr lang="en-GB"/>
              <a:t> </a:t>
            </a:r>
            <a:r>
              <a:rPr b="1" lang="en-GB"/>
              <a:t>of expressing missing data</a:t>
            </a:r>
            <a:endParaRPr b="1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Some values are blank, one value is a question mark and some have been replaced with NA</a:t>
            </a:r>
            <a:endParaRPr/>
          </a:p>
        </p:txBody>
      </p:sp>
      <p:sp>
        <p:nvSpPr>
          <p:cNvPr id="308" name="Google Shape;308;p1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09" name="Google Shape;3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" y="3428988"/>
            <a:ext cx="80200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6"/>
          <p:cNvSpPr/>
          <p:nvPr/>
        </p:nvSpPr>
        <p:spPr>
          <a:xfrm>
            <a:off x="1220125" y="4342000"/>
            <a:ext cx="1018200" cy="5721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084775" y="5394775"/>
            <a:ext cx="512400" cy="5247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6127775" y="4342000"/>
            <a:ext cx="1487400" cy="5721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Handling missing data when importing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can be can fixed using 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na.strings</a:t>
            </a:r>
            <a:r>
              <a:rPr lang="en-GB"/>
              <a:t> parameter.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na.strings</a:t>
            </a:r>
            <a:r>
              <a:rPr lang="en-GB"/>
              <a:t> allows us to give a list of values that should be interpreted as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NA</a:t>
            </a:r>
            <a:endParaRPr b="1">
              <a:solidFill>
                <a:srgbClr val="3C78D8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9" name="Google Shape;319;p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0" name="Google Shape;3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100" y="3015125"/>
            <a:ext cx="5162101" cy="108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098" y="4415048"/>
            <a:ext cx="6740248" cy="2037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17"/>
          <p:cNvCxnSpPr/>
          <p:nvPr/>
        </p:nvCxnSpPr>
        <p:spPr>
          <a:xfrm>
            <a:off x="2802100" y="4114800"/>
            <a:ext cx="2945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Similar importing functions</a:t>
            </a:r>
            <a:endParaRPr/>
          </a:p>
        </p:txBody>
      </p:sp>
      <p:sp>
        <p:nvSpPr>
          <p:cNvPr id="328" name="Google Shape;328;p18"/>
          <p:cNvSpPr txBox="1"/>
          <p:nvPr>
            <p:ph idx="1" type="body"/>
          </p:nvPr>
        </p:nvSpPr>
        <p:spPr>
          <a:xfrm>
            <a:off x="311700" y="1536625"/>
            <a:ext cx="86163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read.csv</a:t>
            </a:r>
            <a:r>
              <a:rPr lang="en-GB"/>
              <a:t> and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read.delim</a:t>
            </a:r>
            <a:r>
              <a:rPr lang="en-GB"/>
              <a:t> functions are exactly the same as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read.table</a:t>
            </a:r>
            <a:r>
              <a:rPr lang="en-GB"/>
              <a:t> but they have some different defaults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these functions where applicable helps reduce clutter in your code</a:t>
            </a:r>
            <a:br>
              <a:rPr lang="en-GB"/>
            </a:b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read.table	:sep = "",   header = FALSE, fill = FALSE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read.csv		:sep = ",",  header = TRUE,  fill = TRUE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"/>
              <a:buChar char="○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read.delim	:sep = "\t", header = TRUE,  fill = TRUE</a:t>
            </a:r>
            <a:br>
              <a:rPr lang="en-GB">
                <a:latin typeface="Courier"/>
                <a:ea typeface="Courier"/>
                <a:cs typeface="Courier"/>
                <a:sym typeface="Courier"/>
              </a:rPr>
            </a:b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Check the docs for more options. In Jupyter or RStudio you can run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?read.table</a:t>
            </a:r>
            <a:r>
              <a:rPr lang="en-GB"/>
              <a:t> to straight to the documentation.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29" name="Google Shape;329;p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Readr Package</a:t>
            </a:r>
            <a:endParaRPr/>
          </a:p>
        </p:txBody>
      </p:sp>
      <p:sp>
        <p:nvSpPr>
          <p:cNvPr id="335" name="Google Shape;335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readr </a:t>
            </a:r>
            <a:r>
              <a:rPr lang="en-GB"/>
              <a:t>package provides the same functionality as 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read.&lt;format&gt;</a:t>
            </a:r>
            <a:r>
              <a:rPr lang="en-GB"/>
              <a:t> functions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has some advantages over the base implementation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They are typically much </a:t>
            </a:r>
            <a:r>
              <a:rPr b="1" lang="en-GB"/>
              <a:t>faster </a:t>
            </a:r>
            <a:r>
              <a:rPr lang="en-GB"/>
              <a:t>(~10x)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Long running jobs have a </a:t>
            </a:r>
            <a:r>
              <a:rPr b="1" lang="en-GB"/>
              <a:t>progress bar</a:t>
            </a:r>
            <a:r>
              <a:rPr lang="en-GB"/>
              <a:t>, so you can see what’s happening.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They produce </a:t>
            </a:r>
            <a:r>
              <a:rPr b="1" lang="en-GB"/>
              <a:t>tibbles</a:t>
            </a:r>
            <a:r>
              <a:rPr lang="en-GB"/>
              <a:t>. Tibbles </a:t>
            </a:r>
            <a:r>
              <a:rPr b="1" i="1" lang="en-GB"/>
              <a:t>are </a:t>
            </a:r>
            <a:r>
              <a:rPr lang="en-GB"/>
              <a:t>data frames, but they tweak some older behaviours to make life a little easier, mainly printing and subsetting.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Reading CSVs with readr</a:t>
            </a:r>
            <a:endParaRPr/>
          </a:p>
        </p:txBody>
      </p:sp>
      <p:sp>
        <p:nvSpPr>
          <p:cNvPr id="342" name="Google Shape;342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readr function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read_csv </a:t>
            </a:r>
            <a:r>
              <a:rPr lang="en-GB"/>
              <a:t>is the analogue to R's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read.csv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/>
              <a:t>function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4" name="Google Shape;3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525" y="2706638"/>
            <a:ext cx="33718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525" y="3731072"/>
            <a:ext cx="6616900" cy="26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Viewing Import Problems with readr</a:t>
            </a:r>
            <a:endParaRPr/>
          </a:p>
        </p:txBody>
      </p:sp>
      <p:sp>
        <p:nvSpPr>
          <p:cNvPr id="351" name="Google Shape;351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When we import data with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read_csv </a:t>
            </a:r>
            <a:r>
              <a:rPr lang="en-GB"/>
              <a:t>we get a tibble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use 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problems()</a:t>
            </a:r>
            <a:r>
              <a:rPr lang="en-GB"/>
              <a:t> function on this tibble to view any import issues that were encountered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3" name="Google Shape;3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88" y="3276675"/>
            <a:ext cx="8753475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1"/>
          <p:cNvSpPr txBox="1"/>
          <p:nvPr/>
        </p:nvSpPr>
        <p:spPr>
          <a:xfrm>
            <a:off x="1186475" y="4442975"/>
            <a:ext cx="301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problems in this case =)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readr column specifications</a:t>
            </a:r>
            <a:endParaRPr/>
          </a:p>
        </p:txBody>
      </p:sp>
      <p:sp>
        <p:nvSpPr>
          <p:cNvPr id="360" name="Google Shape;360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read_csv </a:t>
            </a:r>
            <a:r>
              <a:rPr lang="en-GB"/>
              <a:t>function also allows to specify column types during the import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61" name="Google Shape;361;p2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4089225" y="2721675"/>
            <a:ext cx="5318100" cy="3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GB" sz="175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Available column specifications</a:t>
            </a:r>
            <a:endParaRPr b="0" i="0" sz="175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The available specifications are: (with string abbreviations in brackets)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col_logical()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[l], containing only </a:t>
            </a:r>
            <a:r>
              <a:rPr b="0" i="0" lang="en-GB" sz="1100" u="none" cap="none" strike="noStrike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GB" sz="1100" u="none" cap="none" strike="noStrike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GB" sz="1100" u="none" cap="none" strike="noStrike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or </a:t>
            </a:r>
            <a:r>
              <a:rPr b="0" i="0" lang="en-GB" sz="1100" u="none" cap="none" strike="noStrike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col_integer()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[i], integers.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col_double()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[d], doubles.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col_character()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[c], everything else.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col_factor(levels, ordered)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[f], a fixed set of values.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col_date(format = "")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[D]: with the locale’s </a:t>
            </a:r>
            <a:r>
              <a:rPr b="0" i="0" lang="en-GB" sz="1100" u="none" cap="none" strike="noStrike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date_format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col_time(format = "")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[t]: with the locale’s </a:t>
            </a:r>
            <a:r>
              <a:rPr b="0" i="0" lang="en-GB" sz="1100" u="none" cap="none" strike="noStrike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time_format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col_datetime(format = "")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[T]: ISO8601 date times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col_number()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[n], numbers containing the </a:t>
            </a:r>
            <a:r>
              <a:rPr b="0" i="0" lang="en-GB" sz="1100" u="none" cap="none" strike="noStrike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grouping_mark</a:t>
            </a:r>
            <a:endParaRPr b="0" i="0" sz="1100" u="none" cap="none" strike="noStrike">
              <a:solidFill>
                <a:srgbClr val="333333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col_skip()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[_, -], don’t import this column.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Helvetica Neue"/>
              <a:buChar char="●"/>
            </a:pPr>
            <a:r>
              <a:rPr b="0" i="0" lang="en-GB" sz="1100" u="none" cap="none" strike="noStrike">
                <a:solidFill>
                  <a:srgbClr val="375F84"/>
                </a:solidFill>
                <a:highlight>
                  <a:srgbClr val="F8F8F8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col_guess()</a:t>
            </a:r>
            <a:r>
              <a:rPr b="0" i="0" lang="en-GB" sz="1200" u="none" cap="none" strike="noStrike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[?], parse using the “best” type based on the input.</a:t>
            </a:r>
            <a:endParaRPr b="0" i="0" sz="1200" u="none" cap="none" strike="noStrike">
              <a:solidFill>
                <a:srgbClr val="44444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3" name="Google Shape;363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24963" y="2665500"/>
            <a:ext cx="3394246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2"/>
          <p:cNvSpPr/>
          <p:nvPr/>
        </p:nvSpPr>
        <p:spPr>
          <a:xfrm>
            <a:off x="4089225" y="2721675"/>
            <a:ext cx="4992900" cy="328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1700" y="3646675"/>
            <a:ext cx="3550649" cy="175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Other Functions in readr</a:t>
            </a:r>
            <a:endParaRPr/>
          </a:p>
        </p:txBody>
      </p:sp>
      <p:sp>
        <p:nvSpPr>
          <p:cNvPr id="371" name="Google Shape;371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Readr supports seven file formats with seven </a:t>
            </a:r>
            <a:r>
              <a:rPr b="1" lang="en-GB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read_ </a:t>
            </a:r>
            <a:r>
              <a:rPr lang="en-GB"/>
              <a:t>functions: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read_csv()</a:t>
            </a:r>
            <a:r>
              <a:rPr lang="en-GB"/>
              <a:t>: comma separated (CSV) files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read_tsv()</a:t>
            </a:r>
            <a:r>
              <a:rPr lang="en-GB"/>
              <a:t>: tab separated files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read_delim()</a:t>
            </a:r>
            <a:r>
              <a:rPr lang="en-GB"/>
              <a:t>: general delimited files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read_fwf()</a:t>
            </a:r>
            <a:r>
              <a:rPr lang="en-GB"/>
              <a:t>: fixed width files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read_table()</a:t>
            </a:r>
            <a:r>
              <a:rPr lang="en-GB"/>
              <a:t>: tabular files where columns are separated by white-space.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read_log()</a:t>
            </a:r>
            <a:r>
              <a:rPr lang="en-GB"/>
              <a:t>: web log files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find out more about these functions by reading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docs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72" name="Google Shape;372;p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Reading CSVs from the Web</a:t>
            </a:r>
            <a:endParaRPr/>
          </a:p>
        </p:txBody>
      </p:sp>
      <p:sp>
        <p:nvSpPr>
          <p:cNvPr id="378" name="Google Shape;378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most straightforward way to get data from the web in R is to read a csv from a URL.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we give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read.csv</a:t>
            </a:r>
            <a:r>
              <a:rPr lang="en-GB"/>
              <a:t> a URL rather than a file path it will handle it for us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79" name="Google Shape;379;p2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0" name="Google Shape;3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725" y="4818975"/>
            <a:ext cx="7648576" cy="119432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706350" y="3290875"/>
            <a:ext cx="7845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 &lt;-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"https://archive.ics.uci.edu/ml/machine-learning-databases/</a:t>
            </a:r>
            <a:endParaRPr b="0" i="0" sz="19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wine-quality/winequality-white.csv"</a:t>
            </a:r>
            <a:endParaRPr b="0" i="0" sz="19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whineQualityWhite &lt;- read.csv(url, sep = ";")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View(whineQualityWhite)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Working with Zipped Files</a:t>
            </a:r>
            <a:endParaRPr/>
          </a:p>
        </p:txBody>
      </p:sp>
      <p:sp>
        <p:nvSpPr>
          <p:cNvPr id="387" name="Google Shape;387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Large data is often compressed when stored online (e.g. zip files)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</a:t>
            </a:r>
            <a:r>
              <a:rPr b="1" lang="en-GB"/>
              <a:t>import a zi</a:t>
            </a:r>
            <a:r>
              <a:rPr lang="en-GB"/>
              <a:t>p file using the following procedure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Download the file using the Base R function download.file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Unzip the file using the unzip function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Query the contents of the file using the list.files function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Read in the desired file to 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88" name="Google Shape;388;p2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420750" y="4224175"/>
            <a:ext cx="8131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 &lt;-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GB" sz="1900">
                <a:solidFill>
                  <a:srgbClr val="38761D"/>
                </a:solidFill>
              </a:rPr>
              <a:t>https://archive.ics.uci.edu/static/public/602/dry+bean+dataset.zip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i="0" sz="19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download.file(url = url, destfile =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"my_file.zip"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unzip(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"my_file.zip"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list.files(path =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"./DryBeanDataset"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28"/>
          <p:cNvCxnSpPr/>
          <p:nvPr/>
        </p:nvCxnSpPr>
        <p:spPr>
          <a:xfrm rot="10800000">
            <a:off x="5385500" y="4966525"/>
            <a:ext cx="9291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1" name="Google Shape;391;p28"/>
          <p:cNvSpPr txBox="1"/>
          <p:nvPr/>
        </p:nvSpPr>
        <p:spPr>
          <a:xfrm>
            <a:off x="6314600" y="4897675"/>
            <a:ext cx="233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</a:rPr>
              <a:t>Destination file in the current working directory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392" name="Google Shape;392;p28"/>
          <p:cNvCxnSpPr/>
          <p:nvPr/>
        </p:nvCxnSpPr>
        <p:spPr>
          <a:xfrm flipH="1" rot="10800000">
            <a:off x="266725" y="5209675"/>
            <a:ext cx="201900" cy="42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3" name="Google Shape;393;p28"/>
          <p:cNvSpPr txBox="1"/>
          <p:nvPr/>
        </p:nvSpPr>
        <p:spPr>
          <a:xfrm>
            <a:off x="73100" y="5683325"/>
            <a:ext cx="233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</a:rPr>
              <a:t>Unzip in the current working directory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394" name="Google Shape;394;p28"/>
          <p:cNvCxnSpPr/>
          <p:nvPr/>
        </p:nvCxnSpPr>
        <p:spPr>
          <a:xfrm flipH="1" rot="10800000">
            <a:off x="552050" y="5201275"/>
            <a:ext cx="563700" cy="8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28"/>
          <p:cNvCxnSpPr/>
          <p:nvPr/>
        </p:nvCxnSpPr>
        <p:spPr>
          <a:xfrm>
            <a:off x="4063975" y="4897675"/>
            <a:ext cx="1261200" cy="7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28"/>
          <p:cNvCxnSpPr/>
          <p:nvPr/>
        </p:nvCxnSpPr>
        <p:spPr>
          <a:xfrm>
            <a:off x="552050" y="5496788"/>
            <a:ext cx="3668700" cy="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28"/>
          <p:cNvCxnSpPr/>
          <p:nvPr/>
        </p:nvCxnSpPr>
        <p:spPr>
          <a:xfrm rot="10800000">
            <a:off x="4324375" y="5578675"/>
            <a:ext cx="740400" cy="32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8" name="Google Shape;398;p28"/>
          <p:cNvSpPr txBox="1"/>
          <p:nvPr/>
        </p:nvSpPr>
        <p:spPr>
          <a:xfrm>
            <a:off x="5064775" y="5791025"/>
            <a:ext cx="23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</a:rPr>
              <a:t>List files in the path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722be17dd_1_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Working with Zipped Files</a:t>
            </a:r>
            <a:endParaRPr/>
          </a:p>
        </p:txBody>
      </p:sp>
      <p:sp>
        <p:nvSpPr>
          <p:cNvPr id="404" name="Google Shape;404;g30722be17dd_1_6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5" name="Google Shape;405;g30722be17dd_1_65"/>
          <p:cNvSpPr txBox="1"/>
          <p:nvPr/>
        </p:nvSpPr>
        <p:spPr>
          <a:xfrm>
            <a:off x="381450" y="1453850"/>
            <a:ext cx="8859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 &lt;-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GB" sz="1900">
                <a:solidFill>
                  <a:srgbClr val="38761D"/>
                </a:solidFill>
              </a:rPr>
              <a:t>https://archive.ics.uci.edu/static/public/602/dry+bean+dataset.zip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i="0" sz="19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download.file(url = url, destfile =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"my_file.zip"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unzip(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"my_file.zip"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list.files(path =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"./DryBeanDataset"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[1] "Dry_Bean_Dataset.arff" "Dry_Bean_Dataset.txt"  "Dry_Bean_Dataset.xlsx"</a:t>
            </a:r>
            <a:endParaRPr b="0" i="0" sz="1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0722be17dd_1_8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Working with Zipped Files</a:t>
            </a:r>
            <a:endParaRPr/>
          </a:p>
        </p:txBody>
      </p:sp>
      <p:sp>
        <p:nvSpPr>
          <p:cNvPr id="411" name="Google Shape;411;g30722be17dd_1_8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2" name="Google Shape;412;g30722be17dd_1_83"/>
          <p:cNvSpPr txBox="1"/>
          <p:nvPr/>
        </p:nvSpPr>
        <p:spPr>
          <a:xfrm>
            <a:off x="381450" y="1453850"/>
            <a:ext cx="8859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 &lt;-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GB" sz="1900">
                <a:solidFill>
                  <a:srgbClr val="38761D"/>
                </a:solidFill>
              </a:rPr>
              <a:t>https://archive.ics.uci.edu/static/public/602/dry+bean+dataset.zip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i="0" sz="19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download.file(url = url, destfile =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"my_file.zip"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unzip(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"my_file.zip"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list.files(path =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"./DryBeanDataset"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[1] "Dry_Bean_Dataset.arff" "Dry_Bean_Dataset.txt"  "Dry_Bean_Dataset.xlsx"</a:t>
            </a:r>
            <a:endParaRPr b="0" i="0" sz="1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g30722be17dd_1_83"/>
          <p:cNvCxnSpPr/>
          <p:nvPr/>
        </p:nvCxnSpPr>
        <p:spPr>
          <a:xfrm rot="10800000">
            <a:off x="3215875" y="3477275"/>
            <a:ext cx="300300" cy="891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4" name="Google Shape;414;g30722be17dd_1_83"/>
          <p:cNvSpPr txBox="1"/>
          <p:nvPr/>
        </p:nvSpPr>
        <p:spPr>
          <a:xfrm>
            <a:off x="2150400" y="4368575"/>
            <a:ext cx="33129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rgbClr val="FF0000"/>
                </a:solidFill>
              </a:rPr>
              <a:t>Uncommon data type that includes additional metadata that describes the dataset's attributes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0000"/>
              </a:solidFill>
            </a:endParaRPr>
          </a:p>
        </p:txBody>
      </p:sp>
      <p:cxnSp>
        <p:nvCxnSpPr>
          <p:cNvPr id="415" name="Google Shape;415;g30722be17dd_1_83"/>
          <p:cNvCxnSpPr/>
          <p:nvPr/>
        </p:nvCxnSpPr>
        <p:spPr>
          <a:xfrm>
            <a:off x="3031850" y="3293400"/>
            <a:ext cx="3099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0722be17dd_1_9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Working with Zipped Files</a:t>
            </a:r>
            <a:endParaRPr/>
          </a:p>
        </p:txBody>
      </p:sp>
      <p:sp>
        <p:nvSpPr>
          <p:cNvPr id="421" name="Google Shape;421;g30722be17dd_1_9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g30722be17dd_1_97"/>
          <p:cNvSpPr txBox="1"/>
          <p:nvPr/>
        </p:nvSpPr>
        <p:spPr>
          <a:xfrm>
            <a:off x="381450" y="1453850"/>
            <a:ext cx="8859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 &lt;-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GB" sz="1900">
                <a:solidFill>
                  <a:srgbClr val="38761D"/>
                </a:solidFill>
              </a:rPr>
              <a:t>https://archive.ics.uci.edu/static/public/602/dry+bean+dataset.zip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i="0" sz="19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download.file(url = url, destfile =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"my_file.zip"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unzip(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"my_file.zip"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GB" sz="1900"/>
              <a:t>&gt; 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list.files(path = </a:t>
            </a:r>
            <a:r>
              <a:rPr b="0" i="0" lang="en-GB" sz="1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"./DryBeanDataset"</a:t>
            </a:r>
            <a: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GB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[1] "Dry_Bean_Dataset.arff" "Dry_Bean_Dataset.txt"  "Dry_Bean_Dataset.xlsx"</a:t>
            </a:r>
            <a:endParaRPr b="0" i="0" sz="1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0722be17dd_1_97"/>
          <p:cNvSpPr txBox="1"/>
          <p:nvPr/>
        </p:nvSpPr>
        <p:spPr>
          <a:xfrm>
            <a:off x="381450" y="3490325"/>
            <a:ext cx="8859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library(readxl)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188038"/>
                </a:solidFill>
                <a:highlight>
                  <a:schemeClr val="lt1"/>
                </a:highlight>
              </a:rPr>
              <a:t># </a:t>
            </a:r>
            <a:r>
              <a:rPr lang="en-GB" sz="1900">
                <a:solidFill>
                  <a:srgbClr val="188038"/>
                </a:solidFill>
              </a:rPr>
              <a:t>Read the first sheet of the Excel file</a:t>
            </a:r>
            <a:endParaRPr sz="19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data &lt;- read_excel(</a:t>
            </a:r>
            <a:r>
              <a:rPr lang="en-GB" sz="1900">
                <a:solidFill>
                  <a:srgbClr val="188038"/>
                </a:solidFill>
              </a:rPr>
              <a:t>"./DryBeanDataset/Dry_Bean_Dataset.xlsx"</a:t>
            </a:r>
            <a:r>
              <a:rPr lang="en-GB" sz="1900"/>
              <a:t>, sheet = </a:t>
            </a:r>
            <a:r>
              <a:rPr lang="en-GB" sz="1900">
                <a:solidFill>
                  <a:srgbClr val="0000FF"/>
                </a:solidFill>
              </a:rPr>
              <a:t>1</a:t>
            </a:r>
            <a:r>
              <a:rPr lang="en-GB" sz="1900"/>
              <a:t>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View(data)</a:t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/>
          </a:p>
        </p:txBody>
      </p:sp>
      <p:cxnSp>
        <p:nvCxnSpPr>
          <p:cNvPr id="424" name="Google Shape;424;g30722be17dd_1_97"/>
          <p:cNvCxnSpPr/>
          <p:nvPr/>
        </p:nvCxnSpPr>
        <p:spPr>
          <a:xfrm rot="10800000">
            <a:off x="2286150" y="3758350"/>
            <a:ext cx="1530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g30722be17dd_1_97"/>
          <p:cNvSpPr txBox="1"/>
          <p:nvPr/>
        </p:nvSpPr>
        <p:spPr>
          <a:xfrm>
            <a:off x="3816450" y="3525850"/>
            <a:ext cx="3981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0000"/>
                </a:solidFill>
              </a:rPr>
              <a:t>Package able to read xlsx files</a:t>
            </a:r>
            <a:endParaRPr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0722be17dd_1_11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Working with Zipped Files</a:t>
            </a:r>
            <a:endParaRPr/>
          </a:p>
        </p:txBody>
      </p:sp>
      <p:sp>
        <p:nvSpPr>
          <p:cNvPr id="431" name="Google Shape;431;g30722be17dd_1_1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32" name="Google Shape;432;g30722be17dd_1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25" y="2027728"/>
            <a:ext cx="8832300" cy="4351047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0722be17dd_1_112"/>
          <p:cNvSpPr txBox="1"/>
          <p:nvPr/>
        </p:nvSpPr>
        <p:spPr>
          <a:xfrm>
            <a:off x="97725" y="14045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Dry_Bean_Dataset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0722be17dd_1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Scraping Data</a:t>
            </a:r>
            <a:endParaRPr/>
          </a:p>
        </p:txBody>
      </p:sp>
      <p:sp>
        <p:nvSpPr>
          <p:cNvPr id="439" name="Google Shape;439;g30722be17dd_1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 Scraping is how we refer to </a:t>
            </a:r>
            <a:r>
              <a:rPr b="1" lang="en-GB"/>
              <a:t>retrieving data</a:t>
            </a:r>
            <a:r>
              <a:rPr lang="en-GB"/>
              <a:t> from the internet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Being able to scrape data is a very important part of working with data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is often how </a:t>
            </a:r>
            <a:r>
              <a:rPr b="1" lang="en-GB"/>
              <a:t>new datasets</a:t>
            </a:r>
            <a:r>
              <a:rPr lang="en-GB"/>
              <a:t> are created!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40" name="Google Shape;440;g30722be17dd_1_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Scraping HTML Tables</a:t>
            </a:r>
            <a:endParaRPr/>
          </a:p>
        </p:txBody>
      </p:sp>
      <p:sp>
        <p:nvSpPr>
          <p:cNvPr id="446" name="Google Shape;446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17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40"/>
              <a:buChar char="●"/>
            </a:pPr>
            <a:r>
              <a:rPr lang="en-GB" sz="1940"/>
              <a:t>Data is often displayed online in HTML tables</a:t>
            </a:r>
            <a:endParaRPr sz="19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40"/>
          </a:p>
          <a:p>
            <a:pPr indent="-3517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940"/>
              <a:buChar char="●"/>
            </a:pPr>
            <a:r>
              <a:rPr lang="en-GB" sz="1940"/>
              <a:t>The </a:t>
            </a:r>
            <a:r>
              <a:rPr b="1" lang="en-GB" sz="1940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rvest </a:t>
            </a:r>
            <a:r>
              <a:rPr lang="en-GB" sz="1940"/>
              <a:t>package can be used to import tables into R and store them as a dataframe</a:t>
            </a:r>
            <a:endParaRPr sz="19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9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940"/>
          </a:p>
        </p:txBody>
      </p:sp>
      <p:sp>
        <p:nvSpPr>
          <p:cNvPr id="447" name="Google Shape;447;p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8" name="Google Shape;4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463" y="2260725"/>
            <a:ext cx="7083074" cy="261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Scraping HTML tables</a:t>
            </a:r>
            <a:endParaRPr/>
          </a:p>
        </p:txBody>
      </p:sp>
      <p:sp>
        <p:nvSpPr>
          <p:cNvPr id="454" name="Google Shape;454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first step is to fetch the HTML of the webpage. This can be done using 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read_html </a:t>
            </a:r>
            <a:r>
              <a:rPr lang="en-GB"/>
              <a:t>function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next step is to identify the tables within the code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55" name="Google Shape;455;p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6" name="Google Shape;456;p30"/>
          <p:cNvSpPr txBox="1"/>
          <p:nvPr/>
        </p:nvSpPr>
        <p:spPr>
          <a:xfrm>
            <a:off x="799400" y="2177050"/>
            <a:ext cx="812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(rvest)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webpage &lt;- read_html(</a:t>
            </a:r>
            <a:r>
              <a:rPr b="0" i="0" lang="en-GB" sz="2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"https://pokemondb.net/pokedex/all"</a:t>
            </a: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299" y="4140049"/>
            <a:ext cx="4271099" cy="2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0"/>
          <p:cNvSpPr/>
          <p:nvPr/>
        </p:nvSpPr>
        <p:spPr>
          <a:xfrm>
            <a:off x="894300" y="4434550"/>
            <a:ext cx="813900" cy="361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Scraping HTML tables</a:t>
            </a:r>
            <a:endParaRPr/>
          </a:p>
        </p:txBody>
      </p:sp>
      <p:sp>
        <p:nvSpPr>
          <p:cNvPr id="464" name="Google Shape;464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function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html_nodes</a:t>
            </a:r>
            <a:r>
              <a:rPr b="1" lang="en-GB">
                <a:solidFill>
                  <a:srgbClr val="3C78D8"/>
                </a:solidFill>
              </a:rPr>
              <a:t> </a:t>
            </a:r>
            <a:r>
              <a:rPr lang="en-GB"/>
              <a:t>identifies </a:t>
            </a:r>
            <a:r>
              <a:rPr lang="en-GB"/>
              <a:t>all HTML nodes in the webpage object that match 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&lt;table&gt;</a:t>
            </a:r>
            <a:r>
              <a:rPr lang="en-GB"/>
              <a:t> tag.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looks for tables in the webpage's structure and stores them in tableNodes.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65" name="Google Shape;465;p3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66" name="Google Shape;4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850" y="3622250"/>
            <a:ext cx="7652624" cy="11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500" y="4805340"/>
            <a:ext cx="8883950" cy="44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Scraping HTML tables</a:t>
            </a:r>
            <a:endParaRPr/>
          </a:p>
        </p:txBody>
      </p:sp>
      <p:sp>
        <p:nvSpPr>
          <p:cNvPr id="473" name="Google Shape;473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final step is to extract the actual table(s) using the identifier(s) contained in the list: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74" name="Google Shape;474;p3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5" name="Google Shape;475;p32"/>
          <p:cNvSpPr txBox="1"/>
          <p:nvPr/>
        </p:nvSpPr>
        <p:spPr>
          <a:xfrm>
            <a:off x="822938" y="2398500"/>
            <a:ext cx="6796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B6D7A8"/>
                </a:solidFill>
                <a:latin typeface="Arial"/>
                <a:ea typeface="Arial"/>
                <a:cs typeface="Arial"/>
                <a:sym typeface="Arial"/>
              </a:rPr>
              <a:t>#install.packages('rvest')</a:t>
            </a:r>
            <a:endParaRPr b="0" i="0" sz="1400" u="none" cap="none" strike="noStrike">
              <a:solidFill>
                <a:srgbClr val="B6D7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(rvest)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webpage &lt;- read_html(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GB" sz="1400" u="sng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https://pokemondb.net/pokedex/all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tableNodes &lt;- html_nodes(webpage,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"table"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&lt;- html_table(tableNodes)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pokemonData &lt;- table[[</a:t>
            </a:r>
            <a:r>
              <a:rPr b="0" i="0" lang="en-GB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View(pokemonData)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0722be17dd_1_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Scraping HTML tables</a:t>
            </a:r>
            <a:endParaRPr/>
          </a:p>
        </p:txBody>
      </p:sp>
      <p:sp>
        <p:nvSpPr>
          <p:cNvPr id="481" name="Google Shape;481;g30722be17dd_1_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final step is to extract the actual table(s) using the identifier(s) contained in the list: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82" name="Google Shape;482;g30722be17dd_1_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3" name="Google Shape;483;g30722be17dd_1_25"/>
          <p:cNvSpPr txBox="1"/>
          <p:nvPr/>
        </p:nvSpPr>
        <p:spPr>
          <a:xfrm>
            <a:off x="822938" y="2398500"/>
            <a:ext cx="6796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B6D7A8"/>
                </a:solidFill>
                <a:latin typeface="Arial"/>
                <a:ea typeface="Arial"/>
                <a:cs typeface="Arial"/>
                <a:sym typeface="Arial"/>
              </a:rPr>
              <a:t>#install.packages('rvest')</a:t>
            </a:r>
            <a:endParaRPr b="0" i="0" sz="1400" u="none" cap="none" strike="noStrike">
              <a:solidFill>
                <a:srgbClr val="B6D7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(rvest)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webpage &lt;- read_html(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GB" sz="1400" u="sng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https://pokemondb.net/pokedex/all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tableNodes &lt;- html_nodes(webpage,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"table"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&lt;- html_table(tableNodes)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pokemonData &lt;- table[[</a:t>
            </a:r>
            <a:r>
              <a:rPr b="0" i="0" lang="en-GB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View(pokemonData)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g30722be17dd_1_25"/>
          <p:cNvCxnSpPr/>
          <p:nvPr/>
        </p:nvCxnSpPr>
        <p:spPr>
          <a:xfrm rot="10800000">
            <a:off x="3525900" y="3467825"/>
            <a:ext cx="21891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5" name="Google Shape;485;g30722be17dd_1_25"/>
          <p:cNvSpPr txBox="1"/>
          <p:nvPr/>
        </p:nvSpPr>
        <p:spPr>
          <a:xfrm>
            <a:off x="5908650" y="3018600"/>
            <a:ext cx="26436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Converts the identified HTML table nodes into a list of data frames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486" name="Google Shape;486;g30722be17dd_1_25"/>
          <p:cNvCxnSpPr/>
          <p:nvPr/>
        </p:nvCxnSpPr>
        <p:spPr>
          <a:xfrm>
            <a:off x="902125" y="3564600"/>
            <a:ext cx="24978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0722be17dd_1_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Scraping HTML tables</a:t>
            </a:r>
            <a:endParaRPr/>
          </a:p>
        </p:txBody>
      </p:sp>
      <p:sp>
        <p:nvSpPr>
          <p:cNvPr id="492" name="Google Shape;492;g30722be17dd_1_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final step is to extract the actual table(s) using the identifier(s) contained in the list: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93" name="Google Shape;493;g30722be17dd_1_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4" name="Google Shape;494;g30722be17dd_1_40"/>
          <p:cNvSpPr txBox="1"/>
          <p:nvPr/>
        </p:nvSpPr>
        <p:spPr>
          <a:xfrm>
            <a:off x="822938" y="2398500"/>
            <a:ext cx="6796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B6D7A8"/>
                </a:solidFill>
                <a:latin typeface="Arial"/>
                <a:ea typeface="Arial"/>
                <a:cs typeface="Arial"/>
                <a:sym typeface="Arial"/>
              </a:rPr>
              <a:t>#install.packages('rvest')</a:t>
            </a:r>
            <a:endParaRPr b="0" i="0" sz="1400" u="none" cap="none" strike="noStrike">
              <a:solidFill>
                <a:srgbClr val="B6D7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(rvest)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webpage &lt;- read_html(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GB" sz="1400" u="sng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https://pokemondb.net/pokedex/all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tableNodes &lt;- html_nodes(webpage,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"table"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&lt;- html_table(tableNodes)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pokemonData &lt;- table[[</a:t>
            </a:r>
            <a:r>
              <a:rPr b="0" i="0" lang="en-GB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View(pokemonData)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5" name="Google Shape;495;g30722be17dd_1_40"/>
          <p:cNvCxnSpPr/>
          <p:nvPr/>
        </p:nvCxnSpPr>
        <p:spPr>
          <a:xfrm flipH="1">
            <a:off x="3202975" y="3680850"/>
            <a:ext cx="2667000" cy="6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6" name="Google Shape;496;g30722be17dd_1_40"/>
          <p:cNvSpPr txBox="1"/>
          <p:nvPr/>
        </p:nvSpPr>
        <p:spPr>
          <a:xfrm>
            <a:off x="5908650" y="3018600"/>
            <a:ext cx="26436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Extracts the first table from the list of tables (since multiple tables may exist) and stores it in pokemonData.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497" name="Google Shape;497;g30722be17dd_1_40"/>
          <p:cNvCxnSpPr/>
          <p:nvPr/>
        </p:nvCxnSpPr>
        <p:spPr>
          <a:xfrm flipH="1" rot="10800000">
            <a:off x="911800" y="3769271"/>
            <a:ext cx="2100600" cy="2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0722be17dd_1_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Scraping HTML tables</a:t>
            </a:r>
            <a:endParaRPr/>
          </a:p>
        </p:txBody>
      </p:sp>
      <p:sp>
        <p:nvSpPr>
          <p:cNvPr id="503" name="Google Shape;503;g30722be17dd_1_5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final step is to extract the actual table(s) using the identifier(s) contained in the list: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04" name="Google Shape;504;g30722be17dd_1_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5" name="Google Shape;505;g30722be17dd_1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50" y="4148825"/>
            <a:ext cx="6882874" cy="224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30722be17dd_1_53"/>
          <p:cNvSpPr txBox="1"/>
          <p:nvPr/>
        </p:nvSpPr>
        <p:spPr>
          <a:xfrm>
            <a:off x="822938" y="2398500"/>
            <a:ext cx="6796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B6D7A8"/>
                </a:solidFill>
                <a:latin typeface="Arial"/>
                <a:ea typeface="Arial"/>
                <a:cs typeface="Arial"/>
                <a:sym typeface="Arial"/>
              </a:rPr>
              <a:t>#install.packages('rvest')</a:t>
            </a:r>
            <a:endParaRPr b="0" i="0" sz="1400" u="none" cap="none" strike="noStrike">
              <a:solidFill>
                <a:srgbClr val="B6D7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(rvest)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webpage &lt;- read_html(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GB" sz="1400" u="sng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https://pokemondb.net/pokedex/all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tableNodes &lt;- html_nodes(webpage,</a:t>
            </a:r>
            <a:r>
              <a:rPr b="0" i="0" lang="en-GB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"table"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&lt;- html_table(tableNodes)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pokemonData &lt;- table[[</a:t>
            </a:r>
            <a:r>
              <a:rPr b="0" i="0" lang="en-GB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View(pokemonData)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g30722be17dd_1_53"/>
          <p:cNvCxnSpPr/>
          <p:nvPr/>
        </p:nvCxnSpPr>
        <p:spPr>
          <a:xfrm rot="10800000">
            <a:off x="2605525" y="3913400"/>
            <a:ext cx="2237700" cy="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g30722be17dd_1_53"/>
          <p:cNvSpPr txBox="1"/>
          <p:nvPr/>
        </p:nvSpPr>
        <p:spPr>
          <a:xfrm>
            <a:off x="4975850" y="3351575"/>
            <a:ext cx="26436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Opens a viewer window in RStudio to display the content of pokemonData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509" name="Google Shape;509;g30722be17dd_1_53"/>
          <p:cNvCxnSpPr/>
          <p:nvPr/>
        </p:nvCxnSpPr>
        <p:spPr>
          <a:xfrm>
            <a:off x="902100" y="4003175"/>
            <a:ext cx="1616400" cy="16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Exporting Data</a:t>
            </a:r>
            <a:endParaRPr/>
          </a:p>
        </p:txBody>
      </p:sp>
      <p:sp>
        <p:nvSpPr>
          <p:cNvPr id="515" name="Google Shape;515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After importing the data into R and carrying out some processing / computation, we may wish to </a:t>
            </a:r>
            <a:r>
              <a:rPr b="1" lang="en-GB"/>
              <a:t>permanently store</a:t>
            </a:r>
            <a:r>
              <a:rPr lang="en-GB"/>
              <a:t> our work or share it with others.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There are </a:t>
            </a:r>
            <a:r>
              <a:rPr b="1" lang="en-GB"/>
              <a:t>many different ways</a:t>
            </a:r>
            <a:r>
              <a:rPr lang="en-GB"/>
              <a:t> that this can be achieved depending on the desired format of the output.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Let’s use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pokemonData</a:t>
            </a:r>
            <a:r>
              <a:rPr lang="en-GB"/>
              <a:t> data frame, generated earlier, to explore some of the basic options available. </a:t>
            </a:r>
            <a:endParaRPr/>
          </a:p>
        </p:txBody>
      </p:sp>
      <p:sp>
        <p:nvSpPr>
          <p:cNvPr id="516" name="Google Shape;516;p3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Exporting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22" name="Google Shape;522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functions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write.table</a:t>
            </a:r>
            <a:r>
              <a:rPr lang="en-GB"/>
              <a:t> and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write.csv</a:t>
            </a:r>
            <a:r>
              <a:rPr lang="en-GB"/>
              <a:t> come built-in to R.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23" name="Google Shape;523;p3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4" name="Google Shape;524;p34"/>
          <p:cNvSpPr txBox="1"/>
          <p:nvPr/>
        </p:nvSpPr>
        <p:spPr>
          <a:xfrm>
            <a:off x="693975" y="2630600"/>
            <a:ext cx="746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write.table(pokemonData, </a:t>
            </a:r>
            <a:r>
              <a:rPr b="0" i="0" lang="en-GB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"pokemon.txt"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row.names = </a:t>
            </a:r>
            <a:r>
              <a:rPr b="0" i="0" lang="en-GB" sz="16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5" name="Google Shape;5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975" y="3187625"/>
            <a:ext cx="5831351" cy="33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Exporting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31" name="Google Shape;531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functions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write.table</a:t>
            </a:r>
            <a:r>
              <a:rPr lang="en-GB"/>
              <a:t> and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write.csv</a:t>
            </a:r>
            <a:r>
              <a:rPr lang="en-GB"/>
              <a:t> come built-in to R.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532" name="Google Shape;532;p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3" name="Google Shape;533;p35"/>
          <p:cNvSpPr txBox="1"/>
          <p:nvPr/>
        </p:nvSpPr>
        <p:spPr>
          <a:xfrm>
            <a:off x="775850" y="2415650"/>
            <a:ext cx="620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write.csv(pokemonData, </a:t>
            </a:r>
            <a:r>
              <a:rPr b="0" i="0" lang="en-GB" sz="16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"pokemon.csv"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row.names = </a:t>
            </a:r>
            <a:r>
              <a:rPr b="0" i="0" lang="en-GB" sz="16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050" y="3020450"/>
            <a:ext cx="5178525" cy="370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RData Format</a:t>
            </a:r>
            <a:endParaRPr/>
          </a:p>
        </p:txBody>
      </p:sp>
      <p:sp>
        <p:nvSpPr>
          <p:cNvPr id="540" name="Google Shape;540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004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70"/>
              <a:buChar char="●"/>
            </a:pPr>
            <a:r>
              <a:rPr lang="en-GB" sz="2070"/>
              <a:t>R objects can be saved using the native </a:t>
            </a:r>
            <a:r>
              <a:rPr b="1" lang="en-GB" sz="2070"/>
              <a:t>RData</a:t>
            </a:r>
            <a:r>
              <a:rPr lang="en-GB" sz="2070"/>
              <a:t> format.</a:t>
            </a:r>
            <a:endParaRPr sz="2070"/>
          </a:p>
          <a:p>
            <a:pPr indent="-36004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70"/>
              <a:buChar char="●"/>
            </a:pPr>
            <a:r>
              <a:rPr lang="en-GB" sz="2070"/>
              <a:t>An Rdata file is a binary file, whereas csv files, for example, are text files.</a:t>
            </a:r>
            <a:endParaRPr sz="2070"/>
          </a:p>
          <a:p>
            <a:pPr indent="-36004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70"/>
              <a:buChar char="●"/>
            </a:pPr>
            <a:r>
              <a:rPr lang="en-GB" sz="2070"/>
              <a:t>Advantages of Rdata format is that it is </a:t>
            </a:r>
            <a:r>
              <a:rPr b="1" lang="en-GB" sz="2070"/>
              <a:t>more compact</a:t>
            </a:r>
            <a:r>
              <a:rPr lang="en-GB" sz="2070"/>
              <a:t>, </a:t>
            </a:r>
            <a:r>
              <a:rPr b="1" lang="en-GB" sz="2070"/>
              <a:t>faster to read</a:t>
            </a:r>
            <a:r>
              <a:rPr lang="en-GB" sz="2070"/>
              <a:t>, and can </a:t>
            </a:r>
            <a:r>
              <a:rPr b="1" lang="en-GB" sz="2070"/>
              <a:t>store any type of R data structure</a:t>
            </a:r>
            <a:r>
              <a:rPr lang="en-GB" sz="2070"/>
              <a:t>. Furthermore, you can store </a:t>
            </a:r>
            <a:r>
              <a:rPr b="1" lang="en-GB" sz="2070"/>
              <a:t>several objects</a:t>
            </a:r>
            <a:r>
              <a:rPr lang="en-GB" sz="2070"/>
              <a:t> into one Rdata file.</a:t>
            </a:r>
            <a:endParaRPr sz="2070"/>
          </a:p>
          <a:p>
            <a:pPr indent="-36004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70"/>
              <a:buChar char="●"/>
            </a:pPr>
            <a:r>
              <a:rPr lang="en-GB" sz="2070"/>
              <a:t>The main disadvantage is that it is a format which is </a:t>
            </a:r>
            <a:r>
              <a:rPr b="1" lang="en-GB" sz="2070"/>
              <a:t>incompatible with other statistical systems</a:t>
            </a:r>
            <a:r>
              <a:rPr lang="en-GB" sz="2070"/>
              <a:t> or software. So you won't be able to send data in this format to someone who is not using R. </a:t>
            </a:r>
            <a:endParaRPr sz="207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70"/>
              <a:buNone/>
            </a:pPr>
            <a:r>
              <a:t/>
            </a:r>
            <a:endParaRPr sz="2070"/>
          </a:p>
        </p:txBody>
      </p:sp>
      <p:sp>
        <p:nvSpPr>
          <p:cNvPr id="541" name="Google Shape;541;p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RData and rds Format</a:t>
            </a:r>
            <a:endParaRPr/>
          </a:p>
        </p:txBody>
      </p:sp>
      <p:sp>
        <p:nvSpPr>
          <p:cNvPr id="547" name="Google Shape;547;p25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The RData format is used to save </a:t>
            </a:r>
            <a:r>
              <a:rPr b="1" lang="en-GB" sz="2100"/>
              <a:t>multiple </a:t>
            </a:r>
            <a:r>
              <a:rPr lang="en-GB" sz="2100"/>
              <a:t>objects and functions present in the global environment</a:t>
            </a:r>
            <a:endParaRPr sz="2100"/>
          </a:p>
          <a:p>
            <a:pPr indent="-3873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GB" sz="2100"/>
              <a:t>The </a:t>
            </a:r>
            <a:r>
              <a:rPr b="1" lang="en-GB" sz="2100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.rda</a:t>
            </a:r>
            <a:r>
              <a:rPr lang="en-GB" sz="2100"/>
              <a:t> file is short for RData</a:t>
            </a:r>
            <a:endParaRPr sz="17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The </a:t>
            </a:r>
            <a:r>
              <a:rPr b="1" lang="en-GB" sz="2100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.rds</a:t>
            </a:r>
            <a:r>
              <a:rPr lang="en-GB" sz="2100"/>
              <a:t> file is suitable for saving a </a:t>
            </a:r>
            <a:r>
              <a:rPr b="1" lang="en-GB" sz="2100"/>
              <a:t>single </a:t>
            </a:r>
            <a:r>
              <a:rPr lang="en-GB" sz="2100"/>
              <a:t>R object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378"/>
              <a:buNone/>
            </a:pPr>
            <a:r>
              <a:t/>
            </a:r>
            <a:endParaRPr sz="2100"/>
          </a:p>
        </p:txBody>
      </p:sp>
      <p:sp>
        <p:nvSpPr>
          <p:cNvPr id="548" name="Google Shape;548;p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9" name="Google Shape;549;p25"/>
          <p:cNvSpPr txBox="1"/>
          <p:nvPr>
            <p:ph idx="1" type="body"/>
          </p:nvPr>
        </p:nvSpPr>
        <p:spPr>
          <a:xfrm>
            <a:off x="311700" y="337198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Base R provides the load function to import .RData/.rda files and readRDS for .rds files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lang="en-GB" sz="2100"/>
            </a:br>
            <a:endParaRPr sz="12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The readr package offers the </a:t>
            </a:r>
            <a:r>
              <a:rPr b="1" lang="en-GB" sz="2100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read_rds </a:t>
            </a:r>
            <a:r>
              <a:rPr lang="en-GB" sz="2100"/>
              <a:t>function for importing </a:t>
            </a:r>
            <a:r>
              <a:rPr lang="en-GB" sz="2100">
                <a:latin typeface="Courier"/>
                <a:ea typeface="Courier"/>
                <a:cs typeface="Courier"/>
                <a:sym typeface="Courier"/>
              </a:rPr>
              <a:t>.rds</a:t>
            </a:r>
            <a:r>
              <a:rPr lang="en-GB" sz="2100"/>
              <a:t> files</a:t>
            </a:r>
            <a:endParaRPr sz="2100"/>
          </a:p>
        </p:txBody>
      </p:sp>
      <p:sp>
        <p:nvSpPr>
          <p:cNvPr id="550" name="Google Shape;550;p25"/>
          <p:cNvSpPr txBox="1"/>
          <p:nvPr/>
        </p:nvSpPr>
        <p:spPr>
          <a:xfrm>
            <a:off x="765250" y="42844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load(</a:t>
            </a:r>
            <a:r>
              <a:rPr b="0" i="0" lang="en-GB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"data.RData"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readRDS(</a:t>
            </a:r>
            <a:r>
              <a:rPr b="0" i="0" lang="en-GB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"data.rds"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5"/>
          <p:cNvSpPr txBox="1"/>
          <p:nvPr/>
        </p:nvSpPr>
        <p:spPr>
          <a:xfrm>
            <a:off x="822075" y="58015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(readr)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read_rds(</a:t>
            </a:r>
            <a:r>
              <a:rPr b="0" i="0" lang="en-GB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"data.rds"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Exporting Data</a:t>
            </a:r>
            <a:endParaRPr/>
          </a:p>
        </p:txBody>
      </p:sp>
      <p:sp>
        <p:nvSpPr>
          <p:cNvPr id="557" name="Google Shape;557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might be better to store data in the native R format.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if your dataset has one column of factors and other columns with characters, there will be no easy way to restore that metadata from a CSV. 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There are two options for that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only saving a single R object, use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saveRDS </a:t>
            </a:r>
            <a:r>
              <a:rPr lang="en-GB"/>
              <a:t>{base}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/>
              <a:t>or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write_rds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/>
              <a:t>{readr}.  </a:t>
            </a:r>
            <a:endParaRPr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The only major difference between the two is that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write_rds()</a:t>
            </a:r>
            <a:r>
              <a:rPr lang="en-GB"/>
              <a:t> does not compress the file by default.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saving multiple R objects, use the </a:t>
            </a:r>
            <a:r>
              <a:rPr b="1" lang="en-GB">
                <a:solidFill>
                  <a:srgbClr val="3C78D8"/>
                </a:solidFill>
                <a:latin typeface="Courier"/>
                <a:ea typeface="Courier"/>
                <a:cs typeface="Courier"/>
                <a:sym typeface="Courier"/>
              </a:rPr>
              <a:t>save </a:t>
            </a:r>
            <a:r>
              <a:rPr lang="en-GB"/>
              <a:t>function {base}, with the names of the objects collected in a character vector. </a:t>
            </a:r>
            <a:endParaRPr/>
          </a:p>
        </p:txBody>
      </p:sp>
      <p:sp>
        <p:nvSpPr>
          <p:cNvPr id="558" name="Google Shape;558;p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Exporting Data</a:t>
            </a:r>
            <a:endParaRPr/>
          </a:p>
        </p:txBody>
      </p:sp>
      <p:sp>
        <p:nvSpPr>
          <p:cNvPr id="564" name="Google Shape;564;p3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5" name="Google Shape;565;p37"/>
          <p:cNvSpPr txBox="1"/>
          <p:nvPr/>
        </p:nvSpPr>
        <p:spPr>
          <a:xfrm>
            <a:off x="311700" y="1536625"/>
            <a:ext cx="7109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saveRDS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pokemonData,</a:t>
            </a:r>
            <a:r>
              <a:rPr b="0" i="0" lang="en-GB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"pokemon.rds"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write_rds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pokemonData, </a:t>
            </a:r>
            <a:r>
              <a:rPr b="0" i="0" lang="en-GB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"pokemon_readr.rds"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 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&lt;-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pokemonData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&lt;-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pokemonData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= c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GB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"name"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GB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"type"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file = </a:t>
            </a:r>
            <a:r>
              <a:rPr b="0" i="0" lang="en-GB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"pokemon.RData"</a:t>
            </a:r>
            <a:r>
              <a:rPr b="0" i="0" lang="en-GB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571" name="Google Shape;571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Reading different file formats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Handling missing data when reading data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Identifying problems when reading data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Exporting and loading rds and RData formats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Scraping HTML tables</a:t>
            </a:r>
            <a:endParaRPr/>
          </a:p>
        </p:txBody>
      </p:sp>
      <p:sp>
        <p:nvSpPr>
          <p:cNvPr id="572" name="Google Shape;572;p3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More DataCamp courses about R, importing data, missing values, and scraping data</a:t>
            </a:r>
            <a:endParaRPr/>
          </a:p>
        </p:txBody>
      </p:sp>
      <p:sp>
        <p:nvSpPr>
          <p:cNvPr id="578" name="Google Shape;578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Introduction to 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Intermediate R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5"/>
              </a:rPr>
              <a:t>Introduction to importing data in R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6"/>
              </a:rPr>
              <a:t>Dealing with missing data in R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7"/>
              </a:rPr>
              <a:t>Web scraping in 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b377eac00_0_79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585" name="Google Shape;585;gcb377eac00_0_7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cb377eac00_0_7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Lab</a:t>
            </a:r>
            <a:endParaRPr/>
          </a:p>
        </p:txBody>
      </p:sp>
      <p:sp>
        <p:nvSpPr>
          <p:cNvPr id="591" name="Google Shape;591;gcb377eac00_0_7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Lab 3</a:t>
            </a:r>
            <a:endParaRPr/>
          </a:p>
        </p:txBody>
      </p:sp>
      <p:sp>
        <p:nvSpPr>
          <p:cNvPr id="592" name="Google Shape;592;gcb377eac00_0_7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