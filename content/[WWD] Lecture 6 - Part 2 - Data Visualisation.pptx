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6858000" cx="9144000"/>
  <p:notesSz cx="6858000" cy="9144000"/>
  <p:embeddedFontLst>
    <p:embeddedFont>
      <p:font typeface="Book Antiqua"/>
      <p:regular r:id="rId57"/>
      <p:bold r:id="rId58"/>
      <p:italic r:id="rId59"/>
      <p:boldItalic r:id="rId60"/>
    </p:embeddedFont>
    <p:embeddedFont>
      <p:font typeface="Century Gothic"/>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5" roundtripDataSignature="AMtx7mhn+F6xhRvB/IW5M3GU9rSN3+uy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8048C2-67AF-43CD-83EC-85EE4A68B47A}">
  <a:tblStyle styleId="{248048C2-67AF-43CD-83EC-85EE4A68B47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CenturyGothic-bold.fntdata"/><Relationship Id="rId61" Type="http://schemas.openxmlformats.org/officeDocument/2006/relationships/font" Target="fonts/CenturyGothic-regular.fntdata"/><Relationship Id="rId20" Type="http://schemas.openxmlformats.org/officeDocument/2006/relationships/slide" Target="slides/slide14.xml"/><Relationship Id="rId64" Type="http://schemas.openxmlformats.org/officeDocument/2006/relationships/font" Target="fonts/CenturyGothic-boldItalic.fntdata"/><Relationship Id="rId63" Type="http://schemas.openxmlformats.org/officeDocument/2006/relationships/font" Target="fonts/CenturyGothic-italic.fntdata"/><Relationship Id="rId22" Type="http://schemas.openxmlformats.org/officeDocument/2006/relationships/slide" Target="slides/slide16.xml"/><Relationship Id="rId21" Type="http://schemas.openxmlformats.org/officeDocument/2006/relationships/slide" Target="slides/slide15.xml"/><Relationship Id="rId65"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BookAntiqua-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BookAntiqua-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BookAntiqua-italic.fntdata"/><Relationship Id="rId14" Type="http://schemas.openxmlformats.org/officeDocument/2006/relationships/slide" Target="slides/slide8.xml"/><Relationship Id="rId58" Type="http://schemas.openxmlformats.org/officeDocument/2006/relationships/font" Target="fonts/BookAntiqua-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7ca629c05e_1_5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g37ca629c05e_1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eff6cb839e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eff6cb839e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eff6cb839e_0_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eff6cb839e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eff6cb839e_0_5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eff6cb839e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eff6cb839e_0_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eff6cb839e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f6ff506d73_0_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2f6ff506d73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eff6cb839e_0_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eff6cb839e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eff6cb839e_0_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eff6cb839e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eff6cb839e_0_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eff6cb839e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eff6cb839e_0_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eff6cb839e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eff6cb839e_0_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eff6cb839e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eff6cb839e_0_9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eff6cb839e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eff6cb839e_0_10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eff6cb839e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eff6cb839e_0_10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eff6cb839e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eff6cb839e_0_1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eff6cb839e_0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f5532e34b3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f5532e34b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f5532e34b3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f5532e34b3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f5532e34b3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f5532e34b3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f5532e34b3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f5532e34b3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f5532e34b3_0_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f5532e34b3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f5532e34b3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f5532e34b3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f5532e34b3_0_4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f5532e34b3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f5532e34b3_0_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f5532e34b3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f5532e34b3_0_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f5532e34b3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f5532e34b3_0_6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f5532e34b3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f5532e34b3_0_7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gf5532e34b3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f5532e34b3_0_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f5532e34b3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f5532e34b3_0_8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gf5532e34b3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f5532e34b3_0_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gf5532e34b3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f5532e34b3_0_9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gf5532e34b3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cb3b903bb0_0_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cb3b903bb0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cb3b903bb0_0_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cb3b903bb0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cb3b903bb0_0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gcb3b903bb0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cb3b903bb0_0_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cb3b903bb0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cb3b903bb0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cb3b903bb0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cb3b903bb0_0_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gcb3b903bb0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cb3b903bb0_0_9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gcb3b903bb0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cb3b903bb0_0_10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gcb3b903bb0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cb3b903bb0_0_10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gcb3b903bb0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cb3b903bb0_0_1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gcb3b903bb0_0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cb3b903bb0_0_1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gcb3b903bb0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cb3b903bb0_0_1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gcb3b903bb0_0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cb3b903bb0_0_1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cb3b903bb0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cb3b903bb0_0_15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gcb3b903bb0_0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eff6cb839e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geff6cb839e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51"/>
          <p:cNvSpPr txBox="1"/>
          <p:nvPr>
            <p:ph type="ctrTitle"/>
          </p:nvPr>
        </p:nvSpPr>
        <p:spPr>
          <a:xfrm>
            <a:off x="311700" y="925567"/>
            <a:ext cx="8520600" cy="2304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51"/>
          <p:cNvSpPr txBox="1"/>
          <p:nvPr>
            <p:ph idx="1" type="subTitle"/>
          </p:nvPr>
        </p:nvSpPr>
        <p:spPr>
          <a:xfrm>
            <a:off x="311700" y="3629900"/>
            <a:ext cx="85206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51"/>
          <p:cNvSpPr txBox="1"/>
          <p:nvPr>
            <p:ph idx="12" type="sldNum"/>
          </p:nvPr>
        </p:nvSpPr>
        <p:spPr>
          <a:xfrm>
            <a:off x="84760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sz="2000"/>
          </a:p>
        </p:txBody>
      </p:sp>
      <p:sp>
        <p:nvSpPr>
          <p:cNvPr id="14" name="Google Shape;14;p51"/>
          <p:cNvSpPr txBox="1"/>
          <p:nvPr>
            <p:ph idx="2" type="subTitle"/>
          </p:nvPr>
        </p:nvSpPr>
        <p:spPr>
          <a:xfrm>
            <a:off x="279775" y="4860867"/>
            <a:ext cx="85206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5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52"/>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68300" lvl="0" marL="457200" algn="l">
              <a:lnSpc>
                <a:spcPct val="115000"/>
              </a:lnSpc>
              <a:spcBef>
                <a:spcPts val="0"/>
              </a:spcBef>
              <a:spcAft>
                <a:spcPts val="0"/>
              </a:spcAft>
              <a:buSzPts val="22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8" name="Google Shape;18;p52"/>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 name="Shape 19"/>
        <p:cNvGrpSpPr/>
        <p:nvPr/>
      </p:nvGrpSpPr>
      <p:grpSpPr>
        <a:xfrm>
          <a:off x="0" y="0"/>
          <a:ext cx="0" cy="0"/>
          <a:chOff x="0" y="0"/>
          <a:chExt cx="0" cy="0"/>
        </a:xfrm>
      </p:grpSpPr>
      <p:sp>
        <p:nvSpPr>
          <p:cNvPr id="20" name="Google Shape;20;p53"/>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1" name="Google Shape;21;p53"/>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54"/>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4" name="Google Shape;24;p54"/>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55"/>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55"/>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55"/>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5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56"/>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57"/>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5" name="Google Shape;35;p57"/>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57"/>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58"/>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58"/>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58"/>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58"/>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rmAutofit/>
          </a:bodyPr>
          <a:lstStyle>
            <a:lvl1pPr indent="-368300" lvl="0" marL="457200" algn="l">
              <a:lnSpc>
                <a:spcPct val="115000"/>
              </a:lnSpc>
              <a:spcBef>
                <a:spcPts val="0"/>
              </a:spcBef>
              <a:spcAft>
                <a:spcPts val="0"/>
              </a:spcAft>
              <a:buSzPts val="22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2" name="Google Shape;42;p58"/>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59"/>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200"/>
              <a:buNone/>
              <a:defRPr/>
            </a:lvl1pPr>
          </a:lstStyle>
          <a:p/>
        </p:txBody>
      </p:sp>
      <p:sp>
        <p:nvSpPr>
          <p:cNvPr id="45" name="Google Shape;45;p59"/>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60"/>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60"/>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rmAutofit/>
          </a:bodyPr>
          <a:lstStyle>
            <a:lvl1pPr indent="-368300" lvl="0" marL="457200" algn="ctr">
              <a:lnSpc>
                <a:spcPct val="115000"/>
              </a:lnSpc>
              <a:spcBef>
                <a:spcPts val="0"/>
              </a:spcBef>
              <a:spcAft>
                <a:spcPts val="0"/>
              </a:spcAft>
              <a:buSzPts val="2200"/>
              <a:buChar char="●"/>
              <a:defRPr/>
            </a:lvl1pPr>
            <a:lvl2pPr indent="-342900" lvl="1" marL="914400" algn="ctr">
              <a:lnSpc>
                <a:spcPct val="115000"/>
              </a:lnSpc>
              <a:spcBef>
                <a:spcPts val="0"/>
              </a:spcBef>
              <a:spcAft>
                <a:spcPts val="0"/>
              </a:spcAft>
              <a:buSzPts val="1800"/>
              <a:buChar char="○"/>
              <a:defRPr/>
            </a:lvl2pPr>
            <a:lvl3pPr indent="-342900" lvl="2" marL="1371600" algn="ctr">
              <a:lnSpc>
                <a:spcPct val="115000"/>
              </a:lnSpc>
              <a:spcBef>
                <a:spcPts val="0"/>
              </a:spcBef>
              <a:spcAft>
                <a:spcPts val="0"/>
              </a:spcAft>
              <a:buSzPts val="1800"/>
              <a:buChar char="■"/>
              <a:defRPr/>
            </a:lvl3pPr>
            <a:lvl4pPr indent="-342900" lvl="3" marL="1828800" algn="ctr">
              <a:lnSpc>
                <a:spcPct val="115000"/>
              </a:lnSpc>
              <a:spcBef>
                <a:spcPts val="0"/>
              </a:spcBef>
              <a:spcAft>
                <a:spcPts val="0"/>
              </a:spcAft>
              <a:buSzPts val="1800"/>
              <a:buChar char="●"/>
              <a:defRPr/>
            </a:lvl4pPr>
            <a:lvl5pPr indent="-342900" lvl="4" marL="2286000" algn="ctr">
              <a:lnSpc>
                <a:spcPct val="115000"/>
              </a:lnSpc>
              <a:spcBef>
                <a:spcPts val="0"/>
              </a:spcBef>
              <a:spcAft>
                <a:spcPts val="0"/>
              </a:spcAft>
              <a:buSzPts val="1800"/>
              <a:buChar char="○"/>
              <a:defRPr/>
            </a:lvl5pPr>
            <a:lvl6pPr indent="-342900" lvl="5" marL="2743200" algn="ctr">
              <a:lnSpc>
                <a:spcPct val="115000"/>
              </a:lnSpc>
              <a:spcBef>
                <a:spcPts val="0"/>
              </a:spcBef>
              <a:spcAft>
                <a:spcPts val="0"/>
              </a:spcAft>
              <a:buSzPts val="1800"/>
              <a:buChar char="■"/>
              <a:defRPr/>
            </a:lvl6pPr>
            <a:lvl7pPr indent="-342900" lvl="6" marL="3200400" algn="ctr">
              <a:lnSpc>
                <a:spcPct val="115000"/>
              </a:lnSpc>
              <a:spcBef>
                <a:spcPts val="0"/>
              </a:spcBef>
              <a:spcAft>
                <a:spcPts val="0"/>
              </a:spcAft>
              <a:buSzPts val="1800"/>
              <a:buChar char="●"/>
              <a:defRPr/>
            </a:lvl7pPr>
            <a:lvl8pPr indent="-342900" lvl="7" marL="3657600" algn="ctr">
              <a:lnSpc>
                <a:spcPct val="115000"/>
              </a:lnSpc>
              <a:spcBef>
                <a:spcPts val="0"/>
              </a:spcBef>
              <a:spcAft>
                <a:spcPts val="0"/>
              </a:spcAft>
              <a:buSzPts val="1800"/>
              <a:buChar char="○"/>
              <a:defRPr/>
            </a:lvl8pPr>
            <a:lvl9pPr indent="-342900" lvl="8" marL="4114800" algn="ctr">
              <a:lnSpc>
                <a:spcPct val="115000"/>
              </a:lnSpc>
              <a:spcBef>
                <a:spcPts val="0"/>
              </a:spcBef>
              <a:spcAft>
                <a:spcPts val="0"/>
              </a:spcAft>
              <a:buSzPts val="1800"/>
              <a:buChar char="■"/>
              <a:defRPr/>
            </a:lvl9pPr>
          </a:lstStyle>
          <a:p/>
        </p:txBody>
      </p:sp>
      <p:sp>
        <p:nvSpPr>
          <p:cNvPr id="49" name="Google Shape;49;p60"/>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61"/>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1">
  <p:cSld name="TITLE_AND_BODY_1">
    <p:spTree>
      <p:nvGrpSpPr>
        <p:cNvPr id="52" name="Shape 52"/>
        <p:cNvGrpSpPr/>
        <p:nvPr/>
      </p:nvGrpSpPr>
      <p:grpSpPr>
        <a:xfrm>
          <a:off x="0" y="0"/>
          <a:ext cx="0" cy="0"/>
          <a:chOff x="0" y="0"/>
          <a:chExt cx="0" cy="0"/>
        </a:xfrm>
      </p:grpSpPr>
      <p:sp>
        <p:nvSpPr>
          <p:cNvPr id="53" name="Google Shape;53;p6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4" name="Google Shape;54;p62"/>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68300" lvl="0" marL="457200" algn="l">
              <a:lnSpc>
                <a:spcPct val="115000"/>
              </a:lnSpc>
              <a:spcBef>
                <a:spcPts val="0"/>
              </a:spcBef>
              <a:spcAft>
                <a:spcPts val="0"/>
              </a:spcAft>
              <a:buSzPts val="22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5" name="Google Shape;55;p62"/>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_Pearson" showMasterSp="0">
  <p:cSld name="Title and Content_Pearson">
    <p:spTree>
      <p:nvGrpSpPr>
        <p:cNvPr id="56" name="Shape 56"/>
        <p:cNvGrpSpPr/>
        <p:nvPr/>
      </p:nvGrpSpPr>
      <p:grpSpPr>
        <a:xfrm>
          <a:off x="0" y="0"/>
          <a:ext cx="0" cy="0"/>
          <a:chOff x="0" y="0"/>
          <a:chExt cx="0" cy="0"/>
        </a:xfrm>
      </p:grpSpPr>
      <p:sp>
        <p:nvSpPr>
          <p:cNvPr id="57" name="Google Shape;57;p63"/>
          <p:cNvSpPr txBox="1"/>
          <p:nvPr>
            <p:ph type="title"/>
          </p:nvPr>
        </p:nvSpPr>
        <p:spPr>
          <a:xfrm>
            <a:off x="0" y="1"/>
            <a:ext cx="9144000" cy="836700"/>
          </a:xfrm>
          <a:prstGeom prst="rect">
            <a:avLst/>
          </a:prstGeom>
          <a:solidFill>
            <a:srgbClr val="262626"/>
          </a:solid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lt1"/>
              </a:buClr>
              <a:buSzPts val="3500"/>
              <a:buFont typeface="Book Antiqua"/>
              <a:buNone/>
              <a:defRPr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3"/>
          <p:cNvSpPr txBox="1"/>
          <p:nvPr>
            <p:ph idx="1" type="body"/>
          </p:nvPr>
        </p:nvSpPr>
        <p:spPr>
          <a:xfrm>
            <a:off x="457200" y="1628800"/>
            <a:ext cx="8229600" cy="4497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80"/>
              </a:spcBef>
              <a:spcAft>
                <a:spcPts val="0"/>
              </a:spcAft>
              <a:buSzPts val="2400"/>
              <a:buNone/>
              <a:defRPr/>
            </a:lvl1pPr>
            <a:lvl2pPr indent="-355600" lvl="1" marL="914400" algn="l">
              <a:lnSpc>
                <a:spcPct val="100000"/>
              </a:lnSpc>
              <a:spcBef>
                <a:spcPts val="400"/>
              </a:spcBef>
              <a:spcAft>
                <a:spcPts val="0"/>
              </a:spcAft>
              <a:buClr>
                <a:schemeClr val="dk2"/>
              </a:buClr>
              <a:buSzPts val="20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9" name="Google Shape;59;p63"/>
          <p:cNvSpPr txBox="1"/>
          <p:nvPr>
            <p:ph idx="11" type="ftr"/>
          </p:nvPr>
        </p:nvSpPr>
        <p:spPr>
          <a:xfrm>
            <a:off x="0" y="6597352"/>
            <a:ext cx="9144000" cy="288000"/>
          </a:xfrm>
          <a:prstGeom prst="rect">
            <a:avLst/>
          </a:prstGeom>
          <a:solidFill>
            <a:srgbClr val="595959"/>
          </a:solid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0" name="Google Shape;60;p63"/>
          <p:cNvSpPr txBox="1"/>
          <p:nvPr>
            <p:ph idx="12" type="sldNum"/>
          </p:nvPr>
        </p:nvSpPr>
        <p:spPr>
          <a:xfrm>
            <a:off x="8500892" y="6504885"/>
            <a:ext cx="648000" cy="380100"/>
          </a:xfrm>
          <a:prstGeom prst="rect">
            <a:avLst/>
          </a:prstGeom>
          <a:solidFill>
            <a:schemeClr val="dk1"/>
          </a:solid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Book Antiqua"/>
                <a:ea typeface="Book Antiqua"/>
                <a:cs typeface="Book Antiqua"/>
                <a:sym typeface="Book Antiqua"/>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Book Antiqua"/>
                <a:ea typeface="Book Antiqua"/>
                <a:cs typeface="Book Antiqua"/>
                <a:sym typeface="Book Antiqua"/>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Book Antiqua"/>
                <a:ea typeface="Book Antiqua"/>
                <a:cs typeface="Book Antiqua"/>
                <a:sym typeface="Book Antiqua"/>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Book Antiqua"/>
                <a:ea typeface="Book Antiqua"/>
                <a:cs typeface="Book Antiqua"/>
                <a:sym typeface="Book Antiqua"/>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Book Antiqua"/>
                <a:ea typeface="Book Antiqua"/>
                <a:cs typeface="Book Antiqua"/>
                <a:sym typeface="Book Antiqua"/>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Book Antiqua"/>
                <a:ea typeface="Book Antiqua"/>
                <a:cs typeface="Book Antiqua"/>
                <a:sym typeface="Book Antiqua"/>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Book Antiqua"/>
                <a:ea typeface="Book Antiqua"/>
                <a:cs typeface="Book Antiqua"/>
                <a:sym typeface="Book Antiqua"/>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Book Antiqua"/>
                <a:ea typeface="Book Antiqua"/>
                <a:cs typeface="Book Antiqua"/>
                <a:sym typeface="Book Antiqua"/>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Book Antiqua"/>
                <a:ea typeface="Book Antiqua"/>
                <a:cs typeface="Book Antiqua"/>
                <a:sym typeface="Book Antiqua"/>
              </a:defRPr>
            </a:lvl9pPr>
          </a:lstStyle>
          <a:p>
            <a:pPr indent="0" lvl="0" marL="0" rtl="0" algn="r">
              <a:spcBef>
                <a:spcPts val="0"/>
              </a:spcBef>
              <a:spcAft>
                <a:spcPts val="0"/>
              </a:spcAft>
              <a:buNone/>
            </a:pPr>
            <a:fld id="{00000000-1234-1234-1234-123412341234}" type="slidenum">
              <a:rPr lang="en-GB"/>
              <a:t>‹#›</a:t>
            </a:fld>
            <a:endParaRPr/>
          </a:p>
        </p:txBody>
      </p:sp>
      <p:sp>
        <p:nvSpPr>
          <p:cNvPr id="61" name="Google Shape;61;p63"/>
          <p:cNvSpPr txBox="1"/>
          <p:nvPr/>
        </p:nvSpPr>
        <p:spPr>
          <a:xfrm>
            <a:off x="827585" y="6227885"/>
            <a:ext cx="82809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GB" sz="1200" u="none" cap="none" strike="noStrike">
                <a:solidFill>
                  <a:schemeClr val="dk1"/>
                </a:solidFill>
                <a:latin typeface="Century Gothic"/>
                <a:ea typeface="Century Gothic"/>
                <a:cs typeface="Century Gothic"/>
                <a:sym typeface="Century Gothic"/>
              </a:rPr>
              <a:t>Punch, Enbody “The Practice of Computing Using Python”, ©2013 Pearson Addison-Wesley. All rights reserved</a:t>
            </a:r>
            <a:endParaRPr b="0" i="1" sz="1200" u="none" cap="none" strike="noStrike">
              <a:solidFill>
                <a:schemeClr val="dk1"/>
              </a:solidFill>
              <a:latin typeface="Century Gothic"/>
              <a:ea typeface="Century Gothic"/>
              <a:cs typeface="Century Gothic"/>
              <a:sym typeface="Century Gothic"/>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68300" lvl="0" marL="4572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1pPr>
            <a:lvl2pPr indent="-342900" lvl="1" marL="9144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2pPr>
            <a:lvl3pPr indent="-342900" lvl="2" marL="13716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3pPr>
            <a:lvl4pPr indent="-342900" lvl="3" marL="18288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42900" lvl="4" marL="22860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5pPr>
            <a:lvl6pPr indent="-342900" lvl="5" marL="2743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6pPr>
            <a:lvl7pPr indent="-342900" lvl="6" marL="32004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7pPr>
            <a:lvl8pPr indent="-342900" lvl="7" marL="36576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8pPr>
            <a:lvl9pPr indent="-342900" lvl="8" marL="41148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9pPr>
          </a:lstStyle>
          <a:p/>
        </p:txBody>
      </p:sp>
      <p:sp>
        <p:nvSpPr>
          <p:cNvPr id="8" name="Google Shape;8;p50"/>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sz="2600"/>
          </a:p>
        </p:txBody>
      </p:sp>
      <p:sp>
        <p:nvSpPr>
          <p:cNvPr id="9" name="Google Shape;9;p50"/>
          <p:cNvSpPr/>
          <p:nvPr/>
        </p:nvSpPr>
        <p:spPr>
          <a:xfrm>
            <a:off x="0" y="6542800"/>
            <a:ext cx="9140400" cy="315300"/>
          </a:xfrm>
          <a:prstGeom prst="rect">
            <a:avLst/>
          </a:prstGeom>
          <a:solidFill>
            <a:srgbClr val="0B539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reddit.com/r/dataisbeautifu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311700" y="925567"/>
            <a:ext cx="8520600" cy="2304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500"/>
              <a:buNone/>
            </a:pPr>
            <a:r>
              <a:rPr lang="en-GB"/>
              <a:t>Working With Data DATA9910</a:t>
            </a:r>
            <a:endParaRPr/>
          </a:p>
          <a:p>
            <a:pPr indent="0" lvl="0" marL="0" rtl="0" algn="ctr">
              <a:lnSpc>
                <a:spcPct val="100000"/>
              </a:lnSpc>
              <a:spcBef>
                <a:spcPts val="0"/>
              </a:spcBef>
              <a:spcAft>
                <a:spcPts val="0"/>
              </a:spcAft>
              <a:buSzPts val="4500"/>
              <a:buNone/>
            </a:pPr>
            <a:r>
              <a:rPr lang="en-GB"/>
              <a:t>Week 6</a:t>
            </a:r>
            <a:endParaRPr/>
          </a:p>
        </p:txBody>
      </p:sp>
      <p:sp>
        <p:nvSpPr>
          <p:cNvPr id="67" name="Google Shape;67;p1"/>
          <p:cNvSpPr txBox="1"/>
          <p:nvPr>
            <p:ph idx="1" type="subTitle"/>
          </p:nvPr>
        </p:nvSpPr>
        <p:spPr>
          <a:xfrm>
            <a:off x="311700" y="3803975"/>
            <a:ext cx="8520600" cy="1056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Lucas Rizzo</a:t>
            </a:r>
            <a:endParaRPr/>
          </a:p>
        </p:txBody>
      </p:sp>
      <p:pic>
        <p:nvPicPr>
          <p:cNvPr id="68" name="Google Shape;68;p1"/>
          <p:cNvPicPr preferRelativeResize="0"/>
          <p:nvPr/>
        </p:nvPicPr>
        <p:blipFill rotWithShape="1">
          <a:blip r:embed="rId3">
            <a:alphaModFix/>
          </a:blip>
          <a:srcRect b="0" l="0" r="0" t="0"/>
          <a:stretch/>
        </p:blipFill>
        <p:spPr>
          <a:xfrm>
            <a:off x="5452375" y="3749896"/>
            <a:ext cx="3379925" cy="2127775"/>
          </a:xfrm>
          <a:prstGeom prst="rect">
            <a:avLst/>
          </a:prstGeom>
          <a:noFill/>
          <a:ln>
            <a:noFill/>
          </a:ln>
        </p:spPr>
      </p:pic>
      <p:sp>
        <p:nvSpPr>
          <p:cNvPr id="69" name="Google Shape;69;p1"/>
          <p:cNvSpPr txBox="1"/>
          <p:nvPr>
            <p:ph idx="2" type="subTitle"/>
          </p:nvPr>
        </p:nvSpPr>
        <p:spPr>
          <a:xfrm>
            <a:off x="279775" y="4860867"/>
            <a:ext cx="8520600" cy="1056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GB"/>
              <a:t>email: lucas.rizzo@tudublin.ie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7ca629c05e_1_57"/>
          <p:cNvSpPr txBox="1"/>
          <p:nvPr>
            <p:ph type="title"/>
          </p:nvPr>
        </p:nvSpPr>
        <p:spPr>
          <a:xfrm>
            <a:off x="311700" y="163942"/>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Indicative schedule</a:t>
            </a:r>
            <a:endParaRPr/>
          </a:p>
        </p:txBody>
      </p:sp>
      <p:sp>
        <p:nvSpPr>
          <p:cNvPr id="75" name="Google Shape;75;g37ca629c05e_1_57"/>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2000"/>
              <a:buNone/>
            </a:pPr>
            <a:fld id="{00000000-1234-1234-1234-123412341234}" type="slidenum">
              <a:rPr lang="en-GB"/>
              <a:t>‹#›</a:t>
            </a:fld>
            <a:endParaRPr/>
          </a:p>
        </p:txBody>
      </p:sp>
      <p:graphicFrame>
        <p:nvGraphicFramePr>
          <p:cNvPr id="76" name="Google Shape;76;g37ca629c05e_1_57"/>
          <p:cNvGraphicFramePr/>
          <p:nvPr/>
        </p:nvGraphicFramePr>
        <p:xfrm>
          <a:off x="412000" y="756966"/>
          <a:ext cx="3000000" cy="3000000"/>
        </p:xfrm>
        <a:graphic>
          <a:graphicData uri="http://schemas.openxmlformats.org/drawingml/2006/table">
            <a:tbl>
              <a:tblPr>
                <a:noFill/>
                <a:tableStyleId>{248048C2-67AF-43CD-83EC-85EE4A68B47A}</a:tableStyleId>
              </a:tblPr>
              <a:tblGrid>
                <a:gridCol w="1781900"/>
                <a:gridCol w="6247900"/>
              </a:tblGrid>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1</a:t>
                      </a:r>
                      <a:endParaRPr b="1" sz="12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t>Set up environment and R notebook</a:t>
                      </a:r>
                      <a:endParaRPr sz="12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a:t>
                      </a:r>
                      <a:r>
                        <a:rPr b="1" lang="en-GB" sz="1200"/>
                        <a:t>2</a:t>
                      </a:r>
                      <a:endParaRPr b="1" sz="12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t>Review Python and practice</a:t>
                      </a:r>
                      <a:endParaRPr sz="12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a:t>
                      </a:r>
                      <a:r>
                        <a:rPr b="1" lang="en-GB" sz="1200"/>
                        <a:t>3</a:t>
                      </a:r>
                      <a:endParaRPr b="1" sz="12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GB" sz="1200"/>
                        <a:t>Review R</a:t>
                      </a:r>
                      <a:endParaRPr sz="1200"/>
                    </a:p>
                    <a:p>
                      <a:pPr indent="0" lvl="0" marL="0" marR="0" rtl="0" algn="l">
                        <a:lnSpc>
                          <a:spcPct val="100000"/>
                        </a:lnSpc>
                        <a:spcBef>
                          <a:spcPts val="0"/>
                        </a:spcBef>
                        <a:spcAft>
                          <a:spcPts val="0"/>
                        </a:spcAft>
                        <a:buClr>
                          <a:srgbClr val="000000"/>
                        </a:buClr>
                        <a:buSzPts val="1200"/>
                        <a:buFont typeface="Arial"/>
                        <a:buNone/>
                      </a:pPr>
                      <a:r>
                        <a:rPr lang="en-GB" sz="1200"/>
                        <a:t>I</a:t>
                      </a:r>
                      <a:r>
                        <a:rPr lang="en-GB" sz="1200" u="none" cap="none" strike="noStrike"/>
                        <a:t>mporting data with R</a:t>
                      </a:r>
                      <a:endParaRPr sz="12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a:t>
                      </a:r>
                      <a:r>
                        <a:rPr b="1" lang="en-GB" sz="1200"/>
                        <a:t>4</a:t>
                      </a:r>
                      <a:endParaRPr b="1" sz="12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n-GB" sz="1200">
                          <a:solidFill>
                            <a:schemeClr val="dk1"/>
                          </a:solidFill>
                        </a:rPr>
                        <a:t>Intro SQL and aggregate queries</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a:t>
                      </a:r>
                      <a:r>
                        <a:rPr b="1" lang="en-GB" sz="1200"/>
                        <a:t>5</a:t>
                      </a:r>
                      <a:endParaRPr b="1" sz="12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lang="en-GB" sz="1200">
                          <a:solidFill>
                            <a:schemeClr val="dk1"/>
                          </a:solidFill>
                        </a:rPr>
                        <a:t>Databases and scripting languages </a:t>
                      </a:r>
                      <a:r>
                        <a:rPr b="1" lang="en-GB" sz="1200">
                          <a:solidFill>
                            <a:srgbClr val="E06666"/>
                          </a:solidFill>
                        </a:rPr>
                        <a:t>(</a:t>
                      </a:r>
                      <a:r>
                        <a:rPr b="1" lang="en-GB" sz="1200" u="sng">
                          <a:solidFill>
                            <a:srgbClr val="E06666"/>
                          </a:solidFill>
                        </a:rPr>
                        <a:t>To be submitted</a:t>
                      </a:r>
                      <a:r>
                        <a:rPr b="1" lang="en-GB" sz="1200">
                          <a:solidFill>
                            <a:srgbClr val="E06666"/>
                          </a:solidFill>
                        </a:rPr>
                        <a:t>)</a:t>
                      </a:r>
                      <a:endParaRPr b="1" sz="1200">
                        <a:solidFill>
                          <a:srgbClr val="E06666"/>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134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a:t>
                      </a:r>
                      <a:r>
                        <a:rPr b="1" lang="en-GB" sz="1200"/>
                        <a:t>6</a:t>
                      </a:r>
                      <a:endParaRPr b="1" sz="1200" u="none" cap="none" strike="noStrike"/>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t>Interpreting Data (summary statistics, data visualisation)</a:t>
                      </a:r>
                      <a:endParaRPr sz="1200" u="none" cap="none" strike="noStrike"/>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a:t>
                      </a:r>
                      <a:r>
                        <a:rPr b="1" lang="en-GB" sz="1200"/>
                        <a:t>7</a:t>
                      </a:r>
                      <a:endParaRPr b="1" sz="12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t>Review week</a:t>
                      </a:r>
                      <a:endParaRPr sz="12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a:t>
                      </a:r>
                      <a:r>
                        <a:rPr b="1" lang="en-GB" sz="1200"/>
                        <a:t>8</a:t>
                      </a:r>
                      <a:endParaRPr b="1" sz="1200" u="none" cap="none" strike="noStrike"/>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t>Data manipulation in R</a:t>
                      </a:r>
                      <a:endParaRPr sz="1200" u="none" cap="none" strike="noStrike"/>
                    </a:p>
                    <a:p>
                      <a:pPr indent="0" lvl="0" marL="0" rtl="0" algn="l">
                        <a:spcBef>
                          <a:spcPts val="0"/>
                        </a:spcBef>
                        <a:spcAft>
                          <a:spcPts val="0"/>
                        </a:spcAft>
                        <a:buClr>
                          <a:schemeClr val="dk1"/>
                        </a:buClr>
                        <a:buSzPts val="1200"/>
                        <a:buFont typeface="Arial"/>
                        <a:buNone/>
                      </a:pPr>
                      <a:r>
                        <a:rPr lang="en-GB" sz="1200">
                          <a:solidFill>
                            <a:schemeClr val="dk1"/>
                          </a:solidFill>
                        </a:rPr>
                        <a:t>Pandas and Numpy</a:t>
                      </a:r>
                      <a:endParaRPr sz="1200"/>
                    </a:p>
                  </a:txBody>
                  <a:tcPr marT="91425" marB="91425" marR="91425" marL="91425">
                    <a:lnT cap="flat" cmpd="sng" w="9525">
                      <a:solidFill>
                        <a:srgbClr val="9E9E9E"/>
                      </a:solidFill>
                      <a:prstDash val="solid"/>
                      <a:round/>
                      <a:headEnd len="sm" w="sm" type="none"/>
                      <a:tailEnd len="sm" w="sm" type="none"/>
                    </a:lnT>
                  </a:tcPr>
                </a:tc>
              </a:tr>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a:t>
                      </a:r>
                      <a:r>
                        <a:rPr b="1" lang="en-GB" sz="1200"/>
                        <a:t>9</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t>Data visualisation in Python</a:t>
                      </a:r>
                      <a:endParaRPr sz="1200" u="none" cap="none" strike="noStrike"/>
                    </a:p>
                    <a:p>
                      <a:pPr indent="0" lvl="0" marL="0" marR="0" rtl="0" algn="l">
                        <a:lnSpc>
                          <a:spcPct val="100000"/>
                        </a:lnSpc>
                        <a:spcBef>
                          <a:spcPts val="0"/>
                        </a:spcBef>
                        <a:spcAft>
                          <a:spcPts val="0"/>
                        </a:spcAft>
                        <a:buClr>
                          <a:schemeClr val="dk1"/>
                        </a:buClr>
                        <a:buSzPts val="1100"/>
                        <a:buFont typeface="Arial"/>
                        <a:buNone/>
                      </a:pPr>
                      <a:r>
                        <a:rPr i="1" lang="en-GB" sz="1200" u="none" cap="none" strike="noStrike"/>
                        <a:t>Data processing (regular expressions) </a:t>
                      </a:r>
                      <a:endParaRPr sz="1200"/>
                    </a:p>
                  </a:txBody>
                  <a:tcPr marT="91425" marB="91425" marR="91425" marL="91425"/>
                </a:tc>
              </a:tr>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a:t>
                      </a:r>
                      <a:r>
                        <a:rPr b="1" lang="en-GB" sz="1200"/>
                        <a:t>10</a:t>
                      </a:r>
                      <a:endParaRPr b="1" sz="1200" u="none" cap="none" strike="noStrike"/>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lang="en-GB" sz="1200">
                          <a:solidFill>
                            <a:schemeClr val="dk1"/>
                          </a:solidFill>
                        </a:rPr>
                        <a:t>Audio data (R and tuneR) </a:t>
                      </a:r>
                      <a:r>
                        <a:rPr b="1" lang="en-GB" sz="1200">
                          <a:solidFill>
                            <a:srgbClr val="E06666"/>
                          </a:solidFill>
                        </a:rPr>
                        <a:t>(</a:t>
                      </a:r>
                      <a:r>
                        <a:rPr b="1" lang="en-GB" sz="1200" u="sng">
                          <a:solidFill>
                            <a:srgbClr val="E06666"/>
                          </a:solidFill>
                        </a:rPr>
                        <a:t>To be submitted</a:t>
                      </a:r>
                      <a:r>
                        <a:rPr b="1" lang="en-GB" sz="1200">
                          <a:solidFill>
                            <a:srgbClr val="E06666"/>
                          </a:solidFill>
                        </a:rPr>
                        <a:t>)</a:t>
                      </a:r>
                      <a:endParaRPr sz="1200" u="none" cap="none" strike="noStrike">
                        <a:solidFill>
                          <a:srgbClr val="E06666"/>
                        </a:solidFill>
                      </a:endParaRPr>
                    </a:p>
                  </a:txBody>
                  <a:tcPr marT="91425" marB="91425" marR="91425" marL="91425">
                    <a:lnB cap="flat" cmpd="sng" w="9525">
                      <a:solidFill>
                        <a:srgbClr val="9E9E9E"/>
                      </a:solidFill>
                      <a:prstDash val="solid"/>
                      <a:round/>
                      <a:headEnd len="sm" w="sm" type="none"/>
                      <a:tailEnd len="sm" w="sm" type="none"/>
                    </a:lnB>
                  </a:tcPr>
                </a:tc>
              </a:tr>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a:t>
                      </a:r>
                      <a:r>
                        <a:rPr b="1" lang="en-GB" sz="1200"/>
                        <a:t>11</a:t>
                      </a:r>
                      <a:endParaRPr b="1" sz="12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Clr>
                          <a:schemeClr val="dk1"/>
                        </a:buClr>
                        <a:buSzPts val="1200"/>
                        <a:buFont typeface="Arial"/>
                        <a:buNone/>
                      </a:pPr>
                      <a:r>
                        <a:rPr lang="en-GB" sz="1200">
                          <a:solidFill>
                            <a:schemeClr val="dk1"/>
                          </a:solidFill>
                        </a:rPr>
                        <a:t>Image data (Python and skimage) </a:t>
                      </a:r>
                      <a:r>
                        <a:rPr b="1" lang="en-GB" sz="1200">
                          <a:solidFill>
                            <a:srgbClr val="E06666"/>
                          </a:solidFill>
                        </a:rPr>
                        <a:t>(</a:t>
                      </a:r>
                      <a:r>
                        <a:rPr b="1" lang="en-GB" sz="1200" u="sng">
                          <a:solidFill>
                            <a:srgbClr val="E06666"/>
                          </a:solidFill>
                        </a:rPr>
                        <a:t>To be submitted</a:t>
                      </a:r>
                      <a:r>
                        <a:rPr b="1" lang="en-GB" sz="1200">
                          <a:solidFill>
                            <a:srgbClr val="E06666"/>
                          </a:solidFill>
                        </a:rPr>
                        <a:t>)</a:t>
                      </a:r>
                      <a:endParaRPr b="1" sz="1200" u="none" cap="none" strike="noStrike">
                        <a:solidFill>
                          <a:srgbClr val="E06666"/>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a:t>
                      </a:r>
                      <a:r>
                        <a:rPr b="1" lang="en-GB" sz="1200"/>
                        <a:t>12</a:t>
                      </a:r>
                      <a:endParaRPr b="1" sz="12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Clr>
                          <a:schemeClr val="dk1"/>
                        </a:buClr>
                        <a:buSzPts val="1200"/>
                        <a:buFont typeface="Arial"/>
                        <a:buNone/>
                      </a:pPr>
                      <a:r>
                        <a:rPr lang="en-GB" sz="1200">
                          <a:solidFill>
                            <a:schemeClr val="dk1"/>
                          </a:solidFill>
                        </a:rPr>
                        <a:t>Time series (Python and Pandas)</a:t>
                      </a:r>
                      <a:endParaRPr b="1" sz="12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5725">
                <a:tc>
                  <a:txBody>
                    <a:bodyPr/>
                    <a:lstStyle/>
                    <a:p>
                      <a:pPr indent="0" lvl="0" marL="0" marR="0" rtl="0" algn="l">
                        <a:lnSpc>
                          <a:spcPct val="100000"/>
                        </a:lnSpc>
                        <a:spcBef>
                          <a:spcPts val="0"/>
                        </a:spcBef>
                        <a:spcAft>
                          <a:spcPts val="0"/>
                        </a:spcAft>
                        <a:buClr>
                          <a:srgbClr val="000000"/>
                        </a:buClr>
                        <a:buSzPts val="1200"/>
                        <a:buFont typeface="Arial"/>
                        <a:buNone/>
                      </a:pPr>
                      <a:r>
                        <a:rPr b="1" lang="en-GB" sz="1200" u="none" cap="none" strike="noStrike"/>
                        <a:t>Week 13</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GB" sz="1200" u="none" cap="none" strike="noStrike">
                          <a:solidFill>
                            <a:schemeClr val="dk1"/>
                          </a:solidFill>
                        </a:rPr>
                        <a:t>Working on Assignment</a:t>
                      </a:r>
                      <a:endParaRPr b="1" sz="12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1" lang="en-GB" sz="1200" u="sng" cap="none" strike="noStrike">
                          <a:solidFill>
                            <a:srgbClr val="E06666"/>
                          </a:solidFill>
                        </a:rPr>
                        <a:t>Assignment deadline</a:t>
                      </a:r>
                      <a:endParaRPr sz="1400" u="sng" cap="none" strike="noStrike">
                        <a:solidFill>
                          <a:srgbClr val="E06666"/>
                        </a:solidFill>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Overview</a:t>
            </a:r>
            <a:endParaRPr/>
          </a:p>
        </p:txBody>
      </p:sp>
      <p:sp>
        <p:nvSpPr>
          <p:cNvPr id="82" name="Google Shape;82;p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How to use </a:t>
            </a:r>
            <a:r>
              <a:rPr lang="en-GB">
                <a:latin typeface="Courier"/>
                <a:ea typeface="Courier"/>
                <a:cs typeface="Courier"/>
                <a:sym typeface="Courier"/>
              </a:rPr>
              <a:t>ggplot</a:t>
            </a:r>
            <a:endParaRPr/>
          </a:p>
          <a:p>
            <a:pPr indent="-368300" lvl="0" marL="457200" rtl="0" algn="l">
              <a:lnSpc>
                <a:spcPct val="115000"/>
              </a:lnSpc>
              <a:spcBef>
                <a:spcPts val="0"/>
              </a:spcBef>
              <a:spcAft>
                <a:spcPts val="0"/>
              </a:spcAft>
              <a:buSzPts val="2200"/>
              <a:buChar char="●"/>
            </a:pPr>
            <a:r>
              <a:rPr lang="en-GB"/>
              <a:t>Scatterplots</a:t>
            </a:r>
            <a:endParaRPr/>
          </a:p>
          <a:p>
            <a:pPr indent="-368300" lvl="0" marL="457200" rtl="0" algn="l">
              <a:lnSpc>
                <a:spcPct val="115000"/>
              </a:lnSpc>
              <a:spcBef>
                <a:spcPts val="0"/>
              </a:spcBef>
              <a:spcAft>
                <a:spcPts val="0"/>
              </a:spcAft>
              <a:buSzPts val="2200"/>
              <a:buChar char="●"/>
            </a:pPr>
            <a:r>
              <a:rPr lang="en-GB"/>
              <a:t>Boxplots</a:t>
            </a:r>
            <a:endParaRPr/>
          </a:p>
          <a:p>
            <a:pPr indent="-368300" lvl="0" marL="457200" rtl="0" algn="l">
              <a:lnSpc>
                <a:spcPct val="115000"/>
              </a:lnSpc>
              <a:spcBef>
                <a:spcPts val="0"/>
              </a:spcBef>
              <a:spcAft>
                <a:spcPts val="0"/>
              </a:spcAft>
              <a:buSzPts val="2200"/>
              <a:buChar char="●"/>
            </a:pPr>
            <a:r>
              <a:rPr lang="en-GB"/>
              <a:t>Bar Charts</a:t>
            </a:r>
            <a:endParaRPr/>
          </a:p>
          <a:p>
            <a:pPr indent="-368300" lvl="0" marL="457200" rtl="0" algn="l">
              <a:lnSpc>
                <a:spcPct val="115000"/>
              </a:lnSpc>
              <a:spcBef>
                <a:spcPts val="0"/>
              </a:spcBef>
              <a:spcAft>
                <a:spcPts val="0"/>
              </a:spcAft>
              <a:buSzPts val="2200"/>
              <a:buChar char="●"/>
            </a:pPr>
            <a:r>
              <a:rPr lang="en-GB"/>
              <a:t>Histograms</a:t>
            </a:r>
            <a:endParaRPr/>
          </a:p>
          <a:p>
            <a:pPr indent="-368300" lvl="0" marL="457200" rtl="0" algn="l">
              <a:lnSpc>
                <a:spcPct val="115000"/>
              </a:lnSpc>
              <a:spcBef>
                <a:spcPts val="0"/>
              </a:spcBef>
              <a:spcAft>
                <a:spcPts val="0"/>
              </a:spcAft>
              <a:buSzPts val="2200"/>
              <a:buChar char="●"/>
            </a:pPr>
            <a:r>
              <a:rPr lang="en-GB"/>
              <a:t>Saving Plots to external files</a:t>
            </a:r>
            <a:endParaRPr/>
          </a:p>
          <a:p>
            <a:pPr indent="0" lvl="0" marL="0" rtl="0" algn="l">
              <a:lnSpc>
                <a:spcPct val="115000"/>
              </a:lnSpc>
              <a:spcBef>
                <a:spcPts val="1200"/>
              </a:spcBef>
              <a:spcAft>
                <a:spcPts val="1200"/>
              </a:spcAft>
              <a:buSzPts val="2200"/>
              <a:buNone/>
            </a:pPr>
            <a:r>
              <a:t/>
            </a:r>
            <a:endParaRPr/>
          </a:p>
        </p:txBody>
      </p:sp>
      <p:sp>
        <p:nvSpPr>
          <p:cNvPr id="83" name="Google Shape;83;p3"/>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2000"/>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Before you start</a:t>
            </a:r>
            <a:endParaRPr/>
          </a:p>
        </p:txBody>
      </p:sp>
      <p:sp>
        <p:nvSpPr>
          <p:cNvPr id="89" name="Google Shape;89;p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Download the </a:t>
            </a:r>
            <a:r>
              <a:rPr lang="en-GB">
                <a:latin typeface="Courier"/>
                <a:ea typeface="Courier"/>
                <a:cs typeface="Courier"/>
                <a:sym typeface="Courier"/>
              </a:rPr>
              <a:t>Visualizing Data Lecture Practical notebook</a:t>
            </a:r>
            <a:endParaRPr>
              <a:latin typeface="Courier"/>
              <a:ea typeface="Courier"/>
              <a:cs typeface="Courier"/>
              <a:sym typeface="Courier"/>
            </a:endParaRPr>
          </a:p>
          <a:p>
            <a:pPr indent="0" lvl="0" marL="457200" rtl="0" algn="l">
              <a:lnSpc>
                <a:spcPct val="115000"/>
              </a:lnSpc>
              <a:spcBef>
                <a:spcPts val="0"/>
              </a:spcBef>
              <a:spcAft>
                <a:spcPts val="0"/>
              </a:spcAft>
              <a:buSzPts val="2200"/>
              <a:buNone/>
            </a:pPr>
            <a:r>
              <a:t/>
            </a:r>
            <a:endParaRPr/>
          </a:p>
          <a:p>
            <a:pPr indent="-368300" lvl="0" marL="457200" rtl="0" algn="l">
              <a:lnSpc>
                <a:spcPct val="115000"/>
              </a:lnSpc>
              <a:spcBef>
                <a:spcPts val="0"/>
              </a:spcBef>
              <a:spcAft>
                <a:spcPts val="0"/>
              </a:spcAft>
              <a:buSzPts val="2200"/>
              <a:buChar char="●"/>
            </a:pPr>
            <a:r>
              <a:rPr lang="en-GB"/>
              <a:t>Start your jupyter notebook server</a:t>
            </a:r>
            <a:br>
              <a:rPr lang="en-GB"/>
            </a:br>
            <a:endParaRPr/>
          </a:p>
          <a:p>
            <a:pPr indent="-368300" lvl="0" marL="457200" rtl="0" algn="l">
              <a:lnSpc>
                <a:spcPct val="115000"/>
              </a:lnSpc>
              <a:spcBef>
                <a:spcPts val="0"/>
              </a:spcBef>
              <a:spcAft>
                <a:spcPts val="0"/>
              </a:spcAft>
              <a:buSzPts val="2200"/>
              <a:buChar char="●"/>
            </a:pPr>
            <a:r>
              <a:rPr lang="en-GB"/>
              <a:t>Follow along with the examples in today's lecture</a:t>
            </a:r>
            <a:endParaRPr/>
          </a:p>
          <a:p>
            <a:pPr indent="0" lvl="0" marL="0" rtl="0" algn="l">
              <a:lnSpc>
                <a:spcPct val="115000"/>
              </a:lnSpc>
              <a:spcBef>
                <a:spcPts val="1200"/>
              </a:spcBef>
              <a:spcAft>
                <a:spcPts val="0"/>
              </a:spcAft>
              <a:buSzPts val="2200"/>
              <a:buNone/>
            </a:pPr>
            <a:r>
              <a:t/>
            </a:r>
            <a:endParaRPr/>
          </a:p>
          <a:p>
            <a:pPr indent="0" lvl="0" marL="0" rtl="0" algn="l">
              <a:lnSpc>
                <a:spcPct val="115000"/>
              </a:lnSpc>
              <a:spcBef>
                <a:spcPts val="1200"/>
              </a:spcBef>
              <a:spcAft>
                <a:spcPts val="1200"/>
              </a:spcAft>
              <a:buSzPts val="2200"/>
              <a:buNone/>
            </a:pPr>
            <a:r>
              <a:t/>
            </a:r>
            <a:endParaRPr/>
          </a:p>
        </p:txBody>
      </p:sp>
      <p:sp>
        <p:nvSpPr>
          <p:cNvPr id="90" name="Google Shape;90;p4"/>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2000"/>
              <a:buNone/>
            </a:pPr>
            <a:fld id="{00000000-1234-1234-1234-123412341234}" type="slidenum">
              <a:rPr lang="en-GB"/>
              <a:t>‹#›</a:t>
            </a:fld>
            <a:endParaRPr/>
          </a:p>
        </p:txBody>
      </p:sp>
      <p:pic>
        <p:nvPicPr>
          <p:cNvPr id="91" name="Google Shape;91;p4"/>
          <p:cNvPicPr preferRelativeResize="0"/>
          <p:nvPr/>
        </p:nvPicPr>
        <p:blipFill rotWithShape="1">
          <a:blip r:embed="rId3">
            <a:alphaModFix/>
          </a:blip>
          <a:srcRect b="0" l="0" r="0" t="0"/>
          <a:stretch/>
        </p:blipFill>
        <p:spPr>
          <a:xfrm>
            <a:off x="185450" y="4370575"/>
            <a:ext cx="8773101" cy="152574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Data visualisation</a:t>
            </a:r>
            <a:endParaRPr/>
          </a:p>
        </p:txBody>
      </p:sp>
      <p:sp>
        <p:nvSpPr>
          <p:cNvPr id="97" name="Google Shape;97;p18"/>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50000"/>
              </a:lnSpc>
              <a:spcBef>
                <a:spcPts val="0"/>
              </a:spcBef>
              <a:spcAft>
                <a:spcPts val="0"/>
              </a:spcAft>
              <a:buSzPts val="2200"/>
              <a:buChar char="●"/>
            </a:pPr>
            <a:r>
              <a:rPr lang="en-GB"/>
              <a:t>Graphs bring a huge amount of information instantaneously</a:t>
            </a:r>
            <a:endParaRPr/>
          </a:p>
          <a:p>
            <a:pPr indent="-368300" lvl="0" marL="457200" rtl="0" algn="l">
              <a:lnSpc>
                <a:spcPct val="150000"/>
              </a:lnSpc>
              <a:spcBef>
                <a:spcPts val="0"/>
              </a:spcBef>
              <a:spcAft>
                <a:spcPts val="0"/>
              </a:spcAft>
              <a:buSzPts val="2200"/>
              <a:buChar char="●"/>
            </a:pPr>
            <a:r>
              <a:rPr lang="en-GB"/>
              <a:t>They can be useful to identify trends and convey information</a:t>
            </a:r>
            <a:endParaRPr/>
          </a:p>
          <a:p>
            <a:pPr indent="-368300" lvl="0" marL="457200" rtl="0" algn="l">
              <a:lnSpc>
                <a:spcPct val="150000"/>
              </a:lnSpc>
              <a:spcBef>
                <a:spcPts val="0"/>
              </a:spcBef>
              <a:spcAft>
                <a:spcPts val="0"/>
              </a:spcAft>
              <a:buSzPts val="2200"/>
              <a:buChar char="●"/>
            </a:pPr>
            <a:r>
              <a:rPr lang="en-GB"/>
              <a:t>More like an art than a science. It requires a certain level of creativity even if you know all functions and its options</a:t>
            </a:r>
            <a:endParaRPr/>
          </a:p>
          <a:p>
            <a:pPr indent="-368300" lvl="0" marL="457200" rtl="0" algn="l">
              <a:lnSpc>
                <a:spcPct val="150000"/>
              </a:lnSpc>
              <a:spcBef>
                <a:spcPts val="0"/>
              </a:spcBef>
              <a:spcAft>
                <a:spcPts val="0"/>
              </a:spcAft>
              <a:buSzPts val="2200"/>
              <a:buChar char="●"/>
            </a:pPr>
            <a:r>
              <a:rPr lang="en-GB"/>
              <a:t>It will come with practice and looking at examples</a:t>
            </a:r>
            <a:endParaRPr/>
          </a:p>
          <a:p>
            <a:pPr indent="-368300" lvl="0" marL="457200" rtl="0" algn="l">
              <a:lnSpc>
                <a:spcPct val="150000"/>
              </a:lnSpc>
              <a:spcBef>
                <a:spcPts val="0"/>
              </a:spcBef>
              <a:spcAft>
                <a:spcPts val="0"/>
              </a:spcAft>
              <a:buSzPts val="2200"/>
              <a:buChar char="●"/>
            </a:pPr>
            <a:r>
              <a:rPr lang="en-GB"/>
              <a:t>Nice source of example examples: </a:t>
            </a:r>
            <a:r>
              <a:rPr lang="en-GB" u="sng">
                <a:solidFill>
                  <a:schemeClr val="hlink"/>
                </a:solidFill>
                <a:hlinkClick r:id="rId3"/>
              </a:rPr>
              <a:t>https://www.reddit.com/r/dataisbeautiful/</a:t>
            </a:r>
            <a:endParaRPr/>
          </a:p>
          <a:p>
            <a:pPr indent="-361950" lvl="1" marL="914400" rtl="0" algn="l">
              <a:lnSpc>
                <a:spcPct val="150000"/>
              </a:lnSpc>
              <a:spcBef>
                <a:spcPts val="0"/>
              </a:spcBef>
              <a:spcAft>
                <a:spcPts val="0"/>
              </a:spcAft>
              <a:buSzPts val="2100"/>
              <a:buChar char="○"/>
            </a:pPr>
            <a:r>
              <a:rPr lang="en-GB" sz="2100"/>
              <a:t>More focus on visualisation and not the statistical part </a:t>
            </a:r>
            <a:endParaRPr sz="2100"/>
          </a:p>
        </p:txBody>
      </p:sp>
      <p:sp>
        <p:nvSpPr>
          <p:cNvPr id="98" name="Google Shape;98;p18"/>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2000"/>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eff6cb839e_0_1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Dataset </a:t>
            </a:r>
            <a:endParaRPr/>
          </a:p>
        </p:txBody>
      </p:sp>
      <p:sp>
        <p:nvSpPr>
          <p:cNvPr id="104" name="Google Shape;104;geff6cb839e_0_1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?mpg</a:t>
            </a:r>
            <a:endParaRPr/>
          </a:p>
          <a:p>
            <a:pPr indent="-342900" lvl="1" marL="914400" rtl="0" algn="l">
              <a:lnSpc>
                <a:spcPct val="115000"/>
              </a:lnSpc>
              <a:spcBef>
                <a:spcPts val="0"/>
              </a:spcBef>
              <a:spcAft>
                <a:spcPts val="0"/>
              </a:spcAft>
              <a:buSzPts val="1800"/>
              <a:buChar char="○"/>
            </a:pPr>
            <a:r>
              <a:rPr lang="en-GB"/>
              <a:t> Fuel economy data from 1999 to 2008 for 38 popular models of cars</a:t>
            </a:r>
            <a:endParaRPr/>
          </a:p>
          <a:p>
            <a:pPr indent="-368300" lvl="0" marL="457200" rtl="0" algn="l">
              <a:lnSpc>
                <a:spcPct val="115000"/>
              </a:lnSpc>
              <a:spcBef>
                <a:spcPts val="0"/>
              </a:spcBef>
              <a:spcAft>
                <a:spcPts val="0"/>
              </a:spcAft>
              <a:buSzPts val="2200"/>
              <a:buChar char="●"/>
            </a:pPr>
            <a:r>
              <a:rPr lang="en-GB"/>
              <a:t>Basic checks</a:t>
            </a:r>
            <a:endParaRPr/>
          </a:p>
          <a:p>
            <a:pPr indent="-342900" lvl="1" marL="914400" rtl="0" algn="l">
              <a:lnSpc>
                <a:spcPct val="115000"/>
              </a:lnSpc>
              <a:spcBef>
                <a:spcPts val="0"/>
              </a:spcBef>
              <a:spcAft>
                <a:spcPts val="0"/>
              </a:spcAft>
              <a:buSzPts val="1800"/>
              <a:buChar char="○"/>
            </a:pPr>
            <a:r>
              <a:rPr lang="en-GB"/>
              <a:t>Run the first cell in the notebook and get some overview of the data.</a:t>
            </a:r>
            <a:endParaRPr/>
          </a:p>
          <a:p>
            <a:pPr indent="-342900" lvl="1" marL="914400" rtl="0" algn="l">
              <a:lnSpc>
                <a:spcPct val="115000"/>
              </a:lnSpc>
              <a:spcBef>
                <a:spcPts val="0"/>
              </a:spcBef>
              <a:spcAft>
                <a:spcPts val="0"/>
              </a:spcAft>
              <a:buSzPts val="1800"/>
              <a:buChar char="○"/>
            </a:pPr>
            <a:r>
              <a:rPr lang="en-GB"/>
              <a:t>How many records?</a:t>
            </a:r>
            <a:endParaRPr/>
          </a:p>
          <a:p>
            <a:pPr indent="-342900" lvl="1" marL="914400" rtl="0" algn="l">
              <a:lnSpc>
                <a:spcPct val="115000"/>
              </a:lnSpc>
              <a:spcBef>
                <a:spcPts val="0"/>
              </a:spcBef>
              <a:spcAft>
                <a:spcPts val="0"/>
              </a:spcAft>
              <a:buSzPts val="1800"/>
              <a:buChar char="○"/>
            </a:pPr>
            <a:r>
              <a:rPr lang="en-GB"/>
              <a:t>How many variables?</a:t>
            </a:r>
            <a:endParaRPr/>
          </a:p>
        </p:txBody>
      </p:sp>
      <p:sp>
        <p:nvSpPr>
          <p:cNvPr id="105" name="Google Shape;105;geff6cb839e_0_10"/>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eff6cb839e_0_1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Dataset Intuitions</a:t>
            </a:r>
            <a:endParaRPr/>
          </a:p>
        </p:txBody>
      </p:sp>
      <p:sp>
        <p:nvSpPr>
          <p:cNvPr id="111" name="Google Shape;111;geff6cb839e_0_16"/>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
        <p:nvSpPr>
          <p:cNvPr id="112" name="Google Shape;112;geff6cb839e_0_1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lnSpcReduction="10000"/>
          </a:bodyPr>
          <a:lstStyle/>
          <a:p>
            <a:pPr indent="-368300" lvl="0" marL="457200" rtl="0" algn="l">
              <a:lnSpc>
                <a:spcPct val="115000"/>
              </a:lnSpc>
              <a:spcBef>
                <a:spcPts val="0"/>
              </a:spcBef>
              <a:spcAft>
                <a:spcPts val="0"/>
              </a:spcAft>
              <a:buSzPts val="2200"/>
              <a:buChar char="●"/>
            </a:pPr>
            <a:r>
              <a:rPr lang="en-GB"/>
              <a:t>Before doing any in-depth exploration, try to think what do you expect from your dataset.</a:t>
            </a:r>
            <a:br>
              <a:rPr lang="en-GB"/>
            </a:br>
            <a:endParaRPr/>
          </a:p>
          <a:p>
            <a:pPr indent="-368300" lvl="0" marL="457200" rtl="0" algn="l">
              <a:lnSpc>
                <a:spcPct val="115000"/>
              </a:lnSpc>
              <a:spcBef>
                <a:spcPts val="0"/>
              </a:spcBef>
              <a:spcAft>
                <a:spcPts val="0"/>
              </a:spcAft>
              <a:buSzPts val="2200"/>
              <a:buChar char="●"/>
            </a:pPr>
            <a:r>
              <a:rPr lang="en-GB"/>
              <a:t>For example:</a:t>
            </a:r>
            <a:endParaRPr/>
          </a:p>
          <a:p>
            <a:pPr indent="-342900" lvl="1" marL="914400" rtl="0" algn="l">
              <a:lnSpc>
                <a:spcPct val="115000"/>
              </a:lnSpc>
              <a:spcBef>
                <a:spcPts val="0"/>
              </a:spcBef>
              <a:spcAft>
                <a:spcPts val="0"/>
              </a:spcAft>
              <a:buSzPts val="1800"/>
              <a:buChar char="○"/>
            </a:pPr>
            <a:r>
              <a:rPr lang="en-GB"/>
              <a:t>The </a:t>
            </a:r>
            <a:r>
              <a:rPr lang="en-GB">
                <a:latin typeface="Courier"/>
                <a:ea typeface="Courier"/>
                <a:cs typeface="Courier"/>
                <a:sym typeface="Courier"/>
              </a:rPr>
              <a:t>displ </a:t>
            </a:r>
            <a:r>
              <a:rPr lang="en-GB"/>
              <a:t>variable measures the size of the engine in litres</a:t>
            </a:r>
            <a:endParaRPr/>
          </a:p>
          <a:p>
            <a:pPr indent="-342900" lvl="1" marL="914400" rtl="0" algn="l">
              <a:lnSpc>
                <a:spcPct val="115000"/>
              </a:lnSpc>
              <a:spcBef>
                <a:spcPts val="0"/>
              </a:spcBef>
              <a:spcAft>
                <a:spcPts val="0"/>
              </a:spcAft>
              <a:buSzPts val="1800"/>
              <a:buChar char="○"/>
            </a:pPr>
            <a:r>
              <a:rPr lang="en-GB"/>
              <a:t>The </a:t>
            </a:r>
            <a:r>
              <a:rPr lang="en-GB">
                <a:latin typeface="Courier"/>
                <a:ea typeface="Courier"/>
                <a:cs typeface="Courier"/>
                <a:sym typeface="Courier"/>
              </a:rPr>
              <a:t>hwy </a:t>
            </a:r>
            <a:r>
              <a:rPr lang="en-GB"/>
              <a:t>variable measures the highway miles per gallon</a:t>
            </a:r>
            <a:br>
              <a:rPr lang="en-GB"/>
            </a:br>
            <a:endParaRPr/>
          </a:p>
          <a:p>
            <a:pPr indent="-368300" lvl="0" marL="457200" rtl="0" algn="l">
              <a:lnSpc>
                <a:spcPct val="115000"/>
              </a:lnSpc>
              <a:spcBef>
                <a:spcPts val="0"/>
              </a:spcBef>
              <a:spcAft>
                <a:spcPts val="0"/>
              </a:spcAft>
              <a:buSzPts val="2200"/>
              <a:buChar char="●"/>
            </a:pPr>
            <a:r>
              <a:rPr lang="en-GB"/>
              <a:t>What relationship do you expect to see between these two variables?</a:t>
            </a:r>
            <a:endParaRPr/>
          </a:p>
          <a:p>
            <a:pPr indent="-342900" lvl="1" marL="914400" rtl="0" algn="l">
              <a:lnSpc>
                <a:spcPct val="115000"/>
              </a:lnSpc>
              <a:spcBef>
                <a:spcPts val="0"/>
              </a:spcBef>
              <a:spcAft>
                <a:spcPts val="0"/>
              </a:spcAft>
              <a:buSzPts val="1800"/>
              <a:buChar char="○"/>
            </a:pPr>
            <a:r>
              <a:rPr lang="en-GB"/>
              <a:t>The bigger the size of the engine the  </a:t>
            </a:r>
            <a:r>
              <a:rPr b="1" lang="en-GB">
                <a:solidFill>
                  <a:srgbClr val="FF0000"/>
                </a:solidFill>
              </a:rPr>
              <a:t>___</a:t>
            </a:r>
            <a:r>
              <a:rPr lang="en-GB"/>
              <a:t> fuel efficient in terms of the number of miles per gallon</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eff6cb839e_0_5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Dataset Intuitions</a:t>
            </a:r>
            <a:endParaRPr/>
          </a:p>
        </p:txBody>
      </p:sp>
      <p:sp>
        <p:nvSpPr>
          <p:cNvPr id="118" name="Google Shape;118;geff6cb839e_0_56"/>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2000"/>
              <a:buNone/>
            </a:pPr>
            <a:fld id="{00000000-1234-1234-1234-123412341234}" type="slidenum">
              <a:rPr lang="en-GB"/>
              <a:t>‹#›</a:t>
            </a:fld>
            <a:endParaRPr/>
          </a:p>
        </p:txBody>
      </p:sp>
      <p:sp>
        <p:nvSpPr>
          <p:cNvPr id="119" name="Google Shape;119;geff6cb839e_0_5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lnSpcReduction="10000"/>
          </a:bodyPr>
          <a:lstStyle/>
          <a:p>
            <a:pPr indent="-368300" lvl="0" marL="457200" rtl="0" algn="l">
              <a:lnSpc>
                <a:spcPct val="115000"/>
              </a:lnSpc>
              <a:spcBef>
                <a:spcPts val="0"/>
              </a:spcBef>
              <a:spcAft>
                <a:spcPts val="0"/>
              </a:spcAft>
              <a:buSzPts val="2200"/>
              <a:buChar char="●"/>
            </a:pPr>
            <a:r>
              <a:rPr lang="en-GB"/>
              <a:t>Before doing any in-depth exploration, try to think what do you expect from your dataset.</a:t>
            </a:r>
            <a:br>
              <a:rPr lang="en-GB"/>
            </a:br>
            <a:endParaRPr/>
          </a:p>
          <a:p>
            <a:pPr indent="-368300" lvl="0" marL="457200" rtl="0" algn="l">
              <a:lnSpc>
                <a:spcPct val="115000"/>
              </a:lnSpc>
              <a:spcBef>
                <a:spcPts val="0"/>
              </a:spcBef>
              <a:spcAft>
                <a:spcPts val="0"/>
              </a:spcAft>
              <a:buSzPts val="2200"/>
              <a:buChar char="●"/>
            </a:pPr>
            <a:r>
              <a:rPr lang="en-GB"/>
              <a:t>For example:</a:t>
            </a:r>
            <a:endParaRPr/>
          </a:p>
          <a:p>
            <a:pPr indent="-342900" lvl="1" marL="914400" rtl="0" algn="l">
              <a:lnSpc>
                <a:spcPct val="115000"/>
              </a:lnSpc>
              <a:spcBef>
                <a:spcPts val="0"/>
              </a:spcBef>
              <a:spcAft>
                <a:spcPts val="0"/>
              </a:spcAft>
              <a:buSzPts val="1800"/>
              <a:buChar char="○"/>
            </a:pPr>
            <a:r>
              <a:rPr lang="en-GB"/>
              <a:t>The </a:t>
            </a:r>
            <a:r>
              <a:rPr lang="en-GB">
                <a:latin typeface="Courier"/>
                <a:ea typeface="Courier"/>
                <a:cs typeface="Courier"/>
                <a:sym typeface="Courier"/>
              </a:rPr>
              <a:t>displ </a:t>
            </a:r>
            <a:r>
              <a:rPr lang="en-GB"/>
              <a:t>variable measures the size of the engine in litres</a:t>
            </a:r>
            <a:endParaRPr/>
          </a:p>
          <a:p>
            <a:pPr indent="-342900" lvl="1" marL="914400" rtl="0" algn="l">
              <a:lnSpc>
                <a:spcPct val="115000"/>
              </a:lnSpc>
              <a:spcBef>
                <a:spcPts val="0"/>
              </a:spcBef>
              <a:spcAft>
                <a:spcPts val="0"/>
              </a:spcAft>
              <a:buSzPts val="1800"/>
              <a:buChar char="○"/>
            </a:pPr>
            <a:r>
              <a:rPr lang="en-GB"/>
              <a:t>The </a:t>
            </a:r>
            <a:r>
              <a:rPr lang="en-GB">
                <a:latin typeface="Courier"/>
                <a:ea typeface="Courier"/>
                <a:cs typeface="Courier"/>
                <a:sym typeface="Courier"/>
              </a:rPr>
              <a:t>hwy </a:t>
            </a:r>
            <a:r>
              <a:rPr lang="en-GB"/>
              <a:t>variable measures the highway miles per gallon</a:t>
            </a:r>
            <a:br>
              <a:rPr lang="en-GB"/>
            </a:br>
            <a:endParaRPr/>
          </a:p>
          <a:p>
            <a:pPr indent="-368300" lvl="0" marL="457200" rtl="0" algn="l">
              <a:lnSpc>
                <a:spcPct val="115000"/>
              </a:lnSpc>
              <a:spcBef>
                <a:spcPts val="0"/>
              </a:spcBef>
              <a:spcAft>
                <a:spcPts val="0"/>
              </a:spcAft>
              <a:buSzPts val="2200"/>
              <a:buChar char="●"/>
            </a:pPr>
            <a:r>
              <a:rPr lang="en-GB"/>
              <a:t>What relationship do you expect to see between these two variables?</a:t>
            </a:r>
            <a:endParaRPr/>
          </a:p>
          <a:p>
            <a:pPr indent="-342900" lvl="1" marL="914400" rtl="0" algn="l">
              <a:lnSpc>
                <a:spcPct val="115000"/>
              </a:lnSpc>
              <a:spcBef>
                <a:spcPts val="0"/>
              </a:spcBef>
              <a:spcAft>
                <a:spcPts val="0"/>
              </a:spcAft>
              <a:buSzPts val="1800"/>
              <a:buChar char="○"/>
            </a:pPr>
            <a:r>
              <a:rPr lang="en-GB"/>
              <a:t>The bigger the size of the engine the </a:t>
            </a:r>
            <a:r>
              <a:rPr b="1" lang="en-GB"/>
              <a:t>less </a:t>
            </a:r>
            <a:r>
              <a:rPr lang="en-GB"/>
              <a:t>fuel efficient in terms of the number of miles per gallon</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eff6cb839e_0_2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Visualising the Relationship</a:t>
            </a:r>
            <a:endParaRPr/>
          </a:p>
        </p:txBody>
      </p:sp>
      <p:sp>
        <p:nvSpPr>
          <p:cNvPr id="125" name="Google Shape;125;geff6cb839e_0_22"/>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
        <p:nvSpPr>
          <p:cNvPr id="126" name="Google Shape;126;geff6cb839e_0_22"/>
          <p:cNvSpPr txBox="1"/>
          <p:nvPr>
            <p:ph idx="1" type="body"/>
          </p:nvPr>
        </p:nvSpPr>
        <p:spPr>
          <a:xfrm>
            <a:off x="272950" y="135688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Using </a:t>
            </a:r>
            <a:r>
              <a:rPr lang="en-GB">
                <a:latin typeface="Courier"/>
                <a:ea typeface="Courier"/>
                <a:cs typeface="Courier"/>
                <a:sym typeface="Courier"/>
              </a:rPr>
              <a:t>ggplot </a:t>
            </a:r>
            <a:r>
              <a:rPr lang="en-GB"/>
              <a:t>from </a:t>
            </a:r>
            <a:r>
              <a:rPr lang="en-GB">
                <a:latin typeface="Courier"/>
                <a:ea typeface="Courier"/>
                <a:cs typeface="Courier"/>
                <a:sym typeface="Courier"/>
              </a:rPr>
              <a:t>ggplot2</a:t>
            </a:r>
            <a:endParaRPr>
              <a:latin typeface="Courier"/>
              <a:ea typeface="Courier"/>
              <a:cs typeface="Courier"/>
              <a:sym typeface="Courier"/>
            </a:endParaRPr>
          </a:p>
          <a:p>
            <a:pPr indent="0" lvl="0" marL="0" rtl="0" algn="l">
              <a:lnSpc>
                <a:spcPct val="115000"/>
              </a:lnSpc>
              <a:spcBef>
                <a:spcPts val="0"/>
              </a:spcBef>
              <a:spcAft>
                <a:spcPts val="0"/>
              </a:spcAft>
              <a:buSzPts val="2200"/>
              <a:buNone/>
            </a:pPr>
            <a:r>
              <a:t/>
            </a:r>
            <a:endParaRPr/>
          </a:p>
        </p:txBody>
      </p:sp>
      <p:pic>
        <p:nvPicPr>
          <p:cNvPr id="127" name="Google Shape;127;geff6cb839e_0_22"/>
          <p:cNvPicPr preferRelativeResize="0"/>
          <p:nvPr/>
        </p:nvPicPr>
        <p:blipFill>
          <a:blip r:embed="rId3">
            <a:alphaModFix/>
          </a:blip>
          <a:stretch>
            <a:fillRect/>
          </a:stretch>
        </p:blipFill>
        <p:spPr>
          <a:xfrm>
            <a:off x="757050" y="1942725"/>
            <a:ext cx="4104625" cy="4448174"/>
          </a:xfrm>
          <a:prstGeom prst="rect">
            <a:avLst/>
          </a:prstGeom>
          <a:noFill/>
          <a:ln>
            <a:noFill/>
          </a:ln>
        </p:spPr>
      </p:pic>
      <p:cxnSp>
        <p:nvCxnSpPr>
          <p:cNvPr id="128" name="Google Shape;128;geff6cb839e_0_22"/>
          <p:cNvCxnSpPr/>
          <p:nvPr/>
        </p:nvCxnSpPr>
        <p:spPr>
          <a:xfrm>
            <a:off x="1758550" y="3021175"/>
            <a:ext cx="1480200" cy="1677600"/>
          </a:xfrm>
          <a:prstGeom prst="straightConnector1">
            <a:avLst/>
          </a:prstGeom>
          <a:noFill/>
          <a:ln cap="flat" cmpd="sng" w="28575">
            <a:solidFill>
              <a:srgbClr val="3D85C6"/>
            </a:solidFill>
            <a:prstDash val="solid"/>
            <a:round/>
            <a:headEnd len="sm" w="sm" type="none"/>
            <a:tailEnd len="med" w="med" type="triangle"/>
          </a:ln>
        </p:spPr>
      </p:cxnSp>
      <p:sp>
        <p:nvSpPr>
          <p:cNvPr id="129" name="Google Shape;129;geff6cb839e_0_22"/>
          <p:cNvSpPr txBox="1"/>
          <p:nvPr/>
        </p:nvSpPr>
        <p:spPr>
          <a:xfrm>
            <a:off x="2458575" y="3319675"/>
            <a:ext cx="568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B5394"/>
                </a:solidFill>
                <a:latin typeface="Arial"/>
                <a:ea typeface="Arial"/>
                <a:cs typeface="Arial"/>
                <a:sym typeface="Arial"/>
              </a:rPr>
              <a:t>Negative trend</a:t>
            </a:r>
            <a:endParaRPr b="0" i="0" sz="1400" u="none" cap="none" strike="noStrike">
              <a:solidFill>
                <a:srgbClr val="0B5394"/>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2f6ff506d73_0_2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Visualising the Relationship</a:t>
            </a:r>
            <a:endParaRPr/>
          </a:p>
        </p:txBody>
      </p:sp>
      <p:sp>
        <p:nvSpPr>
          <p:cNvPr id="135" name="Google Shape;135;g2f6ff506d73_0_29"/>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
        <p:nvSpPr>
          <p:cNvPr id="136" name="Google Shape;136;g2f6ff506d73_0_29"/>
          <p:cNvSpPr txBox="1"/>
          <p:nvPr>
            <p:ph idx="1" type="body"/>
          </p:nvPr>
        </p:nvSpPr>
        <p:spPr>
          <a:xfrm>
            <a:off x="272950" y="135688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Using </a:t>
            </a:r>
            <a:r>
              <a:rPr lang="en-GB">
                <a:latin typeface="Courier"/>
                <a:ea typeface="Courier"/>
                <a:cs typeface="Courier"/>
                <a:sym typeface="Courier"/>
              </a:rPr>
              <a:t>ggplot </a:t>
            </a:r>
            <a:r>
              <a:rPr lang="en-GB"/>
              <a:t>from </a:t>
            </a:r>
            <a:r>
              <a:rPr lang="en-GB">
                <a:latin typeface="Courier"/>
                <a:ea typeface="Courier"/>
                <a:cs typeface="Courier"/>
                <a:sym typeface="Courier"/>
              </a:rPr>
              <a:t>ggplot2</a:t>
            </a:r>
            <a:endParaRPr>
              <a:latin typeface="Courier"/>
              <a:ea typeface="Courier"/>
              <a:cs typeface="Courier"/>
              <a:sym typeface="Courier"/>
            </a:endParaRPr>
          </a:p>
          <a:p>
            <a:pPr indent="0" lvl="0" marL="0" rtl="0" algn="l">
              <a:lnSpc>
                <a:spcPct val="115000"/>
              </a:lnSpc>
              <a:spcBef>
                <a:spcPts val="0"/>
              </a:spcBef>
              <a:spcAft>
                <a:spcPts val="0"/>
              </a:spcAft>
              <a:buSzPts val="2200"/>
              <a:buNone/>
            </a:pPr>
            <a:r>
              <a:t/>
            </a:r>
            <a:endParaRPr/>
          </a:p>
        </p:txBody>
      </p:sp>
      <p:pic>
        <p:nvPicPr>
          <p:cNvPr id="137" name="Google Shape;137;g2f6ff506d73_0_29"/>
          <p:cNvPicPr preferRelativeResize="0"/>
          <p:nvPr/>
        </p:nvPicPr>
        <p:blipFill>
          <a:blip r:embed="rId3">
            <a:alphaModFix/>
          </a:blip>
          <a:stretch>
            <a:fillRect/>
          </a:stretch>
        </p:blipFill>
        <p:spPr>
          <a:xfrm>
            <a:off x="757050" y="1942725"/>
            <a:ext cx="4104625" cy="4448174"/>
          </a:xfrm>
          <a:prstGeom prst="rect">
            <a:avLst/>
          </a:prstGeom>
          <a:noFill/>
          <a:ln>
            <a:noFill/>
          </a:ln>
        </p:spPr>
      </p:pic>
      <p:cxnSp>
        <p:nvCxnSpPr>
          <p:cNvPr id="138" name="Google Shape;138;g2f6ff506d73_0_29"/>
          <p:cNvCxnSpPr/>
          <p:nvPr/>
        </p:nvCxnSpPr>
        <p:spPr>
          <a:xfrm>
            <a:off x="1758550" y="3021175"/>
            <a:ext cx="1480200" cy="1677600"/>
          </a:xfrm>
          <a:prstGeom prst="straightConnector1">
            <a:avLst/>
          </a:prstGeom>
          <a:noFill/>
          <a:ln cap="flat" cmpd="sng" w="28575">
            <a:solidFill>
              <a:srgbClr val="3D85C6"/>
            </a:solidFill>
            <a:prstDash val="solid"/>
            <a:round/>
            <a:headEnd len="sm" w="sm" type="none"/>
            <a:tailEnd len="med" w="med" type="triangle"/>
          </a:ln>
        </p:spPr>
      </p:cxnSp>
      <p:sp>
        <p:nvSpPr>
          <p:cNvPr id="139" name="Google Shape;139;g2f6ff506d73_0_29"/>
          <p:cNvSpPr txBox="1"/>
          <p:nvPr/>
        </p:nvSpPr>
        <p:spPr>
          <a:xfrm>
            <a:off x="2458575" y="3319675"/>
            <a:ext cx="568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B5394"/>
                </a:solidFill>
                <a:latin typeface="Arial"/>
                <a:ea typeface="Arial"/>
                <a:cs typeface="Arial"/>
                <a:sym typeface="Arial"/>
              </a:rPr>
              <a:t>Negative trend</a:t>
            </a:r>
            <a:endParaRPr b="0" i="0" sz="1400" u="none" cap="none" strike="noStrike">
              <a:solidFill>
                <a:srgbClr val="0B5394"/>
              </a:solidFill>
              <a:latin typeface="Arial"/>
              <a:ea typeface="Arial"/>
              <a:cs typeface="Arial"/>
              <a:sym typeface="Arial"/>
            </a:endParaRPr>
          </a:p>
        </p:txBody>
      </p:sp>
      <p:sp>
        <p:nvSpPr>
          <p:cNvPr id="140" name="Google Shape;140;g2f6ff506d73_0_29"/>
          <p:cNvSpPr/>
          <p:nvPr/>
        </p:nvSpPr>
        <p:spPr>
          <a:xfrm>
            <a:off x="3751675" y="2050800"/>
            <a:ext cx="1001100" cy="291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1" name="Google Shape;141;g2f6ff506d73_0_29"/>
          <p:cNvCxnSpPr/>
          <p:nvPr/>
        </p:nvCxnSpPr>
        <p:spPr>
          <a:xfrm rot="10800000">
            <a:off x="4752850" y="2180250"/>
            <a:ext cx="981600" cy="55200"/>
          </a:xfrm>
          <a:prstGeom prst="straightConnector1">
            <a:avLst/>
          </a:prstGeom>
          <a:noFill/>
          <a:ln cap="flat" cmpd="sng" w="9525">
            <a:solidFill>
              <a:srgbClr val="FF0000"/>
            </a:solidFill>
            <a:prstDash val="solid"/>
            <a:round/>
            <a:headEnd len="med" w="med" type="none"/>
            <a:tailEnd len="med" w="med" type="triangle"/>
          </a:ln>
        </p:spPr>
      </p:cxnSp>
      <p:sp>
        <p:nvSpPr>
          <p:cNvPr id="142" name="Google Shape;142;g2f6ff506d73_0_29"/>
          <p:cNvSpPr txBox="1"/>
          <p:nvPr/>
        </p:nvSpPr>
        <p:spPr>
          <a:xfrm>
            <a:off x="5832300" y="1282925"/>
            <a:ext cx="3000000" cy="30708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500">
                <a:solidFill>
                  <a:srgbClr val="1155CC"/>
                </a:solidFill>
              </a:rPr>
              <a:t>geom_point(): This adds a scatter plot layer to the plot. It displays individual data points at the positions defined by the x and y aesthetics (in this case, </a:t>
            </a:r>
            <a:r>
              <a:rPr lang="en-GB" sz="1500">
                <a:solidFill>
                  <a:srgbClr val="1155CC"/>
                </a:solidFill>
                <a:latin typeface="Courier"/>
                <a:ea typeface="Courier"/>
                <a:cs typeface="Courier"/>
                <a:sym typeface="Courier"/>
              </a:rPr>
              <a:t>displ</a:t>
            </a:r>
            <a:r>
              <a:rPr lang="en-GB" sz="1500">
                <a:solidFill>
                  <a:srgbClr val="1155CC"/>
                </a:solidFill>
                <a:latin typeface="Courier"/>
                <a:ea typeface="Courier"/>
                <a:cs typeface="Courier"/>
                <a:sym typeface="Courier"/>
              </a:rPr>
              <a:t> </a:t>
            </a:r>
            <a:r>
              <a:rPr lang="en-GB" sz="1500">
                <a:solidFill>
                  <a:srgbClr val="1155CC"/>
                </a:solidFill>
              </a:rPr>
              <a:t>and </a:t>
            </a:r>
            <a:r>
              <a:rPr lang="en-GB" sz="1500">
                <a:solidFill>
                  <a:srgbClr val="1155CC"/>
                </a:solidFill>
                <a:latin typeface="Courier"/>
                <a:ea typeface="Courier"/>
                <a:cs typeface="Courier"/>
                <a:sym typeface="Courier"/>
              </a:rPr>
              <a:t>hwy</a:t>
            </a:r>
            <a:r>
              <a:rPr lang="en-GB" sz="1500">
                <a:solidFill>
                  <a:srgbClr val="1155CC"/>
                </a:solidFill>
              </a:rPr>
              <a:t>). Each point represents a single observation in the dataset.</a:t>
            </a:r>
            <a:br>
              <a:rPr lang="en-GB" sz="1500">
                <a:solidFill>
                  <a:srgbClr val="1155CC"/>
                </a:solidFill>
              </a:rPr>
            </a:br>
            <a:br>
              <a:rPr lang="en-GB" sz="1500">
                <a:solidFill>
                  <a:srgbClr val="1155CC"/>
                </a:solidFill>
              </a:rPr>
            </a:br>
            <a:r>
              <a:rPr lang="en-GB" sz="1500">
                <a:solidFill>
                  <a:srgbClr val="1155CC"/>
                </a:solidFill>
              </a:rPr>
              <a:t>We will see other layers in the next slides.</a:t>
            </a:r>
            <a:endParaRPr sz="700">
              <a:solidFill>
                <a:srgbClr val="1155CC"/>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eff6cb839e_0_7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Visualising the Relationship</a:t>
            </a:r>
            <a:endParaRPr/>
          </a:p>
        </p:txBody>
      </p:sp>
      <p:sp>
        <p:nvSpPr>
          <p:cNvPr id="148" name="Google Shape;148;geff6cb839e_0_71"/>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2000"/>
              <a:buNone/>
            </a:pPr>
            <a:fld id="{00000000-1234-1234-1234-123412341234}" type="slidenum">
              <a:rPr lang="en-GB"/>
              <a:t>‹#›</a:t>
            </a:fld>
            <a:endParaRPr/>
          </a:p>
        </p:txBody>
      </p:sp>
      <p:sp>
        <p:nvSpPr>
          <p:cNvPr id="149" name="Google Shape;149;geff6cb839e_0_71"/>
          <p:cNvSpPr txBox="1"/>
          <p:nvPr>
            <p:ph idx="1" type="body"/>
          </p:nvPr>
        </p:nvSpPr>
        <p:spPr>
          <a:xfrm>
            <a:off x="311700" y="1265808"/>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What goes against the expectation?</a:t>
            </a:r>
            <a:endParaRPr>
              <a:latin typeface="Courier"/>
              <a:ea typeface="Courier"/>
              <a:cs typeface="Courier"/>
              <a:sym typeface="Courier"/>
            </a:endParaRPr>
          </a:p>
          <a:p>
            <a:pPr indent="0" lvl="0" marL="0" rtl="0" algn="l">
              <a:lnSpc>
                <a:spcPct val="115000"/>
              </a:lnSpc>
              <a:spcBef>
                <a:spcPts val="0"/>
              </a:spcBef>
              <a:spcAft>
                <a:spcPts val="0"/>
              </a:spcAft>
              <a:buSzPts val="2200"/>
              <a:buNone/>
            </a:pPr>
            <a:r>
              <a:t/>
            </a:r>
            <a:endParaRPr/>
          </a:p>
        </p:txBody>
      </p:sp>
      <p:pic>
        <p:nvPicPr>
          <p:cNvPr id="150" name="Google Shape;150;geff6cb839e_0_71"/>
          <p:cNvPicPr preferRelativeResize="0"/>
          <p:nvPr/>
        </p:nvPicPr>
        <p:blipFill>
          <a:blip r:embed="rId3">
            <a:alphaModFix/>
          </a:blip>
          <a:stretch>
            <a:fillRect/>
          </a:stretch>
        </p:blipFill>
        <p:spPr>
          <a:xfrm>
            <a:off x="2613450" y="1952450"/>
            <a:ext cx="4104625" cy="44481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geff6cb839e_0_80"/>
          <p:cNvPicPr preferRelativeResize="0"/>
          <p:nvPr/>
        </p:nvPicPr>
        <p:blipFill>
          <a:blip r:embed="rId3">
            <a:alphaModFix/>
          </a:blip>
          <a:stretch>
            <a:fillRect/>
          </a:stretch>
        </p:blipFill>
        <p:spPr>
          <a:xfrm>
            <a:off x="2613450" y="1952450"/>
            <a:ext cx="4104625" cy="4448174"/>
          </a:xfrm>
          <a:prstGeom prst="rect">
            <a:avLst/>
          </a:prstGeom>
          <a:noFill/>
          <a:ln>
            <a:noFill/>
          </a:ln>
        </p:spPr>
      </p:pic>
      <p:sp>
        <p:nvSpPr>
          <p:cNvPr id="156" name="Google Shape;156;geff6cb839e_0_8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Visualising the Relationship</a:t>
            </a:r>
            <a:endParaRPr/>
          </a:p>
        </p:txBody>
      </p:sp>
      <p:sp>
        <p:nvSpPr>
          <p:cNvPr id="157" name="Google Shape;157;geff6cb839e_0_80"/>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2000"/>
              <a:buNone/>
            </a:pPr>
            <a:fld id="{00000000-1234-1234-1234-123412341234}" type="slidenum">
              <a:rPr lang="en-GB"/>
              <a:t>‹#›</a:t>
            </a:fld>
            <a:endParaRPr/>
          </a:p>
        </p:txBody>
      </p:sp>
      <p:sp>
        <p:nvSpPr>
          <p:cNvPr id="158" name="Google Shape;158;geff6cb839e_0_80"/>
          <p:cNvSpPr txBox="1"/>
          <p:nvPr>
            <p:ph idx="1" type="body"/>
          </p:nvPr>
        </p:nvSpPr>
        <p:spPr>
          <a:xfrm>
            <a:off x="311700" y="1265808"/>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What goes against the expectation?</a:t>
            </a:r>
            <a:endParaRPr>
              <a:latin typeface="Courier"/>
              <a:ea typeface="Courier"/>
              <a:cs typeface="Courier"/>
              <a:sym typeface="Courier"/>
            </a:endParaRPr>
          </a:p>
          <a:p>
            <a:pPr indent="0" lvl="0" marL="0" rtl="0" algn="l">
              <a:lnSpc>
                <a:spcPct val="115000"/>
              </a:lnSpc>
              <a:spcBef>
                <a:spcPts val="0"/>
              </a:spcBef>
              <a:spcAft>
                <a:spcPts val="0"/>
              </a:spcAft>
              <a:buSzPts val="2200"/>
              <a:buNone/>
            </a:pPr>
            <a:r>
              <a:t/>
            </a:r>
            <a:endParaRPr/>
          </a:p>
        </p:txBody>
      </p:sp>
      <p:sp>
        <p:nvSpPr>
          <p:cNvPr id="159" name="Google Shape;159;geff6cb839e_0_80"/>
          <p:cNvSpPr/>
          <p:nvPr/>
        </p:nvSpPr>
        <p:spPr>
          <a:xfrm>
            <a:off x="5150900" y="4346150"/>
            <a:ext cx="1418100" cy="809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eff6cb839e_0_2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GB"/>
              <a:t>Visualising the Relationship</a:t>
            </a:r>
            <a:endParaRPr/>
          </a:p>
          <a:p>
            <a:pPr indent="0" lvl="0" marL="0" rtl="0" algn="l">
              <a:lnSpc>
                <a:spcPct val="100000"/>
              </a:lnSpc>
              <a:spcBef>
                <a:spcPts val="0"/>
              </a:spcBef>
              <a:spcAft>
                <a:spcPts val="0"/>
              </a:spcAft>
              <a:buClr>
                <a:schemeClr val="dk1"/>
              </a:buClr>
              <a:buSzPct val="39285"/>
              <a:buFont typeface="Arial"/>
              <a:buNone/>
            </a:pPr>
            <a:r>
              <a:t/>
            </a:r>
            <a:endParaRPr/>
          </a:p>
          <a:p>
            <a:pPr indent="0" lvl="0" marL="0" rtl="0" algn="l">
              <a:lnSpc>
                <a:spcPct val="100000"/>
              </a:lnSpc>
              <a:spcBef>
                <a:spcPts val="0"/>
              </a:spcBef>
              <a:spcAft>
                <a:spcPts val="0"/>
              </a:spcAft>
              <a:buSzPct val="111111"/>
              <a:buNone/>
            </a:pPr>
            <a:r>
              <a:t/>
            </a:r>
            <a:endParaRPr/>
          </a:p>
        </p:txBody>
      </p:sp>
      <p:sp>
        <p:nvSpPr>
          <p:cNvPr id="165" name="Google Shape;165;geff6cb839e_0_28"/>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Not all points conform to the trend e.g. the six points highlighted seem quite fuel efficient given the size of their engines.</a:t>
            </a:r>
            <a:br>
              <a:rPr lang="en-GB"/>
            </a:br>
            <a:endParaRPr/>
          </a:p>
          <a:p>
            <a:pPr indent="-368300" lvl="0" marL="457200" rtl="0" algn="l">
              <a:lnSpc>
                <a:spcPct val="115000"/>
              </a:lnSpc>
              <a:spcBef>
                <a:spcPts val="0"/>
              </a:spcBef>
              <a:spcAft>
                <a:spcPts val="0"/>
              </a:spcAft>
              <a:buSzPts val="2200"/>
              <a:buChar char="●"/>
            </a:pPr>
            <a:r>
              <a:rPr lang="en-GB"/>
              <a:t>This might give us something to investigate later on.</a:t>
            </a:r>
            <a:br>
              <a:rPr lang="en-GB"/>
            </a:br>
            <a:endParaRPr/>
          </a:p>
          <a:p>
            <a:pPr indent="0" lvl="0" marL="0" rtl="0" algn="l">
              <a:lnSpc>
                <a:spcPct val="115000"/>
              </a:lnSpc>
              <a:spcBef>
                <a:spcPts val="0"/>
              </a:spcBef>
              <a:spcAft>
                <a:spcPts val="0"/>
              </a:spcAft>
              <a:buSzPts val="2200"/>
              <a:buNone/>
            </a:pPr>
            <a:r>
              <a:t/>
            </a:r>
            <a:endParaRPr/>
          </a:p>
        </p:txBody>
      </p:sp>
      <p:sp>
        <p:nvSpPr>
          <p:cNvPr id="166" name="Google Shape;166;geff6cb839e_0_28"/>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eff6cb839e_0_4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Aesthetics</a:t>
            </a:r>
            <a:endParaRPr/>
          </a:p>
        </p:txBody>
      </p:sp>
      <p:sp>
        <p:nvSpPr>
          <p:cNvPr id="172" name="Google Shape;172;geff6cb839e_0_4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To convey different information aesthetics can be used</a:t>
            </a:r>
            <a:endParaRPr/>
          </a:p>
          <a:p>
            <a:pPr indent="-368300" lvl="0" marL="457200" rtl="0" algn="l">
              <a:lnSpc>
                <a:spcPct val="115000"/>
              </a:lnSpc>
              <a:spcBef>
                <a:spcPts val="0"/>
              </a:spcBef>
              <a:spcAft>
                <a:spcPts val="0"/>
              </a:spcAft>
              <a:buSzPts val="2200"/>
              <a:buChar char="●"/>
            </a:pPr>
            <a:r>
              <a:rPr lang="en-GB"/>
              <a:t>Different visual characteristics can be mapped to data points</a:t>
            </a:r>
            <a:endParaRPr/>
          </a:p>
          <a:p>
            <a:pPr indent="0" lvl="0" marL="0" rtl="0" algn="l">
              <a:lnSpc>
                <a:spcPct val="115000"/>
              </a:lnSpc>
              <a:spcBef>
                <a:spcPts val="0"/>
              </a:spcBef>
              <a:spcAft>
                <a:spcPts val="0"/>
              </a:spcAft>
              <a:buNone/>
            </a:pPr>
            <a:r>
              <a:t/>
            </a:r>
            <a:endParaRPr/>
          </a:p>
          <a:p>
            <a:pPr indent="0" lvl="0" marL="457200" rtl="0" algn="l">
              <a:lnSpc>
                <a:spcPct val="115000"/>
              </a:lnSpc>
              <a:spcBef>
                <a:spcPts val="0"/>
              </a:spcBef>
              <a:spcAft>
                <a:spcPts val="0"/>
              </a:spcAft>
              <a:buSzPts val="2200"/>
              <a:buNone/>
            </a:pPr>
            <a:r>
              <a:t/>
            </a:r>
            <a:endParaRPr/>
          </a:p>
        </p:txBody>
      </p:sp>
      <p:sp>
        <p:nvSpPr>
          <p:cNvPr id="173" name="Google Shape;173;geff6cb839e_0_40"/>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174" name="Google Shape;174;geff6cb839e_0_40"/>
          <p:cNvPicPr preferRelativeResize="0"/>
          <p:nvPr/>
        </p:nvPicPr>
        <p:blipFill rotWithShape="1">
          <a:blip r:embed="rId3">
            <a:alphaModFix/>
          </a:blip>
          <a:srcRect b="0" l="0" r="0" t="0"/>
          <a:stretch/>
        </p:blipFill>
        <p:spPr>
          <a:xfrm>
            <a:off x="1362075" y="2849188"/>
            <a:ext cx="6419850" cy="2600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eff6cb839e_0_9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Aesthetics</a:t>
            </a:r>
            <a:endParaRPr/>
          </a:p>
        </p:txBody>
      </p:sp>
      <p:sp>
        <p:nvSpPr>
          <p:cNvPr id="180" name="Google Shape;180;geff6cb839e_0_9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To choose an aesthetic, i.e. to change a visual property of all the data.</a:t>
            </a:r>
            <a:endParaRPr/>
          </a:p>
          <a:p>
            <a:pPr indent="-368300" lvl="0" marL="457200" rtl="0" algn="l">
              <a:lnSpc>
                <a:spcPct val="115000"/>
              </a:lnSpc>
              <a:spcBef>
                <a:spcPts val="0"/>
              </a:spcBef>
              <a:spcAft>
                <a:spcPts val="0"/>
              </a:spcAft>
              <a:buSzPts val="2200"/>
              <a:buChar char="●"/>
            </a:pPr>
            <a:r>
              <a:rPr lang="en-GB"/>
              <a:t>Try the following examples in the notebook: </a:t>
            </a:r>
            <a:endParaRPr/>
          </a:p>
          <a:p>
            <a:pPr indent="0" lvl="0" marL="457200" rtl="0" algn="l">
              <a:lnSpc>
                <a:spcPct val="115000"/>
              </a:lnSpc>
              <a:spcBef>
                <a:spcPts val="0"/>
              </a:spcBef>
              <a:spcAft>
                <a:spcPts val="0"/>
              </a:spcAft>
              <a:buSzPts val="2200"/>
              <a:buNone/>
            </a:pPr>
            <a:r>
              <a:t/>
            </a:r>
            <a:endParaRPr/>
          </a:p>
        </p:txBody>
      </p:sp>
      <p:sp>
        <p:nvSpPr>
          <p:cNvPr id="181" name="Google Shape;181;geff6cb839e_0_90"/>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182" name="Google Shape;182;geff6cb839e_0_90"/>
          <p:cNvPicPr preferRelativeResize="0"/>
          <p:nvPr/>
        </p:nvPicPr>
        <p:blipFill>
          <a:blip r:embed="rId3">
            <a:alphaModFix/>
          </a:blip>
          <a:stretch>
            <a:fillRect/>
          </a:stretch>
        </p:blipFill>
        <p:spPr>
          <a:xfrm>
            <a:off x="1320200" y="3051875"/>
            <a:ext cx="6593351" cy="2801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eff6cb839e_0_9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GB"/>
              <a:t>Aesthetics</a:t>
            </a:r>
            <a:endParaRPr/>
          </a:p>
          <a:p>
            <a:pPr indent="0" lvl="0" marL="0" rtl="0" algn="l">
              <a:lnSpc>
                <a:spcPct val="100000"/>
              </a:lnSpc>
              <a:spcBef>
                <a:spcPts val="0"/>
              </a:spcBef>
              <a:spcAft>
                <a:spcPts val="0"/>
              </a:spcAft>
              <a:buClr>
                <a:schemeClr val="dk1"/>
              </a:buClr>
              <a:buSzPct val="39285"/>
              <a:buFont typeface="Arial"/>
              <a:buNone/>
            </a:pPr>
            <a:r>
              <a:t/>
            </a:r>
            <a:endParaRPr/>
          </a:p>
          <a:p>
            <a:pPr indent="0" lvl="0" marL="0" rtl="0" algn="l">
              <a:lnSpc>
                <a:spcPct val="100000"/>
              </a:lnSpc>
              <a:spcBef>
                <a:spcPts val="0"/>
              </a:spcBef>
              <a:spcAft>
                <a:spcPts val="0"/>
              </a:spcAft>
              <a:buSzPct val="111111"/>
              <a:buNone/>
            </a:pPr>
            <a:r>
              <a:t/>
            </a:r>
            <a:endParaRPr/>
          </a:p>
        </p:txBody>
      </p:sp>
      <p:sp>
        <p:nvSpPr>
          <p:cNvPr id="188" name="Google Shape;188;geff6cb839e_0_9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Try the example below in the notebook and see what happens.</a:t>
            </a:r>
            <a:endParaRPr/>
          </a:p>
        </p:txBody>
      </p:sp>
      <p:sp>
        <p:nvSpPr>
          <p:cNvPr id="189" name="Google Shape;189;geff6cb839e_0_96"/>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190" name="Google Shape;190;geff6cb839e_0_96"/>
          <p:cNvPicPr preferRelativeResize="0"/>
          <p:nvPr/>
        </p:nvPicPr>
        <p:blipFill>
          <a:blip r:embed="rId3">
            <a:alphaModFix/>
          </a:blip>
          <a:stretch>
            <a:fillRect/>
          </a:stretch>
        </p:blipFill>
        <p:spPr>
          <a:xfrm>
            <a:off x="380850" y="2492551"/>
            <a:ext cx="8451451" cy="880075"/>
          </a:xfrm>
          <a:prstGeom prst="rect">
            <a:avLst/>
          </a:prstGeom>
          <a:noFill/>
          <a:ln>
            <a:noFill/>
          </a:ln>
        </p:spPr>
      </p:pic>
      <p:sp>
        <p:nvSpPr>
          <p:cNvPr id="191" name="Google Shape;191;geff6cb839e_0_96"/>
          <p:cNvSpPr txBox="1"/>
          <p:nvPr/>
        </p:nvSpPr>
        <p:spPr>
          <a:xfrm>
            <a:off x="6428575" y="2646975"/>
            <a:ext cx="630900" cy="352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chemeClr val="dk2"/>
                </a:solidFill>
              </a:rPr>
              <a:t>class</a:t>
            </a:r>
            <a:endParaRPr b="1" sz="13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eff6cb839e_0_10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Aesthetics</a:t>
            </a:r>
            <a:endParaRPr/>
          </a:p>
        </p:txBody>
      </p:sp>
      <p:sp>
        <p:nvSpPr>
          <p:cNvPr id="197" name="Google Shape;197;geff6cb839e_0_102"/>
          <p:cNvSpPr txBox="1"/>
          <p:nvPr>
            <p:ph idx="1" type="body"/>
          </p:nvPr>
        </p:nvSpPr>
        <p:spPr>
          <a:xfrm>
            <a:off x="311700" y="1308025"/>
            <a:ext cx="34740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It is more common to map an aesthetic to the values of a particular variable. </a:t>
            </a:r>
            <a:endParaRPr/>
          </a:p>
          <a:p>
            <a:pPr indent="0" lvl="0" marL="457200" rtl="0" algn="l">
              <a:lnSpc>
                <a:spcPct val="115000"/>
              </a:lnSpc>
              <a:spcBef>
                <a:spcPts val="0"/>
              </a:spcBef>
              <a:spcAft>
                <a:spcPts val="0"/>
              </a:spcAft>
              <a:buSzPts val="2200"/>
              <a:buNone/>
            </a:pPr>
            <a:r>
              <a:t/>
            </a:r>
            <a:endParaRPr/>
          </a:p>
        </p:txBody>
      </p:sp>
      <p:sp>
        <p:nvSpPr>
          <p:cNvPr id="198" name="Google Shape;198;geff6cb839e_0_102"/>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
        <p:nvSpPr>
          <p:cNvPr id="199" name="Google Shape;199;geff6cb839e_0_102"/>
          <p:cNvSpPr txBox="1"/>
          <p:nvPr/>
        </p:nvSpPr>
        <p:spPr>
          <a:xfrm>
            <a:off x="1185300" y="3948950"/>
            <a:ext cx="26544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000000"/>
                </a:solidFill>
                <a:latin typeface="Arial"/>
                <a:ea typeface="Arial"/>
                <a:cs typeface="Arial"/>
                <a:sym typeface="Arial"/>
              </a:rPr>
              <a:t>Check the outliers again =) </a:t>
            </a:r>
            <a:endParaRPr b="0" i="0" sz="2400" u="none" cap="none" strike="noStrike">
              <a:solidFill>
                <a:srgbClr val="000000"/>
              </a:solidFill>
              <a:latin typeface="Arial"/>
              <a:ea typeface="Arial"/>
              <a:cs typeface="Arial"/>
              <a:sym typeface="Arial"/>
            </a:endParaRPr>
          </a:p>
        </p:txBody>
      </p:sp>
      <p:pic>
        <p:nvPicPr>
          <p:cNvPr id="200" name="Google Shape;200;geff6cb839e_0_102"/>
          <p:cNvPicPr preferRelativeResize="0"/>
          <p:nvPr/>
        </p:nvPicPr>
        <p:blipFill>
          <a:blip r:embed="rId3">
            <a:alphaModFix/>
          </a:blip>
          <a:stretch>
            <a:fillRect/>
          </a:stretch>
        </p:blipFill>
        <p:spPr>
          <a:xfrm>
            <a:off x="3793889" y="650350"/>
            <a:ext cx="5126200" cy="5212875"/>
          </a:xfrm>
          <a:prstGeom prst="rect">
            <a:avLst/>
          </a:prstGeom>
          <a:noFill/>
          <a:ln>
            <a:noFill/>
          </a:ln>
        </p:spPr>
      </p:pic>
      <p:pic>
        <p:nvPicPr>
          <p:cNvPr id="201" name="Google Shape;201;geff6cb839e_0_102"/>
          <p:cNvPicPr preferRelativeResize="0"/>
          <p:nvPr/>
        </p:nvPicPr>
        <p:blipFill>
          <a:blip r:embed="rId4">
            <a:alphaModFix/>
          </a:blip>
          <a:stretch>
            <a:fillRect/>
          </a:stretch>
        </p:blipFill>
        <p:spPr>
          <a:xfrm>
            <a:off x="161600" y="5863214"/>
            <a:ext cx="8451451" cy="880075"/>
          </a:xfrm>
          <a:prstGeom prst="rect">
            <a:avLst/>
          </a:prstGeom>
          <a:noFill/>
          <a:ln>
            <a:noFill/>
          </a:ln>
        </p:spPr>
      </p:pic>
      <p:pic>
        <p:nvPicPr>
          <p:cNvPr id="202" name="Google Shape;202;geff6cb839e_0_102"/>
          <p:cNvPicPr preferRelativeResize="0"/>
          <p:nvPr/>
        </p:nvPicPr>
        <p:blipFill>
          <a:blip r:embed="rId5">
            <a:alphaModFix/>
          </a:blip>
          <a:stretch>
            <a:fillRect/>
          </a:stretch>
        </p:blipFill>
        <p:spPr>
          <a:xfrm>
            <a:off x="7888411" y="2000075"/>
            <a:ext cx="1238875" cy="2383375"/>
          </a:xfrm>
          <a:prstGeom prst="rect">
            <a:avLst/>
          </a:prstGeom>
          <a:noFill/>
          <a:ln>
            <a:noFill/>
          </a:ln>
        </p:spPr>
      </p:pic>
      <p:sp>
        <p:nvSpPr>
          <p:cNvPr id="203" name="Google Shape;203;geff6cb839e_0_102"/>
          <p:cNvSpPr txBox="1"/>
          <p:nvPr/>
        </p:nvSpPr>
        <p:spPr>
          <a:xfrm>
            <a:off x="6196625" y="6071475"/>
            <a:ext cx="630900" cy="2982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chemeClr val="dk2"/>
                </a:solidFill>
              </a:rPr>
              <a:t>class</a:t>
            </a:r>
            <a:endParaRPr b="1" sz="13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eff6cb839e_0_10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Aesthetics</a:t>
            </a:r>
            <a:endParaRPr/>
          </a:p>
        </p:txBody>
      </p:sp>
      <p:sp>
        <p:nvSpPr>
          <p:cNvPr id="209" name="Google Shape;209;geff6cb839e_0_108"/>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210" name="Google Shape;210;geff6cb839e_0_108"/>
          <p:cNvPicPr preferRelativeResize="0"/>
          <p:nvPr/>
        </p:nvPicPr>
        <p:blipFill rotWithShape="1">
          <a:blip r:embed="rId3">
            <a:alphaModFix/>
          </a:blip>
          <a:srcRect b="0" l="0" r="0" t="0"/>
          <a:stretch/>
        </p:blipFill>
        <p:spPr>
          <a:xfrm>
            <a:off x="1666875" y="1652400"/>
            <a:ext cx="5810250" cy="4343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eff6cb839e_0_11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Aesthetics</a:t>
            </a:r>
            <a:endParaRPr/>
          </a:p>
        </p:txBody>
      </p:sp>
      <p:sp>
        <p:nvSpPr>
          <p:cNvPr id="216" name="Google Shape;216;geff6cb839e_0_11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R has 25 built in shapes that are identified by numbers</a:t>
            </a:r>
            <a:endParaRPr/>
          </a:p>
        </p:txBody>
      </p:sp>
      <p:sp>
        <p:nvSpPr>
          <p:cNvPr id="217" name="Google Shape;217;geff6cb839e_0_114"/>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218" name="Google Shape;218;geff6cb839e_0_114"/>
          <p:cNvPicPr preferRelativeResize="0"/>
          <p:nvPr/>
        </p:nvPicPr>
        <p:blipFill rotWithShape="1">
          <a:blip r:embed="rId3">
            <a:alphaModFix/>
          </a:blip>
          <a:srcRect b="0" l="0" r="0" t="0"/>
          <a:stretch/>
        </p:blipFill>
        <p:spPr>
          <a:xfrm>
            <a:off x="1977325" y="2547113"/>
            <a:ext cx="5189350" cy="2830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f5532e34b3_0_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Facets</a:t>
            </a:r>
            <a:endParaRPr/>
          </a:p>
        </p:txBody>
      </p:sp>
      <p:sp>
        <p:nvSpPr>
          <p:cNvPr id="224" name="Google Shape;224;gf5532e34b3_0_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p>
            <a:pPr indent="-376872" lvl="0" marL="457200" rtl="0" algn="l">
              <a:lnSpc>
                <a:spcPct val="130000"/>
              </a:lnSpc>
              <a:spcBef>
                <a:spcPts val="0"/>
              </a:spcBef>
              <a:spcAft>
                <a:spcPts val="0"/>
              </a:spcAft>
              <a:buSzPts val="2335"/>
              <a:buChar char="●"/>
            </a:pPr>
            <a:r>
              <a:rPr lang="en-GB" sz="2335"/>
              <a:t>A grid of smaller plots that display different subsets of the data. Particularly useful for categorical data.</a:t>
            </a:r>
            <a:br>
              <a:rPr lang="en-GB" sz="2335"/>
            </a:br>
            <a:r>
              <a:rPr lang="en-GB" sz="2335"/>
              <a:t> </a:t>
            </a:r>
            <a:endParaRPr sz="2335"/>
          </a:p>
          <a:p>
            <a:pPr indent="-376872" lvl="0" marL="457200" rtl="0" algn="l">
              <a:lnSpc>
                <a:spcPct val="130000"/>
              </a:lnSpc>
              <a:spcBef>
                <a:spcPts val="0"/>
              </a:spcBef>
              <a:spcAft>
                <a:spcPts val="0"/>
              </a:spcAft>
              <a:buSzPts val="2335"/>
              <a:buChar char="●"/>
            </a:pPr>
            <a:r>
              <a:rPr lang="en-GB" sz="2335"/>
              <a:t>Useful for displaying conditional relationships. </a:t>
            </a:r>
            <a:endParaRPr sz="2335"/>
          </a:p>
          <a:p>
            <a:pPr indent="-370998" lvl="1" marL="914400" rtl="0" algn="l">
              <a:lnSpc>
                <a:spcPct val="130000"/>
              </a:lnSpc>
              <a:spcBef>
                <a:spcPts val="0"/>
              </a:spcBef>
              <a:spcAft>
                <a:spcPts val="0"/>
              </a:spcAft>
              <a:buSzPts val="2243"/>
              <a:buChar char="○"/>
            </a:pPr>
            <a:r>
              <a:rPr lang="en-GB" sz="2242"/>
              <a:t>We did the same when displaying the car class with different colors. But what if we want to convey more information?</a:t>
            </a:r>
            <a:br>
              <a:rPr lang="en-GB" sz="2242"/>
            </a:br>
            <a:endParaRPr sz="2242"/>
          </a:p>
          <a:p>
            <a:pPr indent="-376872" lvl="0" marL="457200" rtl="0" algn="l">
              <a:lnSpc>
                <a:spcPct val="130000"/>
              </a:lnSpc>
              <a:spcBef>
                <a:spcPts val="0"/>
              </a:spcBef>
              <a:spcAft>
                <a:spcPts val="0"/>
              </a:spcAft>
              <a:buSzPts val="2335"/>
              <a:buChar char="●"/>
            </a:pPr>
            <a:r>
              <a:rPr lang="en-GB" sz="2335"/>
              <a:t>Suitable for dividing up large amounts of data. </a:t>
            </a:r>
            <a:endParaRPr sz="2335"/>
          </a:p>
          <a:p>
            <a:pPr indent="0" lvl="0" marL="0" rtl="0" algn="l">
              <a:lnSpc>
                <a:spcPct val="130000"/>
              </a:lnSpc>
              <a:spcBef>
                <a:spcPts val="0"/>
              </a:spcBef>
              <a:spcAft>
                <a:spcPts val="0"/>
              </a:spcAft>
              <a:buClr>
                <a:schemeClr val="dk1"/>
              </a:buClr>
              <a:buSzPts val="1018"/>
              <a:buFont typeface="Arial"/>
              <a:buNone/>
            </a:pPr>
            <a:br>
              <a:rPr lang="en-GB" sz="2335"/>
            </a:br>
            <a:endParaRPr sz="2335"/>
          </a:p>
          <a:p>
            <a:pPr indent="0" lvl="0" marL="0" rtl="0" algn="l">
              <a:lnSpc>
                <a:spcPct val="130000"/>
              </a:lnSpc>
              <a:spcBef>
                <a:spcPts val="0"/>
              </a:spcBef>
              <a:spcAft>
                <a:spcPts val="0"/>
              </a:spcAft>
              <a:buClr>
                <a:schemeClr val="dk1"/>
              </a:buClr>
              <a:buSzPts val="1018"/>
              <a:buFont typeface="Arial"/>
              <a:buNone/>
            </a:pPr>
            <a:r>
              <a:t/>
            </a:r>
            <a:endParaRPr sz="2335"/>
          </a:p>
          <a:p>
            <a:pPr indent="0" lvl="0" marL="0" rtl="0" algn="l">
              <a:lnSpc>
                <a:spcPct val="130000"/>
              </a:lnSpc>
              <a:spcBef>
                <a:spcPts val="0"/>
              </a:spcBef>
              <a:spcAft>
                <a:spcPts val="0"/>
              </a:spcAft>
              <a:buSzPts val="1018"/>
              <a:buNone/>
            </a:pPr>
            <a:r>
              <a:t/>
            </a:r>
            <a:endParaRPr sz="2335"/>
          </a:p>
        </p:txBody>
      </p:sp>
      <p:sp>
        <p:nvSpPr>
          <p:cNvPr id="225" name="Google Shape;225;gf5532e34b3_0_0"/>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f5532e34b3_0_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Facets - Syntax</a:t>
            </a:r>
            <a:endParaRPr/>
          </a:p>
        </p:txBody>
      </p:sp>
      <p:sp>
        <p:nvSpPr>
          <p:cNvPr id="231" name="Google Shape;231;gf5532e34b3_0_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p>
            <a:pPr indent="-360044" lvl="0" marL="457200" rtl="0" algn="l">
              <a:lnSpc>
                <a:spcPct val="95000"/>
              </a:lnSpc>
              <a:spcBef>
                <a:spcPts val="0"/>
              </a:spcBef>
              <a:spcAft>
                <a:spcPts val="0"/>
              </a:spcAft>
              <a:buSzPts val="2070"/>
              <a:buChar char="●"/>
            </a:pPr>
            <a:r>
              <a:rPr lang="en-GB" sz="2070"/>
              <a:t>Facets are also added to a plot using the + operator.</a:t>
            </a:r>
            <a:endParaRPr sz="2070"/>
          </a:p>
          <a:p>
            <a:pPr indent="0" lvl="0" marL="0" rtl="0" algn="l">
              <a:lnSpc>
                <a:spcPct val="95000"/>
              </a:lnSpc>
              <a:spcBef>
                <a:spcPts val="0"/>
              </a:spcBef>
              <a:spcAft>
                <a:spcPts val="0"/>
              </a:spcAft>
              <a:buClr>
                <a:schemeClr val="dk1"/>
              </a:buClr>
              <a:buSzPts val="935"/>
              <a:buFont typeface="Arial"/>
              <a:buNone/>
            </a:pPr>
            <a:br>
              <a:rPr lang="en-GB" sz="2070"/>
            </a:br>
            <a:br>
              <a:rPr lang="en-GB" sz="2070"/>
            </a:br>
            <a:br>
              <a:rPr lang="en-GB" sz="2070"/>
            </a:br>
            <a:endParaRPr sz="2070"/>
          </a:p>
          <a:p>
            <a:pPr indent="0" lvl="0" marL="0" rtl="0" algn="l">
              <a:lnSpc>
                <a:spcPct val="95000"/>
              </a:lnSpc>
              <a:spcBef>
                <a:spcPts val="0"/>
              </a:spcBef>
              <a:spcAft>
                <a:spcPts val="0"/>
              </a:spcAft>
              <a:buClr>
                <a:schemeClr val="dk1"/>
              </a:buClr>
              <a:buSzPts val="935"/>
              <a:buFont typeface="Arial"/>
              <a:buNone/>
            </a:pPr>
            <a:r>
              <a:t/>
            </a:r>
            <a:endParaRPr sz="2070"/>
          </a:p>
          <a:p>
            <a:pPr indent="0" lvl="0" marL="0" rtl="0" algn="l">
              <a:lnSpc>
                <a:spcPct val="95000"/>
              </a:lnSpc>
              <a:spcBef>
                <a:spcPts val="0"/>
              </a:spcBef>
              <a:spcAft>
                <a:spcPts val="0"/>
              </a:spcAft>
              <a:buClr>
                <a:schemeClr val="dk1"/>
              </a:buClr>
              <a:buSzPts val="935"/>
              <a:buFont typeface="Arial"/>
              <a:buNone/>
            </a:pPr>
            <a:r>
              <a:t/>
            </a:r>
            <a:endParaRPr sz="2070"/>
          </a:p>
          <a:p>
            <a:pPr indent="-360044" lvl="0" marL="457200" rtl="0" algn="l">
              <a:lnSpc>
                <a:spcPct val="95000"/>
              </a:lnSpc>
              <a:spcBef>
                <a:spcPts val="0"/>
              </a:spcBef>
              <a:spcAft>
                <a:spcPts val="0"/>
              </a:spcAft>
              <a:buSzPts val="2070"/>
              <a:buChar char="●"/>
            </a:pPr>
            <a:r>
              <a:rPr lang="en-GB" sz="2070">
                <a:latin typeface="Courier"/>
                <a:ea typeface="Courier"/>
                <a:cs typeface="Courier"/>
                <a:sym typeface="Courier"/>
              </a:rPr>
              <a:t>rows</a:t>
            </a:r>
            <a:r>
              <a:rPr lang="en-GB" sz="2070"/>
              <a:t> and </a:t>
            </a:r>
            <a:r>
              <a:rPr lang="en-GB" sz="2070">
                <a:latin typeface="Courier"/>
                <a:ea typeface="Courier"/>
                <a:cs typeface="Courier"/>
                <a:sym typeface="Courier"/>
              </a:rPr>
              <a:t>cols </a:t>
            </a:r>
            <a:r>
              <a:rPr lang="en-GB" sz="2070"/>
              <a:t>represent the variables to put in the rows and columns of the grid. </a:t>
            </a:r>
            <a:br>
              <a:rPr lang="en-GB" sz="2070"/>
            </a:br>
            <a:endParaRPr sz="2070"/>
          </a:p>
          <a:p>
            <a:pPr indent="-360044" lvl="0" marL="457200" rtl="0" algn="l">
              <a:lnSpc>
                <a:spcPct val="95000"/>
              </a:lnSpc>
              <a:spcBef>
                <a:spcPts val="0"/>
              </a:spcBef>
              <a:spcAft>
                <a:spcPts val="0"/>
              </a:spcAft>
              <a:buSzPts val="2070"/>
              <a:buChar char="●"/>
            </a:pPr>
            <a:r>
              <a:rPr lang="en-GB" sz="2070">
                <a:latin typeface="Courier"/>
                <a:ea typeface="Courier"/>
                <a:cs typeface="Courier"/>
                <a:sym typeface="Courier"/>
              </a:rPr>
              <a:t>~</a:t>
            </a:r>
            <a:r>
              <a:rPr lang="en-GB" sz="2070"/>
              <a:t> is a symbol for the formula data type. You can read it as “depends on.”</a:t>
            </a:r>
            <a:br>
              <a:rPr lang="en-GB" sz="2070"/>
            </a:br>
            <a:endParaRPr sz="2070"/>
          </a:p>
          <a:p>
            <a:pPr indent="-360044" lvl="0" marL="457200" rtl="0" algn="l">
              <a:lnSpc>
                <a:spcPct val="95000"/>
              </a:lnSpc>
              <a:spcBef>
                <a:spcPts val="0"/>
              </a:spcBef>
              <a:spcAft>
                <a:spcPts val="0"/>
              </a:spcAft>
              <a:buSzPts val="2070"/>
              <a:buChar char="●"/>
            </a:pPr>
            <a:r>
              <a:rPr lang="en-GB" sz="2070"/>
              <a:t>The dot symbol can be used if omitting a dimension e.g </a:t>
            </a:r>
            <a:r>
              <a:rPr lang="en-GB" sz="2070">
                <a:latin typeface="Courier"/>
                <a:ea typeface="Courier"/>
                <a:cs typeface="Courier"/>
                <a:sym typeface="Courier"/>
              </a:rPr>
              <a:t>“</a:t>
            </a:r>
            <a:r>
              <a:rPr lang="en-GB" sz="2070">
                <a:highlight>
                  <a:srgbClr val="CFE2F3"/>
                </a:highlight>
                <a:latin typeface="Courier"/>
                <a:ea typeface="Courier"/>
                <a:cs typeface="Courier"/>
                <a:sym typeface="Courier"/>
              </a:rPr>
              <a:t>drv ~ .</a:t>
            </a:r>
            <a:r>
              <a:rPr lang="en-GB" sz="2070">
                <a:latin typeface="Courier"/>
                <a:ea typeface="Courier"/>
                <a:cs typeface="Courier"/>
                <a:sym typeface="Courier"/>
              </a:rPr>
              <a:t>”</a:t>
            </a:r>
            <a:r>
              <a:rPr lang="en-GB" sz="2070"/>
              <a:t> puts only rows of the variable </a:t>
            </a:r>
            <a:r>
              <a:rPr lang="en-GB" sz="2070">
                <a:latin typeface="Courier"/>
                <a:ea typeface="Courier"/>
                <a:cs typeface="Courier"/>
                <a:sym typeface="Courier"/>
              </a:rPr>
              <a:t>drv </a:t>
            </a:r>
            <a:r>
              <a:rPr lang="en-GB" sz="2070"/>
              <a:t>in the grid. </a:t>
            </a:r>
            <a:endParaRPr sz="2070"/>
          </a:p>
          <a:p>
            <a:pPr indent="0" lvl="0" marL="0" rtl="0" algn="l">
              <a:lnSpc>
                <a:spcPct val="95000"/>
              </a:lnSpc>
              <a:spcBef>
                <a:spcPts val="0"/>
              </a:spcBef>
              <a:spcAft>
                <a:spcPts val="0"/>
              </a:spcAft>
              <a:buClr>
                <a:schemeClr val="dk1"/>
              </a:buClr>
              <a:buSzPts val="935"/>
              <a:buFont typeface="Arial"/>
              <a:buNone/>
            </a:pPr>
            <a:r>
              <a:t/>
            </a:r>
            <a:endParaRPr sz="2070"/>
          </a:p>
          <a:p>
            <a:pPr indent="0" lvl="0" marL="0" rtl="0" algn="l">
              <a:lnSpc>
                <a:spcPct val="95000"/>
              </a:lnSpc>
              <a:spcBef>
                <a:spcPts val="0"/>
              </a:spcBef>
              <a:spcAft>
                <a:spcPts val="0"/>
              </a:spcAft>
              <a:buSzPts val="2022"/>
              <a:buNone/>
            </a:pPr>
            <a:r>
              <a:t/>
            </a:r>
            <a:endParaRPr sz="2070"/>
          </a:p>
        </p:txBody>
      </p:sp>
      <p:sp>
        <p:nvSpPr>
          <p:cNvPr id="232" name="Google Shape;232;gf5532e34b3_0_6"/>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233" name="Google Shape;233;gf5532e34b3_0_6"/>
          <p:cNvPicPr preferRelativeResize="0"/>
          <p:nvPr/>
        </p:nvPicPr>
        <p:blipFill>
          <a:blip r:embed="rId3">
            <a:alphaModFix/>
          </a:blip>
          <a:stretch>
            <a:fillRect/>
          </a:stretch>
        </p:blipFill>
        <p:spPr>
          <a:xfrm>
            <a:off x="1873875" y="2115125"/>
            <a:ext cx="5877349" cy="1362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f5532e34b3_0_1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Grids with Rows</a:t>
            </a:r>
            <a:endParaRPr/>
          </a:p>
        </p:txBody>
      </p:sp>
      <p:sp>
        <p:nvSpPr>
          <p:cNvPr id="239" name="Google Shape;239;gf5532e34b3_0_12"/>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240" name="Google Shape;240;gf5532e34b3_0_12"/>
          <p:cNvPicPr preferRelativeResize="0"/>
          <p:nvPr/>
        </p:nvPicPr>
        <p:blipFill>
          <a:blip r:embed="rId3">
            <a:alphaModFix/>
          </a:blip>
          <a:stretch>
            <a:fillRect/>
          </a:stretch>
        </p:blipFill>
        <p:spPr>
          <a:xfrm>
            <a:off x="474300" y="1454200"/>
            <a:ext cx="5877349" cy="1362475"/>
          </a:xfrm>
          <a:prstGeom prst="rect">
            <a:avLst/>
          </a:prstGeom>
          <a:noFill/>
          <a:ln>
            <a:noFill/>
          </a:ln>
        </p:spPr>
      </p:pic>
      <p:pic>
        <p:nvPicPr>
          <p:cNvPr id="241" name="Google Shape;241;gf5532e34b3_0_12"/>
          <p:cNvPicPr preferRelativeResize="0"/>
          <p:nvPr/>
        </p:nvPicPr>
        <p:blipFill>
          <a:blip r:embed="rId4">
            <a:alphaModFix/>
          </a:blip>
          <a:stretch>
            <a:fillRect/>
          </a:stretch>
        </p:blipFill>
        <p:spPr>
          <a:xfrm>
            <a:off x="3816600" y="2085300"/>
            <a:ext cx="4542075" cy="4531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f5532e34b3_0_1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Grids with Columns</a:t>
            </a:r>
            <a:endParaRPr/>
          </a:p>
        </p:txBody>
      </p:sp>
      <p:sp>
        <p:nvSpPr>
          <p:cNvPr id="247" name="Google Shape;247;gf5532e34b3_0_18"/>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248" name="Google Shape;248;gf5532e34b3_0_18"/>
          <p:cNvPicPr preferRelativeResize="0"/>
          <p:nvPr/>
        </p:nvPicPr>
        <p:blipFill>
          <a:blip r:embed="rId3">
            <a:alphaModFix/>
          </a:blip>
          <a:stretch>
            <a:fillRect/>
          </a:stretch>
        </p:blipFill>
        <p:spPr>
          <a:xfrm>
            <a:off x="311700" y="1402375"/>
            <a:ext cx="6259950" cy="1425950"/>
          </a:xfrm>
          <a:prstGeom prst="rect">
            <a:avLst/>
          </a:prstGeom>
          <a:noFill/>
          <a:ln>
            <a:noFill/>
          </a:ln>
        </p:spPr>
      </p:pic>
      <p:pic>
        <p:nvPicPr>
          <p:cNvPr id="249" name="Google Shape;249;gf5532e34b3_0_18"/>
          <p:cNvPicPr preferRelativeResize="0"/>
          <p:nvPr/>
        </p:nvPicPr>
        <p:blipFill>
          <a:blip r:embed="rId4">
            <a:alphaModFix/>
          </a:blip>
          <a:stretch>
            <a:fillRect/>
          </a:stretch>
        </p:blipFill>
        <p:spPr>
          <a:xfrm>
            <a:off x="3920800" y="2218776"/>
            <a:ext cx="4443532" cy="4475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f5532e34b3_0_2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Task 1</a:t>
            </a:r>
            <a:endParaRPr/>
          </a:p>
        </p:txBody>
      </p:sp>
      <p:sp>
        <p:nvSpPr>
          <p:cNvPr id="255" name="Google Shape;255;gf5532e34b3_0_2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Try each of the following 3 examples</a:t>
            </a:r>
            <a:endParaRPr/>
          </a:p>
        </p:txBody>
      </p:sp>
      <p:sp>
        <p:nvSpPr>
          <p:cNvPr id="256" name="Google Shape;256;gf5532e34b3_0_24"/>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257" name="Google Shape;257;gf5532e34b3_0_24"/>
          <p:cNvPicPr preferRelativeResize="0"/>
          <p:nvPr/>
        </p:nvPicPr>
        <p:blipFill>
          <a:blip r:embed="rId3">
            <a:alphaModFix/>
          </a:blip>
          <a:stretch>
            <a:fillRect/>
          </a:stretch>
        </p:blipFill>
        <p:spPr>
          <a:xfrm>
            <a:off x="1017238" y="2343425"/>
            <a:ext cx="7109524" cy="34590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f5532e34b3_0_3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Using Facet Wrap</a:t>
            </a:r>
            <a:endParaRPr/>
          </a:p>
        </p:txBody>
      </p:sp>
      <p:sp>
        <p:nvSpPr>
          <p:cNvPr id="263" name="Google Shape;263;gf5532e34b3_0_30"/>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
        <p:nvSpPr>
          <p:cNvPr id="264" name="Google Shape;264;gf5532e34b3_0_30"/>
          <p:cNvSpPr txBox="1"/>
          <p:nvPr>
            <p:ph idx="1" type="body"/>
          </p:nvPr>
        </p:nvSpPr>
        <p:spPr>
          <a:xfrm>
            <a:off x="311700" y="1536625"/>
            <a:ext cx="33537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Facet wraps are useful to plot a symmetrical matrix of a single variable</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p:txBody>
      </p:sp>
      <p:pic>
        <p:nvPicPr>
          <p:cNvPr id="265" name="Google Shape;265;gf5532e34b3_0_30"/>
          <p:cNvPicPr preferRelativeResize="0"/>
          <p:nvPr/>
        </p:nvPicPr>
        <p:blipFill>
          <a:blip r:embed="rId3">
            <a:alphaModFix/>
          </a:blip>
          <a:stretch>
            <a:fillRect/>
          </a:stretch>
        </p:blipFill>
        <p:spPr>
          <a:xfrm>
            <a:off x="3707575" y="929227"/>
            <a:ext cx="5317650" cy="973320"/>
          </a:xfrm>
          <a:prstGeom prst="rect">
            <a:avLst/>
          </a:prstGeom>
          <a:noFill/>
          <a:ln>
            <a:noFill/>
          </a:ln>
        </p:spPr>
      </p:pic>
      <p:pic>
        <p:nvPicPr>
          <p:cNvPr id="266" name="Google Shape;266;gf5532e34b3_0_30"/>
          <p:cNvPicPr preferRelativeResize="0"/>
          <p:nvPr/>
        </p:nvPicPr>
        <p:blipFill>
          <a:blip r:embed="rId4">
            <a:alphaModFix/>
          </a:blip>
          <a:stretch>
            <a:fillRect/>
          </a:stretch>
        </p:blipFill>
        <p:spPr>
          <a:xfrm>
            <a:off x="3707575" y="2113250"/>
            <a:ext cx="4802500" cy="470198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f5532e34b3_0_4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Smoothing</a:t>
            </a:r>
            <a:endParaRPr/>
          </a:p>
        </p:txBody>
      </p:sp>
      <p:sp>
        <p:nvSpPr>
          <p:cNvPr id="272" name="Google Shape;272;gf5532e34b3_0_48"/>
          <p:cNvSpPr txBox="1"/>
          <p:nvPr>
            <p:ph idx="1" type="body"/>
          </p:nvPr>
        </p:nvSpPr>
        <p:spPr>
          <a:xfrm>
            <a:off x="311700" y="1536625"/>
            <a:ext cx="3632100" cy="4555200"/>
          </a:xfrm>
          <a:prstGeom prst="rect">
            <a:avLst/>
          </a:prstGeom>
          <a:noFill/>
          <a:ln>
            <a:noFill/>
          </a:ln>
        </p:spPr>
        <p:txBody>
          <a:bodyPr anchorCtr="0" anchor="t" bIns="91425" lIns="91425" spcFirstLastPara="1" rIns="91425" wrap="square" tIns="91425">
            <a:normAutofit/>
          </a:bodyPr>
          <a:lstStyle/>
          <a:p>
            <a:pPr indent="-361950" lvl="0" marL="457200" rtl="0" algn="l">
              <a:lnSpc>
                <a:spcPct val="115000"/>
              </a:lnSpc>
              <a:spcBef>
                <a:spcPts val="0"/>
              </a:spcBef>
              <a:spcAft>
                <a:spcPts val="0"/>
              </a:spcAft>
              <a:buSzPts val="2100"/>
              <a:buChar char="●"/>
            </a:pPr>
            <a:r>
              <a:rPr lang="en-GB" sz="2100"/>
              <a:t>A smooth curve can be fitted to the points instead by using the smooth geom.</a:t>
            </a:r>
            <a:endParaRPr sz="2100"/>
          </a:p>
          <a:p>
            <a:pPr indent="-361950" lvl="0" marL="457200" rtl="0" algn="l">
              <a:lnSpc>
                <a:spcPct val="115000"/>
              </a:lnSpc>
              <a:spcBef>
                <a:spcPts val="0"/>
              </a:spcBef>
              <a:spcAft>
                <a:spcPts val="0"/>
              </a:spcAft>
              <a:buSzPts val="2100"/>
              <a:buChar char="●"/>
            </a:pPr>
            <a:r>
              <a:rPr lang="en-GB" sz="2100"/>
              <a:t>The warning tells us that default values are being used.</a:t>
            </a:r>
            <a:endParaRPr sz="2100"/>
          </a:p>
          <a:p>
            <a:pPr indent="-361950" lvl="0" marL="457200" rtl="0" algn="l">
              <a:lnSpc>
                <a:spcPct val="115000"/>
              </a:lnSpc>
              <a:spcBef>
                <a:spcPts val="0"/>
              </a:spcBef>
              <a:spcAft>
                <a:spcPts val="0"/>
              </a:spcAft>
              <a:buSzPts val="2100"/>
              <a:buChar char="●"/>
            </a:pPr>
            <a:r>
              <a:rPr lang="en-GB" sz="2100"/>
              <a:t>The gray area, by default, is the 95% confidence level interval for predictions from a linear model</a:t>
            </a:r>
            <a:endParaRPr sz="2100"/>
          </a:p>
        </p:txBody>
      </p:sp>
      <p:sp>
        <p:nvSpPr>
          <p:cNvPr id="273" name="Google Shape;273;gf5532e34b3_0_48"/>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274" name="Google Shape;274;gf5532e34b3_0_48"/>
          <p:cNvPicPr preferRelativeResize="0"/>
          <p:nvPr/>
        </p:nvPicPr>
        <p:blipFill>
          <a:blip r:embed="rId3">
            <a:alphaModFix/>
          </a:blip>
          <a:stretch>
            <a:fillRect/>
          </a:stretch>
        </p:blipFill>
        <p:spPr>
          <a:xfrm>
            <a:off x="3943800" y="593376"/>
            <a:ext cx="5020050" cy="1156125"/>
          </a:xfrm>
          <a:prstGeom prst="rect">
            <a:avLst/>
          </a:prstGeom>
          <a:noFill/>
          <a:ln>
            <a:noFill/>
          </a:ln>
        </p:spPr>
      </p:pic>
      <p:pic>
        <p:nvPicPr>
          <p:cNvPr id="275" name="Google Shape;275;gf5532e34b3_0_48"/>
          <p:cNvPicPr preferRelativeResize="0"/>
          <p:nvPr/>
        </p:nvPicPr>
        <p:blipFill>
          <a:blip r:embed="rId4">
            <a:alphaModFix/>
          </a:blip>
          <a:stretch>
            <a:fillRect/>
          </a:stretch>
        </p:blipFill>
        <p:spPr>
          <a:xfrm>
            <a:off x="4225800" y="1749500"/>
            <a:ext cx="4456050" cy="462380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f5532e34b3_0_5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Multiple Geoms</a:t>
            </a:r>
            <a:endParaRPr/>
          </a:p>
        </p:txBody>
      </p:sp>
      <p:sp>
        <p:nvSpPr>
          <p:cNvPr id="281" name="Google Shape;281;gf5532e34b3_0_54"/>
          <p:cNvSpPr txBox="1"/>
          <p:nvPr>
            <p:ph idx="1" type="body"/>
          </p:nvPr>
        </p:nvSpPr>
        <p:spPr>
          <a:xfrm>
            <a:off x="311700" y="1536625"/>
            <a:ext cx="29643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Chart types may be overlaid by adding the geom names to a vector</a:t>
            </a:r>
            <a:endParaRPr/>
          </a:p>
          <a:p>
            <a:pPr indent="-368300" lvl="0" marL="457200" rtl="0" algn="l">
              <a:lnSpc>
                <a:spcPct val="115000"/>
              </a:lnSpc>
              <a:spcBef>
                <a:spcPts val="0"/>
              </a:spcBef>
              <a:spcAft>
                <a:spcPts val="0"/>
              </a:spcAft>
              <a:buSzPts val="2200"/>
              <a:buChar char="●"/>
            </a:pPr>
            <a:r>
              <a:rPr lang="en-GB"/>
              <a:t>The dots help us to understand the gray area.</a:t>
            </a:r>
            <a:endParaRPr/>
          </a:p>
          <a:p>
            <a:pPr indent="0" lvl="0" marL="0" rtl="0" algn="l">
              <a:lnSpc>
                <a:spcPct val="115000"/>
              </a:lnSpc>
              <a:spcBef>
                <a:spcPts val="0"/>
              </a:spcBef>
              <a:spcAft>
                <a:spcPts val="0"/>
              </a:spcAft>
              <a:buSzPts val="2200"/>
              <a:buNone/>
            </a:pPr>
            <a:r>
              <a:t/>
            </a:r>
            <a:endParaRPr/>
          </a:p>
        </p:txBody>
      </p:sp>
      <p:sp>
        <p:nvSpPr>
          <p:cNvPr id="282" name="Google Shape;282;gf5532e34b3_0_54"/>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283" name="Google Shape;283;gf5532e34b3_0_54"/>
          <p:cNvPicPr preferRelativeResize="0"/>
          <p:nvPr/>
        </p:nvPicPr>
        <p:blipFill>
          <a:blip r:embed="rId3">
            <a:alphaModFix/>
          </a:blip>
          <a:stretch>
            <a:fillRect/>
          </a:stretch>
        </p:blipFill>
        <p:spPr>
          <a:xfrm>
            <a:off x="3593625" y="692851"/>
            <a:ext cx="5167849" cy="1377375"/>
          </a:xfrm>
          <a:prstGeom prst="rect">
            <a:avLst/>
          </a:prstGeom>
          <a:noFill/>
          <a:ln>
            <a:noFill/>
          </a:ln>
        </p:spPr>
      </p:pic>
      <p:pic>
        <p:nvPicPr>
          <p:cNvPr id="284" name="Google Shape;284;gf5532e34b3_0_54"/>
          <p:cNvPicPr preferRelativeResize="0"/>
          <p:nvPr/>
        </p:nvPicPr>
        <p:blipFill>
          <a:blip r:embed="rId4">
            <a:alphaModFix/>
          </a:blip>
          <a:stretch>
            <a:fillRect/>
          </a:stretch>
        </p:blipFill>
        <p:spPr>
          <a:xfrm>
            <a:off x="3593625" y="2070225"/>
            <a:ext cx="4576950" cy="4555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f5532e34b3_0_6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Task 2 – Exploring Geoms</a:t>
            </a:r>
            <a:endParaRPr/>
          </a:p>
        </p:txBody>
      </p:sp>
      <p:sp>
        <p:nvSpPr>
          <p:cNvPr id="290" name="Google Shape;290;gf5532e34b3_0_6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How would you replace the following scatterplot with one containing boxplots?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GB">
                <a:latin typeface="Courier"/>
                <a:ea typeface="Courier"/>
                <a:cs typeface="Courier"/>
                <a:sym typeface="Courier"/>
              </a:rPr>
              <a:t>ggplot(data = mpg, aex(x = class, y = hwy))</a:t>
            </a:r>
            <a:endParaRPr>
              <a:latin typeface="Courier"/>
              <a:ea typeface="Courier"/>
              <a:cs typeface="Courier"/>
              <a:sym typeface="Courie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Clr>
                <a:schemeClr val="dk1"/>
              </a:buClr>
              <a:buSzPts val="1100"/>
              <a:buFont typeface="Arial"/>
              <a:buNone/>
            </a:pPr>
            <a:r>
              <a:rPr lang="en-GB">
                <a:latin typeface="Courier"/>
                <a:ea typeface="Courier"/>
                <a:cs typeface="Courier"/>
                <a:sym typeface="Courier"/>
              </a:rPr>
              <a:t>Tips in the next slide...</a:t>
            </a:r>
            <a:endParaRPr/>
          </a:p>
          <a:p>
            <a:pPr indent="0" lvl="0" marL="457200" rtl="0" algn="l">
              <a:lnSpc>
                <a:spcPct val="115000"/>
              </a:lnSpc>
              <a:spcBef>
                <a:spcPts val="0"/>
              </a:spcBef>
              <a:spcAft>
                <a:spcPts val="0"/>
              </a:spcAft>
              <a:buSzPts val="2200"/>
              <a:buNone/>
            </a:pPr>
            <a:r>
              <a:t/>
            </a:r>
            <a:endParaRPr/>
          </a:p>
        </p:txBody>
      </p:sp>
      <p:sp>
        <p:nvSpPr>
          <p:cNvPr id="291" name="Google Shape;291;gf5532e34b3_0_60"/>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f5532e34b3_0_6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Task 2 - Tips</a:t>
            </a:r>
            <a:endParaRPr/>
          </a:p>
        </p:txBody>
      </p:sp>
      <p:sp>
        <p:nvSpPr>
          <p:cNvPr id="297" name="Google Shape;297;gf5532e34b3_0_6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Use the help function to look up the ggplot2 documentation and see all the “geom_” options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SzPts val="2200"/>
              <a:buNone/>
            </a:pPr>
            <a:r>
              <a:t/>
            </a:r>
            <a:endParaRPr/>
          </a:p>
        </p:txBody>
      </p:sp>
      <p:sp>
        <p:nvSpPr>
          <p:cNvPr id="298" name="Google Shape;298;gf5532e34b3_0_66"/>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299" name="Google Shape;299;gf5532e34b3_0_66"/>
          <p:cNvPicPr preferRelativeResize="0"/>
          <p:nvPr/>
        </p:nvPicPr>
        <p:blipFill>
          <a:blip r:embed="rId3">
            <a:alphaModFix/>
          </a:blip>
          <a:stretch>
            <a:fillRect/>
          </a:stretch>
        </p:blipFill>
        <p:spPr>
          <a:xfrm>
            <a:off x="745275" y="2745213"/>
            <a:ext cx="5969625" cy="1132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f5532e34b3_0_7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GB"/>
              <a:t>Task 2 - Answer</a:t>
            </a:r>
            <a:endParaRPr/>
          </a:p>
          <a:p>
            <a:pPr indent="0" lvl="0" marL="0" rtl="0" algn="l">
              <a:lnSpc>
                <a:spcPct val="100000"/>
              </a:lnSpc>
              <a:spcBef>
                <a:spcPts val="0"/>
              </a:spcBef>
              <a:spcAft>
                <a:spcPts val="0"/>
              </a:spcAft>
              <a:buClr>
                <a:schemeClr val="dk1"/>
              </a:buClr>
              <a:buSzPct val="39285"/>
              <a:buFont typeface="Arial"/>
              <a:buNone/>
            </a:pPr>
            <a:r>
              <a:t/>
            </a:r>
            <a:endParaRPr/>
          </a:p>
          <a:p>
            <a:pPr indent="0" lvl="0" marL="0" rtl="0" algn="l">
              <a:lnSpc>
                <a:spcPct val="100000"/>
              </a:lnSpc>
              <a:spcBef>
                <a:spcPts val="0"/>
              </a:spcBef>
              <a:spcAft>
                <a:spcPts val="0"/>
              </a:spcAft>
              <a:buSzPct val="111111"/>
              <a:buNone/>
            </a:pPr>
            <a:r>
              <a:t/>
            </a:r>
            <a:endParaRPr/>
          </a:p>
        </p:txBody>
      </p:sp>
      <p:sp>
        <p:nvSpPr>
          <p:cNvPr id="305" name="Google Shape;305;gf5532e34b3_0_72"/>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306" name="Google Shape;306;gf5532e34b3_0_72"/>
          <p:cNvPicPr preferRelativeResize="0"/>
          <p:nvPr/>
        </p:nvPicPr>
        <p:blipFill>
          <a:blip r:embed="rId3">
            <a:alphaModFix/>
          </a:blip>
          <a:stretch>
            <a:fillRect/>
          </a:stretch>
        </p:blipFill>
        <p:spPr>
          <a:xfrm>
            <a:off x="1406175" y="1246851"/>
            <a:ext cx="6058301" cy="53283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f5532e34b3_0_7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Boxplot</a:t>
            </a:r>
            <a:endParaRPr/>
          </a:p>
        </p:txBody>
      </p:sp>
      <p:sp>
        <p:nvSpPr>
          <p:cNvPr id="312" name="Google Shape;312;gf5532e34b3_0_78"/>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A scatterplot of a categorical variable is often not ideal, as the true distribution of points can be hidden (all points in the same x value). The boxplot addresses this issue.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p:txBody>
      </p:sp>
      <p:sp>
        <p:nvSpPr>
          <p:cNvPr id="313" name="Google Shape;313;gf5532e34b3_0_78"/>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314" name="Google Shape;314;gf5532e34b3_0_78"/>
          <p:cNvPicPr preferRelativeResize="0"/>
          <p:nvPr/>
        </p:nvPicPr>
        <p:blipFill rotWithShape="1">
          <a:blip r:embed="rId3">
            <a:alphaModFix/>
          </a:blip>
          <a:srcRect b="0" l="0" r="0" t="0"/>
          <a:stretch/>
        </p:blipFill>
        <p:spPr>
          <a:xfrm>
            <a:off x="2412438" y="2946850"/>
            <a:ext cx="4319124" cy="3286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f5532e34b3_0_8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Anatomy of a Boxplot</a:t>
            </a:r>
            <a:endParaRPr/>
          </a:p>
        </p:txBody>
      </p:sp>
      <p:sp>
        <p:nvSpPr>
          <p:cNvPr id="320" name="Google Shape;320;gf5532e34b3_0_8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Lots of information in a small representation</a:t>
            </a:r>
            <a:endParaRPr/>
          </a:p>
          <a:p>
            <a:pPr indent="-368300" lvl="0" marL="457200" rtl="0" algn="l">
              <a:lnSpc>
                <a:spcPct val="115000"/>
              </a:lnSpc>
              <a:spcBef>
                <a:spcPts val="0"/>
              </a:spcBef>
              <a:spcAft>
                <a:spcPts val="0"/>
              </a:spcAft>
              <a:buSzPts val="2200"/>
              <a:buChar char="●"/>
            </a:pPr>
            <a:r>
              <a:rPr lang="en-GB"/>
              <a:t>The median value is shown by a horizontal bar in the box of the boxplot</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p:txBody>
      </p:sp>
      <p:sp>
        <p:nvSpPr>
          <p:cNvPr id="321" name="Google Shape;321;gf5532e34b3_0_84"/>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322" name="Google Shape;322;gf5532e34b3_0_84"/>
          <p:cNvPicPr preferRelativeResize="0"/>
          <p:nvPr/>
        </p:nvPicPr>
        <p:blipFill rotWithShape="1">
          <a:blip r:embed="rId3">
            <a:alphaModFix/>
          </a:blip>
          <a:srcRect b="0" l="0" r="0" t="0"/>
          <a:stretch/>
        </p:blipFill>
        <p:spPr>
          <a:xfrm>
            <a:off x="4156325" y="2827050"/>
            <a:ext cx="2869425" cy="33114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f5532e34b3_0_9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GB"/>
              <a:t>Anatomy of a Boxplot</a:t>
            </a:r>
            <a:endParaRPr/>
          </a:p>
          <a:p>
            <a:pPr indent="0" lvl="0" marL="0" rtl="0" algn="l">
              <a:lnSpc>
                <a:spcPct val="100000"/>
              </a:lnSpc>
              <a:spcBef>
                <a:spcPts val="0"/>
              </a:spcBef>
              <a:spcAft>
                <a:spcPts val="0"/>
              </a:spcAft>
              <a:buClr>
                <a:schemeClr val="dk1"/>
              </a:buClr>
              <a:buSzPct val="39285"/>
              <a:buFont typeface="Arial"/>
              <a:buNone/>
            </a:pPr>
            <a:r>
              <a:t/>
            </a:r>
            <a:endParaRPr/>
          </a:p>
          <a:p>
            <a:pPr indent="0" lvl="0" marL="0" rtl="0" algn="l">
              <a:lnSpc>
                <a:spcPct val="100000"/>
              </a:lnSpc>
              <a:spcBef>
                <a:spcPts val="0"/>
              </a:spcBef>
              <a:spcAft>
                <a:spcPts val="0"/>
              </a:spcAft>
              <a:buSzPct val="111111"/>
              <a:buNone/>
            </a:pPr>
            <a:r>
              <a:t/>
            </a:r>
            <a:endParaRPr/>
          </a:p>
        </p:txBody>
      </p:sp>
      <p:sp>
        <p:nvSpPr>
          <p:cNvPr id="328" name="Google Shape;328;gf5532e34b3_0_9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The interquartile range (IQR) represents the numbers that are above the lowest 25% and below the top 25% i.e. the common values</a:t>
            </a:r>
            <a:endParaRPr/>
          </a:p>
          <a:p>
            <a:pPr indent="0" lvl="0" marL="457200" rtl="0" algn="l">
              <a:lnSpc>
                <a:spcPct val="115000"/>
              </a:lnSpc>
              <a:spcBef>
                <a:spcPts val="0"/>
              </a:spcBef>
              <a:spcAft>
                <a:spcPts val="0"/>
              </a:spcAft>
              <a:buSzPts val="2200"/>
              <a:buNone/>
            </a:pPr>
            <a:r>
              <a:t/>
            </a:r>
            <a:endParaRPr/>
          </a:p>
        </p:txBody>
      </p:sp>
      <p:sp>
        <p:nvSpPr>
          <p:cNvPr id="329" name="Google Shape;329;gf5532e34b3_0_90"/>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330" name="Google Shape;330;gf5532e34b3_0_90"/>
          <p:cNvPicPr preferRelativeResize="0"/>
          <p:nvPr/>
        </p:nvPicPr>
        <p:blipFill rotWithShape="1">
          <a:blip r:embed="rId3">
            <a:alphaModFix/>
          </a:blip>
          <a:srcRect b="0" l="0" r="0" t="0"/>
          <a:stretch/>
        </p:blipFill>
        <p:spPr>
          <a:xfrm>
            <a:off x="2760750" y="2873850"/>
            <a:ext cx="4008450" cy="3271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f5532e34b3_0_9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GB"/>
              <a:t>Anatomy of a Boxplot</a:t>
            </a:r>
            <a:endParaRPr/>
          </a:p>
          <a:p>
            <a:pPr indent="0" lvl="0" marL="0" rtl="0" algn="l">
              <a:lnSpc>
                <a:spcPct val="100000"/>
              </a:lnSpc>
              <a:spcBef>
                <a:spcPts val="0"/>
              </a:spcBef>
              <a:spcAft>
                <a:spcPts val="0"/>
              </a:spcAft>
              <a:buClr>
                <a:schemeClr val="dk1"/>
              </a:buClr>
              <a:buSzPct val="39285"/>
              <a:buFont typeface="Arial"/>
              <a:buNone/>
            </a:pPr>
            <a:r>
              <a:t/>
            </a:r>
            <a:endParaRPr/>
          </a:p>
          <a:p>
            <a:pPr indent="0" lvl="0" marL="0" rtl="0" algn="l">
              <a:lnSpc>
                <a:spcPct val="100000"/>
              </a:lnSpc>
              <a:spcBef>
                <a:spcPts val="0"/>
              </a:spcBef>
              <a:spcAft>
                <a:spcPts val="0"/>
              </a:spcAft>
              <a:buClr>
                <a:schemeClr val="dk1"/>
              </a:buClr>
              <a:buSzPct val="39285"/>
              <a:buFont typeface="Arial"/>
              <a:buNone/>
            </a:pPr>
            <a:r>
              <a:t/>
            </a:r>
            <a:endParaRPr/>
          </a:p>
          <a:p>
            <a:pPr indent="0" lvl="0" marL="0" rtl="0" algn="l">
              <a:lnSpc>
                <a:spcPct val="100000"/>
              </a:lnSpc>
              <a:spcBef>
                <a:spcPts val="0"/>
              </a:spcBef>
              <a:spcAft>
                <a:spcPts val="0"/>
              </a:spcAft>
              <a:buSzPct val="111111"/>
              <a:buNone/>
            </a:pPr>
            <a:r>
              <a:t/>
            </a:r>
            <a:endParaRPr/>
          </a:p>
        </p:txBody>
      </p:sp>
      <p:sp>
        <p:nvSpPr>
          <p:cNvPr id="336" name="Google Shape;336;gf5532e34b3_0_96"/>
          <p:cNvSpPr txBox="1"/>
          <p:nvPr>
            <p:ph idx="1" type="body"/>
          </p:nvPr>
        </p:nvSpPr>
        <p:spPr>
          <a:xfrm>
            <a:off x="311700" y="1384233"/>
            <a:ext cx="8520600" cy="4555200"/>
          </a:xfrm>
          <a:prstGeom prst="rect">
            <a:avLst/>
          </a:prstGeom>
          <a:noFill/>
          <a:ln>
            <a:noFill/>
          </a:ln>
        </p:spPr>
        <p:txBody>
          <a:bodyPr anchorCtr="0" anchor="t" bIns="91425" lIns="91425" spcFirstLastPara="1" rIns="91425" wrap="square" tIns="91425">
            <a:normAutofit/>
          </a:bodyPr>
          <a:lstStyle/>
          <a:p>
            <a:pPr indent="-355600" lvl="0" marL="457200" rtl="0" algn="l">
              <a:lnSpc>
                <a:spcPct val="150000"/>
              </a:lnSpc>
              <a:spcBef>
                <a:spcPts val="0"/>
              </a:spcBef>
              <a:spcAft>
                <a:spcPts val="0"/>
              </a:spcAft>
              <a:buSzPts val="2000"/>
              <a:buChar char="●"/>
            </a:pPr>
            <a:r>
              <a:rPr lang="en-GB" sz="2000"/>
              <a:t>The vertical lines of the boxplot (whiskers) delimit the typical values i.e. those within the range of 1.5 times the IQR from the box edges. Points lying outside these bounds are depicted as outliers</a:t>
            </a:r>
            <a:endParaRPr sz="2000"/>
          </a:p>
          <a:p>
            <a:pPr indent="-355600" lvl="0" marL="457200" rtl="0" algn="l">
              <a:lnSpc>
                <a:spcPct val="150000"/>
              </a:lnSpc>
              <a:spcBef>
                <a:spcPts val="0"/>
              </a:spcBef>
              <a:spcAft>
                <a:spcPts val="0"/>
              </a:spcAft>
              <a:buSzPts val="2000"/>
              <a:buChar char="●"/>
            </a:pPr>
            <a:r>
              <a:rPr lang="en-GB" sz="2000"/>
              <a:t>In this case, there were not enough values to draw the whole line.</a:t>
            </a:r>
            <a:endParaRPr sz="2000"/>
          </a:p>
        </p:txBody>
      </p:sp>
      <p:sp>
        <p:nvSpPr>
          <p:cNvPr id="337" name="Google Shape;337;gf5532e34b3_0_96"/>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338" name="Google Shape;338;gf5532e34b3_0_96"/>
          <p:cNvPicPr preferRelativeResize="0"/>
          <p:nvPr/>
        </p:nvPicPr>
        <p:blipFill rotWithShape="1">
          <a:blip r:embed="rId3">
            <a:alphaModFix/>
          </a:blip>
          <a:srcRect b="0" l="0" r="0" t="0"/>
          <a:stretch/>
        </p:blipFill>
        <p:spPr>
          <a:xfrm>
            <a:off x="2597375" y="3381325"/>
            <a:ext cx="3949250" cy="31507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cb3b903bb0_0_2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Reordering</a:t>
            </a:r>
            <a:endParaRPr/>
          </a:p>
        </p:txBody>
      </p:sp>
      <p:sp>
        <p:nvSpPr>
          <p:cNvPr id="344" name="Google Shape;344;gcb3b903bb0_0_25"/>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We can examine the values of a factor with the levels function</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t/>
            </a:r>
            <a:endParaRPr/>
          </a:p>
          <a:p>
            <a:pPr indent="-368300" lvl="0" marL="457200" rtl="0" algn="l">
              <a:lnSpc>
                <a:spcPct val="115000"/>
              </a:lnSpc>
              <a:spcBef>
                <a:spcPts val="0"/>
              </a:spcBef>
              <a:spcAft>
                <a:spcPts val="0"/>
              </a:spcAft>
              <a:buSzPts val="2200"/>
              <a:buChar char="●"/>
            </a:pPr>
            <a:r>
              <a:rPr lang="en-GB"/>
              <a:t>The reorder function reorders its first argument based on the mean values of a second variable, usually numeric.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2200"/>
              <a:buNone/>
            </a:pPr>
            <a:r>
              <a:t/>
            </a:r>
            <a:endParaRPr/>
          </a:p>
        </p:txBody>
      </p:sp>
      <p:sp>
        <p:nvSpPr>
          <p:cNvPr id="345" name="Google Shape;345;gcb3b903bb0_0_25"/>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346" name="Google Shape;346;gcb3b903bb0_0_25"/>
          <p:cNvPicPr preferRelativeResize="0"/>
          <p:nvPr/>
        </p:nvPicPr>
        <p:blipFill rotWithShape="1">
          <a:blip r:embed="rId3">
            <a:alphaModFix/>
          </a:blip>
          <a:srcRect b="0" l="0" r="0" t="0"/>
          <a:stretch/>
        </p:blipFill>
        <p:spPr>
          <a:xfrm>
            <a:off x="918600" y="2170125"/>
            <a:ext cx="5353050" cy="781050"/>
          </a:xfrm>
          <a:prstGeom prst="rect">
            <a:avLst/>
          </a:prstGeom>
          <a:noFill/>
          <a:ln>
            <a:noFill/>
          </a:ln>
        </p:spPr>
      </p:pic>
      <p:pic>
        <p:nvPicPr>
          <p:cNvPr id="347" name="Google Shape;347;gcb3b903bb0_0_25"/>
          <p:cNvPicPr preferRelativeResize="0"/>
          <p:nvPr/>
        </p:nvPicPr>
        <p:blipFill rotWithShape="1">
          <a:blip r:embed="rId4">
            <a:alphaModFix/>
          </a:blip>
          <a:srcRect b="0" l="0" r="0" t="0"/>
          <a:stretch/>
        </p:blipFill>
        <p:spPr>
          <a:xfrm>
            <a:off x="834175" y="4330777"/>
            <a:ext cx="6288225" cy="928675"/>
          </a:xfrm>
          <a:prstGeom prst="rect">
            <a:avLst/>
          </a:prstGeom>
          <a:noFill/>
          <a:ln>
            <a:noFill/>
          </a:ln>
        </p:spPr>
      </p:pic>
      <p:cxnSp>
        <p:nvCxnSpPr>
          <p:cNvPr id="348" name="Google Shape;348;gcb3b903bb0_0_25"/>
          <p:cNvCxnSpPr/>
          <p:nvPr/>
        </p:nvCxnSpPr>
        <p:spPr>
          <a:xfrm flipH="1" rot="10800000">
            <a:off x="1243325" y="5229675"/>
            <a:ext cx="69300" cy="690900"/>
          </a:xfrm>
          <a:prstGeom prst="straightConnector1">
            <a:avLst/>
          </a:prstGeom>
          <a:noFill/>
          <a:ln cap="flat" cmpd="sng" w="19050">
            <a:solidFill>
              <a:schemeClr val="dk2"/>
            </a:solidFill>
            <a:prstDash val="solid"/>
            <a:round/>
            <a:headEnd len="sm" w="sm" type="none"/>
            <a:tailEnd len="med" w="med" type="triangle"/>
          </a:ln>
        </p:spPr>
      </p:cxnSp>
      <p:sp>
        <p:nvSpPr>
          <p:cNvPr id="349" name="Google Shape;349;gcb3b903bb0_0_25"/>
          <p:cNvSpPr txBox="1"/>
          <p:nvPr/>
        </p:nvSpPr>
        <p:spPr>
          <a:xfrm>
            <a:off x="493375" y="5940300"/>
            <a:ext cx="295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Class with the lowest mean hwy</a:t>
            </a:r>
            <a:endParaRPr b="0" i="0" sz="1400" u="none" cap="none" strike="noStrike">
              <a:solidFill>
                <a:srgbClr val="000000"/>
              </a:solidFill>
              <a:latin typeface="Arial"/>
              <a:ea typeface="Arial"/>
              <a:cs typeface="Arial"/>
              <a:sym typeface="Arial"/>
            </a:endParaRPr>
          </a:p>
        </p:txBody>
      </p:sp>
      <p:cxnSp>
        <p:nvCxnSpPr>
          <p:cNvPr id="350" name="Google Shape;350;gcb3b903bb0_0_25"/>
          <p:cNvCxnSpPr/>
          <p:nvPr/>
        </p:nvCxnSpPr>
        <p:spPr>
          <a:xfrm rot="10800000">
            <a:off x="6537125" y="5229600"/>
            <a:ext cx="192600" cy="621900"/>
          </a:xfrm>
          <a:prstGeom prst="straightConnector1">
            <a:avLst/>
          </a:prstGeom>
          <a:noFill/>
          <a:ln cap="flat" cmpd="sng" w="19050">
            <a:solidFill>
              <a:schemeClr val="dk2"/>
            </a:solidFill>
            <a:prstDash val="solid"/>
            <a:round/>
            <a:headEnd len="sm" w="sm" type="none"/>
            <a:tailEnd len="med" w="med" type="triangle"/>
          </a:ln>
        </p:spPr>
      </p:cxnSp>
      <p:sp>
        <p:nvSpPr>
          <p:cNvPr id="351" name="Google Shape;351;gcb3b903bb0_0_25"/>
          <p:cNvSpPr txBox="1"/>
          <p:nvPr/>
        </p:nvSpPr>
        <p:spPr>
          <a:xfrm>
            <a:off x="5421700" y="5940300"/>
            <a:ext cx="295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Class with the highest mean hwy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cb3b903bb0_0_3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Reordering</a:t>
            </a:r>
            <a:endParaRPr/>
          </a:p>
        </p:txBody>
      </p:sp>
      <p:sp>
        <p:nvSpPr>
          <p:cNvPr id="357" name="Google Shape;357;gcb3b903bb0_0_31"/>
          <p:cNvSpPr txBox="1"/>
          <p:nvPr>
            <p:ph idx="1" type="body"/>
          </p:nvPr>
        </p:nvSpPr>
        <p:spPr>
          <a:xfrm>
            <a:off x="311700" y="13080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Useful for plotting boxplots in a nice order</a:t>
            </a:r>
            <a:endParaRPr/>
          </a:p>
        </p:txBody>
      </p:sp>
      <p:sp>
        <p:nvSpPr>
          <p:cNvPr id="358" name="Google Shape;358;gcb3b903bb0_0_31"/>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359" name="Google Shape;359;gcb3b903bb0_0_31"/>
          <p:cNvPicPr preferRelativeResize="0"/>
          <p:nvPr/>
        </p:nvPicPr>
        <p:blipFill>
          <a:blip r:embed="rId3">
            <a:alphaModFix/>
          </a:blip>
          <a:stretch>
            <a:fillRect/>
          </a:stretch>
        </p:blipFill>
        <p:spPr>
          <a:xfrm>
            <a:off x="1998213" y="1894638"/>
            <a:ext cx="5419725" cy="48482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cb3b903bb0_0_3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Task 3: Reordering by Median</a:t>
            </a:r>
            <a:endParaRPr/>
          </a:p>
        </p:txBody>
      </p:sp>
      <p:sp>
        <p:nvSpPr>
          <p:cNvPr id="365" name="Google Shape;365;gcb3b903bb0_0_37"/>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fontScale="47500"/>
          </a:bodyPr>
          <a:lstStyle/>
          <a:p>
            <a:pPr indent="-352990" lvl="0" marL="457200" rtl="0" algn="l">
              <a:lnSpc>
                <a:spcPct val="150000"/>
              </a:lnSpc>
              <a:spcBef>
                <a:spcPts val="0"/>
              </a:spcBef>
              <a:spcAft>
                <a:spcPts val="0"/>
              </a:spcAft>
              <a:buSzPct val="100000"/>
              <a:buChar char="●"/>
            </a:pPr>
            <a:r>
              <a:rPr lang="en-GB" sz="4122"/>
              <a:t>Read the help page for the function </a:t>
            </a:r>
            <a:r>
              <a:rPr lang="en-GB" sz="4122">
                <a:latin typeface="Courier"/>
                <a:ea typeface="Courier"/>
                <a:cs typeface="Courier"/>
                <a:sym typeface="Courier"/>
              </a:rPr>
              <a:t>reorder</a:t>
            </a:r>
            <a:r>
              <a:rPr lang="en-GB" sz="4122"/>
              <a:t>, here are some tips:</a:t>
            </a:r>
            <a:endParaRPr sz="4122"/>
          </a:p>
          <a:p>
            <a:pPr indent="-352990" lvl="1" marL="914400" rtl="0" algn="l">
              <a:lnSpc>
                <a:spcPct val="150000"/>
              </a:lnSpc>
              <a:spcBef>
                <a:spcPts val="0"/>
              </a:spcBef>
              <a:spcAft>
                <a:spcPts val="0"/>
              </a:spcAft>
              <a:buSzPct val="100000"/>
              <a:buChar char="○"/>
            </a:pPr>
            <a:r>
              <a:rPr lang="en-GB" sz="4122"/>
              <a:t>scan page for relevant info.</a:t>
            </a:r>
            <a:endParaRPr sz="4122"/>
          </a:p>
          <a:p>
            <a:pPr indent="-352990" lvl="1" marL="914400" rtl="0" algn="l">
              <a:lnSpc>
                <a:spcPct val="150000"/>
              </a:lnSpc>
              <a:spcBef>
                <a:spcPts val="0"/>
              </a:spcBef>
              <a:spcAft>
                <a:spcPts val="0"/>
              </a:spcAft>
              <a:buSzPct val="100000"/>
              <a:buChar char="○"/>
            </a:pPr>
            <a:r>
              <a:rPr lang="en-GB" sz="4122"/>
              <a:t>ignore things that don’t make sense.</a:t>
            </a:r>
            <a:endParaRPr sz="4122"/>
          </a:p>
          <a:p>
            <a:pPr indent="-352990" lvl="1" marL="914400" rtl="0" algn="l">
              <a:lnSpc>
                <a:spcPct val="150000"/>
              </a:lnSpc>
              <a:spcBef>
                <a:spcPts val="0"/>
              </a:spcBef>
              <a:spcAft>
                <a:spcPts val="0"/>
              </a:spcAft>
              <a:buSzPct val="100000"/>
              <a:buChar char="○"/>
            </a:pPr>
            <a:r>
              <a:rPr lang="en-GB" sz="4122"/>
              <a:t>try out examples. </a:t>
            </a:r>
            <a:endParaRPr sz="4122"/>
          </a:p>
          <a:p>
            <a:pPr indent="-352990" lvl="0" marL="457200" rtl="0" algn="l">
              <a:lnSpc>
                <a:spcPct val="150000"/>
              </a:lnSpc>
              <a:spcBef>
                <a:spcPts val="0"/>
              </a:spcBef>
              <a:spcAft>
                <a:spcPts val="0"/>
              </a:spcAft>
              <a:buSzPct val="100000"/>
              <a:buChar char="●"/>
            </a:pPr>
            <a:r>
              <a:rPr lang="en-GB" sz="4122"/>
              <a:t>Redraw the previous plot with the variable class ordered by the median of hwy. </a:t>
            </a:r>
            <a:endParaRPr sz="4122"/>
          </a:p>
          <a:p>
            <a:pPr indent="0" lvl="0" marL="0" rtl="0" algn="l">
              <a:lnSpc>
                <a:spcPct val="150000"/>
              </a:lnSpc>
              <a:spcBef>
                <a:spcPts val="0"/>
              </a:spcBef>
              <a:spcAft>
                <a:spcPts val="0"/>
              </a:spcAft>
              <a:buSzPct val="165938"/>
              <a:buNone/>
            </a:pPr>
            <a:r>
              <a:t/>
            </a:r>
            <a:endParaRPr sz="2410"/>
          </a:p>
          <a:p>
            <a:pPr indent="0" lvl="0" marL="0" rtl="0" algn="l">
              <a:lnSpc>
                <a:spcPct val="150000"/>
              </a:lnSpc>
              <a:spcBef>
                <a:spcPts val="0"/>
              </a:spcBef>
              <a:spcAft>
                <a:spcPts val="0"/>
              </a:spcAft>
              <a:buSzPct val="165938"/>
              <a:buNone/>
            </a:pPr>
            <a:r>
              <a:t/>
            </a:r>
            <a:endParaRPr sz="2410"/>
          </a:p>
          <a:p>
            <a:pPr indent="0" lvl="0" marL="0" rtl="0" algn="l">
              <a:lnSpc>
                <a:spcPct val="150000"/>
              </a:lnSpc>
              <a:spcBef>
                <a:spcPts val="0"/>
              </a:spcBef>
              <a:spcAft>
                <a:spcPts val="0"/>
              </a:spcAft>
              <a:buSzPct val="165938"/>
              <a:buNone/>
            </a:pPr>
            <a:r>
              <a:t/>
            </a:r>
            <a:endParaRPr sz="2410"/>
          </a:p>
          <a:p>
            <a:pPr indent="0" lvl="0" marL="0" rtl="0" algn="l">
              <a:lnSpc>
                <a:spcPct val="115000"/>
              </a:lnSpc>
              <a:spcBef>
                <a:spcPts val="0"/>
              </a:spcBef>
              <a:spcAft>
                <a:spcPts val="0"/>
              </a:spcAft>
              <a:buClr>
                <a:schemeClr val="dk1"/>
              </a:buClr>
              <a:buSzPct val="32253"/>
              <a:buFont typeface="Arial"/>
              <a:buNone/>
            </a:pPr>
            <a:r>
              <a:rPr lang="en-GB" sz="3410">
                <a:latin typeface="Courier"/>
                <a:ea typeface="Courier"/>
                <a:cs typeface="Courier"/>
                <a:sym typeface="Courier"/>
              </a:rPr>
              <a:t>Answer in the next slide...</a:t>
            </a:r>
            <a:endParaRPr sz="3410"/>
          </a:p>
          <a:p>
            <a:pPr indent="0" lvl="0" marL="0" rtl="0" algn="l">
              <a:lnSpc>
                <a:spcPct val="150000"/>
              </a:lnSpc>
              <a:spcBef>
                <a:spcPts val="0"/>
              </a:spcBef>
              <a:spcAft>
                <a:spcPts val="0"/>
              </a:spcAft>
              <a:buClr>
                <a:schemeClr val="dk1"/>
              </a:buClr>
              <a:buSzPct val="50000"/>
              <a:buFont typeface="Arial"/>
              <a:buNone/>
            </a:pPr>
            <a:r>
              <a:t/>
            </a:r>
            <a:endParaRPr/>
          </a:p>
          <a:p>
            <a:pPr indent="0" lvl="0" marL="0" rtl="0" algn="l">
              <a:lnSpc>
                <a:spcPct val="150000"/>
              </a:lnSpc>
              <a:spcBef>
                <a:spcPts val="0"/>
              </a:spcBef>
              <a:spcAft>
                <a:spcPts val="0"/>
              </a:spcAft>
              <a:buSzPct val="181818"/>
              <a:buNone/>
            </a:pPr>
            <a:r>
              <a:t/>
            </a:r>
            <a:endParaRPr/>
          </a:p>
        </p:txBody>
      </p:sp>
      <p:sp>
        <p:nvSpPr>
          <p:cNvPr id="366" name="Google Shape;366;gcb3b903bb0_0_37"/>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cb3b903bb0_0_4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Task 3 - Answer</a:t>
            </a:r>
            <a:endParaRPr/>
          </a:p>
        </p:txBody>
      </p:sp>
      <p:sp>
        <p:nvSpPr>
          <p:cNvPr id="372" name="Google Shape;372;gcb3b903bb0_0_43"/>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373" name="Google Shape;373;gcb3b903bb0_0_43"/>
          <p:cNvPicPr preferRelativeResize="0"/>
          <p:nvPr/>
        </p:nvPicPr>
        <p:blipFill>
          <a:blip r:embed="rId3">
            <a:alphaModFix/>
          </a:blip>
          <a:stretch>
            <a:fillRect/>
          </a:stretch>
        </p:blipFill>
        <p:spPr>
          <a:xfrm>
            <a:off x="311700" y="1227426"/>
            <a:ext cx="7347116" cy="55349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cb3b903bb0_0_4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Diamond Dataset</a:t>
            </a:r>
            <a:endParaRPr/>
          </a:p>
        </p:txBody>
      </p:sp>
      <p:sp>
        <p:nvSpPr>
          <p:cNvPr id="379" name="Google Shape;379;gcb3b903bb0_0_49"/>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fontScale="92500" lnSpcReduction="20000"/>
          </a:bodyPr>
          <a:lstStyle/>
          <a:p>
            <a:pPr indent="-357822" lvl="0" marL="457200" rtl="0" algn="l">
              <a:lnSpc>
                <a:spcPct val="115000"/>
              </a:lnSpc>
              <a:spcBef>
                <a:spcPts val="0"/>
              </a:spcBef>
              <a:spcAft>
                <a:spcPts val="0"/>
              </a:spcAft>
              <a:buSzPct val="100000"/>
              <a:buChar char="●"/>
            </a:pPr>
            <a:r>
              <a:rPr lang="en-GB"/>
              <a:t>Let’s use a different dataset to explore more visualisation with ggplot</a:t>
            </a:r>
            <a:br>
              <a:rPr lang="en-GB"/>
            </a:br>
            <a:endParaRPr/>
          </a:p>
          <a:p>
            <a:pPr indent="-357822" lvl="0" marL="457200" rtl="0" algn="l">
              <a:lnSpc>
                <a:spcPct val="115000"/>
              </a:lnSpc>
              <a:spcBef>
                <a:spcPts val="0"/>
              </a:spcBef>
              <a:spcAft>
                <a:spcPts val="0"/>
              </a:spcAft>
              <a:buSzPct val="100000"/>
              <a:buChar char="●"/>
            </a:pPr>
            <a:r>
              <a:rPr lang="en-GB"/>
              <a:t>The diamond dataset contains 53940 records with values for 10 variables including price. These variables may be divided into roughly two groups.</a:t>
            </a:r>
            <a:endParaRPr/>
          </a:p>
          <a:p>
            <a:pPr indent="0" lvl="0" marL="457200" rtl="0" algn="l">
              <a:lnSpc>
                <a:spcPct val="115000"/>
              </a:lnSpc>
              <a:spcBef>
                <a:spcPts val="0"/>
              </a:spcBef>
              <a:spcAft>
                <a:spcPts val="0"/>
              </a:spcAft>
              <a:buSzPct val="108108"/>
              <a:buNone/>
            </a:pPr>
            <a:r>
              <a:t/>
            </a:r>
            <a:endParaRPr/>
          </a:p>
          <a:p>
            <a:pPr indent="-354932" lvl="0" marL="457200" rtl="0" algn="l">
              <a:lnSpc>
                <a:spcPct val="115000"/>
              </a:lnSpc>
              <a:spcBef>
                <a:spcPts val="0"/>
              </a:spcBef>
              <a:spcAft>
                <a:spcPts val="0"/>
              </a:spcAft>
              <a:buSzPct val="100000"/>
              <a:buChar char="●"/>
            </a:pPr>
            <a:r>
              <a:rPr lang="en-GB" sz="2150"/>
              <a:t>The four Cs </a:t>
            </a:r>
            <a:endParaRPr sz="2150"/>
          </a:p>
          <a:p>
            <a:pPr indent="-354932" lvl="1" marL="914400" rtl="0" algn="l">
              <a:lnSpc>
                <a:spcPct val="115000"/>
              </a:lnSpc>
              <a:spcBef>
                <a:spcPts val="0"/>
              </a:spcBef>
              <a:spcAft>
                <a:spcPts val="0"/>
              </a:spcAft>
              <a:buSzPct val="100000"/>
              <a:buChar char="○"/>
            </a:pPr>
            <a:r>
              <a:rPr lang="en-GB" sz="2150"/>
              <a:t>carat - a unit of mass equal to 200 mg.</a:t>
            </a:r>
            <a:endParaRPr sz="2150"/>
          </a:p>
          <a:p>
            <a:pPr indent="-354932" lvl="1" marL="914400" rtl="0" algn="l">
              <a:lnSpc>
                <a:spcPct val="115000"/>
              </a:lnSpc>
              <a:spcBef>
                <a:spcPts val="0"/>
              </a:spcBef>
              <a:spcAft>
                <a:spcPts val="0"/>
              </a:spcAft>
              <a:buSzPct val="100000"/>
              <a:buChar char="○"/>
            </a:pPr>
            <a:r>
              <a:rPr lang="en-GB" sz="2150"/>
              <a:t>clarity - measures internal characteristics and surface defects.</a:t>
            </a:r>
            <a:endParaRPr sz="2150"/>
          </a:p>
          <a:p>
            <a:pPr indent="-354932" lvl="1" marL="914400" rtl="0" algn="l">
              <a:lnSpc>
                <a:spcPct val="115000"/>
              </a:lnSpc>
              <a:spcBef>
                <a:spcPts val="0"/>
              </a:spcBef>
              <a:spcAft>
                <a:spcPts val="0"/>
              </a:spcAft>
              <a:buSzPct val="100000"/>
              <a:buChar char="○"/>
            </a:pPr>
            <a:r>
              <a:rPr lang="en-GB" sz="2150"/>
              <a:t>colour - a perfect diamond is transparent with no hue, or colour. </a:t>
            </a:r>
            <a:endParaRPr sz="2150"/>
          </a:p>
          <a:p>
            <a:pPr indent="-354932" lvl="1" marL="914400" rtl="0" algn="l">
              <a:lnSpc>
                <a:spcPct val="115000"/>
              </a:lnSpc>
              <a:spcBef>
                <a:spcPts val="0"/>
              </a:spcBef>
              <a:spcAft>
                <a:spcPts val="0"/>
              </a:spcAft>
              <a:buSzPct val="100000"/>
              <a:buChar char="○"/>
            </a:pPr>
            <a:r>
              <a:rPr lang="en-GB" sz="2150"/>
              <a:t>cut - cut is always king! </a:t>
            </a:r>
            <a:endParaRPr sz="2150"/>
          </a:p>
          <a:p>
            <a:pPr indent="0" lvl="0" marL="457200" rtl="0" algn="l">
              <a:lnSpc>
                <a:spcPct val="115000"/>
              </a:lnSpc>
              <a:spcBef>
                <a:spcPts val="0"/>
              </a:spcBef>
              <a:spcAft>
                <a:spcPts val="0"/>
              </a:spcAft>
              <a:buSzPct val="108108"/>
              <a:buNone/>
            </a:pPr>
            <a:r>
              <a:t/>
            </a:r>
            <a:endParaRPr/>
          </a:p>
          <a:p>
            <a:pPr indent="-354932" lvl="0" marL="457200" rtl="0" algn="l">
              <a:lnSpc>
                <a:spcPct val="115000"/>
              </a:lnSpc>
              <a:spcBef>
                <a:spcPts val="0"/>
              </a:spcBef>
              <a:spcAft>
                <a:spcPts val="0"/>
              </a:spcAft>
              <a:buSzPct val="100000"/>
              <a:buChar char="●"/>
            </a:pPr>
            <a:r>
              <a:rPr lang="en-GB" sz="2150"/>
              <a:t>Dimensions </a:t>
            </a:r>
            <a:endParaRPr sz="2150"/>
          </a:p>
          <a:p>
            <a:pPr indent="-354932" lvl="1" marL="914400" rtl="0" algn="l">
              <a:lnSpc>
                <a:spcPct val="115000"/>
              </a:lnSpc>
              <a:spcBef>
                <a:spcPts val="0"/>
              </a:spcBef>
              <a:spcAft>
                <a:spcPts val="0"/>
              </a:spcAft>
              <a:buSzPct val="100000"/>
              <a:buChar char="○"/>
            </a:pPr>
            <a:r>
              <a:rPr lang="en-GB" sz="2150"/>
              <a:t>The x, y and z variables represent physical dimensions of a diamond</a:t>
            </a:r>
            <a:endParaRPr sz="2150"/>
          </a:p>
        </p:txBody>
      </p:sp>
      <p:sp>
        <p:nvSpPr>
          <p:cNvPr id="380" name="Google Shape;380;gcb3b903bb0_0_49"/>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cb3b903bb0_0_5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Variable Meanings</a:t>
            </a:r>
            <a:endParaRPr/>
          </a:p>
        </p:txBody>
      </p:sp>
      <p:sp>
        <p:nvSpPr>
          <p:cNvPr id="386" name="Google Shape;386;gcb3b903bb0_0_55"/>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387" name="Google Shape;387;gcb3b903bb0_0_55"/>
          <p:cNvPicPr preferRelativeResize="0"/>
          <p:nvPr/>
        </p:nvPicPr>
        <p:blipFill rotWithShape="1">
          <a:blip r:embed="rId3">
            <a:alphaModFix/>
          </a:blip>
          <a:srcRect b="0" l="0" r="0" t="0"/>
          <a:stretch/>
        </p:blipFill>
        <p:spPr>
          <a:xfrm>
            <a:off x="1171575" y="1557338"/>
            <a:ext cx="6800850" cy="43529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gcb3b903bb0_0_97"/>
          <p:cNvPicPr preferRelativeResize="0"/>
          <p:nvPr/>
        </p:nvPicPr>
        <p:blipFill>
          <a:blip r:embed="rId3">
            <a:alphaModFix/>
          </a:blip>
          <a:stretch>
            <a:fillRect/>
          </a:stretch>
        </p:blipFill>
        <p:spPr>
          <a:xfrm>
            <a:off x="4149900" y="1482713"/>
            <a:ext cx="4876800" cy="5000625"/>
          </a:xfrm>
          <a:prstGeom prst="rect">
            <a:avLst/>
          </a:prstGeom>
          <a:noFill/>
          <a:ln>
            <a:noFill/>
          </a:ln>
        </p:spPr>
      </p:pic>
      <p:sp>
        <p:nvSpPr>
          <p:cNvPr id="393" name="Google Shape;393;gcb3b903bb0_0_97"/>
          <p:cNvSpPr txBox="1"/>
          <p:nvPr>
            <p:ph type="title"/>
          </p:nvPr>
        </p:nvSpPr>
        <p:spPr>
          <a:xfrm>
            <a:off x="311700" y="3647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Bar Chart</a:t>
            </a:r>
            <a:endParaRPr/>
          </a:p>
        </p:txBody>
      </p:sp>
      <p:sp>
        <p:nvSpPr>
          <p:cNvPr id="394" name="Google Shape;394;gcb3b903bb0_0_97"/>
          <p:cNvSpPr txBox="1"/>
          <p:nvPr>
            <p:ph idx="1" type="body"/>
          </p:nvPr>
        </p:nvSpPr>
        <p:spPr>
          <a:xfrm>
            <a:off x="311700" y="9270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For a bar chart, the colour attributes affects the outline of the bars</a:t>
            </a:r>
            <a:endParaRPr/>
          </a:p>
          <a:p>
            <a:pPr indent="0" lvl="0" marL="0" rtl="0" algn="l">
              <a:lnSpc>
                <a:spcPct val="115000"/>
              </a:lnSpc>
              <a:spcBef>
                <a:spcPts val="0"/>
              </a:spcBef>
              <a:spcAft>
                <a:spcPts val="0"/>
              </a:spcAft>
              <a:buSzPts val="2200"/>
              <a:buNone/>
            </a:pPr>
            <a:r>
              <a:t/>
            </a:r>
            <a:endParaRPr/>
          </a:p>
        </p:txBody>
      </p:sp>
      <p:sp>
        <p:nvSpPr>
          <p:cNvPr id="395" name="Google Shape;395;gcb3b903bb0_0_97"/>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cxnSp>
        <p:nvCxnSpPr>
          <p:cNvPr id="396" name="Google Shape;396;gcb3b903bb0_0_97"/>
          <p:cNvCxnSpPr/>
          <p:nvPr/>
        </p:nvCxnSpPr>
        <p:spPr>
          <a:xfrm>
            <a:off x="2822150" y="5407450"/>
            <a:ext cx="2141100" cy="888300"/>
          </a:xfrm>
          <a:prstGeom prst="straightConnector1">
            <a:avLst/>
          </a:prstGeom>
          <a:noFill/>
          <a:ln cap="flat" cmpd="sng" w="19050">
            <a:solidFill>
              <a:schemeClr val="dk2"/>
            </a:solidFill>
            <a:prstDash val="solid"/>
            <a:round/>
            <a:headEnd len="sm" w="sm" type="none"/>
            <a:tailEnd len="med" w="med" type="triangle"/>
          </a:ln>
        </p:spPr>
      </p:cxnSp>
      <p:sp>
        <p:nvSpPr>
          <p:cNvPr id="397" name="Google Shape;397;gcb3b903bb0_0_97"/>
          <p:cNvSpPr txBox="1"/>
          <p:nvPr/>
        </p:nvSpPr>
        <p:spPr>
          <a:xfrm>
            <a:off x="1111050" y="4730350"/>
            <a:ext cx="31479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Arial"/>
                <a:ea typeface="Arial"/>
                <a:cs typeface="Arial"/>
                <a:sym typeface="Arial"/>
              </a:rPr>
              <a:t>Displayed in order of cut quality (nice when there is an order)</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cb3b903bb0_0_10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GB"/>
              <a:t>Bar Chart</a:t>
            </a:r>
            <a:endParaRPr/>
          </a:p>
          <a:p>
            <a:pPr indent="0" lvl="0" marL="0" rtl="0" algn="l">
              <a:lnSpc>
                <a:spcPct val="100000"/>
              </a:lnSpc>
              <a:spcBef>
                <a:spcPts val="0"/>
              </a:spcBef>
              <a:spcAft>
                <a:spcPts val="0"/>
              </a:spcAft>
              <a:buClr>
                <a:schemeClr val="dk1"/>
              </a:buClr>
              <a:buSzPct val="39285"/>
              <a:buFont typeface="Arial"/>
              <a:buNone/>
            </a:pPr>
            <a:r>
              <a:t/>
            </a:r>
            <a:endParaRPr/>
          </a:p>
          <a:p>
            <a:pPr indent="0" lvl="0" marL="0" rtl="0" algn="l">
              <a:lnSpc>
                <a:spcPct val="100000"/>
              </a:lnSpc>
              <a:spcBef>
                <a:spcPts val="0"/>
              </a:spcBef>
              <a:spcAft>
                <a:spcPts val="0"/>
              </a:spcAft>
              <a:buSzPct val="111111"/>
              <a:buNone/>
            </a:pPr>
            <a:r>
              <a:t/>
            </a:r>
            <a:endParaRPr/>
          </a:p>
        </p:txBody>
      </p:sp>
      <p:sp>
        <p:nvSpPr>
          <p:cNvPr id="403" name="Google Shape;403;gcb3b903bb0_0_103"/>
          <p:cNvSpPr txBox="1"/>
          <p:nvPr>
            <p:ph idx="1" type="body"/>
          </p:nvPr>
        </p:nvSpPr>
        <p:spPr>
          <a:xfrm>
            <a:off x="311700" y="1536625"/>
            <a:ext cx="33984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The fill attribute can be used to colour the actual bars. </a:t>
            </a:r>
            <a:endParaRPr/>
          </a:p>
          <a:p>
            <a:pPr indent="-368300" lvl="0" marL="457200" rtl="0" algn="l">
              <a:lnSpc>
                <a:spcPct val="115000"/>
              </a:lnSpc>
              <a:spcBef>
                <a:spcPts val="0"/>
              </a:spcBef>
              <a:spcAft>
                <a:spcPts val="0"/>
              </a:spcAft>
              <a:buSzPts val="2200"/>
              <a:buChar char="●"/>
            </a:pPr>
            <a:r>
              <a:rPr lang="en-GB"/>
              <a:t>Easier to read than just changing the outline</a:t>
            </a:r>
            <a:endParaRPr/>
          </a:p>
        </p:txBody>
      </p:sp>
      <p:sp>
        <p:nvSpPr>
          <p:cNvPr id="404" name="Google Shape;404;gcb3b903bb0_0_103"/>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405" name="Google Shape;405;gcb3b903bb0_0_103"/>
          <p:cNvPicPr preferRelativeResize="0"/>
          <p:nvPr/>
        </p:nvPicPr>
        <p:blipFill>
          <a:blip r:embed="rId3">
            <a:alphaModFix/>
          </a:blip>
          <a:stretch>
            <a:fillRect/>
          </a:stretch>
        </p:blipFill>
        <p:spPr>
          <a:xfrm>
            <a:off x="3710100" y="758601"/>
            <a:ext cx="5244975" cy="543264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cb3b903bb0_0_10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Histogram</a:t>
            </a:r>
            <a:endParaRPr/>
          </a:p>
        </p:txBody>
      </p:sp>
      <p:sp>
        <p:nvSpPr>
          <p:cNvPr id="411" name="Google Shape;411;gcb3b903bb0_0_109"/>
          <p:cNvSpPr txBox="1"/>
          <p:nvPr>
            <p:ph idx="1" type="body"/>
          </p:nvPr>
        </p:nvSpPr>
        <p:spPr>
          <a:xfrm>
            <a:off x="311700" y="1536625"/>
            <a:ext cx="33642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Frequency of data of a </a:t>
            </a:r>
            <a:r>
              <a:rPr i="1" lang="en-GB"/>
              <a:t>single</a:t>
            </a:r>
            <a:r>
              <a:rPr lang="en-GB"/>
              <a:t> variable.</a:t>
            </a:r>
            <a:endParaRPr/>
          </a:p>
          <a:p>
            <a:pPr indent="-368300" lvl="0" marL="457200" rtl="0" algn="l">
              <a:lnSpc>
                <a:spcPct val="115000"/>
              </a:lnSpc>
              <a:spcBef>
                <a:spcPts val="0"/>
              </a:spcBef>
              <a:spcAft>
                <a:spcPts val="0"/>
              </a:spcAft>
              <a:buSzPts val="2200"/>
              <a:buChar char="●"/>
            </a:pPr>
            <a:r>
              <a:rPr lang="en-GB"/>
              <a:t>Used to identify the distribution of a variable.</a:t>
            </a:r>
            <a:endParaRPr/>
          </a:p>
          <a:p>
            <a:pPr indent="-368300" lvl="0" marL="457200" rtl="0" algn="l">
              <a:lnSpc>
                <a:spcPct val="115000"/>
              </a:lnSpc>
              <a:spcBef>
                <a:spcPts val="0"/>
              </a:spcBef>
              <a:spcAft>
                <a:spcPts val="0"/>
              </a:spcAft>
              <a:buSzPts val="2200"/>
              <a:buChar char="●"/>
            </a:pPr>
            <a:r>
              <a:rPr lang="en-GB"/>
              <a:t>Very quick visual description of the location of data</a:t>
            </a:r>
            <a:endParaRPr/>
          </a:p>
          <a:p>
            <a:pPr indent="0" lvl="0" marL="0" rtl="0" algn="l">
              <a:lnSpc>
                <a:spcPct val="115000"/>
              </a:lnSpc>
              <a:spcBef>
                <a:spcPts val="0"/>
              </a:spcBef>
              <a:spcAft>
                <a:spcPts val="0"/>
              </a:spcAft>
              <a:buSzPts val="2200"/>
              <a:buNone/>
            </a:pPr>
            <a:r>
              <a:t/>
            </a:r>
            <a:endParaRPr/>
          </a:p>
        </p:txBody>
      </p:sp>
      <p:sp>
        <p:nvSpPr>
          <p:cNvPr id="412" name="Google Shape;412;gcb3b903bb0_0_109"/>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413" name="Google Shape;413;gcb3b903bb0_0_109"/>
          <p:cNvPicPr preferRelativeResize="0"/>
          <p:nvPr/>
        </p:nvPicPr>
        <p:blipFill>
          <a:blip r:embed="rId3">
            <a:alphaModFix/>
          </a:blip>
          <a:stretch>
            <a:fillRect/>
          </a:stretch>
        </p:blipFill>
        <p:spPr>
          <a:xfrm>
            <a:off x="4022700" y="985825"/>
            <a:ext cx="4529550" cy="5257147"/>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cb3b903bb0_0_11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Default Histogram</a:t>
            </a:r>
            <a:endParaRPr/>
          </a:p>
        </p:txBody>
      </p:sp>
      <p:sp>
        <p:nvSpPr>
          <p:cNvPr id="419" name="Google Shape;419;gcb3b903bb0_0_115"/>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420" name="Google Shape;420;gcb3b903bb0_0_115"/>
          <p:cNvPicPr preferRelativeResize="0"/>
          <p:nvPr/>
        </p:nvPicPr>
        <p:blipFill>
          <a:blip r:embed="rId3">
            <a:alphaModFix/>
          </a:blip>
          <a:stretch>
            <a:fillRect/>
          </a:stretch>
        </p:blipFill>
        <p:spPr>
          <a:xfrm>
            <a:off x="1377025" y="1246825"/>
            <a:ext cx="5562625" cy="54624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cb3b903bb0_0_12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Histogram Bin Width</a:t>
            </a:r>
            <a:endParaRPr/>
          </a:p>
        </p:txBody>
      </p:sp>
      <p:sp>
        <p:nvSpPr>
          <p:cNvPr id="426" name="Google Shape;426;gcb3b903bb0_0_121"/>
          <p:cNvSpPr txBox="1"/>
          <p:nvPr>
            <p:ph idx="1" type="body"/>
          </p:nvPr>
        </p:nvSpPr>
        <p:spPr>
          <a:xfrm>
            <a:off x="311700" y="1536625"/>
            <a:ext cx="324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Very small bin width</a:t>
            </a:r>
            <a:endParaRPr/>
          </a:p>
          <a:p>
            <a:pPr indent="-368300" lvl="0" marL="457200" rtl="0" algn="l">
              <a:lnSpc>
                <a:spcPct val="115000"/>
              </a:lnSpc>
              <a:spcBef>
                <a:spcPts val="0"/>
              </a:spcBef>
              <a:spcAft>
                <a:spcPts val="0"/>
              </a:spcAft>
              <a:buSzPts val="2200"/>
              <a:buChar char="●"/>
            </a:pPr>
            <a:r>
              <a:rPr lang="en-GB"/>
              <a:t>Not possible to identify any trends anymore.</a:t>
            </a:r>
            <a:endParaRPr/>
          </a:p>
          <a:p>
            <a:pPr indent="-368300" lvl="0" marL="457200" rtl="0" algn="l">
              <a:lnSpc>
                <a:spcPct val="115000"/>
              </a:lnSpc>
              <a:spcBef>
                <a:spcPts val="0"/>
              </a:spcBef>
              <a:spcAft>
                <a:spcPts val="0"/>
              </a:spcAft>
              <a:buSzPts val="2200"/>
              <a:buChar char="●"/>
            </a:pPr>
            <a:r>
              <a:rPr lang="en-GB"/>
              <a:t>A good bin should help you identify trends in the data.</a:t>
            </a:r>
            <a:endParaRPr/>
          </a:p>
        </p:txBody>
      </p:sp>
      <p:sp>
        <p:nvSpPr>
          <p:cNvPr id="427" name="Google Shape;427;gcb3b903bb0_0_121"/>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428" name="Google Shape;428;gcb3b903bb0_0_121"/>
          <p:cNvPicPr preferRelativeResize="0"/>
          <p:nvPr/>
        </p:nvPicPr>
        <p:blipFill>
          <a:blip r:embed="rId3">
            <a:alphaModFix/>
          </a:blip>
          <a:stretch>
            <a:fillRect/>
          </a:stretch>
        </p:blipFill>
        <p:spPr>
          <a:xfrm>
            <a:off x="3843450" y="1356875"/>
            <a:ext cx="4757401" cy="509864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cb3b903bb0_0_13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Saving Plots to File</a:t>
            </a:r>
            <a:endParaRPr/>
          </a:p>
        </p:txBody>
      </p:sp>
      <p:sp>
        <p:nvSpPr>
          <p:cNvPr id="434" name="Google Shape;434;gcb3b903bb0_0_139"/>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To save a plot to the hard drive, use the </a:t>
            </a:r>
            <a:r>
              <a:rPr lang="en-GB">
                <a:latin typeface="Courier"/>
                <a:ea typeface="Courier"/>
                <a:cs typeface="Courier"/>
                <a:sym typeface="Courier"/>
              </a:rPr>
              <a:t>ggsave </a:t>
            </a:r>
            <a:r>
              <a:rPr lang="en-GB"/>
              <a:t>function. </a:t>
            </a:r>
            <a:endParaRPr/>
          </a:p>
          <a:p>
            <a:pPr indent="0" lvl="0" marL="0" rtl="0" algn="l">
              <a:lnSpc>
                <a:spcPct val="115000"/>
              </a:lnSpc>
              <a:spcBef>
                <a:spcPts val="0"/>
              </a:spcBef>
              <a:spcAft>
                <a:spcPts val="0"/>
              </a:spcAft>
              <a:buSzPts val="2200"/>
              <a:buNone/>
            </a:pPr>
            <a:br>
              <a:rPr lang="en-GB"/>
            </a:br>
            <a:endParaRPr/>
          </a:p>
          <a:p>
            <a:pPr indent="-368300" lvl="0" marL="457200" rtl="0" algn="l">
              <a:lnSpc>
                <a:spcPct val="115000"/>
              </a:lnSpc>
              <a:spcBef>
                <a:spcPts val="0"/>
              </a:spcBef>
              <a:spcAft>
                <a:spcPts val="0"/>
              </a:spcAft>
              <a:buSzPts val="2200"/>
              <a:buChar char="●"/>
            </a:pPr>
            <a:r>
              <a:rPr lang="en-GB"/>
              <a:t>This command will save the last plotted graph to the current working directory in a </a:t>
            </a:r>
            <a:r>
              <a:rPr lang="en-GB">
                <a:latin typeface="Courier"/>
                <a:ea typeface="Courier"/>
                <a:cs typeface="Courier"/>
                <a:sym typeface="Courier"/>
              </a:rPr>
              <a:t>png </a:t>
            </a:r>
            <a:r>
              <a:rPr lang="en-GB"/>
              <a:t>file named </a:t>
            </a:r>
            <a:r>
              <a:rPr lang="en-GB">
                <a:latin typeface="Courier"/>
                <a:ea typeface="Courier"/>
                <a:cs typeface="Courier"/>
                <a:sym typeface="Courier"/>
              </a:rPr>
              <a:t>myGraph.png</a:t>
            </a:r>
            <a:endParaRPr>
              <a:latin typeface="Courier"/>
              <a:ea typeface="Courier"/>
              <a:cs typeface="Courier"/>
              <a:sym typeface="Courier"/>
            </a:endParaRPr>
          </a:p>
          <a:p>
            <a:pPr indent="-368300" lvl="0" marL="457200" rtl="0" algn="l">
              <a:lnSpc>
                <a:spcPct val="115000"/>
              </a:lnSpc>
              <a:spcBef>
                <a:spcPts val="0"/>
              </a:spcBef>
              <a:spcAft>
                <a:spcPts val="0"/>
              </a:spcAft>
              <a:buSzPts val="2200"/>
              <a:buChar char="●"/>
            </a:pPr>
            <a:r>
              <a:rPr lang="en-GB"/>
              <a:t>To customise the size of the graph, set the </a:t>
            </a:r>
            <a:r>
              <a:rPr lang="en-GB">
                <a:latin typeface="Courier"/>
                <a:ea typeface="Courier"/>
                <a:cs typeface="Courier"/>
                <a:sym typeface="Courier"/>
              </a:rPr>
              <a:t>width </a:t>
            </a:r>
            <a:r>
              <a:rPr lang="en-GB"/>
              <a:t>and </a:t>
            </a:r>
            <a:r>
              <a:rPr lang="en-GB">
                <a:latin typeface="Courier"/>
                <a:ea typeface="Courier"/>
                <a:cs typeface="Courier"/>
                <a:sym typeface="Courier"/>
              </a:rPr>
              <a:t>height </a:t>
            </a:r>
            <a:r>
              <a:rPr lang="en-GB"/>
              <a:t>arguments.</a:t>
            </a:r>
            <a:endParaRPr/>
          </a:p>
          <a:p>
            <a:pPr indent="-368300" lvl="0" marL="457200" rtl="0" algn="l">
              <a:lnSpc>
                <a:spcPct val="115000"/>
              </a:lnSpc>
              <a:spcBef>
                <a:spcPts val="0"/>
              </a:spcBef>
              <a:spcAft>
                <a:spcPts val="0"/>
              </a:spcAft>
              <a:buSzPts val="2200"/>
              <a:buChar char="●"/>
            </a:pPr>
            <a:r>
              <a:rPr lang="en-GB"/>
              <a:t>Note: the dimensions are in inches </a:t>
            </a:r>
            <a:endParaRPr/>
          </a:p>
        </p:txBody>
      </p:sp>
      <p:sp>
        <p:nvSpPr>
          <p:cNvPr id="435" name="Google Shape;435;gcb3b903bb0_0_139"/>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pic>
        <p:nvPicPr>
          <p:cNvPr id="436" name="Google Shape;436;gcb3b903bb0_0_139"/>
          <p:cNvPicPr preferRelativeResize="0"/>
          <p:nvPr/>
        </p:nvPicPr>
        <p:blipFill rotWithShape="1">
          <a:blip r:embed="rId3">
            <a:alphaModFix/>
          </a:blip>
          <a:srcRect b="0" l="0" r="0" t="0"/>
          <a:stretch/>
        </p:blipFill>
        <p:spPr>
          <a:xfrm>
            <a:off x="2935100" y="2040621"/>
            <a:ext cx="2917450" cy="7025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cb3b903bb0_0_14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Task 4 – Finding a Suitable Binwidth</a:t>
            </a:r>
            <a:endParaRPr/>
          </a:p>
        </p:txBody>
      </p:sp>
      <p:sp>
        <p:nvSpPr>
          <p:cNvPr id="442" name="Google Shape;442;gcb3b903bb0_0_145"/>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Experiment with different bin-widths until you find one that is suitable for the histogram</a:t>
            </a:r>
            <a:endParaRPr/>
          </a:p>
          <a:p>
            <a:pPr indent="-368300" lvl="0" marL="457200" rtl="0" algn="l">
              <a:lnSpc>
                <a:spcPct val="115000"/>
              </a:lnSpc>
              <a:spcBef>
                <a:spcPts val="0"/>
              </a:spcBef>
              <a:spcAft>
                <a:spcPts val="0"/>
              </a:spcAft>
              <a:buSzPts val="2200"/>
              <a:buChar char="●"/>
            </a:pPr>
            <a:r>
              <a:rPr lang="en-GB"/>
              <a:t>Save your output using </a:t>
            </a:r>
            <a:r>
              <a:rPr lang="en-GB">
                <a:latin typeface="Courier"/>
                <a:ea typeface="Courier"/>
                <a:cs typeface="Courier"/>
                <a:sym typeface="Courier"/>
              </a:rPr>
              <a:t>ggsave</a:t>
            </a:r>
            <a:endParaRPr>
              <a:latin typeface="Courier"/>
              <a:ea typeface="Courier"/>
              <a:cs typeface="Courier"/>
              <a:sym typeface="Courie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2200"/>
              <a:buNone/>
            </a:pPr>
            <a:r>
              <a:t/>
            </a:r>
            <a:endParaRPr/>
          </a:p>
        </p:txBody>
      </p:sp>
      <p:sp>
        <p:nvSpPr>
          <p:cNvPr id="443" name="Google Shape;443;gcb3b903bb0_0_145"/>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cb3b903bb0_0_15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Summary</a:t>
            </a:r>
            <a:endParaRPr/>
          </a:p>
        </p:txBody>
      </p:sp>
      <p:sp>
        <p:nvSpPr>
          <p:cNvPr id="449" name="Google Shape;449;gcb3b903bb0_0_15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How to use </a:t>
            </a:r>
            <a:r>
              <a:rPr lang="en-GB">
                <a:latin typeface="Courier"/>
                <a:ea typeface="Courier"/>
                <a:cs typeface="Courier"/>
                <a:sym typeface="Courier"/>
              </a:rPr>
              <a:t>gg</a:t>
            </a:r>
            <a:r>
              <a:rPr lang="en-GB">
                <a:latin typeface="Courier"/>
                <a:ea typeface="Courier"/>
                <a:cs typeface="Courier"/>
                <a:sym typeface="Courier"/>
              </a:rPr>
              <a:t>plot </a:t>
            </a:r>
            <a:r>
              <a:rPr lang="en-GB"/>
              <a:t>to quickly generate graphs</a:t>
            </a:r>
            <a:endParaRPr/>
          </a:p>
          <a:p>
            <a:pPr indent="-368300" lvl="0" marL="457200" rtl="0" algn="l">
              <a:lnSpc>
                <a:spcPct val="115000"/>
              </a:lnSpc>
              <a:spcBef>
                <a:spcPts val="0"/>
              </a:spcBef>
              <a:spcAft>
                <a:spcPts val="0"/>
              </a:spcAft>
              <a:buSzPts val="2200"/>
              <a:buChar char="●"/>
            </a:pPr>
            <a:r>
              <a:rPr lang="en-GB"/>
              <a:t>The Language of </a:t>
            </a:r>
            <a:r>
              <a:rPr lang="en-GB">
                <a:latin typeface="Courier"/>
                <a:ea typeface="Courier"/>
                <a:cs typeface="Courier"/>
                <a:sym typeface="Courier"/>
              </a:rPr>
              <a:t>ggplot</a:t>
            </a:r>
            <a:r>
              <a:rPr lang="en-GB"/>
              <a:t>: aesthetics, facets, geoms</a:t>
            </a:r>
            <a:endParaRPr/>
          </a:p>
          <a:p>
            <a:pPr indent="-368300" lvl="0" marL="457200" rtl="0" algn="l">
              <a:lnSpc>
                <a:spcPct val="115000"/>
              </a:lnSpc>
              <a:spcBef>
                <a:spcPts val="0"/>
              </a:spcBef>
              <a:spcAft>
                <a:spcPts val="0"/>
              </a:spcAft>
              <a:buSzPts val="2200"/>
              <a:buChar char="●"/>
            </a:pPr>
            <a:r>
              <a:rPr lang="en-GB"/>
              <a:t>Scatterplots: Smoothing and multiple geoms</a:t>
            </a:r>
            <a:endParaRPr/>
          </a:p>
          <a:p>
            <a:pPr indent="-368300" lvl="0" marL="457200" rtl="0" algn="l">
              <a:lnSpc>
                <a:spcPct val="115000"/>
              </a:lnSpc>
              <a:spcBef>
                <a:spcPts val="0"/>
              </a:spcBef>
              <a:spcAft>
                <a:spcPts val="0"/>
              </a:spcAft>
              <a:buSzPts val="2200"/>
              <a:buChar char="●"/>
            </a:pPr>
            <a:r>
              <a:rPr lang="en-GB"/>
              <a:t>Boxplots: how to interpret, ordering boxplots using levels</a:t>
            </a:r>
            <a:endParaRPr/>
          </a:p>
          <a:p>
            <a:pPr indent="-368300" lvl="0" marL="457200" rtl="0" algn="l">
              <a:lnSpc>
                <a:spcPct val="115000"/>
              </a:lnSpc>
              <a:spcBef>
                <a:spcPts val="0"/>
              </a:spcBef>
              <a:spcAft>
                <a:spcPts val="0"/>
              </a:spcAft>
              <a:buSzPts val="2200"/>
              <a:buChar char="●"/>
            </a:pPr>
            <a:r>
              <a:rPr lang="en-GB"/>
              <a:t>Bar Charts: Using colour and fill</a:t>
            </a:r>
            <a:endParaRPr/>
          </a:p>
          <a:p>
            <a:pPr indent="-368300" lvl="0" marL="457200" rtl="0" algn="l">
              <a:lnSpc>
                <a:spcPct val="115000"/>
              </a:lnSpc>
              <a:spcBef>
                <a:spcPts val="0"/>
              </a:spcBef>
              <a:spcAft>
                <a:spcPts val="0"/>
              </a:spcAft>
              <a:buSzPts val="2200"/>
              <a:buChar char="●"/>
            </a:pPr>
            <a:r>
              <a:rPr lang="en-GB"/>
              <a:t>Histograms: How to interpret, finding the right bin-width</a:t>
            </a:r>
            <a:endParaRPr/>
          </a:p>
          <a:p>
            <a:pPr indent="-368300" lvl="0" marL="457200" rtl="0" algn="l">
              <a:lnSpc>
                <a:spcPct val="115000"/>
              </a:lnSpc>
              <a:spcBef>
                <a:spcPts val="0"/>
              </a:spcBef>
              <a:spcAft>
                <a:spcPts val="0"/>
              </a:spcAft>
              <a:buSzPts val="2200"/>
              <a:buChar char="●"/>
            </a:pPr>
            <a:r>
              <a:rPr lang="en-GB"/>
              <a:t>Saving Plots: </a:t>
            </a:r>
            <a:r>
              <a:rPr lang="en-GB">
                <a:latin typeface="Courier"/>
                <a:ea typeface="Courier"/>
                <a:cs typeface="Courier"/>
                <a:sym typeface="Courier"/>
              </a:rPr>
              <a:t>ggsave</a:t>
            </a:r>
            <a:endParaRPr>
              <a:latin typeface="Courier"/>
              <a:ea typeface="Courier"/>
              <a:cs typeface="Courier"/>
              <a:sym typeface="Courier"/>
            </a:endParaRPr>
          </a:p>
          <a:p>
            <a:pPr indent="0" lvl="0" marL="0" rtl="0" algn="l">
              <a:lnSpc>
                <a:spcPct val="115000"/>
              </a:lnSpc>
              <a:spcBef>
                <a:spcPts val="0"/>
              </a:spcBef>
              <a:spcAft>
                <a:spcPts val="0"/>
              </a:spcAft>
              <a:buSzPts val="2200"/>
              <a:buNone/>
            </a:pPr>
            <a:r>
              <a:t/>
            </a:r>
            <a:endParaRPr/>
          </a:p>
        </p:txBody>
      </p:sp>
      <p:sp>
        <p:nvSpPr>
          <p:cNvPr id="450" name="Google Shape;450;gcb3b903bb0_0_151"/>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2000"/>
              <a:buFont typeface="Arial"/>
              <a:buNone/>
            </a:pPr>
            <a:fld id="{00000000-1234-1234-1234-123412341234}" type="slidenum">
              <a:rPr lang="en-GB"/>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8"/>
          <p:cNvSpPr txBox="1"/>
          <p:nvPr>
            <p:ph type="title"/>
          </p:nvPr>
        </p:nvSpPr>
        <p:spPr>
          <a:xfrm>
            <a:off x="1388100" y="637525"/>
            <a:ext cx="6367800" cy="54543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800"/>
              <a:buNone/>
            </a:pPr>
            <a:r>
              <a:rPr lang="en-GB"/>
              <a:t>Questions?</a:t>
            </a:r>
            <a:endParaRPr/>
          </a:p>
        </p:txBody>
      </p:sp>
      <p:sp>
        <p:nvSpPr>
          <p:cNvPr id="456" name="Google Shape;456;p48"/>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2000"/>
              <a:buNone/>
            </a:pPr>
            <a:fld id="{00000000-1234-1234-1234-123412341234}" type="slidenum">
              <a:rPr lang="en-GB"/>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eff6cb839e_0_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Lab</a:t>
            </a:r>
            <a:endParaRPr/>
          </a:p>
        </p:txBody>
      </p:sp>
      <p:sp>
        <p:nvSpPr>
          <p:cNvPr id="462" name="Google Shape;462;geff6cb839e_0_2"/>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GB"/>
              <a:t>R Lab in Brightspace</a:t>
            </a:r>
            <a:endParaRPr>
              <a:latin typeface="Courier"/>
              <a:ea typeface="Courier"/>
              <a:cs typeface="Courier"/>
              <a:sym typeface="Courier"/>
            </a:endParaRPr>
          </a:p>
        </p:txBody>
      </p:sp>
      <p:sp>
        <p:nvSpPr>
          <p:cNvPr id="463" name="Google Shape;463;geff6cb839e_0_2"/>
          <p:cNvSpPr txBox="1"/>
          <p:nvPr>
            <p:ph idx="12" type="sldNum"/>
          </p:nvPr>
        </p:nvSpPr>
        <p:spPr>
          <a:xfrm>
            <a:off x="8552258" y="6091822"/>
            <a:ext cx="5832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2000"/>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8EA4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