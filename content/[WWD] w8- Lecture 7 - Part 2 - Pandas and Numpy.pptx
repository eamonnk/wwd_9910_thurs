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9144000"/>
  <p:notesSz cx="6858000" cy="9144000"/>
  <p:embeddedFontLst>
    <p:embeddedFont>
      <p:font typeface="Book Antiqua"/>
      <p:regular r:id="rId36"/>
      <p:bold r:id="rId37"/>
      <p:italic r:id="rId38"/>
      <p:boldItalic r:id="rId39"/>
    </p:embeddedFont>
    <p:embeddedFont>
      <p:font typeface="Century Gothic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h3UeVIdhpiNdlUc71FXjem4DaS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B065D9-9F8C-4CEB-AE9F-0146EAB32582}">
  <a:tblStyle styleId="{1CB065D9-9F8C-4CEB-AE9F-0146EAB3258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regular.fntdata"/><Relationship Id="rId20" Type="http://schemas.openxmlformats.org/officeDocument/2006/relationships/slide" Target="slides/slide14.xml"/><Relationship Id="rId42" Type="http://schemas.openxmlformats.org/officeDocument/2006/relationships/font" Target="fonts/CenturyGothic-italic.fntdata"/><Relationship Id="rId41" Type="http://schemas.openxmlformats.org/officeDocument/2006/relationships/font" Target="fonts/CenturyGothic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CenturyGothic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BookAntiqua-bold.fntdata"/><Relationship Id="rId14" Type="http://schemas.openxmlformats.org/officeDocument/2006/relationships/slide" Target="slides/slide8.xml"/><Relationship Id="rId36" Type="http://schemas.openxmlformats.org/officeDocument/2006/relationships/font" Target="fonts/BookAntiqua-regular.fntdata"/><Relationship Id="rId17" Type="http://schemas.openxmlformats.org/officeDocument/2006/relationships/slide" Target="slides/slide11.xml"/><Relationship Id="rId39" Type="http://schemas.openxmlformats.org/officeDocument/2006/relationships/font" Target="fonts/BookAntiqua-boldItalic.fntdata"/><Relationship Id="rId16" Type="http://schemas.openxmlformats.org/officeDocument/2006/relationships/slide" Target="slides/slide10.xml"/><Relationship Id="rId38" Type="http://schemas.openxmlformats.org/officeDocument/2006/relationships/font" Target="fonts/BookAntiqua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a70db2a9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7ca70db2a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f71909681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f7190968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719096817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f71909681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719096817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f71909681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f719096817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f71909681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f719096817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f71909681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f63c5d8ded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f63c5d8de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f719096817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f71909681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f719096817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f71909681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f719096817_0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f71909681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f719096817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f71909681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f719096817_0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f71909681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f719096817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f71909681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f719096817_0_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f71909681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f719096817_0_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f71909681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719096817_0_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f71909681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f719096817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f71909681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f719096817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f71909681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719096817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f71909681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f719096817_0_10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f71909681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f719096817_0_10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f71909681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f719096817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f71909681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f719096817_0_1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f719096817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f719096817_0_1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f71909681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f719096817_0_1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f719096817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eff6cb839e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eff6cb839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51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51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5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6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2" name="Google Shape;22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3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5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5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5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" name="Google Shape;46;p5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9" name="Google Shape;49;p5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6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6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Pearson" showMasterSp="0">
  <p:cSld name="Title and Content_Pear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3"/>
          <p:cNvSpPr txBox="1"/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3"/>
          <p:cNvSpPr txBox="1"/>
          <p:nvPr>
            <p:ph idx="1" type="body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63"/>
          <p:cNvSpPr txBox="1"/>
          <p:nvPr>
            <p:ph idx="11" type="ftr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63"/>
          <p:cNvSpPr txBox="1"/>
          <p:nvPr>
            <p:ph idx="12" type="sldNum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63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b="0" i="1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50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andas.pydata.org/pandas-docs/stable/reference/api/pandas.read_csv.html" TargetMode="External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earn.datacamp.com/courses/data-manipulation-with-pandas" TargetMode="External"/><Relationship Id="rId4" Type="http://schemas.openxmlformats.org/officeDocument/2006/relationships/hyperlink" Target="https://learn.datacamp.com/courses/intro-to-python-for-data-scienc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8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ca70db2a9_0_57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g37ca70db2a9_0_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6" name="Google Shape;76;g37ca70db2a9_0_57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{1CB065D9-9F8C-4CEB-AE9F-0146EAB32582}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cap="none" strike="noStrike"/>
                        <a:t>mporting data with 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Numpy arrays</a:t>
            </a: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Pandas dataframes</a:t>
            </a: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How to select rows and columns</a:t>
            </a:r>
            <a:endParaRPr sz="2205">
              <a:latin typeface="Courier"/>
              <a:ea typeface="Courier"/>
              <a:cs typeface="Courier"/>
              <a:sym typeface="Courier"/>
            </a:endParaRPr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How to query</a:t>
            </a: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How to calculate summary statistics on Pandas dataframes </a:t>
            </a:r>
            <a:endParaRPr sz="2205"/>
          </a:p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719096817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NumPy</a:t>
            </a:r>
            <a:endParaRPr/>
          </a:p>
        </p:txBody>
      </p:sp>
      <p:sp>
        <p:nvSpPr>
          <p:cNvPr id="89" name="Google Shape;89;gf719096817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is short for Numeric Python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was designed to make Python suitable for Numerical Computing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provides vector-like arrays, similar to what we have in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0" name="Google Shape;90;gf719096817_0_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719096817_0_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Lists vs Arrays</a:t>
            </a:r>
            <a:endParaRPr/>
          </a:p>
        </p:txBody>
      </p:sp>
      <p:sp>
        <p:nvSpPr>
          <p:cNvPr id="96" name="Google Shape;96;gf719096817_0_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Python list is a sequence of pointers in memory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Quite slow for large arithmetic operations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array is a sequence of values stored together in a single block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Very fast for vector operations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Array</a:t>
            </a:r>
            <a:r>
              <a:rPr lang="en-GB"/>
              <a:t>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≈ R Vector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7" name="Google Shape;97;gf719096817_0_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719096817_0_1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Lists vs Arrays - Example</a:t>
            </a:r>
            <a:endParaRPr/>
          </a:p>
        </p:txBody>
      </p:sp>
      <p:sp>
        <p:nvSpPr>
          <p:cNvPr id="103" name="Google Shape;103;gf719096817_0_1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We can create a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 sz="2000"/>
              <a:t>array by passing a list to the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np.array() </a:t>
            </a:r>
            <a:r>
              <a:rPr lang="en-GB" sz="2000"/>
              <a:t>function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Create two lists,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l1</a:t>
            </a:r>
            <a:r>
              <a:rPr lang="en-GB" sz="2000"/>
              <a:t> and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l2</a:t>
            </a:r>
            <a:r>
              <a:rPr lang="en-GB" sz="2000"/>
              <a:t>, containing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[1, 2, 3]</a:t>
            </a:r>
            <a:r>
              <a:rPr lang="en-GB" sz="2000"/>
              <a:t> and 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[4, 5, 6]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Create two arrays,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a1</a:t>
            </a:r>
            <a:r>
              <a:rPr lang="en-GB" sz="2000"/>
              <a:t> and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a2</a:t>
            </a:r>
            <a:r>
              <a:rPr lang="en-GB" sz="2000"/>
              <a:t>, using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np.array()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Add the two lists using the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+</a:t>
            </a:r>
            <a:r>
              <a:rPr lang="en-GB" sz="2000"/>
              <a:t> operator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Add the two arrays using the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+</a:t>
            </a:r>
            <a:r>
              <a:rPr lang="en-GB" sz="2000"/>
              <a:t> operator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Multiply the arrays using the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en-GB" sz="2000"/>
              <a:t> operator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04" name="Google Shape;104;gf719096817_0_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f719096817_0_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Lists vs Arrays - Example</a:t>
            </a:r>
            <a:endParaRPr/>
          </a:p>
        </p:txBody>
      </p:sp>
      <p:sp>
        <p:nvSpPr>
          <p:cNvPr id="110" name="Google Shape;110;gf719096817_0_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1" name="Google Shape;111;gf719096817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6950" y="2375967"/>
            <a:ext cx="46101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f719096817_0_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Ranges in NumPy</a:t>
            </a:r>
            <a:endParaRPr/>
          </a:p>
        </p:txBody>
      </p:sp>
      <p:sp>
        <p:nvSpPr>
          <p:cNvPr id="117" name="Google Shape;117;gf719096817_0_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np.arange(start, stop, step)</a:t>
            </a:r>
            <a:r>
              <a:rPr lang="en-GB"/>
              <a:t> creates a range of integers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np.linspace(start, stop, count)</a:t>
            </a:r>
            <a:r>
              <a:rPr lang="en-GB"/>
              <a:t> creates count numbers evenly spaced between start and stop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Example: generate a sequence of numbers from (10, 20, … 90, 100) using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np.arange()</a:t>
            </a:r>
            <a:r>
              <a:rPr lang="en-GB"/>
              <a:t> 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np.linspace()</a:t>
            </a:r>
            <a:endParaRPr/>
          </a:p>
        </p:txBody>
      </p:sp>
      <p:sp>
        <p:nvSpPr>
          <p:cNvPr id="118" name="Google Shape;118;gf719096817_0_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f63c5d8ded_0_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Ranges in NumPy</a:t>
            </a:r>
            <a:endParaRPr/>
          </a:p>
        </p:txBody>
      </p:sp>
      <p:sp>
        <p:nvSpPr>
          <p:cNvPr id="124" name="Google Shape;124;gf63c5d8ded_0_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np.arange(start, stop, step)</a:t>
            </a:r>
            <a:r>
              <a:rPr lang="en-GB"/>
              <a:t> creates a range of integers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np.linspace(start, stop, count)</a:t>
            </a:r>
            <a:r>
              <a:rPr lang="en-GB"/>
              <a:t> creates count numbers evenly spaced between start and stop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Example: generate a sequence of numbers from (10, 20, … 90, 100) using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np.arange()</a:t>
            </a:r>
            <a:r>
              <a:rPr lang="en-GB"/>
              <a:t> 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np.linspace()</a:t>
            </a:r>
            <a:endParaRPr/>
          </a:p>
        </p:txBody>
      </p:sp>
      <p:sp>
        <p:nvSpPr>
          <p:cNvPr id="125" name="Google Shape;125;gf63c5d8ded_0_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6" name="Google Shape;126;gf63c5d8ded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4315313"/>
            <a:ext cx="632460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719096817_0_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Array Shape</a:t>
            </a:r>
            <a:endParaRPr/>
          </a:p>
        </p:txBody>
      </p:sp>
      <p:sp>
        <p:nvSpPr>
          <p:cNvPr id="132" name="Google Shape;132;gf719096817_0_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arrays are of a fixed size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Two dimensional arrays contain rows and columns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shape </a:t>
            </a:r>
            <a:r>
              <a:rPr lang="en-GB"/>
              <a:t>property of a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array tells us how many rows and/or columns it has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33" name="Google Shape;133;gf719096817_0_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4" name="Google Shape;134;gf719096817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3422" y="3121872"/>
            <a:ext cx="3823150" cy="32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f719096817_0_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Slicing NumPy Arrays</a:t>
            </a:r>
            <a:endParaRPr/>
          </a:p>
        </p:txBody>
      </p:sp>
      <p:sp>
        <p:nvSpPr>
          <p:cNvPr id="140" name="Google Shape;140;gf719096817_0_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arrays can be sliced just like regular lists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colon operator allows us to choose a start, stop and step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comma after the end let’s us get the same index from each returned array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41" name="Google Shape;141;gf719096817_0_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2" name="Google Shape;142;gf719096817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9975" y="3015613"/>
            <a:ext cx="2228850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f719096817_0_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Pandas</a:t>
            </a:r>
            <a:endParaRPr/>
          </a:p>
        </p:txBody>
      </p:sp>
      <p:sp>
        <p:nvSpPr>
          <p:cNvPr id="148" name="Google Shape;148;gf719096817_0_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Pandas (short for Panel Data) is a package providing functionality similar to R's dataframe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Tables are represented as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pd.DataFrames</a:t>
            </a:r>
            <a:r>
              <a:rPr lang="en-GB"/>
              <a:t> and rows are represented as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pd.Series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syntax for Pandas is similar to the R dataframe syntax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49" name="Google Shape;149;gf719096817_0_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f719096817_0_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Pandas Series</a:t>
            </a:r>
            <a:endParaRPr/>
          </a:p>
        </p:txBody>
      </p:sp>
      <p:sp>
        <p:nvSpPr>
          <p:cNvPr id="155" name="Google Shape;155;gf719096817_0_48"/>
          <p:cNvSpPr txBox="1"/>
          <p:nvPr>
            <p:ph idx="1" type="body"/>
          </p:nvPr>
        </p:nvSpPr>
        <p:spPr>
          <a:xfrm>
            <a:off x="311700" y="1536625"/>
            <a:ext cx="42603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Series is an array of values with associated labels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Values can be accessed by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label </a:t>
            </a:r>
            <a:r>
              <a:rPr lang="en-GB"/>
              <a:t>or by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index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create a series by supplying NumPy arrays and labels as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lists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Or we can use a Python dictionary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56" name="Google Shape;156;gf719096817_0_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7" name="Google Shape;157;gf719096817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9451" y="1271575"/>
            <a:ext cx="4113924" cy="4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f719096817_0_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Pandas Series</a:t>
            </a:r>
            <a:endParaRPr/>
          </a:p>
        </p:txBody>
      </p:sp>
      <p:sp>
        <p:nvSpPr>
          <p:cNvPr id="163" name="Google Shape;163;gf719096817_0_5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have three ways of accessing a value from a Pandas Series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1. Using the column name with dot notation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2. Using the column names with square bracket notation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3. Using the column index with square bracket notation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64" name="Google Shape;164;gf719096817_0_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5" name="Google Shape;165;gf719096817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8350" y="3769400"/>
            <a:ext cx="506730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f719096817_0_6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Pandas DataFrame</a:t>
            </a:r>
            <a:endParaRPr/>
          </a:p>
        </p:txBody>
      </p:sp>
      <p:sp>
        <p:nvSpPr>
          <p:cNvPr id="171" name="Google Shape;171;gf719096817_0_6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easiest way to create a Pandas DataFrame is to use a list of python dictionaries.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dictionary key is taken to represent the column name while the value represents the value for that row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By creating a list of dictionaries we can gather together our initial data for creating a dataframe.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72" name="Google Shape;172;gf719096817_0_6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719096817_0_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Pandas DataFrame</a:t>
            </a:r>
            <a:endParaRPr/>
          </a:p>
        </p:txBody>
      </p:sp>
      <p:sp>
        <p:nvSpPr>
          <p:cNvPr id="178" name="Google Shape;178;gf719096817_0_6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9" name="Google Shape;179;gf719096817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753292"/>
            <a:ext cx="7248525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f719096817_0_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DataFrame from csv</a:t>
            </a:r>
            <a:endParaRPr/>
          </a:p>
        </p:txBody>
      </p:sp>
      <p:sp>
        <p:nvSpPr>
          <p:cNvPr id="185" name="Google Shape;185;gf719096817_0_7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also create a dataframe directly from a CSV file.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As with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read.csv</a:t>
            </a:r>
            <a:r>
              <a:rPr lang="en-GB"/>
              <a:t> 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read_csv </a:t>
            </a:r>
            <a:r>
              <a:rPr lang="en-GB"/>
              <a:t>functions in R, there are lots of parameters we can tweak to suit our data file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find a full list by looking up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documentation</a:t>
            </a:r>
            <a:endParaRPr/>
          </a:p>
        </p:txBody>
      </p:sp>
      <p:sp>
        <p:nvSpPr>
          <p:cNvPr id="186" name="Google Shape;186;gf719096817_0_7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7" name="Google Shape;187;gf719096817_0_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75" y="3331474"/>
            <a:ext cx="7808851" cy="29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719096817_0_7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Indexing and Slicing Columns</a:t>
            </a:r>
            <a:endParaRPr/>
          </a:p>
        </p:txBody>
      </p:sp>
      <p:sp>
        <p:nvSpPr>
          <p:cNvPr id="193" name="Google Shape;193;gf719096817_0_7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Columns can be accessed using dot notation or square bracket notation.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we want to access multiple columns we have to use square bracket notation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94" name="Google Shape;194;gf719096817_0_7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5" name="Google Shape;195;gf719096817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50" y="3347200"/>
            <a:ext cx="3586100" cy="24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f719096817_0_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9950" y="3300475"/>
            <a:ext cx="4536625" cy="303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f719096817_0_8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Indexing and Slicing Rows</a:t>
            </a:r>
            <a:endParaRPr/>
          </a:p>
        </p:txBody>
      </p:sp>
      <p:sp>
        <p:nvSpPr>
          <p:cNvPr id="202" name="Google Shape;202;gf719096817_0_8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select rows from a pandas dataframe using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.loc</a:t>
            </a:r>
            <a:r>
              <a:rPr lang="en-GB"/>
              <a:t> 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.iloc</a:t>
            </a:r>
            <a:r>
              <a:rPr lang="en-GB"/>
              <a:t> properties.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loc </a:t>
            </a:r>
            <a:r>
              <a:rPr lang="en-GB"/>
              <a:t>allows us to select rows and columns by name, whereas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iloc </a:t>
            </a:r>
            <a:r>
              <a:rPr lang="en-GB"/>
              <a:t>allows us to select rows and columns by index.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Usually rows have a numeric index (though it is possible to give rows a named index).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the index is numeric (as is default) we can use row indexing with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loc</a:t>
            </a:r>
            <a:endParaRPr/>
          </a:p>
        </p:txBody>
      </p:sp>
      <p:sp>
        <p:nvSpPr>
          <p:cNvPr id="203" name="Google Shape;203;gf719096817_0_8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719096817_0_9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Indexing and Slicing Rows</a:t>
            </a:r>
            <a:endParaRPr/>
          </a:p>
        </p:txBody>
      </p:sp>
      <p:sp>
        <p:nvSpPr>
          <p:cNvPr id="209" name="Google Shape;209;gf719096817_0_9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0" name="Google Shape;210;gf719096817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650" y="1678499"/>
            <a:ext cx="6411074" cy="451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f719096817_0_9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Logical Indexing</a:t>
            </a:r>
            <a:endParaRPr/>
          </a:p>
        </p:txBody>
      </p:sp>
      <p:sp>
        <p:nvSpPr>
          <p:cNvPr id="216" name="Google Shape;216;gf719096817_0_9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Just like with R,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.loc</a:t>
            </a:r>
            <a:r>
              <a:rPr lang="en-GB"/>
              <a:t> property can use logical indexing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we pass a vector the same length as our column it will return only rows corresponding 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True </a:t>
            </a:r>
            <a:r>
              <a:rPr lang="en-GB"/>
              <a:t>values in the indexer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17" name="Google Shape;217;gf719096817_0_9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8" name="Google Shape;218;gf719096817_0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438" y="3333538"/>
            <a:ext cx="7096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f719096817_0_10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Boolean Operators</a:t>
            </a:r>
            <a:endParaRPr/>
          </a:p>
        </p:txBody>
      </p:sp>
      <p:sp>
        <p:nvSpPr>
          <p:cNvPr id="224" name="Google Shape;224;gf719096817_0_10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Just like in R, we can combine conditions using logical-or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| </a:t>
            </a:r>
            <a:r>
              <a:rPr lang="en-GB"/>
              <a:t>and logical-and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&amp;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5" name="Google Shape;225;gf719096817_0_10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6" name="Google Shape;226;gf719096817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50" y="2762450"/>
            <a:ext cx="8843901" cy="315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f719096817_0_10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Query Syntax</a:t>
            </a:r>
            <a:endParaRPr/>
          </a:p>
        </p:txBody>
      </p:sp>
      <p:sp>
        <p:nvSpPr>
          <p:cNvPr id="232" name="Google Shape;232;gf719096817_0_10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As you may have noticed, a basic pandas query can result in quite a few keystrokes, particularly when the criteria is anything other than a single simple operation.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Pandas provides a special function,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query()</a:t>
            </a:r>
            <a:r>
              <a:rPr lang="en-GB"/>
              <a:t>, which allows you to use a shorter syntax for any of these expressions.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allows me, for example, to write the students' name query much more succinctly</a:t>
            </a:r>
            <a:endParaRPr/>
          </a:p>
        </p:txBody>
      </p:sp>
      <p:sp>
        <p:nvSpPr>
          <p:cNvPr id="233" name="Google Shape;233;gf719096817_0_10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f719096817_0_1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Query Syntax</a:t>
            </a:r>
            <a:endParaRPr/>
          </a:p>
        </p:txBody>
      </p:sp>
      <p:sp>
        <p:nvSpPr>
          <p:cNvPr id="239" name="Google Shape;239;gf719096817_0_11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0" name="Google Shape;240;gf719096817_0_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50" y="2654950"/>
            <a:ext cx="783907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f719096817_0_17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Setting Values using .loc</a:t>
            </a:r>
            <a:endParaRPr/>
          </a:p>
        </p:txBody>
      </p:sp>
      <p:sp>
        <p:nvSpPr>
          <p:cNvPr id="246" name="Google Shape;246;gf719096817_0_17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assign values using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.loc</a:t>
            </a:r>
            <a:r>
              <a:rPr lang="en-GB"/>
              <a:t>, just like with R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Simply follow up our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.loc</a:t>
            </a:r>
            <a:r>
              <a:rPr lang="en-GB"/>
              <a:t> statement with a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= value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47" name="Google Shape;247;gf719096817_0_17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8" name="Google Shape;248;gf719096817_0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250" y="3279949"/>
            <a:ext cx="8389499" cy="18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f719096817_0_18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Calculating Summary Statistics</a:t>
            </a:r>
            <a:endParaRPr/>
          </a:p>
        </p:txBody>
      </p:sp>
      <p:sp>
        <p:nvSpPr>
          <p:cNvPr id="254" name="Google Shape;254;gf719096817_0_18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Calculating summary statistics is similar in Python to R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R, we called the function and passed in the column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Python we call the function on the column object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mean(df$age)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Python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df.Age.mean()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More examples in the notebook!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55" name="Google Shape;255;gf719096817_0_18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719096817_0_18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261" name="Google Shape;261;gf719096817_0_18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2205"/>
              <a:t>In this section we learned about:</a:t>
            </a: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Numpy arrays and how they're equivalent to R vectors</a:t>
            </a: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Pandas dataframes and how they're similar to R's dataframes</a:t>
            </a: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Pandas Series, which represent rows of a dataframe</a:t>
            </a: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How to select rows and columns with </a:t>
            </a:r>
            <a:r>
              <a:rPr lang="en-GB" sz="2205">
                <a:latin typeface="Courier"/>
                <a:ea typeface="Courier"/>
                <a:cs typeface="Courier"/>
                <a:sym typeface="Courier"/>
              </a:rPr>
              <a:t>.loc</a:t>
            </a:r>
            <a:r>
              <a:rPr lang="en-GB" sz="2205"/>
              <a:t> and </a:t>
            </a:r>
            <a:r>
              <a:rPr lang="en-GB" sz="2205">
                <a:latin typeface="Courier"/>
                <a:ea typeface="Courier"/>
                <a:cs typeface="Courier"/>
                <a:sym typeface="Courier"/>
              </a:rPr>
              <a:t>.iloc</a:t>
            </a:r>
            <a:endParaRPr sz="2205">
              <a:latin typeface="Courier"/>
              <a:ea typeface="Courier"/>
              <a:cs typeface="Courier"/>
              <a:sym typeface="Courier"/>
            </a:endParaRPr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How to query using the </a:t>
            </a:r>
            <a:r>
              <a:rPr lang="en-GB" sz="2205">
                <a:latin typeface="Courier"/>
                <a:ea typeface="Courier"/>
                <a:cs typeface="Courier"/>
                <a:sym typeface="Courier"/>
              </a:rPr>
              <a:t>query()</a:t>
            </a:r>
            <a:r>
              <a:rPr lang="en-GB" sz="2205"/>
              <a:t> syntax</a:t>
            </a: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How to calculate summary statistics on Pandas dataframes </a:t>
            </a:r>
            <a:endParaRPr sz="220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br>
              <a:rPr lang="en-GB" sz="2205"/>
            </a:br>
            <a:r>
              <a:rPr lang="en-GB" sz="2205"/>
              <a:t>More practice on DataCamp:</a:t>
            </a:r>
            <a:br>
              <a:rPr lang="en-GB" sz="2205"/>
            </a:br>
            <a:br>
              <a:rPr lang="en-GB" sz="2205"/>
            </a:br>
            <a:r>
              <a:rPr lang="en-GB" sz="2105" u="sng">
                <a:solidFill>
                  <a:schemeClr val="hlink"/>
                </a:solidFill>
                <a:hlinkClick r:id="rId3"/>
              </a:rPr>
              <a:t>Data manipulation with Pandas</a:t>
            </a:r>
            <a:endParaRPr sz="210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2105" u="sng">
                <a:solidFill>
                  <a:schemeClr val="hlink"/>
                </a:solidFill>
                <a:hlinkClick r:id="rId4"/>
              </a:rPr>
              <a:t>Python for Data Science</a:t>
            </a:r>
            <a:endParaRPr sz="210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205"/>
          </a:p>
        </p:txBody>
      </p:sp>
      <p:sp>
        <p:nvSpPr>
          <p:cNvPr id="262" name="Google Shape;262;gf719096817_0_18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268" name="Google Shape;268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ff6cb839e_0_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Lab</a:t>
            </a:r>
            <a:endParaRPr/>
          </a:p>
        </p:txBody>
      </p:sp>
      <p:sp>
        <p:nvSpPr>
          <p:cNvPr id="274" name="Google Shape;274;geff6cb839e_0_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Lab week 8 on Brightspace</a:t>
            </a:r>
            <a:endParaRPr/>
          </a:p>
        </p:txBody>
      </p:sp>
      <p:sp>
        <p:nvSpPr>
          <p:cNvPr id="275" name="Google Shape;275;geff6cb839e_0_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