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1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C15D95-61D7-4184-A807-200870A820FC}">
  <a:tblStyle styleId="{B9C15D95-61D7-4184-A807-200870A820F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A47A9C9-8E86-418D-8889-90A746B2F8F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2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8e489bf3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7c8e489bf3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574d0346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574d0346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e574d03464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e574d03464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574d03464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e574d03464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574d03464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e574d03464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574d03464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574d03464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574d03464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e574d03464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ADP examples: binning and normalization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574d03464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e574d03464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0124533a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60124533a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0124533a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0124533a3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0124533a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60124533a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0124533a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60124533a3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e574d0346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e574d0346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0cd2920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60cd29204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60cd292043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60cd292043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60cd29204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60cd29204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764f421f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f764f421f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731f6e82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731f6e829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731f6e82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731f6e829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c1e99bab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0c1e99bab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e574d03464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e574d03464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60cd29204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60cd29204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60cd292043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60cd292043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60cd292043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60cd292043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60cd292043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60cd292043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60cd292043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60cd292043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60cd292043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60cd292043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60cd29204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60cd292043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60cd292043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60cd292043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60cd292043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60cd292043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60cd292043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60cd292043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60cd292043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60cd292043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60cd292043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60cd292043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60cd292043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60cd292043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e574d0346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e574d0346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c8fc7db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7c8fc7db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c8fc7dbf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7c8fc7dbf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c8fc7dbf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7c8fc7dbf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c8fc7dbf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c8fc7dbf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7c8fc7dbf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7c8fc7dbf8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7c8fc7dbf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7c8fc7dbf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60cd292043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60cd292043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e574d0346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e574d0346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_Pearson">
  <p:cSld name="Title and Content_Pears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1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sz="1200" b="0" i="1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1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alchemy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qlalchemy.org/en/20/core/engine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qlalchemy.org/en/20/core/metadata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qlalchemy.org/en/20/tutorial/data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bi.r-dbi.org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5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subTitle" idx="2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412000" y="756966"/>
          <a:ext cx="8029800" cy="5350825"/>
        </p:xfrm>
        <a:graphic>
          <a:graphicData uri="http://schemas.openxmlformats.org/drawingml/2006/table">
            <a:tbl>
              <a:tblPr>
                <a:noFill/>
                <a:tableStyleId>{B9C15D95-61D7-4184-A807-200870A820FC}</a:tableStyleId>
              </a:tblPr>
              <a:tblGrid>
                <a:gridCol w="178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1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Set up environment and R notebook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2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Review Python and practice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3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R, i</a:t>
                      </a:r>
                      <a:r>
                        <a:rPr lang="en-GB" sz="1200" u="none" strike="noStrike" cap="none"/>
                        <a:t>mporting data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4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5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lang="en-GB" sz="1200" b="1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b="1">
                        <a:solidFill>
                          <a:srgbClr val="E06666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6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 dirty="0"/>
                        <a:t>Interpreting Data (summary statistics, data visualisation)</a:t>
                      </a:r>
                      <a:endParaRPr sz="1200" u="none" strike="noStrike" cap="none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7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Review week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8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Data manipulation in R</a:t>
                      </a:r>
                      <a:endParaRPr sz="1200" u="none" strike="noStrike" cap="none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9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/>
                        <a:t>Data visualisation in Python</a:t>
                      </a:r>
                      <a:endParaRPr sz="12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 u="none" strike="noStrike" cap="none"/>
                        <a:t>Data processing (regular expressions) 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10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lang="en-GB" sz="1200" b="1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strike="noStrike" cap="none">
                        <a:solidFill>
                          <a:srgbClr val="E06666"/>
                        </a:solidFill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11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lang="en-GB" sz="1200" b="1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lang="en-GB" sz="1200" b="1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b="1" u="none" strike="noStrike" cap="none">
                        <a:solidFill>
                          <a:srgbClr val="E06666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</a:t>
                      </a:r>
                      <a:r>
                        <a:rPr lang="en-GB" sz="1200" b="1"/>
                        <a:t>12</a:t>
                      </a:r>
                      <a:endParaRPr sz="12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sz="12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/>
                        <a:t>Week 13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 dirty="0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b="1" u="sng" strike="noStrike" cap="none" dirty="0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strike="noStrike" cap="none" dirty="0">
                        <a:solidFill>
                          <a:srgbClr val="E06666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solidFill>
                  <a:srgbClr val="595959"/>
                </a:solidFill>
              </a:rPr>
              <a:t>Overview</a:t>
            </a:r>
            <a:endParaRPr dirty="0">
              <a:solidFill>
                <a:srgbClr val="595959"/>
              </a:solidFill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Intro relationship between R/Python and SQL databases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Establish connections to SQL databases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Analyse structure and data format of SQL databases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Retrieve data from SQL databases</a:t>
            </a:r>
            <a:endParaRPr dirty="0"/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 to Analytic Databases</a:t>
            </a:r>
            <a:endParaRPr dirty="0"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A (somewhat idealized) data lifecycle</a:t>
            </a:r>
            <a:endParaRPr dirty="0"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75" y="3132562"/>
            <a:ext cx="1363280" cy="13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311700" y="4677250"/>
            <a:ext cx="2631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dirty="0"/>
              <a:t>Web Application generates data</a:t>
            </a:r>
            <a:endParaRPr dirty="0"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1788" y="3167750"/>
            <a:ext cx="1292925" cy="129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8938" y="3076638"/>
            <a:ext cx="1475124" cy="147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8325" y="3295061"/>
            <a:ext cx="1688275" cy="103828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2501125" y="4740850"/>
            <a:ext cx="2631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 startAt="2"/>
            </a:pPr>
            <a:r>
              <a:rPr lang="en-GB" dirty="0"/>
              <a:t>Data is stored in database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18"/>
          <p:cNvSpPr txBox="1"/>
          <p:nvPr/>
        </p:nvSpPr>
        <p:spPr>
          <a:xfrm>
            <a:off x="4745500" y="4740850"/>
            <a:ext cx="2142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 startAt="3"/>
            </a:pPr>
            <a:r>
              <a:rPr lang="en-GB" dirty="0"/>
              <a:t>Data is extracted from database to flat file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18"/>
          <p:cNvSpPr txBox="1"/>
          <p:nvPr/>
        </p:nvSpPr>
        <p:spPr>
          <a:xfrm>
            <a:off x="6957012" y="4690317"/>
            <a:ext cx="1980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 startAt="4"/>
            </a:pPr>
            <a:r>
              <a:rPr lang="en-GB" dirty="0"/>
              <a:t>Data is processed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R / Python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Databases and Scripting Languages</a:t>
            </a:r>
            <a:endParaRPr dirty="0"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combination of databases and scripting languages offers a wide range of possibilities.</a:t>
            </a:r>
            <a:endParaRPr dirty="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With R and Python you can:</a:t>
            </a:r>
            <a:endParaRPr dirty="0"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62700" y="2941450"/>
            <a:ext cx="4509300" cy="3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-GB" sz="1500" b="1" dirty="0">
                <a:solidFill>
                  <a:schemeClr val="dk2"/>
                </a:solidFill>
              </a:rPr>
              <a:t>Establish connections</a:t>
            </a:r>
            <a:r>
              <a:rPr lang="en-GB" sz="1500" dirty="0">
                <a:solidFill>
                  <a:schemeClr val="dk2"/>
                </a:solidFill>
              </a:rPr>
              <a:t> to databases</a:t>
            </a:r>
            <a:endParaRPr sz="1500" dirty="0">
              <a:solidFill>
                <a:schemeClr val="dk2"/>
              </a:solidFill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-GB" sz="1500" b="1" dirty="0">
                <a:solidFill>
                  <a:schemeClr val="dk2"/>
                </a:solidFill>
              </a:rPr>
              <a:t>Retrieve </a:t>
            </a:r>
            <a:r>
              <a:rPr lang="en-GB" sz="1500" dirty="0">
                <a:solidFill>
                  <a:schemeClr val="dk2"/>
                </a:solidFill>
              </a:rPr>
              <a:t>specific datasets</a:t>
            </a:r>
            <a:endParaRPr sz="1500" dirty="0">
              <a:solidFill>
                <a:schemeClr val="dk2"/>
              </a:solidFill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-GB" sz="1500" dirty="0">
                <a:solidFill>
                  <a:schemeClr val="dk2"/>
                </a:solidFill>
              </a:rPr>
              <a:t>Perform</a:t>
            </a:r>
            <a:r>
              <a:rPr lang="en-GB" sz="1500" b="1" dirty="0">
                <a:solidFill>
                  <a:schemeClr val="dk2"/>
                </a:solidFill>
              </a:rPr>
              <a:t> intricate data manipulations</a:t>
            </a:r>
            <a:r>
              <a:rPr lang="en-GB" sz="1500" dirty="0">
                <a:solidFill>
                  <a:schemeClr val="dk2"/>
                </a:solidFill>
              </a:rPr>
              <a:t> without requiring extensive knowledge of database query languages:</a:t>
            </a:r>
            <a:endParaRPr sz="1500" dirty="0">
              <a:solidFill>
                <a:schemeClr val="dk2"/>
              </a:solidFill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</a:pPr>
            <a:r>
              <a:rPr lang="en-GB" sz="1500" dirty="0">
                <a:solidFill>
                  <a:schemeClr val="dk2"/>
                </a:solidFill>
              </a:rPr>
              <a:t>Handle </a:t>
            </a:r>
            <a:r>
              <a:rPr lang="en-GB" sz="1500" b="1" dirty="0">
                <a:solidFill>
                  <a:schemeClr val="dk2"/>
                </a:solidFill>
              </a:rPr>
              <a:t>missing values</a:t>
            </a:r>
            <a:endParaRPr sz="1500" b="1" dirty="0">
              <a:solidFill>
                <a:schemeClr val="dk2"/>
              </a:solidFill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</a:pPr>
            <a:r>
              <a:rPr lang="en-GB" sz="1500" b="1" dirty="0">
                <a:solidFill>
                  <a:schemeClr val="dk2"/>
                </a:solidFill>
              </a:rPr>
              <a:t>Standardize formats</a:t>
            </a:r>
            <a:endParaRPr sz="1500" b="1" dirty="0">
              <a:solidFill>
                <a:schemeClr val="dk2"/>
              </a:solidFill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</a:pPr>
            <a:r>
              <a:rPr lang="en-GB" sz="1500" b="1" dirty="0">
                <a:solidFill>
                  <a:schemeClr val="dk2"/>
                </a:solidFill>
              </a:rPr>
              <a:t>Restructure data</a:t>
            </a:r>
            <a:r>
              <a:rPr lang="en-GB" sz="1500" dirty="0">
                <a:solidFill>
                  <a:schemeClr val="dk2"/>
                </a:solidFill>
              </a:rPr>
              <a:t> to prepare it for analysis</a:t>
            </a:r>
            <a:endParaRPr sz="1500" dirty="0">
              <a:solidFill>
                <a:schemeClr val="dk2"/>
              </a:solidFill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107" name="Google Shape;107;p19"/>
          <p:cNvSpPr txBox="1"/>
          <p:nvPr/>
        </p:nvSpPr>
        <p:spPr>
          <a:xfrm>
            <a:off x="3827275" y="2910700"/>
            <a:ext cx="50802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-GB" sz="1500">
                <a:solidFill>
                  <a:schemeClr val="dk2"/>
                </a:solidFill>
              </a:rPr>
              <a:t>Perform </a:t>
            </a:r>
            <a:r>
              <a:rPr lang="en-GB" sz="1500" b="1">
                <a:solidFill>
                  <a:schemeClr val="dk2"/>
                </a:solidFill>
              </a:rPr>
              <a:t>complex data analysis</a:t>
            </a:r>
            <a:r>
              <a:rPr lang="en-GB" sz="1500">
                <a:solidFill>
                  <a:schemeClr val="dk2"/>
                </a:solidFill>
              </a:rPr>
              <a:t> and computations</a:t>
            </a:r>
            <a:endParaRPr sz="1500">
              <a:solidFill>
                <a:schemeClr val="dk2"/>
              </a:solidFill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-GB" sz="1500">
                <a:solidFill>
                  <a:schemeClr val="dk2"/>
                </a:solidFill>
              </a:rPr>
              <a:t>Create </a:t>
            </a:r>
            <a:r>
              <a:rPr lang="en-GB" sz="1500" b="1">
                <a:solidFill>
                  <a:schemeClr val="dk2"/>
                </a:solidFill>
              </a:rPr>
              <a:t>compelling visualizations</a:t>
            </a:r>
            <a:r>
              <a:rPr lang="en-GB" sz="1500">
                <a:solidFill>
                  <a:schemeClr val="dk2"/>
                </a:solidFill>
              </a:rPr>
              <a:t>, allowing you to represent data trends, patterns, and relationships through graphs, charts, and interactive plots</a:t>
            </a:r>
            <a:endParaRPr sz="1500">
              <a:solidFill>
                <a:schemeClr val="dk2"/>
              </a:solidFill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-GB" sz="1500">
                <a:solidFill>
                  <a:schemeClr val="dk2"/>
                </a:solidFill>
              </a:rPr>
              <a:t>Perform </a:t>
            </a:r>
            <a:r>
              <a:rPr lang="en-GB" sz="1500" b="1">
                <a:solidFill>
                  <a:schemeClr val="dk2"/>
                </a:solidFill>
              </a:rPr>
              <a:t>iterative exploration</a:t>
            </a:r>
            <a:r>
              <a:rPr lang="en-GB" sz="1500">
                <a:solidFill>
                  <a:schemeClr val="dk2"/>
                </a:solidFill>
              </a:rPr>
              <a:t>: retrieve data from databases, analyze it, gain insights, and then refine analysis based on findings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022" y="255372"/>
            <a:ext cx="1975475" cy="12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Databases and Scripting Languages</a:t>
            </a:r>
            <a:br>
              <a:rPr lang="en-GB"/>
            </a:br>
            <a:r>
              <a:rPr lang="en-GB" sz="2244"/>
              <a:t>Drawbacks</a:t>
            </a:r>
            <a:endParaRPr sz="2244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7652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Some </a:t>
            </a:r>
            <a:r>
              <a:rPr lang="en-GB" b="1"/>
              <a:t>drawbacks </a:t>
            </a:r>
            <a:r>
              <a:rPr lang="en-GB"/>
              <a:t>can also arise from this combination:</a:t>
            </a:r>
            <a:endParaRPr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Different databases use </a:t>
            </a:r>
            <a:r>
              <a:rPr lang="en-GB" sz="2200" b="1"/>
              <a:t>varying data formats and structures</a:t>
            </a:r>
            <a:endParaRPr sz="2200" b="1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b="1"/>
              <a:t>Performance bottlenecks</a:t>
            </a:r>
            <a:r>
              <a:rPr lang="en-GB" sz="2200"/>
              <a:t> for very large datasets</a:t>
            </a:r>
            <a:endParaRPr sz="220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b="1"/>
              <a:t>Security risks</a:t>
            </a:r>
            <a:r>
              <a:rPr lang="en-GB" sz="2200"/>
              <a:t> for when transferring sensitive data</a:t>
            </a:r>
            <a:endParaRPr sz="220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b="1"/>
              <a:t>Proficiency </a:t>
            </a:r>
            <a:r>
              <a:rPr lang="en-GB" sz="2200"/>
              <a:t>in both databases and scripting languages</a:t>
            </a:r>
            <a:endParaRPr/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022" y="255372"/>
            <a:ext cx="1975475" cy="12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Databases and Scripting Languages</a:t>
            </a:r>
            <a:br>
              <a:rPr lang="en-GB"/>
            </a:br>
            <a:r>
              <a:rPr lang="en-GB" sz="2244"/>
              <a:t>Alternatives</a:t>
            </a:r>
            <a:endParaRPr sz="2244"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311700" y="16128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Most database management systems offer a good range of analytical SQL functions, procedural languages, and ML capabilities that can be performed in the database.</a:t>
            </a:r>
            <a:endParaRPr sz="1900"/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022" y="255372"/>
            <a:ext cx="1975475" cy="1221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21"/>
          <p:cNvGraphicFramePr/>
          <p:nvPr/>
        </p:nvGraphicFramePr>
        <p:xfrm>
          <a:off x="559600" y="3120200"/>
          <a:ext cx="8130725" cy="2895425"/>
        </p:xfrm>
        <a:graphic>
          <a:graphicData uri="http://schemas.openxmlformats.org/drawingml/2006/table">
            <a:tbl>
              <a:tblPr>
                <a:noFill/>
                <a:tableStyleId>{CA47A9C9-8E86-418D-8889-90A746B2F8FC}</a:tableStyleId>
              </a:tblPr>
              <a:tblGrid>
                <a:gridCol w="145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DBMS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Procedural languages</a:t>
                      </a:r>
                      <a:endParaRPr sz="15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PostgreSQL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PL/pgSQL (similar to Oracle's PL/SQL), PL/Python, PL/Tcl, and PL/Perl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Oracle Database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PL/SQL (specifically designed for database programming)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Microsoft SQL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Transact-SQL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MySQL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Stored program language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SQLite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 API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6" name="Google Shape;126;p21"/>
          <p:cNvSpPr txBox="1"/>
          <p:nvPr/>
        </p:nvSpPr>
        <p:spPr>
          <a:xfrm>
            <a:off x="2392555" y="6001131"/>
            <a:ext cx="538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Examples of procedural languages for differents DBMs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Databases and Scripting Languages</a:t>
            </a:r>
            <a:br>
              <a:rPr lang="en-GB"/>
            </a:br>
            <a:r>
              <a:rPr lang="en-GB" sz="2244"/>
              <a:t>Alternatives</a:t>
            </a:r>
            <a:endParaRPr sz="2244"/>
          </a:p>
        </p:txBody>
      </p:sp>
      <p:sp>
        <p:nvSpPr>
          <p:cNvPr id="132" name="Google Shape;132;p22"/>
          <p:cNvSpPr txBox="1">
            <a:spLocks noGrp="1"/>
          </p:cNvSpPr>
          <p:nvPr>
            <p:ph type="body" idx="1"/>
          </p:nvPr>
        </p:nvSpPr>
        <p:spPr>
          <a:xfrm>
            <a:off x="311700" y="16128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Most database management systems offer a good range of analytical SQL functions, procedural languages, and ML capabilities that can be performed in the database.</a:t>
            </a:r>
            <a:endParaRPr sz="1900"/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133" name="Google Shape;133;p2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022" y="255372"/>
            <a:ext cx="1975475" cy="1221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22"/>
          <p:cNvGraphicFramePr/>
          <p:nvPr/>
        </p:nvGraphicFramePr>
        <p:xfrm>
          <a:off x="559600" y="3120200"/>
          <a:ext cx="8130725" cy="2895425"/>
        </p:xfrm>
        <a:graphic>
          <a:graphicData uri="http://schemas.openxmlformats.org/drawingml/2006/table">
            <a:tbl>
              <a:tblPr>
                <a:noFill/>
                <a:tableStyleId>{CA47A9C9-8E86-418D-8889-90A746B2F8FC}</a:tableStyleId>
              </a:tblPr>
              <a:tblGrid>
                <a:gridCol w="145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DBMS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/>
                        <a:t>Procedural languages</a:t>
                      </a:r>
                      <a:endParaRPr sz="15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PostgreSQL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PL/pgSQL (similar to Oracle's PL/SQL), PL/Python, PL/Tcl, and PL/Perl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Oracle Database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PL/SQL (specifically designed for database programming)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Microsoft SQL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Transact-SQL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MySQL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Stored program language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SQLite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/>
                        <a:t>C API</a:t>
                      </a:r>
                      <a:endParaRPr sz="1500"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6" name="Google Shape;136;p22"/>
          <p:cNvSpPr txBox="1"/>
          <p:nvPr/>
        </p:nvSpPr>
        <p:spPr>
          <a:xfrm>
            <a:off x="2392555" y="6001131"/>
            <a:ext cx="538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Examples of procedural languages for differents DBMs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37" name="Google Shape;137;p22"/>
          <p:cNvSpPr txBox="1"/>
          <p:nvPr/>
        </p:nvSpPr>
        <p:spPr>
          <a:xfrm>
            <a:off x="4963995" y="2528744"/>
            <a:ext cx="514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</a:rPr>
              <a:t>Not in the scope of the course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38" name="Google Shape;138;p22"/>
          <p:cNvCxnSpPr>
            <a:endCxn id="139" idx="0"/>
          </p:cNvCxnSpPr>
          <p:nvPr/>
        </p:nvCxnSpPr>
        <p:spPr>
          <a:xfrm flipH="1">
            <a:off x="4647011" y="2711059"/>
            <a:ext cx="317100" cy="382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9" name="Google Shape;139;p22"/>
          <p:cNvSpPr/>
          <p:nvPr/>
        </p:nvSpPr>
        <p:spPr>
          <a:xfrm>
            <a:off x="570611" y="3093259"/>
            <a:ext cx="8152800" cy="291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325" y="1585475"/>
            <a:ext cx="6848051" cy="4909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Databases and Scripting Languages</a:t>
            </a:r>
            <a:br>
              <a:rPr lang="en-GB"/>
            </a:br>
            <a:r>
              <a:rPr lang="en-GB" sz="2244"/>
              <a:t>Alternatives</a:t>
            </a:r>
            <a:endParaRPr sz="2244"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7022" y="255372"/>
            <a:ext cx="1975475" cy="12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/>
        </p:nvSpPr>
        <p:spPr>
          <a:xfrm>
            <a:off x="6250675" y="1967925"/>
            <a:ext cx="2803200" cy="615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</a:rPr>
              <a:t>Example of Oracle PL/SQL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0000"/>
                </a:solidFill>
              </a:rPr>
              <a:t>Not in the scope of the course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311700" y="6695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SQLAlchemy</a:t>
            </a: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311700" y="1384225"/>
            <a:ext cx="4933200" cy="48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Python we are going to use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SQLAlchemy</a:t>
            </a:r>
            <a:r>
              <a:rPr lang="en-GB"/>
              <a:t> package.</a:t>
            </a:r>
            <a:endParaRPr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Powerful and popular open-source SQL toolkit</a:t>
            </a:r>
            <a:endParaRPr sz="220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allows users to:</a:t>
            </a:r>
            <a:endParaRPr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Connect databases using Python language</a:t>
            </a:r>
            <a:endParaRPr sz="220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Run SQL queries using object-based programming</a:t>
            </a:r>
            <a:endParaRPr sz="220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Streamline the workflow. </a:t>
            </a:r>
            <a:endParaRPr sz="2200"/>
          </a:p>
        </p:txBody>
      </p:sp>
      <p:sp>
        <p:nvSpPr>
          <p:cNvPr id="155" name="Google Shape;155;p2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0075" y="2030075"/>
            <a:ext cx="3782226" cy="252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5663" y="4676233"/>
            <a:ext cx="285750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Establishing connections to PostgreSQL</a:t>
            </a:r>
            <a:endParaRPr dirty="0"/>
          </a:p>
        </p:txBody>
      </p:sp>
      <p:sp>
        <p:nvSpPr>
          <p:cNvPr id="163" name="Google Shape;163;p2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164" name="Google Shape;164;p25"/>
          <p:cNvSpPr txBox="1"/>
          <p:nvPr/>
        </p:nvSpPr>
        <p:spPr>
          <a:xfrm>
            <a:off x="307164" y="1559022"/>
            <a:ext cx="9791700" cy="54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45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sqlalchemy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45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45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db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 </a:t>
            </a:r>
            <a:r>
              <a:rPr lang="en-GB" sz="145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psycopg2</a:t>
            </a:r>
            <a:endParaRPr sz="1450" b="1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 </a:t>
            </a:r>
            <a:r>
              <a:rPr lang="en-GB" sz="1450" b="1" dirty="0" err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sqlalchemy</a:t>
            </a:r>
            <a:r>
              <a:rPr lang="en-GB" sz="145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45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 </a:t>
            </a:r>
            <a:r>
              <a:rPr lang="en-GB" sz="145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endParaRPr sz="1450" b="1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user = </a:t>
            </a:r>
            <a:r>
              <a:rPr lang="en-GB" sz="145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en-GB" sz="145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postgres</a:t>
            </a:r>
            <a:r>
              <a:rPr lang="en-GB" sz="145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password = </a:t>
            </a:r>
            <a:r>
              <a:rPr lang="en-GB" sz="145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en-GB" sz="145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admin@asd</a:t>
            </a:r>
            <a:r>
              <a:rPr lang="en-GB" sz="145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host = </a:t>
            </a:r>
            <a:r>
              <a:rPr lang="en-GB" sz="145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'localhost'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port = </a:t>
            </a:r>
            <a:r>
              <a:rPr lang="en-GB" sz="1450" b="1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5432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database = </a:t>
            </a:r>
            <a:r>
              <a:rPr lang="en-GB" sz="145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'students'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engine = </a:t>
            </a:r>
            <a:r>
              <a:rPr lang="en-GB" sz="145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db.create_engine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45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en-GB" sz="145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postgresql</a:t>
            </a:r>
            <a:r>
              <a:rPr lang="en-GB" sz="145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://{0}:{1}@{2}:{3}/{4}'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GB" sz="1450" b="1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format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(user,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        password,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        host,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        port,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               database))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conn = </a:t>
            </a:r>
            <a:r>
              <a:rPr lang="en-GB" sz="145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engine.connect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result = </a:t>
            </a:r>
            <a:r>
              <a:rPr lang="en-GB" sz="145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conn.execute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(text(</a:t>
            </a:r>
            <a:r>
              <a:rPr lang="en-GB" sz="145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"SELECT * FROM student"</a:t>
            </a:r>
            <a:r>
              <a:rPr lang="en-GB" sz="1450" b="1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print all results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row </a:t>
            </a:r>
            <a:r>
              <a:rPr lang="en-GB" sz="145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result: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45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45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(row)</a:t>
            </a:r>
            <a:endParaRPr sz="145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b="1" dirty="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Establishing connections to PostgreSQL</a:t>
            </a:r>
            <a:endParaRPr dirty="0"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93867"/>
            <a:ext cx="8839200" cy="266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Establishing connections to SQL databases</a:t>
            </a:r>
            <a:endParaRPr dirty="0"/>
          </a:p>
        </p:txBody>
      </p:sp>
      <p:sp>
        <p:nvSpPr>
          <p:cNvPr id="178" name="Google Shape;178;p27"/>
          <p:cNvSpPr txBox="1">
            <a:spLocks noGrp="1"/>
          </p:cNvSpPr>
          <p:nvPr>
            <p:ph type="body" idx="1"/>
          </p:nvPr>
        </p:nvSpPr>
        <p:spPr>
          <a:xfrm>
            <a:off x="311700" y="13842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Connection strings for other engines can be seen in the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-GB" dirty="0"/>
              <a:t>.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For example:</a:t>
            </a:r>
            <a:endParaRPr dirty="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b="1" dirty="0"/>
              <a:t>SQLite</a:t>
            </a:r>
            <a:br>
              <a:rPr lang="en-GB" dirty="0"/>
            </a:br>
            <a:br>
              <a:rPr lang="en-GB" dirty="0"/>
            </a:br>
            <a:endParaRPr dirty="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b="1" dirty="0"/>
              <a:t>Oracle</a:t>
            </a:r>
            <a:endParaRPr b="1" dirty="0"/>
          </a:p>
        </p:txBody>
      </p:sp>
      <p:sp>
        <p:nvSpPr>
          <p:cNvPr id="179" name="Google Shape;179;p27"/>
          <p:cNvSpPr txBox="1"/>
          <p:nvPr/>
        </p:nvSpPr>
        <p:spPr>
          <a:xfrm>
            <a:off x="399131" y="3325150"/>
            <a:ext cx="108699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sqlite://&lt;nohostname&gt;/&lt;path&gt;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where &lt;path&gt; is relative: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engine = </a:t>
            </a:r>
            <a:r>
              <a:rPr lang="en-GB" sz="15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create_engine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5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sqlite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:///</a:t>
            </a:r>
            <a:r>
              <a:rPr lang="en-GB" sz="15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foo.db</a:t>
            </a:r>
            <a:r>
              <a:rPr lang="en-GB" sz="15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5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369175" y="4569688"/>
            <a:ext cx="10442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engine = </a:t>
            </a:r>
            <a:r>
              <a:rPr lang="en-GB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create_engine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"oracle://scott:tiger@127.0.0.1:1521/</a:t>
            </a:r>
            <a:r>
              <a:rPr lang="en-GB" sz="16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sidname</a:t>
            </a:r>
            <a:r>
              <a:rPr lang="en-GB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engine = </a:t>
            </a:r>
            <a:r>
              <a:rPr lang="en-GB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create_engine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6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oracle+cx_oracle</a:t>
            </a:r>
            <a:r>
              <a:rPr lang="en-GB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://</a:t>
            </a:r>
            <a:r>
              <a:rPr lang="en-GB" sz="1600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scott:tiger@tnsname</a:t>
            </a:r>
            <a:r>
              <a:rPr lang="en-GB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</a:t>
            </a:r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1"/>
          </p:nvPr>
        </p:nvSpPr>
        <p:spPr>
          <a:xfrm>
            <a:off x="311700" y="13842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Connect to the database created for the last lab and print the data in the student table </a:t>
            </a:r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Loading tables</a:t>
            </a:r>
            <a:endParaRPr dirty="0"/>
          </a:p>
        </p:txBody>
      </p:sp>
      <p:sp>
        <p:nvSpPr>
          <p:cNvPr id="193" name="Google Shape;193;p29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5359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 err="1"/>
              <a:t>SQLAlchemy</a:t>
            </a:r>
            <a:r>
              <a:rPr lang="en-GB" dirty="0"/>
              <a:t> can automatically load tables using something called </a:t>
            </a:r>
            <a:r>
              <a:rPr lang="en-GB" b="1" dirty="0"/>
              <a:t>reflection</a:t>
            </a:r>
            <a:r>
              <a:rPr lang="en-GB" dirty="0"/>
              <a:t>. 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Reflection is the process of </a:t>
            </a:r>
            <a:r>
              <a:rPr lang="en-GB" b="1" dirty="0"/>
              <a:t>reading the database</a:t>
            </a:r>
            <a:r>
              <a:rPr lang="en-GB" dirty="0"/>
              <a:t> and building its </a:t>
            </a:r>
            <a:r>
              <a:rPr lang="en-GB" b="1" dirty="0"/>
              <a:t>metadata</a:t>
            </a:r>
            <a:r>
              <a:rPr lang="en-GB" dirty="0"/>
              <a:t>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To perform reflection, you will first need to import and initialize a </a:t>
            </a:r>
            <a:r>
              <a:rPr lang="en-GB" b="1" u="sng" dirty="0" err="1">
                <a:solidFill>
                  <a:schemeClr val="hlink"/>
                </a:solidFill>
                <a:hlinkClick r:id="rId3"/>
              </a:rPr>
              <a:t>MetaData</a:t>
            </a:r>
            <a:r>
              <a:rPr lang="en-GB" b="1" dirty="0"/>
              <a:t> object</a:t>
            </a:r>
            <a:r>
              <a:rPr lang="en-GB" dirty="0"/>
              <a:t>. </a:t>
            </a:r>
            <a:endParaRPr dirty="0"/>
          </a:p>
        </p:txBody>
      </p:sp>
      <p:sp>
        <p:nvSpPr>
          <p:cNvPr id="194" name="Google Shape;194;p2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275" y="2575492"/>
            <a:ext cx="3167701" cy="1978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MetaData</a:t>
            </a:r>
            <a:r>
              <a:rPr lang="en-GB" dirty="0"/>
              <a:t> object</a:t>
            </a:r>
            <a:endParaRPr dirty="0"/>
          </a:p>
        </p:txBody>
      </p:sp>
      <p:sp>
        <p:nvSpPr>
          <p:cNvPr id="201" name="Google Shape;201;p30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85755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</a:t>
            </a:r>
            <a:r>
              <a:rPr lang="en-GB" dirty="0" err="1"/>
              <a:t>MetaData</a:t>
            </a:r>
            <a:r>
              <a:rPr lang="en-GB" dirty="0"/>
              <a:t> object will be populated with information about the reflected tables automatically.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It only needs to be </a:t>
            </a:r>
            <a:r>
              <a:rPr lang="en-GB" b="1" dirty="0"/>
              <a:t>initialized before reflecting</a:t>
            </a:r>
            <a:r>
              <a:rPr lang="en-GB" dirty="0"/>
              <a:t> by calling </a:t>
            </a:r>
            <a:r>
              <a:rPr lang="en-GB" dirty="0" err="1">
                <a:latin typeface="Courier"/>
                <a:ea typeface="Courier"/>
                <a:cs typeface="Courier"/>
                <a:sym typeface="Courier"/>
              </a:rPr>
              <a:t>MetaData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()</a:t>
            </a:r>
            <a:r>
              <a:rPr lang="en-GB" dirty="0"/>
              <a:t>.</a:t>
            </a:r>
            <a:endParaRPr dirty="0"/>
          </a:p>
        </p:txBody>
      </p:sp>
      <p:sp>
        <p:nvSpPr>
          <p:cNvPr id="202" name="Google Shape;202;p3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776225" y="3819675"/>
            <a:ext cx="79746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sqlalchemy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db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metadata_obj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db.MetaData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lang="en-GB" sz="22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initialize</a:t>
            </a:r>
            <a:endParaRPr sz="2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metadata_obj.reflect</a:t>
            </a:r>
            <a:r>
              <a:rPr lang="en-GB" sz="2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(bind=engine) </a:t>
            </a:r>
            <a:r>
              <a:rPr lang="en-GB" sz="22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reflect</a:t>
            </a:r>
            <a:endParaRPr sz="2200" dirty="0">
              <a:solidFill>
                <a:srgbClr val="D81B6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MetaData</a:t>
            </a:r>
            <a:r>
              <a:rPr lang="en-GB" dirty="0"/>
              <a:t> object</a:t>
            </a:r>
            <a:endParaRPr dirty="0"/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85755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</a:t>
            </a:r>
            <a:r>
              <a:rPr lang="en-GB" dirty="0" err="1"/>
              <a:t>MetaData</a:t>
            </a:r>
            <a:r>
              <a:rPr lang="en-GB" dirty="0"/>
              <a:t> supports a few methods of accessing these table objects.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</a:t>
            </a:r>
            <a:r>
              <a:rPr lang="en-GB" b="1" dirty="0" err="1">
                <a:solidFill>
                  <a:srgbClr val="4A86E8"/>
                </a:solidFill>
                <a:latin typeface="Courier"/>
                <a:ea typeface="Courier"/>
                <a:cs typeface="Courier"/>
                <a:sym typeface="Courier"/>
              </a:rPr>
              <a:t>sorted_tables</a:t>
            </a:r>
            <a:r>
              <a:rPr lang="en-GB" dirty="0"/>
              <a:t> method which returns a list of each table object in order of foreign key dependency.</a:t>
            </a:r>
            <a:endParaRPr dirty="0"/>
          </a:p>
        </p:txBody>
      </p:sp>
      <p:sp>
        <p:nvSpPr>
          <p:cNvPr id="210" name="Google Shape;210;p3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75" y="3553825"/>
            <a:ext cx="8748851" cy="20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MetaData object</a:t>
            </a:r>
            <a:endParaRPr/>
          </a:p>
        </p:txBody>
      </p:sp>
      <p:sp>
        <p:nvSpPr>
          <p:cNvPr id="217" name="Google Shape;217;p32"/>
          <p:cNvSpPr txBox="1">
            <a:spLocks noGrp="1"/>
          </p:cNvSpPr>
          <p:nvPr>
            <p:ph type="body" idx="1"/>
          </p:nvPr>
        </p:nvSpPr>
        <p:spPr>
          <a:xfrm>
            <a:off x="311700" y="1308025"/>
            <a:ext cx="85755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You can also use the </a:t>
            </a:r>
            <a:r>
              <a:rPr lang="en-GB" dirty="0" err="1"/>
              <a:t>MetaData</a:t>
            </a:r>
            <a:r>
              <a:rPr lang="en-GB" dirty="0"/>
              <a:t> object to </a:t>
            </a:r>
            <a:r>
              <a:rPr lang="en-GB" b="1" dirty="0"/>
              <a:t>modify the database</a:t>
            </a:r>
            <a:r>
              <a:rPr lang="en-GB" dirty="0"/>
              <a:t>.</a:t>
            </a:r>
            <a:endParaRPr dirty="0"/>
          </a:p>
        </p:txBody>
      </p:sp>
      <p:sp>
        <p:nvSpPr>
          <p:cNvPr id="218" name="Google Shape;218;p3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  <p:sp>
        <p:nvSpPr>
          <p:cNvPr id="219" name="Google Shape;219;p32"/>
          <p:cNvSpPr txBox="1"/>
          <p:nvPr/>
        </p:nvSpPr>
        <p:spPr>
          <a:xfrm>
            <a:off x="449850" y="1785925"/>
            <a:ext cx="7899900" cy="47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from </a:t>
            </a: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sqlalchemy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import 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Table, Column, Integer, String, </a:t>
            </a: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metadata_obj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db.MetaData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user = Table(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metadata_obj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Integer, </a:t>
            </a: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primary_key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130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user_name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nullable=</a:t>
            </a:r>
            <a:r>
              <a:rPr lang="en-GB" sz="130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email_address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60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key=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"email"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"nickname"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nullable=</a:t>
            </a:r>
            <a:r>
              <a:rPr lang="en-GB" sz="130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user_prefs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Table(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user_prefs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metadata_obj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pref_id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Integer, </a:t>
            </a: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primary_key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130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Integer, </a:t>
            </a: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ForeignKey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user.user_id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nullable=</a:t>
            </a:r>
            <a:r>
              <a:rPr lang="en-GB" sz="130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pref_name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40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nullable=</a:t>
            </a:r>
            <a:r>
              <a:rPr lang="en-GB" sz="1300" b="1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 err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pref_value</a:t>
            </a:r>
            <a:r>
              <a:rPr lang="en-GB" sz="1300" b="1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 dirty="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)),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metadata_obj.create_all</a:t>
            </a:r>
            <a:r>
              <a:rPr lang="en-GB" sz="13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(engine)</a:t>
            </a:r>
            <a:endParaRPr sz="13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MetaData object</a:t>
            </a:r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body" idx="1"/>
          </p:nvPr>
        </p:nvSpPr>
        <p:spPr>
          <a:xfrm>
            <a:off x="311700" y="1308025"/>
            <a:ext cx="85755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also use the MetaData object to </a:t>
            </a:r>
            <a:r>
              <a:rPr lang="en-GB" b="1"/>
              <a:t>modify the database</a:t>
            </a:r>
            <a:r>
              <a:rPr lang="en-GB"/>
              <a:t>.</a:t>
            </a:r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449850" y="1785925"/>
            <a:ext cx="7899900" cy="47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from 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sqlalchemy 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import 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Table, Column, Integer, String, MetaData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metadata_obj = db.MetaData()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user = Table(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metadata_obj,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"user_id"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Integer, primary_key=</a:t>
            </a:r>
            <a:r>
              <a:rPr lang="en-GB" sz="1300" b="1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"user_name"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nullable=</a:t>
            </a:r>
            <a:r>
              <a:rPr lang="en-GB" sz="1300" b="1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"email_address"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60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key=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"email"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"nickname"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nullable=</a:t>
            </a:r>
            <a:r>
              <a:rPr lang="en-GB" sz="1300" b="1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user_prefs = Table(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"user_prefs"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metadata_obj,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"pref_id"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Integer, primary_key=</a:t>
            </a:r>
            <a:r>
              <a:rPr lang="en-GB" sz="1300" b="1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"user_id"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Integer, ForeignKey(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"user.user_id"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nullable=</a:t>
            </a:r>
            <a:r>
              <a:rPr lang="en-GB" sz="1300" b="1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"pref_name"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40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nullable=</a:t>
            </a:r>
            <a:r>
              <a:rPr lang="en-GB" sz="1300" b="1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Column(</a:t>
            </a:r>
            <a:r>
              <a:rPr lang="en-GB" sz="1300" b="1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"pref_value"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String(</a:t>
            </a:r>
            <a:r>
              <a:rPr lang="en-GB" sz="1300" b="1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)),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metadata_obj.create_all(engine)</a:t>
            </a:r>
            <a:endParaRPr sz="1300" b="1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8" name="Google Shape;228;p33"/>
          <p:cNvSpPr/>
          <p:nvPr/>
        </p:nvSpPr>
        <p:spPr>
          <a:xfrm>
            <a:off x="449850" y="1828525"/>
            <a:ext cx="7625700" cy="4701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3"/>
          <p:cNvSpPr txBox="1"/>
          <p:nvPr/>
        </p:nvSpPr>
        <p:spPr>
          <a:xfrm>
            <a:off x="5313175" y="2504375"/>
            <a:ext cx="2055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FF0000"/>
                </a:solidFill>
              </a:rPr>
              <a:t>Not so relevant to us</a:t>
            </a:r>
            <a:endParaRPr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Extracting the ERD</a:t>
            </a:r>
            <a:endParaRPr dirty="0"/>
          </a:p>
        </p:txBody>
      </p:sp>
      <p:sp>
        <p:nvSpPr>
          <p:cNvPr id="235" name="Google Shape;235;p34"/>
          <p:cNvSpPr txBox="1">
            <a:spLocks noGrp="1"/>
          </p:cNvSpPr>
          <p:nvPr>
            <p:ph type="body" idx="1"/>
          </p:nvPr>
        </p:nvSpPr>
        <p:spPr>
          <a:xfrm>
            <a:off x="311700" y="13842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Another Python module </a:t>
            </a:r>
            <a:r>
              <a:rPr lang="en-GB" b="1" dirty="0" err="1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sqlalchemy_schemadisplay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can be used to </a:t>
            </a:r>
            <a:r>
              <a:rPr lang="en-GB" b="1" dirty="0"/>
              <a:t>turn </a:t>
            </a:r>
            <a:r>
              <a:rPr lang="en-GB" b="1" dirty="0" err="1"/>
              <a:t>SQLAlchemy</a:t>
            </a:r>
            <a:r>
              <a:rPr lang="en-GB" b="1" dirty="0"/>
              <a:t> DB Model into a graph.</a:t>
            </a:r>
            <a:br>
              <a:rPr lang="en-GB" b="1" dirty="0"/>
            </a:br>
            <a:endParaRPr b="1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It also requires </a:t>
            </a:r>
            <a:r>
              <a:rPr lang="en-GB" b="1" dirty="0" err="1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pydot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along with </a:t>
            </a:r>
            <a:r>
              <a:rPr lang="en-GB" b="1" dirty="0" err="1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graphviz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for this.</a:t>
            </a:r>
            <a:endParaRPr dirty="0"/>
          </a:p>
        </p:txBody>
      </p:sp>
      <p:sp>
        <p:nvSpPr>
          <p:cNvPr id="236" name="Google Shape;236;p3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635" y="4992078"/>
            <a:ext cx="4440475" cy="14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/>
          <p:nvPr/>
        </p:nvSpPr>
        <p:spPr>
          <a:xfrm>
            <a:off x="469700" y="3404525"/>
            <a:ext cx="7473300" cy="16623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sqlalchemy_schemadisplay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create_schema_graph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graph = </a:t>
            </a:r>
            <a:r>
              <a:rPr lang="en-GB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create_schema_graph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(engine=engine,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200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metadata=</a:t>
            </a:r>
            <a:r>
              <a:rPr lang="en-GB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metadata_obj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</a:t>
            </a:r>
            <a:r>
              <a:rPr lang="en-GB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rankdir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'LR'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16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Left to right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graph.write_png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'erd.png'</a:t>
            </a:r>
            <a:r>
              <a:rPr lang="en-GB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Extracting the ERD</a:t>
            </a:r>
            <a:endParaRPr/>
          </a:p>
        </p:txBody>
      </p:sp>
      <p:sp>
        <p:nvSpPr>
          <p:cNvPr id="244" name="Google Shape;244;p35"/>
          <p:cNvSpPr txBox="1">
            <a:spLocks noGrp="1"/>
          </p:cNvSpPr>
          <p:nvPr>
            <p:ph type="body" idx="1"/>
          </p:nvPr>
        </p:nvSpPr>
        <p:spPr>
          <a:xfrm>
            <a:off x="311700" y="13842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Another Python module </a:t>
            </a:r>
            <a:r>
              <a:rPr lang="en-GB" b="1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sqlalchemy_schemadisplay </a:t>
            </a:r>
            <a:r>
              <a:rPr lang="en-GB"/>
              <a:t>can be used to </a:t>
            </a:r>
            <a:r>
              <a:rPr lang="en-GB" b="1"/>
              <a:t>turn SQLAlchemy DB Model into a graph.</a:t>
            </a:r>
            <a:br>
              <a:rPr lang="en-GB" b="1"/>
            </a:br>
            <a:endParaRPr b="1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also requires </a:t>
            </a:r>
            <a:r>
              <a:rPr lang="en-GB" b="1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pydot </a:t>
            </a:r>
            <a:r>
              <a:rPr lang="en-GB"/>
              <a:t>along with </a:t>
            </a:r>
            <a:r>
              <a:rPr lang="en-GB" b="1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graphviz </a:t>
            </a:r>
            <a:r>
              <a:rPr lang="en-GB"/>
              <a:t>for this.</a:t>
            </a:r>
            <a:endParaRPr/>
          </a:p>
        </p:txBody>
      </p:sp>
      <p:sp>
        <p:nvSpPr>
          <p:cNvPr id="245" name="Google Shape;245;p3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000" y="5018711"/>
            <a:ext cx="4440475" cy="14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 txBox="1"/>
          <p:nvPr/>
        </p:nvSpPr>
        <p:spPr>
          <a:xfrm>
            <a:off x="469700" y="3404525"/>
            <a:ext cx="7473300" cy="16623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sqlalchemy_schemadisplay </a:t>
            </a:r>
            <a:r>
              <a:rPr lang="en-GB" sz="16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create_schema_graph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graph = create_schema_graph(engine=engine,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3200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metadata=metadata_obj,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rankdir=</a:t>
            </a:r>
            <a:r>
              <a:rPr lang="en-GB" sz="16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'LR'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GB" sz="16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Left to right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graph.write_png(</a:t>
            </a:r>
            <a:r>
              <a:rPr lang="en-GB" sz="16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'erd.png'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" name="Google Shape;248;p35"/>
          <p:cNvSpPr txBox="1"/>
          <p:nvPr/>
        </p:nvSpPr>
        <p:spPr>
          <a:xfrm>
            <a:off x="1588575" y="5308175"/>
            <a:ext cx="2479800" cy="8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FF0000"/>
                </a:solidFill>
              </a:rPr>
              <a:t>It does not look amazing, but can be handy =)</a:t>
            </a:r>
            <a:endParaRPr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xfrm>
            <a:off x="311700" y="3647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Extracting the ERD</a:t>
            </a:r>
            <a:endParaRPr dirty="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311700" y="10794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ERD can also be more easily extracted using </a:t>
            </a:r>
            <a:r>
              <a:rPr lang="en-GB" dirty="0" err="1"/>
              <a:t>PgAdmin</a:t>
            </a:r>
            <a:endParaRPr dirty="0"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pic>
        <p:nvPicPr>
          <p:cNvPr id="256" name="Google Shape;25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400" y="1724950"/>
            <a:ext cx="8277524" cy="463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Selecting data (Raw query)</a:t>
            </a:r>
            <a:endParaRPr dirty="0"/>
          </a:p>
        </p:txBody>
      </p:sp>
      <p:sp>
        <p:nvSpPr>
          <p:cNvPr id="262" name="Google Shape;262;p3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Using the 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.execute()</a:t>
            </a:r>
            <a:r>
              <a:rPr lang="en-GB" dirty="0"/>
              <a:t> method of the connection, a raw SQL query can be performed.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On the result object, the 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b="1" dirty="0" err="1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fetchall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()</a:t>
            </a:r>
            <a:r>
              <a:rPr lang="en-GB" dirty="0"/>
              <a:t> method can be called to get the actual data.</a:t>
            </a:r>
            <a:endParaRPr dirty="0"/>
          </a:p>
        </p:txBody>
      </p:sp>
      <p:sp>
        <p:nvSpPr>
          <p:cNvPr id="263" name="Google Shape;263;p3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520437"/>
            <a:ext cx="8520601" cy="2312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Selecting data (Raw query)</a:t>
            </a:r>
            <a:endParaRPr dirty="0"/>
          </a:p>
        </p:txBody>
      </p:sp>
      <p:sp>
        <p:nvSpPr>
          <p:cNvPr id="270" name="Google Shape;270;p3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r>
              <a:rPr lang="en-GB" b="1" dirty="0" err="1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fetchmany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()</a:t>
            </a:r>
            <a:r>
              <a:rPr lang="en-GB" dirty="0"/>
              <a:t> can also be used to limit the number of returned records.</a:t>
            </a:r>
            <a:endParaRPr dirty="0"/>
          </a:p>
        </p:txBody>
      </p:sp>
      <p:sp>
        <p:nvSpPr>
          <p:cNvPr id="271" name="Google Shape;271;p3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  <p:pic>
        <p:nvPicPr>
          <p:cNvPr id="272" name="Google Shape;27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38" y="2753025"/>
            <a:ext cx="8824325" cy="24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  <p:sp>
        <p:nvSpPr>
          <p:cNvPr id="278" name="Google Shape;278;p3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Task 2</a:t>
            </a:r>
            <a:endParaRPr dirty="0"/>
          </a:p>
        </p:txBody>
      </p:sp>
      <p:sp>
        <p:nvSpPr>
          <p:cNvPr id="279" name="Google Shape;279;p39"/>
          <p:cNvSpPr txBox="1">
            <a:spLocks noGrp="1"/>
          </p:cNvSpPr>
          <p:nvPr>
            <p:ph type="body" idx="1"/>
          </p:nvPr>
        </p:nvSpPr>
        <p:spPr>
          <a:xfrm>
            <a:off x="311700" y="13842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Select courses whose course description starts with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D</a:t>
            </a:r>
            <a:r>
              <a:rPr lang="en-GB" dirty="0"/>
              <a:t>. OR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Select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first_name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dirty="0"/>
              <a:t>from students that starts with D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  <p:sp>
        <p:nvSpPr>
          <p:cNvPr id="285" name="Google Shape;285;p4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</a:t>
            </a:r>
            <a:endParaRPr/>
          </a:p>
        </p:txBody>
      </p:sp>
      <p:sp>
        <p:nvSpPr>
          <p:cNvPr id="286" name="Google Shape;286;p40"/>
          <p:cNvSpPr txBox="1">
            <a:spLocks noGrp="1"/>
          </p:cNvSpPr>
          <p:nvPr>
            <p:ph type="body" idx="1"/>
          </p:nvPr>
        </p:nvSpPr>
        <p:spPr>
          <a:xfrm>
            <a:off x="311700" y="13842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Select courses whose course description starts with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D</a:t>
            </a:r>
            <a:r>
              <a:rPr lang="en-GB" dirty="0"/>
              <a:t>.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Hint: You need to use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%%</a:t>
            </a:r>
            <a:r>
              <a:rPr lang="en-GB" dirty="0"/>
              <a:t> instead of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%</a:t>
            </a:r>
            <a:r>
              <a:rPr lang="en-GB" dirty="0"/>
              <a:t> for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LIKE</a:t>
            </a:r>
            <a:r>
              <a:rPr lang="en-GB" dirty="0"/>
              <a:t> operations in python strings. A single 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%</a:t>
            </a:r>
            <a:r>
              <a:rPr lang="en-GB" dirty="0"/>
              <a:t> is used for string formatting.</a:t>
            </a:r>
            <a:endParaRPr dirty="0"/>
          </a:p>
        </p:txBody>
      </p:sp>
      <p:sp>
        <p:nvSpPr>
          <p:cNvPr id="287" name="Google Shape;287;p40"/>
          <p:cNvSpPr txBox="1"/>
          <p:nvPr/>
        </p:nvSpPr>
        <p:spPr>
          <a:xfrm>
            <a:off x="1787350" y="4623800"/>
            <a:ext cx="2311800" cy="9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Courier"/>
                <a:ea typeface="Courier"/>
                <a:cs typeface="Courier"/>
                <a:sym typeface="Courier"/>
              </a:rPr>
              <a:t>Solution in the next slide...</a:t>
            </a:r>
            <a:endParaRPr sz="1800" dirty="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  <p:sp>
        <p:nvSpPr>
          <p:cNvPr id="293" name="Google Shape;293;p4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</a:t>
            </a:r>
            <a:endParaRPr/>
          </a:p>
        </p:txBody>
      </p:sp>
      <p:sp>
        <p:nvSpPr>
          <p:cNvPr id="294" name="Google Shape;294;p41"/>
          <p:cNvSpPr txBox="1">
            <a:spLocks noGrp="1"/>
          </p:cNvSpPr>
          <p:nvPr>
            <p:ph type="body" idx="1"/>
          </p:nvPr>
        </p:nvSpPr>
        <p:spPr>
          <a:xfrm>
            <a:off x="311700" y="13842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Select courses whose course description starts with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</a:t>
            </a:r>
            <a:r>
              <a:rPr lang="en-GB"/>
              <a:t>.</a:t>
            </a:r>
            <a:endParaRPr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Hint: You need to use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%%</a:t>
            </a:r>
            <a:r>
              <a:rPr lang="en-GB"/>
              <a:t> instead of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%</a:t>
            </a:r>
            <a:r>
              <a:rPr lang="en-GB"/>
              <a:t> for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LIKE</a:t>
            </a:r>
            <a:r>
              <a:rPr lang="en-GB"/>
              <a:t> operations in python strings. A single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%</a:t>
            </a:r>
            <a:r>
              <a:rPr lang="en-GB"/>
              <a:t> is used for string formatting.</a:t>
            </a:r>
            <a:endParaRPr/>
          </a:p>
        </p:txBody>
      </p:sp>
      <p:pic>
        <p:nvPicPr>
          <p:cNvPr id="295" name="Google Shape;29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3428992"/>
            <a:ext cx="8832300" cy="2097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SQLAlchemy</a:t>
            </a:r>
            <a:r>
              <a:rPr lang="en-GB" dirty="0"/>
              <a:t> and Pandas</a:t>
            </a:r>
            <a:endParaRPr dirty="0"/>
          </a:p>
        </p:txBody>
      </p:sp>
      <p:sp>
        <p:nvSpPr>
          <p:cNvPr id="301" name="Google Shape;301;p4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We can feed a result set directly into a pandas </a:t>
            </a:r>
            <a:r>
              <a:rPr lang="en-GB" dirty="0" err="1"/>
              <a:t>DataFrame</a:t>
            </a:r>
            <a:r>
              <a:rPr lang="en-GB" dirty="0"/>
              <a:t> (more about pandas on future weeks)</a:t>
            </a:r>
            <a:endParaRPr dirty="0"/>
          </a:p>
        </p:txBody>
      </p:sp>
      <p:sp>
        <p:nvSpPr>
          <p:cNvPr id="302" name="Google Shape;302;p4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  <p:pic>
        <p:nvPicPr>
          <p:cNvPr id="303" name="Google Shape;30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13" y="2750313"/>
            <a:ext cx="8706374" cy="2938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Selecting data (</a:t>
            </a:r>
            <a:r>
              <a:rPr lang="en-GB" dirty="0" err="1"/>
              <a:t>SQLAlchemy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309" name="Google Shape;309;p4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 err="1"/>
              <a:t>SQLAlchemy</a:t>
            </a:r>
            <a:r>
              <a:rPr lang="en-GB" dirty="0"/>
              <a:t> also provides a nice "Pythonic" way of interacting with databases.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You can interact with a </a:t>
            </a:r>
            <a:r>
              <a:rPr lang="en-GB" b="1" dirty="0"/>
              <a:t>Table object</a:t>
            </a:r>
            <a:r>
              <a:rPr lang="en-GB" dirty="0"/>
              <a:t> instead, and </a:t>
            </a:r>
            <a:r>
              <a:rPr lang="en-GB" dirty="0" err="1"/>
              <a:t>SQLAlchemy</a:t>
            </a:r>
            <a:r>
              <a:rPr lang="en-GB" dirty="0"/>
              <a:t> will translate your query to an appropriate SQL dialect.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b="1" dirty="0"/>
              <a:t>Useful when working with</a:t>
            </a:r>
            <a:r>
              <a:rPr lang="en-GB" dirty="0"/>
              <a:t> </a:t>
            </a:r>
            <a:r>
              <a:rPr lang="en-GB" b="1" dirty="0"/>
              <a:t>multiple dialects</a:t>
            </a:r>
            <a:r>
              <a:rPr lang="en-GB" dirty="0"/>
              <a:t> of SQL</a:t>
            </a:r>
            <a:endParaRPr dirty="0"/>
          </a:p>
        </p:txBody>
      </p:sp>
      <p:sp>
        <p:nvSpPr>
          <p:cNvPr id="310" name="Google Shape;310;p4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  <p:pic>
        <p:nvPicPr>
          <p:cNvPr id="311" name="Google Shape;31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845" y="5353663"/>
            <a:ext cx="1486575" cy="98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871" y="4694025"/>
            <a:ext cx="2659288" cy="78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750" y="5613000"/>
            <a:ext cx="1632400" cy="8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3375" y="4634325"/>
            <a:ext cx="1590250" cy="128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Selecting data (</a:t>
            </a:r>
            <a:r>
              <a:rPr lang="en-GB" dirty="0" err="1"/>
              <a:t>SQLAlchemy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320" name="Google Shape;320;p4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  <p:sp>
        <p:nvSpPr>
          <p:cNvPr id="321" name="Google Shape;321;p44"/>
          <p:cNvSpPr txBox="1">
            <a:spLocks noGrp="1"/>
          </p:cNvSpPr>
          <p:nvPr>
            <p:ph type="body" idx="1"/>
          </p:nvPr>
        </p:nvSpPr>
        <p:spPr>
          <a:xfrm>
            <a:off x="311700" y="135688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Get all table data with </a:t>
            </a:r>
            <a:r>
              <a:rPr lang="en-GB" dirty="0" err="1"/>
              <a:t>SQLAlchemy</a:t>
            </a:r>
            <a:endParaRPr dirty="0"/>
          </a:p>
        </p:txBody>
      </p:sp>
      <p:pic>
        <p:nvPicPr>
          <p:cNvPr id="322" name="Google Shape;32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75" y="2276238"/>
            <a:ext cx="8782050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Filtering data (</a:t>
            </a:r>
            <a:r>
              <a:rPr lang="en-GB" dirty="0" err="1"/>
              <a:t>SQLAlchemy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328" name="Google Shape;328;p4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  <p:sp>
        <p:nvSpPr>
          <p:cNvPr id="329" name="Google Shape;329;p45"/>
          <p:cNvSpPr txBox="1">
            <a:spLocks noGrp="1"/>
          </p:cNvSpPr>
          <p:nvPr>
            <p:ph type="body" idx="1"/>
          </p:nvPr>
        </p:nvSpPr>
        <p:spPr>
          <a:xfrm>
            <a:off x="311700" y="135688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Filter table data by first name with </a:t>
            </a:r>
            <a:r>
              <a:rPr lang="en-GB" dirty="0" err="1"/>
              <a:t>SQLAlchemy</a:t>
            </a:r>
            <a:endParaRPr dirty="0"/>
          </a:p>
        </p:txBody>
      </p:sp>
      <p:pic>
        <p:nvPicPr>
          <p:cNvPr id="330" name="Google Shape;33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50" y="2152892"/>
            <a:ext cx="8788699" cy="3241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126" y="2094925"/>
            <a:ext cx="8875375" cy="374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Filtering data (</a:t>
            </a:r>
            <a:r>
              <a:rPr lang="en-GB" dirty="0" err="1"/>
              <a:t>SQLAlchemy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337" name="Google Shape;337;p4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  <p:sp>
        <p:nvSpPr>
          <p:cNvPr id="338" name="Google Shape;338;p46"/>
          <p:cNvSpPr txBox="1">
            <a:spLocks noGrp="1"/>
          </p:cNvSpPr>
          <p:nvPr>
            <p:ph type="body" idx="1"/>
          </p:nvPr>
        </p:nvSpPr>
        <p:spPr>
          <a:xfrm>
            <a:off x="311700" y="135688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Filter table data by first name in a set with </a:t>
            </a:r>
            <a:r>
              <a:rPr lang="en-GB" dirty="0" err="1"/>
              <a:t>SQLAlchemy</a:t>
            </a:r>
            <a:endParaRPr dirty="0"/>
          </a:p>
        </p:txBody>
      </p:sp>
      <p:cxnSp>
        <p:nvCxnSpPr>
          <p:cNvPr id="339" name="Google Shape;339;p46"/>
          <p:cNvCxnSpPr/>
          <p:nvPr/>
        </p:nvCxnSpPr>
        <p:spPr>
          <a:xfrm>
            <a:off x="4671654" y="3647360"/>
            <a:ext cx="4266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Filtering data (</a:t>
            </a:r>
            <a:r>
              <a:rPr lang="en-GB" dirty="0" err="1"/>
              <a:t>SQLAlchemy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345" name="Google Shape;345;p4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  <p:sp>
        <p:nvSpPr>
          <p:cNvPr id="346" name="Google Shape;346;p47"/>
          <p:cNvSpPr txBox="1">
            <a:spLocks noGrp="1"/>
          </p:cNvSpPr>
          <p:nvPr>
            <p:ph type="body" idx="1"/>
          </p:nvPr>
        </p:nvSpPr>
        <p:spPr>
          <a:xfrm>
            <a:off x="0" y="135688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Filter table data using </a:t>
            </a:r>
            <a:r>
              <a:rPr lang="en-GB" dirty="0" err="1"/>
              <a:t>boolean</a:t>
            </a:r>
            <a:r>
              <a:rPr lang="en-GB" dirty="0"/>
              <a:t> operators with </a:t>
            </a:r>
            <a:r>
              <a:rPr lang="en-GB" dirty="0" err="1"/>
              <a:t>SQLAlchemy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You can use 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and_()</a:t>
            </a:r>
            <a:r>
              <a:rPr lang="en-GB" dirty="0"/>
              <a:t>, 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or_()</a:t>
            </a:r>
            <a:r>
              <a:rPr lang="en-GB" dirty="0"/>
              <a:t>, and </a:t>
            </a:r>
            <a:r>
              <a:rPr lang="en-GB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not_()</a:t>
            </a:r>
            <a:endParaRPr b="1" dirty="0">
              <a:solidFill>
                <a:srgbClr val="6D9EEB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347" name="Google Shape;3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50" y="2462425"/>
            <a:ext cx="8930899" cy="369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47"/>
          <p:cNvCxnSpPr/>
          <p:nvPr/>
        </p:nvCxnSpPr>
        <p:spPr>
          <a:xfrm>
            <a:off x="2429075" y="4199185"/>
            <a:ext cx="409200" cy="14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Joining data (</a:t>
            </a:r>
            <a:r>
              <a:rPr lang="en-GB" dirty="0" err="1"/>
              <a:t>SQLAlchemy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354" name="Google Shape;354;p4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  <p:sp>
        <p:nvSpPr>
          <p:cNvPr id="355" name="Google Shape;355;p48"/>
          <p:cNvSpPr txBox="1">
            <a:spLocks noGrp="1"/>
          </p:cNvSpPr>
          <p:nvPr>
            <p:ph type="body" idx="1"/>
          </p:nvPr>
        </p:nvSpPr>
        <p:spPr>
          <a:xfrm>
            <a:off x="311700" y="135688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 dirty="0"/>
              <a:t>The </a:t>
            </a:r>
            <a:r>
              <a:rPr lang="en-GB" sz="1900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.join()</a:t>
            </a:r>
            <a:r>
              <a:rPr lang="en-GB" sz="1900" dirty="0"/>
              <a:t> method can be used, with the right side of the join passed</a:t>
            </a:r>
            <a:endParaRPr sz="19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 b="1" dirty="0" err="1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isouter</a:t>
            </a:r>
            <a:r>
              <a:rPr lang="en-GB" sz="1900" dirty="0"/>
              <a:t> − if True, renders a </a:t>
            </a:r>
            <a:r>
              <a:rPr lang="en-GB" sz="1900" b="1" dirty="0"/>
              <a:t>LEFT OUTER JOIN</a:t>
            </a:r>
            <a:r>
              <a:rPr lang="en-GB" sz="1900" dirty="0"/>
              <a:t>, instead of JOIN</a:t>
            </a:r>
            <a:endParaRPr sz="19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 b="1" dirty="0">
                <a:solidFill>
                  <a:srgbClr val="6D9EEB"/>
                </a:solidFill>
                <a:latin typeface="Courier"/>
                <a:ea typeface="Courier"/>
                <a:cs typeface="Courier"/>
                <a:sym typeface="Courier"/>
              </a:rPr>
              <a:t>full </a:t>
            </a:r>
            <a:r>
              <a:rPr lang="en-GB" sz="1900" dirty="0"/>
              <a:t>− if True, renders a </a:t>
            </a:r>
            <a:r>
              <a:rPr lang="en-GB" sz="1900" b="1" dirty="0"/>
              <a:t>FULL OUTER JOIN</a:t>
            </a:r>
            <a:r>
              <a:rPr lang="en-GB" sz="1900" dirty="0"/>
              <a:t>, instead of LEFT OUTER JOIN</a:t>
            </a:r>
            <a:endParaRPr sz="1900" dirty="0"/>
          </a:p>
        </p:txBody>
      </p:sp>
      <p:pic>
        <p:nvPicPr>
          <p:cNvPr id="356" name="Google Shape;35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50" y="2886550"/>
            <a:ext cx="7871999" cy="381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48"/>
          <p:cNvCxnSpPr/>
          <p:nvPr/>
        </p:nvCxnSpPr>
        <p:spPr>
          <a:xfrm>
            <a:off x="1768384" y="4199049"/>
            <a:ext cx="4266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  <p:sp>
        <p:nvSpPr>
          <p:cNvPr id="363" name="Google Shape;363;p4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Example</a:t>
            </a:r>
            <a:endParaRPr dirty="0"/>
          </a:p>
        </p:txBody>
      </p:sp>
      <p:sp>
        <p:nvSpPr>
          <p:cNvPr id="364" name="Google Shape;364;p49"/>
          <p:cNvSpPr txBox="1">
            <a:spLocks noGrp="1"/>
          </p:cNvSpPr>
          <p:nvPr>
            <p:ph type="body" idx="1"/>
          </p:nvPr>
        </p:nvSpPr>
        <p:spPr>
          <a:xfrm>
            <a:off x="311700" y="13842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Using </a:t>
            </a:r>
            <a:r>
              <a:rPr lang="en-GB" dirty="0" err="1"/>
              <a:t>SQLAlchemy</a:t>
            </a:r>
            <a:r>
              <a:rPr lang="en-GB" dirty="0"/>
              <a:t>, we can implement the following raw SQL query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5" name="Google Shape;365;p49"/>
          <p:cNvSpPr txBox="1"/>
          <p:nvPr/>
        </p:nvSpPr>
        <p:spPr>
          <a:xfrm>
            <a:off x="743007" y="2534369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student.first_name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student.surname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course_codes.course_description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student </a:t>
            </a:r>
            <a:r>
              <a:rPr lang="en-GB" sz="18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course_codes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student.course_id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course_codes.course_id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AND </a:t>
            </a:r>
            <a:r>
              <a:rPr lang="en-GB" sz="1800" dirty="0" err="1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course_codes.course_description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LIKE </a:t>
            </a:r>
            <a:r>
              <a:rPr lang="en-GB" sz="18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'D%'</a:t>
            </a:r>
            <a:r>
              <a:rPr lang="en-GB" sz="1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  <p:sp>
        <p:nvSpPr>
          <p:cNvPr id="371" name="Google Shape;371;p50"/>
          <p:cNvSpPr txBox="1">
            <a:spLocks noGrp="1"/>
          </p:cNvSpPr>
          <p:nvPr>
            <p:ph type="title"/>
          </p:nvPr>
        </p:nvSpPr>
        <p:spPr>
          <a:xfrm>
            <a:off x="311700" y="5171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372" name="Google Shape;372;p50"/>
          <p:cNvSpPr txBox="1">
            <a:spLocks noGrp="1"/>
          </p:cNvSpPr>
          <p:nvPr>
            <p:ph type="body" idx="1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SQLAlchemy, we can implement the following raw SQL query</a:t>
            </a:r>
            <a:endParaRPr/>
          </a:p>
        </p:txBody>
      </p:sp>
      <p:sp>
        <p:nvSpPr>
          <p:cNvPr id="373" name="Google Shape;373;p50"/>
          <p:cNvSpPr txBox="1"/>
          <p:nvPr/>
        </p:nvSpPr>
        <p:spPr>
          <a:xfrm>
            <a:off x="524400" y="2389500"/>
            <a:ext cx="8520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student.first_name, student.surname, course_codes.course_description 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student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course_codes 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student.course_id = course_codes.course_id 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AND 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course_codes.course_description LIKE 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'D%'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74" name="Google Shape;3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900" y="3371000"/>
            <a:ext cx="8147350" cy="3364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Selecting data (</a:t>
            </a:r>
            <a:r>
              <a:rPr lang="en-GB" dirty="0" err="1"/>
              <a:t>SQLAlchemy</a:t>
            </a:r>
            <a:r>
              <a:rPr lang="en-GB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0" name="Google Shape;380;p5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In general </a:t>
            </a:r>
            <a:r>
              <a:rPr lang="en-GB" b="1" dirty="0" err="1"/>
              <a:t>SQLAlchemy</a:t>
            </a:r>
            <a:r>
              <a:rPr lang="en-GB" b="1" dirty="0"/>
              <a:t> queries are quite powerful</a:t>
            </a:r>
            <a:r>
              <a:rPr lang="en-GB" dirty="0"/>
              <a:t>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-GB" dirty="0"/>
              <a:t> cover many more select examples and also insert, delete, update, etc.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There </a:t>
            </a:r>
            <a:r>
              <a:rPr lang="en-GB" b="1" dirty="0"/>
              <a:t>might be cases</a:t>
            </a:r>
            <a:r>
              <a:rPr lang="en-GB" dirty="0"/>
              <a:t> where very complex or database-specific </a:t>
            </a:r>
            <a:r>
              <a:rPr lang="en-GB" b="1" dirty="0"/>
              <a:t>queries are challenging to express</a:t>
            </a:r>
            <a:r>
              <a:rPr lang="en-GB" dirty="0"/>
              <a:t> directly using </a:t>
            </a:r>
            <a:r>
              <a:rPr lang="en-GB" dirty="0" err="1"/>
              <a:t>SQLAlchemy</a:t>
            </a:r>
            <a:r>
              <a:rPr lang="en-GB" dirty="0"/>
              <a:t>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For our module, </a:t>
            </a:r>
            <a:r>
              <a:rPr lang="en-GB" b="1" dirty="0"/>
              <a:t>raw PostgreSQL queries should be enough</a:t>
            </a:r>
            <a:r>
              <a:rPr lang="en-GB" dirty="0"/>
              <a:t>, but you might want to work with data from different SQL dialects in the future.</a:t>
            </a:r>
            <a:endParaRPr dirty="0"/>
          </a:p>
        </p:txBody>
      </p:sp>
      <p:sp>
        <p:nvSpPr>
          <p:cNvPr id="381" name="Google Shape;381;p51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about R?</a:t>
            </a:r>
            <a:endParaRPr dirty="0"/>
          </a:p>
        </p:txBody>
      </p:sp>
      <p:sp>
        <p:nvSpPr>
          <p:cNvPr id="387" name="Google Shape;387;p5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In R the </a:t>
            </a:r>
            <a:r>
              <a:rPr lang="en-GB" u="sng" dirty="0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"/>
                <a:hlinkClick r:id="rId3"/>
              </a:rPr>
              <a:t>DBI</a:t>
            </a:r>
            <a:r>
              <a:rPr lang="en-GB" dirty="0"/>
              <a:t> package provides a consistent interface for connecting to and interacting with databases. 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It serves as a foundational layer for working with databases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It's used by higher-level packages like </a:t>
            </a:r>
            <a:r>
              <a:rPr lang="en-GB" dirty="0" err="1">
                <a:latin typeface="Courier"/>
                <a:ea typeface="Courier"/>
                <a:cs typeface="Courier"/>
                <a:sym typeface="Courier"/>
              </a:rPr>
              <a:t>dplyr</a:t>
            </a:r>
            <a:r>
              <a:rPr lang="en-GB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and </a:t>
            </a:r>
            <a:r>
              <a:rPr lang="en-GB" dirty="0" err="1">
                <a:latin typeface="Courier"/>
                <a:ea typeface="Courier"/>
                <a:cs typeface="Courier"/>
                <a:sym typeface="Courier"/>
              </a:rPr>
              <a:t>dbplyr</a:t>
            </a:r>
            <a:r>
              <a:rPr lang="en-GB" dirty="0"/>
              <a:t> to connect to databases and perform SQL operations.</a:t>
            </a:r>
            <a:endParaRPr dirty="0"/>
          </a:p>
        </p:txBody>
      </p:sp>
      <p:sp>
        <p:nvSpPr>
          <p:cNvPr id="388" name="Google Shape;388;p52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about R?</a:t>
            </a:r>
            <a:endParaRPr/>
          </a:p>
        </p:txBody>
      </p:sp>
      <p:sp>
        <p:nvSpPr>
          <p:cNvPr id="394" name="Google Shape;394;p5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To connect to a PostgreSQL database you will need the </a:t>
            </a:r>
            <a:r>
              <a:rPr lang="en-GB" dirty="0" err="1">
                <a:latin typeface="Courier"/>
                <a:ea typeface="Courier"/>
                <a:cs typeface="Courier"/>
                <a:sym typeface="Courier"/>
              </a:rPr>
              <a:t>RPostgres</a:t>
            </a:r>
            <a:r>
              <a:rPr lang="en-GB" dirty="0"/>
              <a:t> package.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DBI provides the connection method that allows us to pass the configuration parameters and established a connection.</a:t>
            </a:r>
            <a:endParaRPr dirty="0"/>
          </a:p>
        </p:txBody>
      </p:sp>
      <p:sp>
        <p:nvSpPr>
          <p:cNvPr id="395" name="Google Shape;395;p53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  <p:pic>
        <p:nvPicPr>
          <p:cNvPr id="396" name="Google Shape;39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328" y="3852053"/>
            <a:ext cx="5932176" cy="163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about R?</a:t>
            </a:r>
            <a:endParaRPr dirty="0"/>
          </a:p>
        </p:txBody>
      </p:sp>
      <p:sp>
        <p:nvSpPr>
          <p:cNvPr id="402" name="Google Shape;402;p5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With the connection object created, we can than pass queries and get results</a:t>
            </a:r>
            <a:endParaRPr dirty="0"/>
          </a:p>
        </p:txBody>
      </p:sp>
      <p:sp>
        <p:nvSpPr>
          <p:cNvPr id="403" name="Google Shape;403;p54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  <p:pic>
        <p:nvPicPr>
          <p:cNvPr id="404" name="Google Shape;40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289" y="2872276"/>
            <a:ext cx="7761425" cy="255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 dirty="0"/>
              <a:t>What about R?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0" name="Google Shape;410;p55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76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 </a:t>
            </a:r>
            <a:r>
              <a:rPr lang="en-GB" b="1" dirty="0" err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dbplyr</a:t>
            </a:r>
            <a:r>
              <a:rPr lang="en-GB" dirty="0"/>
              <a:t> package allows you to write R code that gets translated into SQL queries, similarly to what </a:t>
            </a:r>
            <a:r>
              <a:rPr lang="en-GB" dirty="0" err="1"/>
              <a:t>SQLAlchemy</a:t>
            </a:r>
            <a:r>
              <a:rPr lang="en-GB" dirty="0"/>
              <a:t> does in Python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It is an extension of the </a:t>
            </a:r>
            <a:r>
              <a:rPr lang="en-GB" b="1" dirty="0" err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dplyr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/>
              <a:t>package specifically designed to work with databases (more about </a:t>
            </a:r>
            <a:r>
              <a:rPr lang="en-GB" dirty="0" err="1"/>
              <a:t>dplyr</a:t>
            </a:r>
            <a:r>
              <a:rPr lang="en-GB" dirty="0"/>
              <a:t> later).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1" name="Google Shape;411;p55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  <p:pic>
        <p:nvPicPr>
          <p:cNvPr id="412" name="Google Shape;41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150" y="1688075"/>
            <a:ext cx="4149350" cy="33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about R?</a:t>
            </a:r>
            <a:endParaRPr dirty="0"/>
          </a:p>
        </p:txBody>
      </p:sp>
      <p:sp>
        <p:nvSpPr>
          <p:cNvPr id="418" name="Google Shape;418;p5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Another difference compared to Python is that there is no need to reflect tables. 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We can for example use </a:t>
            </a:r>
            <a:r>
              <a:rPr lang="en-GB" b="1" dirty="0" err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dbListTables</a:t>
            </a:r>
            <a:r>
              <a:rPr lang="en-GB" b="1" dirty="0"/>
              <a:t> </a:t>
            </a:r>
            <a:r>
              <a:rPr lang="en-GB" dirty="0"/>
              <a:t>passing the connection object to list all tables in the dataset.</a:t>
            </a:r>
            <a:endParaRPr dirty="0"/>
          </a:p>
        </p:txBody>
      </p:sp>
      <p:sp>
        <p:nvSpPr>
          <p:cNvPr id="419" name="Google Shape;419;p56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42</a:t>
            </a:fld>
            <a:endParaRPr/>
          </a:p>
        </p:txBody>
      </p:sp>
      <p:pic>
        <p:nvPicPr>
          <p:cNvPr id="420" name="Google Shape;4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704" y="3868600"/>
            <a:ext cx="5172800" cy="20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about R?</a:t>
            </a:r>
            <a:endParaRPr dirty="0"/>
          </a:p>
        </p:txBody>
      </p:sp>
      <p:sp>
        <p:nvSpPr>
          <p:cNvPr id="426" name="Google Shape;426;p5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Overall, both R and Python offer similar capability to extract data from SQL databases.</a:t>
            </a:r>
            <a:endParaRPr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 dirty="0"/>
              <a:t>Both can connect to PostgreSQL and other SQL databases using dedicated libraries.</a:t>
            </a:r>
            <a:endParaRPr sz="22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2200" dirty="0"/>
              <a:t>Both allow you to send queries, fetch results, and integrate data directly into your analysis workflow.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There are syntax differences though, especially when working with </a:t>
            </a:r>
            <a:r>
              <a:rPr lang="en-GB" b="1" dirty="0" err="1">
                <a:latin typeface="Courier"/>
                <a:ea typeface="Courier"/>
                <a:cs typeface="Courier"/>
                <a:sym typeface="Courier"/>
              </a:rPr>
              <a:t>dbplyr</a:t>
            </a:r>
            <a:r>
              <a:rPr lang="en-GB" b="1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and </a:t>
            </a:r>
            <a:r>
              <a:rPr lang="en-GB" b="1" dirty="0" err="1">
                <a:latin typeface="Courier"/>
                <a:ea typeface="Courier"/>
                <a:cs typeface="Courier"/>
                <a:sym typeface="Courier"/>
              </a:rPr>
              <a:t>sqlAlchemy</a:t>
            </a:r>
            <a:r>
              <a:rPr lang="en-GB" b="1" dirty="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 dirty="0"/>
              <a:t>packages to generate queries.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Choice usually depends on language familiarity, ecosystem, and workflow preference.</a:t>
            </a:r>
            <a:endParaRPr dirty="0"/>
          </a:p>
        </p:txBody>
      </p:sp>
      <p:sp>
        <p:nvSpPr>
          <p:cNvPr id="427" name="Google Shape;427;p57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</a:t>
            </a:r>
            <a:endParaRPr dirty="0"/>
          </a:p>
        </p:txBody>
      </p:sp>
      <p:sp>
        <p:nvSpPr>
          <p:cNvPr id="433" name="Google Shape;433;p5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b="1" dirty="0"/>
              <a:t>Comparison </a:t>
            </a:r>
            <a:r>
              <a:rPr lang="en-GB" dirty="0"/>
              <a:t>of </a:t>
            </a:r>
            <a:r>
              <a:rPr lang="en-GB" b="1" dirty="0"/>
              <a:t>Python/R</a:t>
            </a:r>
            <a:r>
              <a:rPr lang="en-GB" dirty="0"/>
              <a:t> and databases </a:t>
            </a:r>
            <a:r>
              <a:rPr lang="en-GB" b="1" dirty="0"/>
              <a:t>procedural languages</a:t>
            </a:r>
            <a:endParaRPr b="1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b="1" dirty="0"/>
              <a:t>Establishing connections</a:t>
            </a:r>
            <a:r>
              <a:rPr lang="en-GB" dirty="0"/>
              <a:t> to databases using </a:t>
            </a:r>
            <a:r>
              <a:rPr lang="en-GB" dirty="0" err="1"/>
              <a:t>SQLAlchemy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Extracting </a:t>
            </a:r>
            <a:r>
              <a:rPr lang="en-GB" b="1" dirty="0"/>
              <a:t>databases metadata</a:t>
            </a:r>
            <a:r>
              <a:rPr lang="en-GB" dirty="0"/>
              <a:t> and showing ERD</a:t>
            </a:r>
            <a:endParaRPr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Running </a:t>
            </a:r>
            <a:r>
              <a:rPr lang="en-GB" b="1" dirty="0"/>
              <a:t>raw SQL queries</a:t>
            </a:r>
            <a:endParaRPr b="1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Running </a:t>
            </a:r>
            <a:r>
              <a:rPr lang="en-GB" b="1" dirty="0" err="1"/>
              <a:t>SQLAlchemy</a:t>
            </a:r>
            <a:r>
              <a:rPr lang="en-GB" b="1" dirty="0"/>
              <a:t> queries</a:t>
            </a:r>
            <a:endParaRPr b="1" dirty="0"/>
          </a:p>
        </p:txBody>
      </p:sp>
      <p:sp>
        <p:nvSpPr>
          <p:cNvPr id="434" name="Google Shape;434;p58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Lab</a:t>
            </a:r>
            <a:endParaRPr dirty="0"/>
          </a:p>
        </p:txBody>
      </p:sp>
      <p:sp>
        <p:nvSpPr>
          <p:cNvPr id="440" name="Google Shape;440;p5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You can see all the Python examples in the </a:t>
            </a:r>
            <a:r>
              <a:rPr lang="en-GB" dirty="0" err="1"/>
              <a:t>SQLAlchemy</a:t>
            </a:r>
            <a:r>
              <a:rPr lang="en-GB" dirty="0"/>
              <a:t> notebook.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You can practice similar concepts using R and PostgreSQL in the R notebook.</a:t>
            </a:r>
            <a:br>
              <a:rPr lang="en-GB" dirty="0"/>
            </a:b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dirty="0"/>
              <a:t>Complete the exercises in the end of the R notebook</a:t>
            </a:r>
            <a:endParaRPr dirty="0"/>
          </a:p>
        </p:txBody>
      </p:sp>
      <p:sp>
        <p:nvSpPr>
          <p:cNvPr id="441" name="Google Shape;441;p59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0"/>
          <p:cNvSpPr txBox="1">
            <a:spLocks noGrp="1"/>
          </p:cNvSpPr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 dirty="0"/>
              <a:t>Questions?</a:t>
            </a:r>
            <a:endParaRPr dirty="0"/>
          </a:p>
        </p:txBody>
      </p:sp>
      <p:sp>
        <p:nvSpPr>
          <p:cNvPr id="447" name="Google Shape;447;p60"/>
          <p:cNvSpPr txBox="1">
            <a:spLocks noGrp="1"/>
          </p:cNvSpPr>
          <p:nvPr>
            <p:ph type="sldNum" idx="12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46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2469</Words>
  <Application>Microsoft Office PowerPoint</Application>
  <PresentationFormat>On-screen Show (4:3)</PresentationFormat>
  <Paragraphs>359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Book Antiqua</vt:lpstr>
      <vt:lpstr>Century Gothic</vt:lpstr>
      <vt:lpstr>Courier</vt:lpstr>
      <vt:lpstr>Courier New</vt:lpstr>
      <vt:lpstr>Roboto Mono</vt:lpstr>
      <vt:lpstr>Simple Light</vt:lpstr>
      <vt:lpstr>Working With Data DATA9910 Week 5</vt:lpstr>
      <vt:lpstr>Indicative schedule</vt:lpstr>
      <vt:lpstr>Overview</vt:lpstr>
      <vt:lpstr>Intro to Analytic Databases</vt:lpstr>
      <vt:lpstr>Databases and Scripting Languages</vt:lpstr>
      <vt:lpstr>Databases and Scripting Languages Drawbacks</vt:lpstr>
      <vt:lpstr>Databases and Scripting Languages Alternatives</vt:lpstr>
      <vt:lpstr>Databases and Scripting Languages Alternatives</vt:lpstr>
      <vt:lpstr>Databases and Scripting Languages Alternatives</vt:lpstr>
      <vt:lpstr>SQLAlchemy</vt:lpstr>
      <vt:lpstr>Establishing connections to PostgreSQL</vt:lpstr>
      <vt:lpstr>Establishing connections to PostgreSQL</vt:lpstr>
      <vt:lpstr>Establishing connections to SQL databases</vt:lpstr>
      <vt:lpstr>Task 1</vt:lpstr>
      <vt:lpstr>Loading tables</vt:lpstr>
      <vt:lpstr>MetaData object</vt:lpstr>
      <vt:lpstr>MetaData object</vt:lpstr>
      <vt:lpstr>MetaData object</vt:lpstr>
      <vt:lpstr>MetaData object</vt:lpstr>
      <vt:lpstr>Extracting the ERD</vt:lpstr>
      <vt:lpstr>Extracting the ERD</vt:lpstr>
      <vt:lpstr>Extracting the ERD</vt:lpstr>
      <vt:lpstr>Selecting data (Raw query)</vt:lpstr>
      <vt:lpstr>Selecting data (Raw query)</vt:lpstr>
      <vt:lpstr>Task 2</vt:lpstr>
      <vt:lpstr>Task 2</vt:lpstr>
      <vt:lpstr>Task 2</vt:lpstr>
      <vt:lpstr>SQLAlchemy and Pandas</vt:lpstr>
      <vt:lpstr>Selecting data (SQLAlchemy)</vt:lpstr>
      <vt:lpstr>Selecting data (SQLAlchemy)</vt:lpstr>
      <vt:lpstr>Filtering data (SQLAlchemy)</vt:lpstr>
      <vt:lpstr>Filtering data (SQLAlchemy)</vt:lpstr>
      <vt:lpstr>Filtering data (SQLAlchemy)</vt:lpstr>
      <vt:lpstr>Joining data (SQLAlchemy)</vt:lpstr>
      <vt:lpstr>Example</vt:lpstr>
      <vt:lpstr>Example</vt:lpstr>
      <vt:lpstr>Selecting data (SQLAlchemy) </vt:lpstr>
      <vt:lpstr>What about R?</vt:lpstr>
      <vt:lpstr>What about R?</vt:lpstr>
      <vt:lpstr>What about R?</vt:lpstr>
      <vt:lpstr>What about R? </vt:lpstr>
      <vt:lpstr>What about R?</vt:lpstr>
      <vt:lpstr>What about R?</vt:lpstr>
      <vt:lpstr>Summary</vt:lpstr>
      <vt:lpstr>Lab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Eamonn Kelly</cp:lastModifiedBy>
  <cp:revision>2</cp:revision>
  <dcterms:modified xsi:type="dcterms:W3CDTF">2025-10-20T13:48:15Z</dcterms:modified>
</cp:coreProperties>
</file>