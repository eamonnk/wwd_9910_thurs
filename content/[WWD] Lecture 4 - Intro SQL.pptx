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93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9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3C1E79-D414-4627-B45C-6BAA0697D71A}">
  <a:tblStyle styleId="{913C1E79-D414-4627-B45C-6BAA0697D7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70B5D8DE-C498-4371-BDE6-A087C3374FF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7c8da4e15a_0_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g37c8da4e15a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f88dc329d8_0_4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f88dc329d8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f7929006db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f7929006d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f7929006db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f7929006d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5015df0467dc32_2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55015df0467dc32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55015df0467dc32_25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55015df0467dc32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020f67100f_1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020f67100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1020f67100f_1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1020f67100f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f7929006db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f7929006db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f7929006db_0_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f7929006db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f88dc329d8_0_2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f88dc329d8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f88dc329d8_0_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f88dc329d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f7929006db_0_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f7929006db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7929006db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7929006d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f7929006db_0_3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f7929006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f7929006db_0_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f7929006db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1e54518b9a5_0_1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1e54518b9a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f88dc329d8_0_10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f88dc329d8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f88dc329d8_0_10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f88dc329d8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f88dc329d8_0_1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f88dc329d8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f88dc329d8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f88dc329d8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55015df0467dc32_3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55015df0467dc32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55015df0467dc32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55015df0467dc3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55015df0467dc32_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55015df0467dc32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55015df0467dc32_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255015df0467dc3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55015df0467dc32_7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55015df0467dc32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55015df0467dc32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55015df0467dc32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5e01ce10ad_0_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5e01ce10a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255015df0467dc32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255015df0467dc32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f88dc329d8_0_1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f88dc329d8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5e01ce10ad_0_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5e01ce10ad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55015df0467dc32_5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255015df0467dc32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55015df0467dc32_6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255015df0467dc32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25e01ce10ad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25e01ce10ad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5e01ce10ad_0_6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5e01ce10ad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5e01ce10ad_0_6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25e01ce10ad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f7929006db_0_4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f7929006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55015df0467dc32_12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255015df0467dc32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255015df0467dc32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255015df0467dc32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55015df0467dc32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55015df0467dc32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255015df0467dc32_9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255015df0467dc3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55015df0467dc32_15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55015df0467dc32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255015df0467dc32_10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255015df0467dc32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55015df0467dc32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55015df0467dc32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255015df0467dc32_11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255015df0467dc32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255015df0467dc32_18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255015df0467dc32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255015df0467dc32_18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255015df0467dc32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255015df0467dc32_19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255015df0467dc32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55015df0467dc32_23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55015df0467dc32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255015df0467dc32_2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255015df0467dc32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255015df0467dc32_2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255015df0467dc32_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25e01ce10ad_0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25e01ce10a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25e01ce10ad_0_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25e01ce10a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5e01ce10ad_0_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25e01ce10a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25e01ce10ad_0_3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25e01ce10ad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2f6f7e62d3c_0_1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g2f6f7e62d3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2f6f7e62d3c_0_2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g2f6f7e62d3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2f6f7e62d3c_0_2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g2f6f7e62d3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f6f7e62d3c_0_3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6" name="Google Shape;516;g2f6f7e62d3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2f6f7e62d3c_0_3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3" name="Google Shape;523;g2f6f7e62d3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2f6f7e62d3c_1_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2f6f7e62d3c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2f6f7e62d3c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9" name="Google Shape;539;g2f6f7e62d3c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2f75adcf7bf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6" name="Google Shape;546;g2f75adcf7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25e01ce10ad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25e01ce10ad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e838c99943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e838c999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1e838c99943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1e838c9994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e838c99943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e838c9994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1e838c99943_0_1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1e838c99943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1e838c99943_0_2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1e838c9994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e838c99943_0_3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e838c9994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1e838c99943_0_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1e838c9994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1e838c999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1e838c999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1e838c99943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1e838c99943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1e838c99943_0_5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1e838c99943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1e838c99943_0_6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1e838c99943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2851b3500c8_0_7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2851b3500c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2851b3500c8_0_7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2851b3500c8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1e838c99943_0_12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1" name="Google Shape;661;g1e838c99943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2851b3500c8_0_8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2851b3500c8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851b3500c8_0_9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851b3500c8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2851b3500c8_0_9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2851b3500c8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2851b3500c8_0_10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2851b3500c8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2851b3500c8_0_1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2851b3500c8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851b3500c8_0_11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851b3500c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851b3500c8_0_12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851b3500c8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2851b3500c8_0_13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2851b3500c8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851b3500c8_0_1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851b3500c8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2851b3500c8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2851b3500c8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55015df0467dc32_12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55015df0467dc32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fcb44cb6a3_1_55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fcb44cb6a3_1_5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4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2" name="Google Shape;762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925567"/>
            <a:ext cx="8520600" cy="2304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629900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60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2000"/>
          </a:p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279775" y="4860867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83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8"/>
          <p:cNvSpPr txBox="1"/>
          <p:nvPr>
            <p:ph idx="1" type="body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683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83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indent="-3429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1">
  <p:cSld name="TITLE_AND_BODY_1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83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_Pearson" showMasterSp="0">
  <p:cSld name="Title and Content_Pearson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0" y="1"/>
            <a:ext cx="9144000" cy="8367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ook Antiqua"/>
              <a:buNone/>
              <a:defRPr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457200" y="1628800"/>
            <a:ext cx="8229600" cy="44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  <a:defRPr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0" y="6597352"/>
            <a:ext cx="9144000" cy="288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500892" y="6504885"/>
            <a:ext cx="648000" cy="380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Book Antiqua"/>
                <a:ea typeface="Book Antiqua"/>
                <a:cs typeface="Book Antiqua"/>
                <a:sym typeface="Book Antiqu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827585" y="6227885"/>
            <a:ext cx="82809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GB" sz="12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Punch, Enbody “The Practice of Computing Using Python”, ©2013 Pearson Addison-Wesley. All rights reserved</a:t>
            </a:r>
            <a:endParaRPr b="0" i="1" sz="12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Arial"/>
              <a:buChar char="●"/>
              <a:defRPr b="0" i="0" sz="2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2600"/>
          </a:p>
        </p:txBody>
      </p:sp>
      <p:sp>
        <p:nvSpPr>
          <p:cNvPr id="9" name="Google Shape;9;p1"/>
          <p:cNvSpPr/>
          <p:nvPr/>
        </p:nvSpPr>
        <p:spPr>
          <a:xfrm>
            <a:off x="0" y="6542800"/>
            <a:ext cx="9140400" cy="3153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postgresql.org/download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databasestar.com/entity-relationship-diagram/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8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2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0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0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8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8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hyperlink" Target="https://www.codeproject.com/Articles/33052/Visual-Representation-of-SQL-Joins" TargetMode="External"/><Relationship Id="rId4" Type="http://schemas.openxmlformats.org/officeDocument/2006/relationships/image" Target="../media/image15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3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9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7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4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5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0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6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22.png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4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26.png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23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Relationship Id="rId3" Type="http://schemas.openxmlformats.org/officeDocument/2006/relationships/hyperlink" Target="https://www.datacamp.com/courses/intro-to-sql-for-data-science" TargetMode="Externa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Relationship Id="rId3" Type="http://schemas.openxmlformats.org/officeDocument/2006/relationships/hyperlink" Target="https://sql-island.informatik.uni-kl.de/" TargetMode="External"/><Relationship Id="rId4" Type="http://schemas.openxmlformats.org/officeDocument/2006/relationships/image" Target="../media/image21.png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11700" y="925567"/>
            <a:ext cx="8520600" cy="2304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GB"/>
              <a:t>Working With Data DATA9910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GB"/>
              <a:t>Week 4</a:t>
            </a:r>
            <a:endParaRPr/>
          </a:p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311700" y="3803975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Lucas Rizzo</a:t>
            </a:r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2375" y="3749896"/>
            <a:ext cx="3379925" cy="21277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>
            <p:ph idx="2" type="subTitle"/>
          </p:nvPr>
        </p:nvSpPr>
        <p:spPr>
          <a:xfrm>
            <a:off x="279775" y="4860867"/>
            <a:ext cx="85206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email: lucas.rizzo@tudublin.ie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163942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Indicative schedule</a:t>
            </a:r>
            <a:endParaRPr/>
          </a:p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aphicFrame>
        <p:nvGraphicFramePr>
          <p:cNvPr id="76" name="Google Shape;76;p16"/>
          <p:cNvGraphicFramePr/>
          <p:nvPr/>
        </p:nvGraphicFramePr>
        <p:xfrm>
          <a:off x="412000" y="75696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{913C1E79-D414-4627-B45C-6BAA0697D71A}</a:tableStyleId>
              </a:tblPr>
              <a:tblGrid>
                <a:gridCol w="1781900"/>
                <a:gridCol w="6247900"/>
              </a:tblGrid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1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Set up environment and R notebook</a:t>
                      </a:r>
                      <a:endParaRPr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2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Review Python and practice</a:t>
                      </a:r>
                      <a:endParaRPr sz="12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3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/>
                        <a:t>Review R</a:t>
                      </a:r>
                      <a:endParaRPr sz="1200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/>
                        <a:t>I</a:t>
                      </a:r>
                      <a:r>
                        <a:rPr lang="en-GB" sz="1200" u="none" cap="none" strike="noStrike"/>
                        <a:t>mporting data with R</a:t>
                      </a:r>
                      <a:endParaRPr sz="12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4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Intro SQL and aggregate queries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5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Databases and scripting languages 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(</a:t>
                      </a:r>
                      <a:r>
                        <a:rPr b="1" lang="en-GB" sz="1200" u="sng">
                          <a:solidFill>
                            <a:srgbClr val="E06666"/>
                          </a:solidFill>
                        </a:rPr>
                        <a:t>To be submitted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)</a:t>
                      </a:r>
                      <a:endParaRPr b="1" sz="1200">
                        <a:solidFill>
                          <a:srgbClr val="E06666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4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6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Interpreting Data (summary statistics, data visualisation)</a:t>
                      </a:r>
                      <a:endParaRPr sz="12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7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Review week</a:t>
                      </a:r>
                      <a:endParaRPr sz="12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8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Data manipulation in R</a:t>
                      </a:r>
                      <a:endParaRPr sz="1200" u="none" cap="none" strike="noStrike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Pandas and Numpy</a:t>
                      </a:r>
                      <a:endParaRPr sz="1200"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9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/>
                        <a:t>Data visualisation in Python</a:t>
                      </a:r>
                      <a:endParaRPr sz="12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i="1" lang="en-GB" sz="1200" u="none" cap="none" strike="noStrike"/>
                        <a:t>Data processing (regular expressions) 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10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Audio data (R and tuneR) 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(</a:t>
                      </a:r>
                      <a:r>
                        <a:rPr b="1" lang="en-GB" sz="1200" u="sng">
                          <a:solidFill>
                            <a:srgbClr val="E06666"/>
                          </a:solidFill>
                        </a:rPr>
                        <a:t>To be submitted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)</a:t>
                      </a:r>
                      <a:endParaRPr sz="1200" u="none" cap="none" strike="noStrike">
                        <a:solidFill>
                          <a:srgbClr val="E06666"/>
                        </a:solidFill>
                      </a:endParaRPr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11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Image data (Python and skimage) 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(</a:t>
                      </a:r>
                      <a:r>
                        <a:rPr b="1" lang="en-GB" sz="1200" u="sng">
                          <a:solidFill>
                            <a:srgbClr val="E06666"/>
                          </a:solidFill>
                        </a:rPr>
                        <a:t>To be submitted</a:t>
                      </a:r>
                      <a:r>
                        <a:rPr b="1" lang="en-GB" sz="1200">
                          <a:solidFill>
                            <a:srgbClr val="E06666"/>
                          </a:solidFill>
                        </a:rPr>
                        <a:t>)</a:t>
                      </a:r>
                      <a:endParaRPr b="1" sz="1200" u="none" cap="none" strike="noStrike">
                        <a:solidFill>
                          <a:srgbClr val="E06666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</a:t>
                      </a:r>
                      <a:r>
                        <a:rPr b="1" lang="en-GB" sz="1200"/>
                        <a:t>12</a:t>
                      </a:r>
                      <a:endParaRPr b="1" sz="1200" u="none" cap="none" strike="noStrike"/>
                    </a:p>
                  </a:txBody>
                  <a:tcPr marT="91425" marB="91425" marR="91425" marL="9142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>
                          <a:solidFill>
                            <a:schemeClr val="dk1"/>
                          </a:solidFill>
                        </a:rPr>
                        <a:t>Time series (Python and Pandas)</a:t>
                      </a:r>
                      <a:endParaRPr b="1" sz="12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GB" sz="1200" u="none" cap="none" strike="noStrike"/>
                        <a:t>Week 13</a:t>
                      </a:r>
                      <a:endParaRPr b="1" sz="12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GB" sz="1200" u="none" cap="none" strike="noStrike">
                          <a:solidFill>
                            <a:schemeClr val="dk1"/>
                          </a:solidFill>
                        </a:rPr>
                        <a:t>Working on Assignment</a:t>
                      </a:r>
                      <a:endParaRPr b="1" sz="12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200" u="sng" cap="none" strike="noStrike">
                          <a:solidFill>
                            <a:srgbClr val="E06666"/>
                          </a:solidFill>
                        </a:rPr>
                        <a:t>Assignment deadline</a:t>
                      </a:r>
                      <a:endParaRPr sz="1400" u="sng" cap="none" strike="noStrike">
                        <a:solidFill>
                          <a:srgbClr val="E06666"/>
                        </a:solidFill>
                      </a:endParaRPr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>
                <a:solidFill>
                  <a:schemeClr val="dk2"/>
                </a:solidFill>
              </a:rPr>
              <a:t>Overview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Database refresher</a:t>
            </a:r>
            <a:endParaRPr/>
          </a:p>
          <a:p>
            <a:pPr indent="-3556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-GB" sz="2000"/>
              <a:t>Tables, columns, keys</a:t>
            </a:r>
            <a:endParaRPr sz="2000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SQL databases and R dataframes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Data modification language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Basic data definition language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Relationships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Aggregate queries</a:t>
            </a:r>
            <a:endParaRPr/>
          </a:p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595959"/>
                </a:solidFill>
              </a:rPr>
              <a:t>PostgreSQL s</a:t>
            </a:r>
            <a:r>
              <a:rPr lang="en-GB">
                <a:solidFill>
                  <a:srgbClr val="595959"/>
                </a:solidFill>
              </a:rPr>
              <a:t>et up</a:t>
            </a:r>
            <a:endParaRPr>
              <a:solidFill>
                <a:srgbClr val="595959"/>
              </a:solidFill>
            </a:endParaRPr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You can download PostgreSQL here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https://www.postgresql.org/download/</a:t>
            </a:r>
            <a:r>
              <a:rPr lang="en-GB"/>
              <a:t> 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Open the </a:t>
            </a:r>
            <a:r>
              <a:rPr b="1" lang="en-GB"/>
              <a:t>pgAdmin</a:t>
            </a:r>
            <a:r>
              <a:rPr lang="en-GB"/>
              <a:t> tool. This is the administration and management tools for the PostgreSQL database.</a:t>
            </a:r>
            <a:endParaRPr sz="2200"/>
          </a:p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1525" y="407574"/>
            <a:ext cx="920300" cy="949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64463" y="3780375"/>
            <a:ext cx="5015075" cy="2578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SQL Databases </a:t>
            </a:r>
            <a:r>
              <a:rPr lang="en-GB"/>
              <a:t>and R DataFrames</a:t>
            </a:r>
            <a:endParaRPr/>
          </a:p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An </a:t>
            </a:r>
            <a:r>
              <a:rPr b="1" lang="en-GB"/>
              <a:t>R Dataframe</a:t>
            </a:r>
            <a:r>
              <a:rPr lang="en-GB"/>
              <a:t> is a like a lightweight </a:t>
            </a:r>
            <a:r>
              <a:rPr b="1" lang="en-GB"/>
              <a:t>SQL table</a:t>
            </a:r>
            <a:br>
              <a:rPr b="1" lang="en-GB"/>
            </a:br>
            <a:endParaRPr b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 dataframe consists of: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b="1" lang="en-GB" sz="2200"/>
              <a:t>c</a:t>
            </a:r>
            <a:r>
              <a:rPr b="1" lang="en-GB" sz="2200"/>
              <a:t>olumns</a:t>
            </a:r>
            <a:r>
              <a:rPr lang="en-GB" sz="2200"/>
              <a:t> (with a type) which define the dataframe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b="1" lang="en-GB" sz="2200"/>
              <a:t>rows</a:t>
            </a:r>
            <a:r>
              <a:rPr lang="en-GB" sz="2200"/>
              <a:t>, or values, which make up the data</a:t>
            </a:r>
            <a:br>
              <a:rPr lang="en-GB" sz="2200"/>
            </a:b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Dataframes are often flat, we tend to have wide dataframes containing all the columns we need in a single place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R dataframes usually only live for as long as the R session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SQL Databases and R DataFrames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An SQL table is </a:t>
            </a:r>
            <a:r>
              <a:rPr b="1" lang="en-GB"/>
              <a:t>heavily optimized</a:t>
            </a:r>
            <a:r>
              <a:rPr lang="en-GB"/>
              <a:t> and </a:t>
            </a:r>
            <a:r>
              <a:rPr b="1" lang="en-GB"/>
              <a:t>more complex</a:t>
            </a:r>
            <a:r>
              <a:rPr lang="en-GB"/>
              <a:t> than a R dataframe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Like R dataframes, SQL tables consist of </a:t>
            </a:r>
            <a:r>
              <a:rPr b="1" lang="en-GB"/>
              <a:t>strongly typed columns and rows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Databases are usually </a:t>
            </a:r>
            <a:r>
              <a:rPr b="1" i="1" lang="en-GB"/>
              <a:t>normalized</a:t>
            </a:r>
            <a:r>
              <a:rPr lang="en-GB"/>
              <a:t>. We tend to have one table per thing (entity) and we join those tables together when we query SQL tables live on the hard drive; they are persistent.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ERD</a:t>
            </a:r>
            <a:endParaRPr/>
          </a:p>
        </p:txBody>
      </p:sp>
      <p:sp>
        <p:nvSpPr>
          <p:cNvPr id="112" name="Google Shape;112;p2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SQL databases depend on the </a:t>
            </a:r>
            <a:r>
              <a:rPr b="1" lang="en-GB"/>
              <a:t>structure of entities</a:t>
            </a:r>
            <a:r>
              <a:rPr lang="en-GB"/>
              <a:t> and the  </a:t>
            </a:r>
            <a:r>
              <a:rPr b="1" lang="en-GB"/>
              <a:t>pattern of relationships</a:t>
            </a:r>
            <a:r>
              <a:rPr lang="en-GB"/>
              <a:t> between them.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It is designed to </a:t>
            </a:r>
            <a:r>
              <a:rPr b="1" lang="en-GB"/>
              <a:t>avoid data redundancy</a:t>
            </a:r>
            <a:r>
              <a:rPr lang="en-GB"/>
              <a:t> and increase </a:t>
            </a:r>
            <a:r>
              <a:rPr b="1" lang="en-GB"/>
              <a:t>data integrity</a:t>
            </a:r>
            <a:r>
              <a:rPr lang="en-GB"/>
              <a:t>.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An Entity Relationship Diagram (ERD)  lets you see how different entities relate to each other in an application or a database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It is </a:t>
            </a:r>
            <a:r>
              <a:rPr b="1" lang="en-GB"/>
              <a:t>implementation independent</a:t>
            </a:r>
            <a:endParaRPr b="1"/>
          </a:p>
        </p:txBody>
      </p:sp>
      <p:sp>
        <p:nvSpPr>
          <p:cNvPr id="113" name="Google Shape;113;p2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Different types of ERD</a:t>
            </a:r>
            <a:endParaRPr/>
          </a:p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311700" y="5562456"/>
            <a:ext cx="8520600" cy="104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E</a:t>
            </a:r>
            <a:r>
              <a:rPr lang="en-GB"/>
              <a:t>xamples of notation and models can be seen here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>
                <a:solidFill>
                  <a:schemeClr val="hlink"/>
                </a:solidFill>
                <a:hlinkClick r:id="rId3"/>
              </a:rPr>
              <a:t>https://www.databasestar.com/entity-relationship-diagram/</a:t>
            </a:r>
            <a:endParaRPr/>
          </a:p>
        </p:txBody>
      </p:sp>
      <p:sp>
        <p:nvSpPr>
          <p:cNvPr id="120" name="Google Shape;120;p2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21" name="Google Shape;12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900" y="1447938"/>
            <a:ext cx="3837876" cy="104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2561400"/>
            <a:ext cx="5440900" cy="1424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7900" y="3985725"/>
            <a:ext cx="5238050" cy="152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2"/>
          <p:cNvSpPr txBox="1"/>
          <p:nvPr/>
        </p:nvSpPr>
        <p:spPr>
          <a:xfrm>
            <a:off x="4504775" y="1739000"/>
            <a:ext cx="291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Conceptual model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5" name="Google Shape;125;p22"/>
          <p:cNvSpPr txBox="1"/>
          <p:nvPr/>
        </p:nvSpPr>
        <p:spPr>
          <a:xfrm>
            <a:off x="5997650" y="2820000"/>
            <a:ext cx="291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Logical model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2"/>
          <p:cNvSpPr txBox="1"/>
          <p:nvPr/>
        </p:nvSpPr>
        <p:spPr>
          <a:xfrm>
            <a:off x="5812675" y="4318600"/>
            <a:ext cx="291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</a:rPr>
              <a:t>A physical model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Structured?</a:t>
            </a:r>
            <a:endParaRPr/>
          </a:p>
        </p:txBody>
      </p:sp>
      <p:sp>
        <p:nvSpPr>
          <p:cNvPr id="132" name="Google Shape;132;p2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SQL enforces </a:t>
            </a:r>
            <a:r>
              <a:rPr b="1" lang="en-GB"/>
              <a:t>strict data structures</a:t>
            </a:r>
            <a:endParaRPr b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All items in a collection have the </a:t>
            </a:r>
            <a:r>
              <a:rPr b="1" lang="en-GB"/>
              <a:t>same set of properties</a:t>
            </a:r>
            <a:endParaRPr b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Each item’s properties have the same type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b="1" lang="en-GB"/>
              <a:t>Missing values</a:t>
            </a:r>
            <a:r>
              <a:rPr lang="en-GB"/>
              <a:t> must be </a:t>
            </a:r>
            <a:r>
              <a:rPr b="1" lang="en-GB"/>
              <a:t>explicitly allowed</a:t>
            </a:r>
            <a:endParaRPr b="1"/>
          </a:p>
        </p:txBody>
      </p:sp>
      <p:sp>
        <p:nvSpPr>
          <p:cNvPr id="133" name="Google Shape;133;p2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Flavours of SQL</a:t>
            </a:r>
            <a:endParaRPr/>
          </a:p>
        </p:txBody>
      </p:sp>
      <p:sp>
        <p:nvSpPr>
          <p:cNvPr id="139" name="Google Shape;139;p2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SQL is actually a family of closely related languages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SQL has a </a:t>
            </a:r>
            <a:r>
              <a:rPr b="1" lang="en-GB"/>
              <a:t>standard </a:t>
            </a:r>
            <a:r>
              <a:rPr lang="en-GB"/>
              <a:t>of the American National Standards Institute (ANSI), although implementations don’t follow it fully.</a:t>
            </a:r>
            <a:endParaRPr/>
          </a:p>
        </p:txBody>
      </p:sp>
      <p:sp>
        <p:nvSpPr>
          <p:cNvPr id="140" name="Google Shape;140;p2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41" name="Google Shape;141;p24"/>
          <p:cNvSpPr txBox="1"/>
          <p:nvPr/>
        </p:nvSpPr>
        <p:spPr>
          <a:xfrm>
            <a:off x="401650" y="2271600"/>
            <a:ext cx="4377900" cy="22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Oracle SQL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Students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dob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FETCH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FIRST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ROWS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ONLY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42" name="Google Shape;142;p24"/>
          <p:cNvSpPr txBox="1"/>
          <p:nvPr/>
        </p:nvSpPr>
        <p:spPr>
          <a:xfrm>
            <a:off x="2971625" y="2347800"/>
            <a:ext cx="43779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MS SQL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TOP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Students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dob;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43" name="Google Shape;143;p24"/>
          <p:cNvSpPr txBox="1"/>
          <p:nvPr/>
        </p:nvSpPr>
        <p:spPr>
          <a:xfrm>
            <a:off x="5492250" y="2286150"/>
            <a:ext cx="43779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PostgreSQL</a:t>
            </a:r>
            <a:endParaRPr b="1"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Students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dob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LIMIT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6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</a:t>
            </a:r>
            <a:r>
              <a:rPr lang="en-GB" sz="16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16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Types</a:t>
            </a:r>
            <a:endParaRPr/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1700" y="1536625"/>
            <a:ext cx="40221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R</a:t>
            </a:r>
            <a:endParaRPr b="1"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Double</a:t>
            </a:r>
            <a:br>
              <a:rPr lang="en-GB" sz="2000">
                <a:latin typeface="Courier"/>
                <a:ea typeface="Courier"/>
                <a:cs typeface="Courier"/>
                <a:sym typeface="Courier"/>
              </a:rPr>
            </a:b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Integer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Boolean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Character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Date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Factor</a:t>
            </a:r>
            <a:br>
              <a:rPr lang="en-GB" sz="2000">
                <a:latin typeface="Courier"/>
                <a:ea typeface="Courier"/>
                <a:cs typeface="Courier"/>
                <a:sym typeface="Courier"/>
              </a:rPr>
            </a:br>
            <a:br>
              <a:rPr lang="en-GB" sz="2000">
                <a:latin typeface="Courier"/>
                <a:ea typeface="Courier"/>
                <a:cs typeface="Courier"/>
                <a:sym typeface="Courier"/>
              </a:rPr>
            </a:b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NA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50" name="Google Shape;150;p2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51" name="Google Shape;151;p25"/>
          <p:cNvSpPr txBox="1"/>
          <p:nvPr>
            <p:ph idx="1" type="body"/>
          </p:nvPr>
        </p:nvSpPr>
        <p:spPr>
          <a:xfrm>
            <a:off x="5368175" y="1491400"/>
            <a:ext cx="39507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2000"/>
              <a:t>SQL</a:t>
            </a:r>
            <a:endParaRPr b="1"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NUMERIC(precision,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45720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  scale)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INT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BOOLEAN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CHAR(Size),VARCHAR (Size), TEXT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DATE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Foreign Key (kind of, by using a table of categories)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NULL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2332350" y="1491400"/>
            <a:ext cx="30303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/>
              <a:t>Python</a:t>
            </a:r>
            <a:endParaRPr b="1"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Float</a:t>
            </a:r>
            <a:br>
              <a:rPr lang="en-GB" sz="2000">
                <a:latin typeface="Courier"/>
                <a:ea typeface="Courier"/>
                <a:cs typeface="Courier"/>
                <a:sym typeface="Courier"/>
              </a:rPr>
            </a:b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Integer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Boolean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String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atetime module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P</a:t>
            </a: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andas categorical data type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Font typeface="Courier"/>
              <a:buChar char="●"/>
            </a:pPr>
            <a:r>
              <a:rPr lang="en-GB" sz="2000">
                <a:latin typeface="Courier"/>
                <a:ea typeface="Courier"/>
                <a:cs typeface="Courier"/>
                <a:sym typeface="Courier"/>
              </a:rPr>
              <a:t>NA</a:t>
            </a:r>
            <a:endParaRPr sz="2000"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SQL Number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In SQL, you must specify exactly </a:t>
            </a:r>
            <a:r>
              <a:rPr b="1" lang="en-GB"/>
              <a:t>how much space</a:t>
            </a:r>
            <a:r>
              <a:rPr lang="en-GB"/>
              <a:t> you want to use to </a:t>
            </a:r>
            <a:r>
              <a:rPr b="1" lang="en-GB"/>
              <a:t>store a number</a:t>
            </a:r>
            <a:br>
              <a:rPr b="1" lang="en-GB"/>
            </a:br>
            <a:endParaRPr b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b="1" lang="en-GB"/>
              <a:t>Precision </a:t>
            </a:r>
            <a:r>
              <a:rPr lang="en-GB"/>
              <a:t>is the </a:t>
            </a:r>
            <a:r>
              <a:rPr b="1" lang="en-GB"/>
              <a:t>number of digits</a:t>
            </a:r>
            <a:r>
              <a:rPr lang="en-GB"/>
              <a:t> in a number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b="1" lang="en-GB"/>
              <a:t>Scale </a:t>
            </a:r>
            <a:r>
              <a:rPr lang="en-GB"/>
              <a:t>is the number of those digits to the </a:t>
            </a:r>
            <a:r>
              <a:rPr b="1" lang="en-GB"/>
              <a:t>right of the decimal place</a:t>
            </a:r>
            <a:r>
              <a:rPr lang="en-GB"/>
              <a:t>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SQL Number</a:t>
            </a:r>
            <a:endParaRPr/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precision and scale would you use for…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random number seed which is a whole number 8 digits long?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Price of stock less than €1000?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number between 0 and 1, to 5 decimal places?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boolean column?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SQL Number</a:t>
            </a:r>
            <a:endParaRPr/>
          </a:p>
        </p:txBody>
      </p:sp>
      <p:sp>
        <p:nvSpPr>
          <p:cNvPr id="172" name="Google Shape;172;p2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precision and scale would you use for…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random number seed which is a whole number 8 digits long? </a:t>
            </a:r>
            <a:r>
              <a:rPr lang="en-GB" sz="2200">
                <a:solidFill>
                  <a:srgbClr val="FF0000"/>
                </a:solidFill>
              </a:rPr>
              <a:t>(8,0)</a:t>
            </a:r>
            <a:endParaRPr sz="2200">
              <a:solidFill>
                <a:srgbClr val="FF0000"/>
              </a:solidFill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Price of stock less than €1000?</a:t>
            </a:r>
            <a:r>
              <a:rPr lang="en-GB" sz="2200">
                <a:solidFill>
                  <a:srgbClr val="FF0000"/>
                </a:solidFill>
              </a:rPr>
              <a:t> (5,2)</a:t>
            </a:r>
            <a:endParaRPr sz="2200">
              <a:solidFill>
                <a:srgbClr val="FF0000"/>
              </a:solidFill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number between 0 and 1, to 5 decimal places? </a:t>
            </a:r>
            <a:r>
              <a:rPr lang="en-GB" sz="2200">
                <a:solidFill>
                  <a:srgbClr val="FF0000"/>
                </a:solidFill>
              </a:rPr>
              <a:t>(6,5)</a:t>
            </a:r>
            <a:endParaRPr sz="2200">
              <a:solidFill>
                <a:srgbClr val="FF0000"/>
              </a:solidFill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boolean column? </a:t>
            </a:r>
            <a:r>
              <a:rPr lang="en-GB" sz="2200">
                <a:solidFill>
                  <a:srgbClr val="FF0000"/>
                </a:solidFill>
              </a:rPr>
              <a:t>(1,0)</a:t>
            </a:r>
            <a:endParaRPr sz="22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VARCHAR</a:t>
            </a:r>
            <a:endParaRPr/>
          </a:p>
        </p:txBody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Strings are represented in a database using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 </a:t>
            </a:r>
            <a:r>
              <a:rPr lang="en-GB"/>
              <a:t>type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varchar size specifies the maximum number of characters allowed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GB"/>
            </a:br>
            <a:r>
              <a:rPr lang="en-GB" sz="17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CREATE TABLE </a:t>
            </a:r>
            <a:r>
              <a:rPr lang="en-GB" sz="17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Customer </a:t>
            </a:r>
            <a:r>
              <a:rPr lang="en-GB" sz="17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17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7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FirstName </a:t>
            </a:r>
            <a:r>
              <a:rPr lang="en-GB" sz="17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VARCHAR </a:t>
            </a:r>
            <a:r>
              <a:rPr lang="en-GB" sz="17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700">
                <a:solidFill>
                  <a:srgbClr val="008C0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17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7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7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700"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String literals must be written using single quotes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45720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FirstName = </a:t>
            </a:r>
            <a:r>
              <a:rPr lang="en-GB" sz="21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'Lucas'</a:t>
            </a:r>
            <a:endParaRPr sz="2100">
              <a:solidFill>
                <a:srgbClr val="388E3C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DATE</a:t>
            </a:r>
            <a:endParaRPr/>
          </a:p>
        </p:txBody>
      </p:sp>
      <p:sp>
        <p:nvSpPr>
          <p:cNvPr id="186" name="Google Shape;186;p30"/>
          <p:cNvSpPr txBox="1"/>
          <p:nvPr>
            <p:ph idx="1" type="body"/>
          </p:nvPr>
        </p:nvSpPr>
        <p:spPr>
          <a:xfrm>
            <a:off x="311700" y="1536625"/>
            <a:ext cx="88323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add date information to a column using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DATE </a:t>
            </a:r>
            <a:r>
              <a:rPr lang="en-GB"/>
              <a:t>datatype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specify dates as a string and PostgreSQL will automatically parse them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It’s better to use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TO_DATE()</a:t>
            </a:r>
            <a:r>
              <a:rPr lang="en-GB"/>
              <a:t> function and specify our format manually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Orders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OrderDate &gt; </a:t>
            </a:r>
            <a:r>
              <a:rPr lang="en-GB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'01-Nov-20'</a:t>
            </a:r>
            <a:endParaRPr>
              <a:solidFill>
                <a:srgbClr val="388E3C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88E3C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Orders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OrderDate &gt;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TO_DATE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'2020-11-01'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GB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'YYYY-MM-DD'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3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NULL</a:t>
            </a:r>
            <a:endParaRPr/>
          </a:p>
        </p:txBody>
      </p:sp>
      <p:sp>
        <p:nvSpPr>
          <p:cNvPr id="193" name="Google Shape;193;p3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57822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The value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NA </a:t>
            </a:r>
            <a:r>
              <a:rPr lang="en-GB"/>
              <a:t>in R corresponds to </a:t>
            </a:r>
            <a:r>
              <a:rPr lang="en-GB">
                <a:solidFill>
                  <a:srgbClr val="595959"/>
                </a:solidFill>
              </a:rPr>
              <a:t>PostgreSQL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NULL </a:t>
            </a:r>
            <a:r>
              <a:rPr lang="en-GB"/>
              <a:t>value</a:t>
            </a:r>
            <a:endParaRPr/>
          </a:p>
          <a:p>
            <a:pPr indent="-357822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R always allows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NA </a:t>
            </a:r>
            <a:r>
              <a:rPr lang="en-GB"/>
              <a:t>values in a dataframe, but in SQL columns must explicitly forbid them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CREATE TABLE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contacts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id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first_name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008C0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u="sng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NOT NULL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last_name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008C0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u="sng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NOT NULL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email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008C0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255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u="sng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NOT NULL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phone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008C0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15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PRIMARY KEY 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id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Font typeface="Arial"/>
              <a:buNone/>
            </a:pP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Key</a:t>
            </a:r>
            <a:endParaRPr/>
          </a:p>
        </p:txBody>
      </p:sp>
      <p:sp>
        <p:nvSpPr>
          <p:cNvPr id="200" name="Google Shape;200;p3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Each table in SQL </a:t>
            </a:r>
            <a:r>
              <a:rPr b="1" lang="en-GB"/>
              <a:t>should have a primary key</a:t>
            </a:r>
            <a:br>
              <a:rPr b="1" lang="en-GB"/>
            </a:br>
            <a:endParaRPr b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 primary key is a column (or group of columns) which </a:t>
            </a:r>
            <a:r>
              <a:rPr b="1" i="1" lang="en-GB"/>
              <a:t>uniquely </a:t>
            </a:r>
            <a:r>
              <a:rPr lang="en-GB"/>
              <a:t>identify the row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Primary keys can be </a:t>
            </a:r>
            <a:r>
              <a:rPr b="1" lang="en-GB"/>
              <a:t>actual features</a:t>
            </a:r>
            <a:r>
              <a:rPr lang="en-GB"/>
              <a:t> of the entity (i.e. a student number), or an </a:t>
            </a:r>
            <a:r>
              <a:rPr b="1" lang="en-GB"/>
              <a:t>auto-generated value</a:t>
            </a:r>
            <a:r>
              <a:rPr lang="en-GB"/>
              <a:t> (i.e. ID)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Technically, a primary key constraint is the combination of a </a:t>
            </a:r>
            <a:r>
              <a:rPr b="1" lang="en-GB"/>
              <a:t>not-null </a:t>
            </a:r>
            <a:r>
              <a:rPr lang="en-GB"/>
              <a:t>constraint</a:t>
            </a:r>
            <a:r>
              <a:rPr lang="en-GB"/>
              <a:t> and a </a:t>
            </a:r>
            <a:r>
              <a:rPr b="1" lang="en-GB"/>
              <a:t>UNIQUE </a:t>
            </a:r>
            <a:r>
              <a:rPr lang="en-GB"/>
              <a:t>constraint.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3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Primary Key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311700" y="1536625"/>
            <a:ext cx="8520600" cy="53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CREATE TABLE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po_headers 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po_no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INTEGER</a:t>
            </a: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262626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PRIMARY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vendor_no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INTEGER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description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shipping_address </a:t>
            </a:r>
            <a:r>
              <a:rPr lang="en-GB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TEXT</a:t>
            </a:r>
            <a:endParaRPr>
              <a:solidFill>
                <a:srgbClr val="C53929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);</a:t>
            </a:r>
            <a:br>
              <a:rPr lang="en-GB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</a:br>
            <a:endParaRPr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CREATE TABLE</a:t>
            </a: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po_items 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po_no </a:t>
            </a:r>
            <a:r>
              <a:rPr lang="en-GB" sz="20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INTEGER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item_no </a:t>
            </a:r>
            <a:r>
              <a:rPr lang="en-GB" sz="20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INTEGER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product_no </a:t>
            </a:r>
            <a:r>
              <a:rPr lang="en-GB" sz="20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INTEGER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2000">
                <a:solidFill>
                  <a:srgbClr val="C53929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PRIMARY KEY</a:t>
            </a: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po_no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GB" sz="2000">
                <a:solidFill>
                  <a:schemeClr val="dk1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 item_no</a:t>
            </a: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808030"/>
                </a:solidFill>
                <a:highlight>
                  <a:srgbClr val="FFFFFF"/>
                </a:highlight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2000"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808030"/>
              </a:solidFill>
              <a:highlight>
                <a:srgbClr val="FFFFFF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09" name="Google Shape;209;p33"/>
          <p:cNvCxnSpPr/>
          <p:nvPr/>
        </p:nvCxnSpPr>
        <p:spPr>
          <a:xfrm flipH="1" rot="10800000">
            <a:off x="1084825" y="2255772"/>
            <a:ext cx="4299000" cy="192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0" name="Google Shape;210;p33"/>
          <p:cNvCxnSpPr/>
          <p:nvPr/>
        </p:nvCxnSpPr>
        <p:spPr>
          <a:xfrm flipH="1" rot="10800000">
            <a:off x="1036575" y="5648870"/>
            <a:ext cx="4195200" cy="45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Selecting Data	</a:t>
            </a:r>
            <a:endParaRPr/>
          </a:p>
        </p:txBody>
      </p:sp>
      <p:sp>
        <p:nvSpPr>
          <p:cNvPr id="216" name="Google Shape;216;p3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To retrieve data from our tables we use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SELECT </a:t>
            </a:r>
            <a:r>
              <a:rPr lang="en-GB"/>
              <a:t>command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GB"/>
            </a:br>
            <a:br>
              <a:rPr lang="en-GB"/>
            </a:br>
            <a:r>
              <a:rPr lang="en-GB"/>
              <a:t>     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col1, col2, col3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Table</a:t>
            </a:r>
            <a:br>
              <a:rPr lang="en-GB"/>
            </a:b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use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*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/>
              <a:t>as a shortcut to select all columns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Selecting and Ordering Data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3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sort results in SQL using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ORDER BY</a:t>
            </a:r>
            <a:r>
              <a:rPr lang="en-GB"/>
              <a:t> clause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This will sort results by a given column(s) in </a:t>
            </a:r>
            <a:r>
              <a:rPr i="1" lang="en-GB"/>
              <a:t>ascending</a:t>
            </a:r>
            <a:r>
              <a:rPr lang="en-GB"/>
              <a:t> order by default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DESC</a:t>
            </a:r>
            <a:r>
              <a:rPr b="1" lang="en-GB">
                <a:solidFill>
                  <a:srgbClr val="3C78D8"/>
                </a:solidFill>
              </a:rPr>
              <a:t> </a:t>
            </a:r>
            <a:r>
              <a:rPr lang="en-GB"/>
              <a:t>keyword reverses the default order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ORDER BY</a:t>
            </a:r>
            <a:r>
              <a:rPr lang="en-GB"/>
              <a:t> clause always comes last in a statement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FirstName, LastName;</a:t>
            </a:r>
            <a:b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LastLoginDate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DESC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Filtering Data</a:t>
            </a:r>
            <a:endParaRPr/>
          </a:p>
        </p:txBody>
      </p:sp>
      <p:sp>
        <p:nvSpPr>
          <p:cNvPr id="230" name="Google Shape;230;p3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use a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WHERE </a:t>
            </a:r>
            <a:r>
              <a:rPr lang="en-GB"/>
              <a:t>clause to filter the data we retrieve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email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marketingOptIn =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</a:t>
            </a:r>
            <a:endParaRPr sz="30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Filtering Data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WHERE </a:t>
            </a:r>
            <a:r>
              <a:rPr lang="en-GB"/>
              <a:t>clause can be combined with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/>
              <a:t>,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/>
              <a:t>, and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NOT </a:t>
            </a:r>
            <a:r>
              <a:rPr lang="en-GB"/>
              <a:t>operators.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PostgreSQL lets us use some basic wildcard matching on varchars using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LIKE</a:t>
            </a:r>
            <a:endParaRPr b="1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%</a:t>
            </a:r>
            <a:r>
              <a:rPr lang="en-GB"/>
              <a:t> symbol is equivalent to </a:t>
            </a:r>
            <a:r>
              <a:rPr lang="en-GB">
                <a:solidFill>
                  <a:srgbClr val="1155CC"/>
                </a:solidFill>
                <a:latin typeface="Courier"/>
                <a:ea typeface="Courier"/>
                <a:cs typeface="Courier"/>
                <a:sym typeface="Courier"/>
              </a:rPr>
              <a:t>.*</a:t>
            </a:r>
            <a:r>
              <a:rPr lang="en-GB"/>
              <a:t> in a RegEx (match any number of characters)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_</a:t>
            </a:r>
            <a:r>
              <a:rPr lang="en-GB"/>
              <a:t> symbol is equivalent to </a:t>
            </a:r>
            <a:r>
              <a:rPr lang="en-GB">
                <a:solidFill>
                  <a:srgbClr val="1155CC"/>
                </a:solidFill>
                <a:latin typeface="Courier"/>
                <a:ea typeface="Courier"/>
                <a:cs typeface="Courier"/>
                <a:sym typeface="Courier"/>
              </a:rPr>
              <a:t>.</a:t>
            </a:r>
            <a:r>
              <a:rPr lang="en-GB"/>
              <a:t> in a RegEx (match a single character)</a:t>
            </a:r>
            <a:endParaRPr/>
          </a:p>
        </p:txBody>
      </p:sp>
      <p:sp>
        <p:nvSpPr>
          <p:cNvPr id="238" name="Google Shape;238;p3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Filtering Data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Name =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'Lucas'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AND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Surname =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'Rizzo'</a:t>
            </a:r>
            <a:b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Name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LIKE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'%ca%'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Name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LIKE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'L%s'</a:t>
            </a:r>
            <a:b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Name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LIKE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'L___s'</a:t>
            </a:r>
            <a:endParaRPr sz="2500">
              <a:solidFill>
                <a:srgbClr val="388E3C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/>
          </a:p>
        </p:txBody>
      </p:sp>
      <p:sp>
        <p:nvSpPr>
          <p:cNvPr id="245" name="Google Shape;245;p3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Inserting Data</a:t>
            </a:r>
            <a:endParaRPr/>
          </a:p>
        </p:txBody>
      </p:sp>
      <p:sp>
        <p:nvSpPr>
          <p:cNvPr id="251" name="Google Shape;251;p3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use an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INSERT </a:t>
            </a:r>
            <a:r>
              <a:rPr lang="en-GB"/>
              <a:t>statement to add data to our tables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INSERT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INTO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(id, firstName, lastName, marketingOptIn)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VALUES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1123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'Lucas'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'Rizzo'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0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Updating Data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change the values in a database using an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UPDATE </a:t>
            </a:r>
            <a:r>
              <a:rPr lang="en-GB"/>
              <a:t>statement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UPDATE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marketingOptIn =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0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marketingOptIn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IS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NULL</a:t>
            </a:r>
            <a:endParaRPr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4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Deleting Data</a:t>
            </a:r>
            <a:endParaRPr/>
          </a:p>
        </p:txBody>
      </p:sp>
      <p:sp>
        <p:nvSpPr>
          <p:cNvPr id="265" name="Google Shape;265;p4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delete values in a database using a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DELETE </a:t>
            </a:r>
            <a:r>
              <a:rPr lang="en-GB"/>
              <a:t>statement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DELETE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id =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1123</a:t>
            </a:r>
            <a:endParaRPr sz="25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4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Dropping Tables</a:t>
            </a:r>
            <a:endParaRPr/>
          </a:p>
        </p:txBody>
      </p:sp>
      <p:sp>
        <p:nvSpPr>
          <p:cNvPr id="272" name="Google Shape;272;p4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To permanently remove a table from the database we use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DROP </a:t>
            </a:r>
            <a:r>
              <a:rPr lang="en-GB"/>
              <a:t>command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DROP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Altering Tables</a:t>
            </a:r>
            <a:endParaRPr/>
          </a:p>
        </p:txBody>
      </p:sp>
      <p:sp>
        <p:nvSpPr>
          <p:cNvPr id="279" name="Google Shape;279;p4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change the definition of a table using the </a:t>
            </a:r>
            <a:r>
              <a:rPr b="1" lang="en-GB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ALTER TABLE</a:t>
            </a:r>
            <a:r>
              <a:rPr lang="en-GB"/>
              <a:t> command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ALTER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ADD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dob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DATE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NULL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</a:t>
            </a:r>
            <a:endParaRPr/>
          </a:p>
        </p:txBody>
      </p:sp>
      <p:sp>
        <p:nvSpPr>
          <p:cNvPr id="286" name="Google Shape;286;p4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Tables in a relational databases are </a:t>
            </a:r>
            <a:r>
              <a:rPr b="1" lang="en-GB"/>
              <a:t>related to each other</a:t>
            </a:r>
            <a:endParaRPr b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Every </a:t>
            </a:r>
            <a:r>
              <a:rPr i="1" lang="en-GB"/>
              <a:t>order </a:t>
            </a:r>
            <a:r>
              <a:rPr lang="en-GB"/>
              <a:t>in a sales database was placed by a </a:t>
            </a:r>
            <a:r>
              <a:rPr i="1" lang="en-GB"/>
              <a:t>customer</a:t>
            </a:r>
            <a:endParaRPr i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say that </a:t>
            </a:r>
            <a:r>
              <a:rPr i="1" lang="en-GB"/>
              <a:t>order </a:t>
            </a:r>
            <a:r>
              <a:rPr b="1" lang="en-GB"/>
              <a:t>belongs </a:t>
            </a:r>
            <a:r>
              <a:rPr lang="en-GB"/>
              <a:t>to the </a:t>
            </a:r>
            <a:r>
              <a:rPr i="1" lang="en-GB"/>
              <a:t>customer</a:t>
            </a:r>
            <a:endParaRPr i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represent this using a </a:t>
            </a:r>
            <a:r>
              <a:rPr b="1" i="1" lang="en-GB"/>
              <a:t>foreign key</a:t>
            </a:r>
            <a:endParaRPr b="1" i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4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293" name="Google Shape;293;p4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Suppose we want to model a very basic version of IMDB where we store information about movies and actors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We’ll start with two tables</a:t>
            </a:r>
            <a:endParaRPr/>
          </a:p>
          <a:p>
            <a:pPr indent="-3683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Actor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4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00" name="Google Shape;300;p4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4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07" name="Google Shape;307;p4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movieTitle, Year, Director, Budget, 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4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14" name="Google Shape;314;p4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ovi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eTitle, Year, Director, Budget, 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Next, what are the datatypes for those columns?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Year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Director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Budget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4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21" name="Google Shape;321;p4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movieTitle, Year, Director, Budget, 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Next, what are the datatypes for those columns?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Year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DATE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Director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Budget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Profit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28" name="Google Shape;328;p5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movieTitle, Year, Director, Budget, 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Next, what are the datatypes for those columns?</a:t>
            </a:r>
            <a:endParaRPr/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Year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DATE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Director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Budget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Profit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Are we missing anything?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/>
          </a:p>
        </p:txBody>
      </p:sp>
      <p:sp>
        <p:nvSpPr>
          <p:cNvPr id="329" name="Google Shape;329;p5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35" name="Google Shape;335;p5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First, we need to think about what columns we’ll need for movie</a:t>
            </a:r>
            <a:endParaRPr/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movieTitle, Year, Director, Budget, Profit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Next, what are the datatypes for those columns?</a:t>
            </a:r>
            <a:endParaRPr/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movieTitle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Year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DATE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Director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Budget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Courier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Profit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(12, 2)</a:t>
            </a:r>
            <a:endParaRPr b="1" sz="220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Are we missing anything?</a:t>
            </a:r>
            <a:endParaRPr/>
          </a:p>
          <a:p>
            <a:pPr indent="-3683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movieId </a:t>
            </a:r>
            <a:r>
              <a:rPr b="1" lang="en-GB" sz="220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Numeric(4)</a:t>
            </a:r>
            <a:endParaRPr sz="2200">
              <a:solidFill>
                <a:srgbClr val="3C78D8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/>
          </a:p>
        </p:txBody>
      </p:sp>
      <p:sp>
        <p:nvSpPr>
          <p:cNvPr id="336" name="Google Shape;336;p5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42" name="Google Shape;342;p5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about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</a:t>
            </a:r>
            <a:r>
              <a:rPr lang="en-GB"/>
              <a:t>? Which attributes can we define?</a:t>
            </a:r>
            <a:endParaRPr/>
          </a:p>
        </p:txBody>
      </p:sp>
      <p:sp>
        <p:nvSpPr>
          <p:cNvPr id="343" name="Google Shape;343;p5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49" name="Google Shape;349;p5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about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</a:t>
            </a:r>
            <a:r>
              <a:rPr lang="en-GB"/>
              <a:t>? Which attributes can we define?</a:t>
            </a:r>
            <a:endParaRPr/>
          </a:p>
          <a:p>
            <a:pPr indent="-366394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70"/>
              <a:buFont typeface="Courier"/>
              <a:buChar char="○"/>
            </a:pPr>
            <a:r>
              <a:rPr lang="en-GB" sz="2170">
                <a:latin typeface="Courier"/>
                <a:ea typeface="Courier"/>
                <a:cs typeface="Courier"/>
                <a:sym typeface="Courier"/>
              </a:rPr>
              <a:t>ActorID </a:t>
            </a:r>
            <a:r>
              <a:rPr b="1" lang="en-GB" sz="217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Numeric</a:t>
            </a:r>
            <a:r>
              <a:rPr b="1" lang="en-GB" sz="217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(4)</a:t>
            </a:r>
            <a:endParaRPr b="1" sz="2170">
              <a:solidFill>
                <a:srgbClr val="3C78D8"/>
              </a:solidFill>
              <a:latin typeface="Courier"/>
              <a:ea typeface="Courier"/>
              <a:cs typeface="Courier"/>
              <a:sym typeface="Courier"/>
            </a:endParaRPr>
          </a:p>
          <a:p>
            <a:pPr indent="-366394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70"/>
              <a:buFont typeface="Courier"/>
              <a:buChar char="○"/>
            </a:pPr>
            <a:r>
              <a:rPr lang="en-GB" sz="2170">
                <a:latin typeface="Courier"/>
                <a:ea typeface="Courier"/>
                <a:cs typeface="Courier"/>
                <a:sym typeface="Courier"/>
              </a:rPr>
              <a:t>ActorName </a:t>
            </a:r>
            <a:r>
              <a:rPr b="1" lang="en-GB" sz="2170">
                <a:solidFill>
                  <a:srgbClr val="3C78D8"/>
                </a:solidFill>
                <a:latin typeface="Courier"/>
                <a:ea typeface="Courier"/>
                <a:cs typeface="Courier"/>
                <a:sym typeface="Courier"/>
              </a:rPr>
              <a:t>VARCHAR(100)</a:t>
            </a:r>
            <a:endParaRPr>
              <a:solidFill>
                <a:srgbClr val="3C78D8"/>
              </a:solidFill>
            </a:endParaRPr>
          </a:p>
        </p:txBody>
      </p:sp>
      <p:sp>
        <p:nvSpPr>
          <p:cNvPr id="350" name="Google Shape;350;p5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5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56" name="Google Shape;356;p5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Movie(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movieID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movieTitle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year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director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budget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12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2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profit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12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2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(movieID)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5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5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Creating tables</a:t>
            </a:r>
            <a:endParaRPr/>
          </a:p>
        </p:txBody>
      </p:sp>
      <p:sp>
        <p:nvSpPr>
          <p:cNvPr id="363" name="Google Shape;363;p5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Actor(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actorID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actorName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100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	 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(actorID)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5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</p:txBody>
      </p:sp>
      <p:sp>
        <p:nvSpPr>
          <p:cNvPr id="370" name="Google Shape;370;p5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now have a table to store movies and a table to store actors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How do we store information about which actors acted in each movie?</a:t>
            </a:r>
            <a:endParaRPr/>
          </a:p>
        </p:txBody>
      </p:sp>
      <p:sp>
        <p:nvSpPr>
          <p:cNvPr id="371" name="Google Shape;371;p5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</p:txBody>
      </p:sp>
      <p:sp>
        <p:nvSpPr>
          <p:cNvPr id="377" name="Google Shape;377;p5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Title: </a:t>
            </a:r>
            <a:r>
              <a:rPr i="1" lang="en-GB"/>
              <a:t>Jumanji: Welcome to the Jungle</a:t>
            </a:r>
            <a:endParaRPr i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Year: </a:t>
            </a:r>
            <a:r>
              <a:rPr i="1" lang="en-GB"/>
              <a:t>2017</a:t>
            </a:r>
            <a:endParaRPr i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Director: </a:t>
            </a:r>
            <a:r>
              <a:rPr i="1" lang="en-GB"/>
              <a:t>Jake Kasdan</a:t>
            </a:r>
            <a:endParaRPr i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Budget: </a:t>
            </a:r>
            <a:r>
              <a:rPr i="1" lang="en-GB"/>
              <a:t>90 million</a:t>
            </a:r>
            <a:endParaRPr i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Profit: </a:t>
            </a:r>
            <a:r>
              <a:rPr i="1" lang="en-GB"/>
              <a:t>962,077,546</a:t>
            </a:r>
            <a:endParaRPr i="1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Some Cast Members: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i="1" lang="en-GB" sz="2200"/>
              <a:t>Dwayne Johnson -&gt; Spencer</a:t>
            </a:r>
            <a:endParaRPr i="1"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i="1" lang="en-GB" sz="2200"/>
              <a:t>Kevin Hart -&gt; Fridge</a:t>
            </a:r>
            <a:endParaRPr i="1"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i="1" lang="en-GB" sz="2200"/>
              <a:t>Jack Black -&gt; Bethany</a:t>
            </a:r>
            <a:endParaRPr i="1"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5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</p:txBody>
      </p:sp>
      <p:sp>
        <p:nvSpPr>
          <p:cNvPr id="384" name="Google Shape;384;p5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Suppose we include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movieID </a:t>
            </a:r>
            <a:r>
              <a:rPr lang="en-GB"/>
              <a:t>and name of the character played on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 </a:t>
            </a:r>
            <a:r>
              <a:rPr lang="en-GB"/>
              <a:t>table.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5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6" name="Google Shape;386;p58"/>
          <p:cNvSpPr/>
          <p:nvPr/>
        </p:nvSpPr>
        <p:spPr>
          <a:xfrm>
            <a:off x="2235750" y="2669700"/>
            <a:ext cx="6316500" cy="2398800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ALTER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Actor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ADD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COLUMN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movieID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 character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100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9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387" name="Google Shape;387;p58"/>
          <p:cNvSpPr/>
          <p:nvPr/>
        </p:nvSpPr>
        <p:spPr>
          <a:xfrm>
            <a:off x="3346800" y="5414725"/>
            <a:ext cx="725400" cy="677100"/>
          </a:xfrm>
          <a:prstGeom prst="smileyFace">
            <a:avLst>
              <a:gd fmla="val -44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</p:txBody>
      </p:sp>
      <p:sp>
        <p:nvSpPr>
          <p:cNvPr id="393" name="Google Shape;393;p5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Our primary key is now not unique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Same actor can </a:t>
            </a:r>
            <a:r>
              <a:rPr lang="en-GB"/>
              <a:t>appear</a:t>
            </a:r>
            <a:r>
              <a:rPr lang="en-GB"/>
              <a:t> in multiple movies</a:t>
            </a:r>
            <a:endParaRPr/>
          </a:p>
        </p:txBody>
      </p:sp>
      <p:sp>
        <p:nvSpPr>
          <p:cNvPr id="394" name="Google Shape;394;p5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6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</p:txBody>
      </p:sp>
      <p:sp>
        <p:nvSpPr>
          <p:cNvPr id="400" name="Google Shape;400;p6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Suppose we include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actorID </a:t>
            </a:r>
            <a:r>
              <a:rPr lang="en-GB"/>
              <a:t>and name of the character played on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 </a:t>
            </a:r>
            <a:r>
              <a:rPr lang="en-GB"/>
              <a:t>table.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6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2" name="Google Shape;402;p60"/>
          <p:cNvSpPr/>
          <p:nvPr/>
        </p:nvSpPr>
        <p:spPr>
          <a:xfrm>
            <a:off x="2148700" y="2466575"/>
            <a:ext cx="6316500" cy="2398800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ALTER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ADD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COLUMN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actorID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 character 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9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100</a:t>
            </a:r>
            <a:r>
              <a:rPr lang="en-GB" sz="19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9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60"/>
          <p:cNvSpPr/>
          <p:nvPr/>
        </p:nvSpPr>
        <p:spPr>
          <a:xfrm>
            <a:off x="3259750" y="5211600"/>
            <a:ext cx="725400" cy="677100"/>
          </a:xfrm>
          <a:prstGeom prst="smileyFace">
            <a:avLst>
              <a:gd fmla="val -44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Our primary key is now not unique.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would have multiple rows of data for each movie (one for each actor who appeared in the movie.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solution?</a:t>
            </a:r>
            <a:endParaRPr/>
          </a:p>
        </p:txBody>
      </p:sp>
      <p:sp>
        <p:nvSpPr>
          <p:cNvPr id="410" name="Google Shape;410;p6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6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6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Our primary key is now not unique.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would have multiple rows of data for each movie (one for each actor who appeared in the movie.</a:t>
            </a: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solution?</a:t>
            </a:r>
            <a:endParaRPr/>
          </a:p>
          <a:p>
            <a:pPr indent="-3683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Add another table, 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Movie_Cast</a:t>
            </a:r>
            <a:r>
              <a:rPr lang="en-GB" sz="2200"/>
              <a:t>, containing 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actorID</a:t>
            </a:r>
            <a:r>
              <a:rPr lang="en-GB" sz="2200"/>
              <a:t>, 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movieID </a:t>
            </a:r>
            <a:r>
              <a:rPr lang="en-GB" sz="2200"/>
              <a:t>and 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roleName</a:t>
            </a:r>
            <a:endParaRPr sz="2200"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417" name="Google Shape;417;p6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6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6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Movie_Cast(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actorID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movie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ID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roleplayed 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should the primary key be?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6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Relationships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6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Movie_Cast(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actorID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movieID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roleplayed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(movieID, actorID, roleplayed)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25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6639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800"/>
              <a:t>The Cast table has a </a:t>
            </a:r>
            <a:r>
              <a:rPr i="1" lang="en-GB" sz="2800"/>
              <a:t>compound primary key</a:t>
            </a:r>
            <a:endParaRPr i="1" sz="28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6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6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Keys</a:t>
            </a:r>
            <a:endParaRPr/>
          </a:p>
        </p:txBody>
      </p:sp>
      <p:sp>
        <p:nvSpPr>
          <p:cNvPr id="437" name="Google Shape;437;p6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happens to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Movie_Cast </a:t>
            </a:r>
            <a:r>
              <a:rPr lang="en-GB"/>
              <a:t>table if we remove an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actor/movie</a:t>
            </a:r>
            <a:r>
              <a:rPr lang="en-GB"/>
              <a:t> from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Movie/Actor</a:t>
            </a:r>
            <a:r>
              <a:rPr lang="en-GB"/>
              <a:t> tables?</a:t>
            </a:r>
            <a:r>
              <a:rPr lang="en-GB" sz="2200"/>
              <a:t> </a:t>
            </a:r>
            <a:endParaRPr sz="2200"/>
          </a:p>
        </p:txBody>
      </p:sp>
      <p:sp>
        <p:nvSpPr>
          <p:cNvPr id="438" name="Google Shape;438;p6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6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Keys</a:t>
            </a:r>
            <a:endParaRPr/>
          </a:p>
        </p:txBody>
      </p:sp>
      <p:sp>
        <p:nvSpPr>
          <p:cNvPr id="444" name="Google Shape;444;p6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happens to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Movie_Cast </a:t>
            </a:r>
            <a:r>
              <a:rPr lang="en-GB"/>
              <a:t>table if we remove an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actor/movie</a:t>
            </a:r>
            <a:r>
              <a:rPr lang="en-GB"/>
              <a:t> from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Movie/Actor</a:t>
            </a:r>
            <a:r>
              <a:rPr lang="en-GB"/>
              <a:t> tables?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In order to improve data integrity we should define an </a:t>
            </a:r>
            <a:r>
              <a:rPr lang="en-GB"/>
              <a:t>explicitly</a:t>
            </a:r>
            <a:r>
              <a:rPr lang="en-GB"/>
              <a:t> relationship between our Cast table and Movie/Actor tables.</a:t>
            </a:r>
            <a:br>
              <a:rPr lang="en-GB"/>
            </a:b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 foreign key can be defined for that. 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 column of one table that is the same as the  primary key of another </a:t>
            </a:r>
            <a:endParaRPr sz="2200"/>
          </a:p>
        </p:txBody>
      </p:sp>
      <p:sp>
        <p:nvSpPr>
          <p:cNvPr id="445" name="Google Shape;445;p6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Keys</a:t>
            </a:r>
            <a:endParaRPr/>
          </a:p>
        </p:txBody>
      </p:sp>
      <p:sp>
        <p:nvSpPr>
          <p:cNvPr id="451" name="Google Shape;451;p6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Movie_Cast(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movieID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actorID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NUMERIC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4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rolePlayed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CONSTRAINT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cast_actor_fk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FOREIGN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(actorID) 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REFERENCES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actor(actorID), 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CONSTRAINT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cast_movie_fk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FOREIGN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(movieID) 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REFERENCES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movie(movieID),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(movieID,actorID,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rolePlayed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452" name="Google Shape;452;p6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</a:t>
            </a:r>
            <a:endParaRPr/>
          </a:p>
        </p:txBody>
      </p:sp>
      <p:sp>
        <p:nvSpPr>
          <p:cNvPr id="458" name="Google Shape;458;p6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 foreign key </a:t>
            </a:r>
            <a:r>
              <a:rPr b="1" lang="en-GB" sz="2350"/>
              <a:t>links </a:t>
            </a:r>
            <a:r>
              <a:rPr lang="en-GB" sz="2350"/>
              <a:t>one table to another. </a:t>
            </a:r>
            <a:endParaRPr sz="2350"/>
          </a:p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An attribute column should </a:t>
            </a:r>
            <a:r>
              <a:rPr b="1" lang="en-GB" sz="2350"/>
              <a:t>depend only on the key</a:t>
            </a:r>
            <a:r>
              <a:rPr lang="en-GB" sz="2350"/>
              <a:t> of the table, not on another attribute column.</a:t>
            </a:r>
            <a:endParaRPr sz="23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6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aphicFrame>
        <p:nvGraphicFramePr>
          <p:cNvPr id="460" name="Google Shape;460;p68"/>
          <p:cNvGraphicFramePr/>
          <p:nvPr/>
        </p:nvGraphicFramePr>
        <p:xfrm>
          <a:off x="572500" y="3168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254900"/>
                <a:gridCol w="1273050"/>
                <a:gridCol w="10915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First name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Last name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Lucas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Frodo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Bilbo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Rizzo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461" name="Google Shape;461;p68"/>
          <p:cNvGraphicFramePr/>
          <p:nvPr/>
        </p:nvGraphicFramePr>
        <p:xfrm>
          <a:off x="572500" y="4723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049750"/>
                <a:gridCol w="1478200"/>
                <a:gridCol w="521800"/>
                <a:gridCol w="12488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Item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Qty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  Smoking pipe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Lembas bread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6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</a:t>
            </a:r>
            <a:endParaRPr/>
          </a:p>
        </p:txBody>
      </p:sp>
      <p:sp>
        <p:nvSpPr>
          <p:cNvPr id="467" name="Google Shape;467;p6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 foreign key </a:t>
            </a:r>
            <a:r>
              <a:rPr b="1" lang="en-GB" sz="2350"/>
              <a:t>links </a:t>
            </a:r>
            <a:r>
              <a:rPr lang="en-GB" sz="2350"/>
              <a:t>one table to another. </a:t>
            </a:r>
            <a:endParaRPr sz="2350"/>
          </a:p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An attribute column should </a:t>
            </a:r>
            <a:r>
              <a:rPr b="1" lang="en-GB" sz="2350"/>
              <a:t>depend only on the key</a:t>
            </a:r>
            <a:r>
              <a:rPr lang="en-GB" sz="2350"/>
              <a:t> of the table, not on another attribute column.</a:t>
            </a:r>
            <a:endParaRPr sz="23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6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aphicFrame>
        <p:nvGraphicFramePr>
          <p:cNvPr id="469" name="Google Shape;469;p69"/>
          <p:cNvGraphicFramePr/>
          <p:nvPr/>
        </p:nvGraphicFramePr>
        <p:xfrm>
          <a:off x="572500" y="3168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254900"/>
                <a:gridCol w="1273050"/>
                <a:gridCol w="10915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First name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Last name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Lucas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Frodo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Bilbo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Rizzo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470" name="Google Shape;470;p69"/>
          <p:cNvGraphicFramePr/>
          <p:nvPr/>
        </p:nvGraphicFramePr>
        <p:xfrm>
          <a:off x="572500" y="4723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049750"/>
                <a:gridCol w="1478200"/>
                <a:gridCol w="521800"/>
                <a:gridCol w="12488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Item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Qty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  Smoking pipe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Lembas bread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471" name="Google Shape;471;p69"/>
          <p:cNvCxnSpPr/>
          <p:nvPr/>
        </p:nvCxnSpPr>
        <p:spPr>
          <a:xfrm>
            <a:off x="1200900" y="4266297"/>
            <a:ext cx="2932800" cy="9807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stealth"/>
            <a:tailEnd len="sm" w="sm" type="none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7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Foreign Key</a:t>
            </a:r>
            <a:endParaRPr/>
          </a:p>
        </p:txBody>
      </p:sp>
      <p:sp>
        <p:nvSpPr>
          <p:cNvPr id="477" name="Google Shape;477;p7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 foreign key </a:t>
            </a:r>
            <a:r>
              <a:rPr b="1" lang="en-GB" sz="2350"/>
              <a:t>links </a:t>
            </a:r>
            <a:r>
              <a:rPr lang="en-GB" sz="2350"/>
              <a:t>one table to another. </a:t>
            </a:r>
            <a:endParaRPr sz="2350"/>
          </a:p>
          <a:p>
            <a:pPr indent="-36663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350"/>
              <a:t>An attribute column should </a:t>
            </a:r>
            <a:r>
              <a:rPr b="1" lang="en-GB" sz="2350"/>
              <a:t>depend only on the key</a:t>
            </a:r>
            <a:r>
              <a:rPr lang="en-GB" sz="2350"/>
              <a:t> of the table, not on another attribute column.</a:t>
            </a:r>
            <a:endParaRPr sz="23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7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aphicFrame>
        <p:nvGraphicFramePr>
          <p:cNvPr id="479" name="Google Shape;479;p70"/>
          <p:cNvGraphicFramePr/>
          <p:nvPr/>
        </p:nvGraphicFramePr>
        <p:xfrm>
          <a:off x="572500" y="3168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254900"/>
                <a:gridCol w="1273050"/>
                <a:gridCol w="10915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First name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Last name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Lucas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Frodo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Bilbo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Rizzo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Baggins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480" name="Google Shape;480;p70"/>
          <p:cNvGraphicFramePr/>
          <p:nvPr/>
        </p:nvGraphicFramePr>
        <p:xfrm>
          <a:off x="572500" y="4723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{70B5D8DE-C498-4371-BDE6-A087C3374FFE}</a:tableStyleId>
              </a:tblPr>
              <a:tblGrid>
                <a:gridCol w="1049750"/>
                <a:gridCol w="1478200"/>
                <a:gridCol w="521800"/>
                <a:gridCol w="12488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Order ID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Item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Qty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Customer ID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ORD005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  Smoking pipe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Lembas bread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3</a:t>
                      </a:r>
                      <a:endParaRPr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481" name="Google Shape;481;p70"/>
          <p:cNvCxnSpPr/>
          <p:nvPr/>
        </p:nvCxnSpPr>
        <p:spPr>
          <a:xfrm>
            <a:off x="1284975" y="4050500"/>
            <a:ext cx="2919900" cy="14466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stealth"/>
            <a:tailEnd len="sm" w="sm" type="none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Foreign Key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71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use foreign keys to join tables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c.CustomerID, o.OrderID, c.FirstName, o.Item, o.Qty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c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Orders o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c.CustomerID = o.CustomerID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7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89" name="Google Shape;489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375" y="4699405"/>
            <a:ext cx="7996475" cy="129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7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Joining Tables</a:t>
            </a:r>
            <a:endParaRPr/>
          </a:p>
        </p:txBody>
      </p:sp>
      <p:sp>
        <p:nvSpPr>
          <p:cNvPr id="495" name="Google Shape;495;p7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will use this example to explore the different ways to join tables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496" name="Google Shape;496;p7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97" name="Google Shape;497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0975" y="2793248"/>
            <a:ext cx="7042050" cy="311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7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Toy Example</a:t>
            </a:r>
            <a:endParaRPr/>
          </a:p>
        </p:txBody>
      </p:sp>
      <p:sp>
        <p:nvSpPr>
          <p:cNvPr id="503" name="Google Shape;503;p7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code below will create these dataframes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504" name="Google Shape;504;p7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05" name="Google Shape;505;p73"/>
          <p:cNvSpPr txBox="1"/>
          <p:nvPr/>
        </p:nvSpPr>
        <p:spPr>
          <a:xfrm>
            <a:off x="441700" y="2286600"/>
            <a:ext cx="4359000" cy="3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D81B60"/>
                </a:solidFill>
                <a:latin typeface="Roboto Mono"/>
                <a:ea typeface="Roboto Mono"/>
                <a:cs typeface="Roboto Mono"/>
                <a:sym typeface="Roboto Mono"/>
              </a:rPr>
              <a:t>-- Create the table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Musicians (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Name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Instrument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D81B60"/>
                </a:solidFill>
                <a:latin typeface="Roboto Mono"/>
                <a:ea typeface="Roboto Mono"/>
                <a:cs typeface="Roboto Mono"/>
                <a:sym typeface="Roboto Mono"/>
              </a:rPr>
              <a:t>-- Insert data into the table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INSERT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INTO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Musicians (Name, Instrument)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VALUES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'John'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'guitar'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'Paul'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'bass'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'George'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'guitar'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'Ringo'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'drums'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'Stuart'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'bass'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'Pete'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'drums'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06" name="Google Shape;506;p73"/>
          <p:cNvSpPr txBox="1"/>
          <p:nvPr/>
        </p:nvSpPr>
        <p:spPr>
          <a:xfrm>
            <a:off x="4800700" y="2286600"/>
            <a:ext cx="43008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D81B60"/>
                </a:solidFill>
                <a:latin typeface="Roboto Mono"/>
                <a:ea typeface="Roboto Mono"/>
                <a:cs typeface="Roboto Mono"/>
                <a:sym typeface="Roboto Mono"/>
              </a:rPr>
              <a:t>-- Create the table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CREATE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TABLE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BandMembers (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Name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VARCHAR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50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PRIMARY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KEY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   Band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BOOLEAN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D81B60"/>
                </a:solidFill>
                <a:latin typeface="Roboto Mono"/>
                <a:ea typeface="Roboto Mono"/>
                <a:cs typeface="Roboto Mono"/>
                <a:sym typeface="Roboto Mono"/>
              </a:rPr>
              <a:t>-- Insert data into the table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INSERT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INTO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BandMembers (Name, Band)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VALUES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'John'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'Paul'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'George'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'Ringo'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),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15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'Brian'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5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FALSE</a:t>
            </a:r>
            <a:r>
              <a:rPr lang="en-GB" sz="15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5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7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Left Join</a:t>
            </a:r>
            <a:endParaRPr/>
          </a:p>
        </p:txBody>
      </p:sp>
      <p:sp>
        <p:nvSpPr>
          <p:cNvPr id="512" name="Google Shape;512;p7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13" name="Google Shape;513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850" y="1759542"/>
            <a:ext cx="8247459" cy="43322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7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Inner Join</a:t>
            </a:r>
            <a:endParaRPr/>
          </a:p>
        </p:txBody>
      </p:sp>
      <p:sp>
        <p:nvSpPr>
          <p:cNvPr id="519" name="Google Shape;519;p7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0" name="Google Shape;520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850" y="1687467"/>
            <a:ext cx="8247459" cy="4404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7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Semi-Join</a:t>
            </a:r>
            <a:endParaRPr/>
          </a:p>
        </p:txBody>
      </p:sp>
      <p:sp>
        <p:nvSpPr>
          <p:cNvPr id="526" name="Google Shape;526;p7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7" name="Google Shape;527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0150" y="1655242"/>
            <a:ext cx="8247457" cy="4359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7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Semi-Join</a:t>
            </a:r>
            <a:endParaRPr/>
          </a:p>
        </p:txBody>
      </p:sp>
      <p:sp>
        <p:nvSpPr>
          <p:cNvPr id="533" name="Google Shape;533;p7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34" name="Google Shape;53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0150" y="1655242"/>
            <a:ext cx="8247457" cy="4359101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77"/>
          <p:cNvSpPr txBox="1"/>
          <p:nvPr/>
        </p:nvSpPr>
        <p:spPr>
          <a:xfrm>
            <a:off x="1724175" y="5627825"/>
            <a:ext cx="3070500" cy="6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FF0000"/>
                </a:solidFill>
              </a:rPr>
              <a:t>No semi-join keyword</a:t>
            </a:r>
            <a:endParaRPr sz="2200">
              <a:solidFill>
                <a:srgbClr val="FF0000"/>
              </a:solidFill>
            </a:endParaRPr>
          </a:p>
        </p:txBody>
      </p:sp>
      <p:cxnSp>
        <p:nvCxnSpPr>
          <p:cNvPr id="536" name="Google Shape;536;p77"/>
          <p:cNvCxnSpPr/>
          <p:nvPr/>
        </p:nvCxnSpPr>
        <p:spPr>
          <a:xfrm flipH="1" rot="10800000">
            <a:off x="2063200" y="4843325"/>
            <a:ext cx="484200" cy="7845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Anti-Join</a:t>
            </a:r>
            <a:endParaRPr/>
          </a:p>
        </p:txBody>
      </p:sp>
      <p:sp>
        <p:nvSpPr>
          <p:cNvPr id="542" name="Google Shape;542;p7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43" name="Google Shape;543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325" y="1567392"/>
            <a:ext cx="8181975" cy="440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Anti-Join</a:t>
            </a:r>
            <a:endParaRPr/>
          </a:p>
        </p:txBody>
      </p:sp>
      <p:sp>
        <p:nvSpPr>
          <p:cNvPr id="549" name="Google Shape;549;p7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50" name="Google Shape;550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325" y="1567392"/>
            <a:ext cx="8181975" cy="440055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79"/>
          <p:cNvSpPr txBox="1"/>
          <p:nvPr/>
        </p:nvSpPr>
        <p:spPr>
          <a:xfrm>
            <a:off x="1724175" y="5627825"/>
            <a:ext cx="3070500" cy="6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FF0000"/>
                </a:solidFill>
              </a:rPr>
              <a:t>No anti-join keyword</a:t>
            </a:r>
            <a:endParaRPr sz="2200">
              <a:solidFill>
                <a:srgbClr val="FF0000"/>
              </a:solidFill>
            </a:endParaRPr>
          </a:p>
        </p:txBody>
      </p:sp>
      <p:cxnSp>
        <p:nvCxnSpPr>
          <p:cNvPr id="552" name="Google Shape;552;p79"/>
          <p:cNvCxnSpPr/>
          <p:nvPr/>
        </p:nvCxnSpPr>
        <p:spPr>
          <a:xfrm rot="10800000">
            <a:off x="1530400" y="5259725"/>
            <a:ext cx="532800" cy="36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8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All j</a:t>
            </a:r>
            <a:r>
              <a:rPr lang="en-GB"/>
              <a:t>oins cheat sheet</a:t>
            </a:r>
            <a:endParaRPr/>
          </a:p>
        </p:txBody>
      </p:sp>
      <p:sp>
        <p:nvSpPr>
          <p:cNvPr id="558" name="Google Shape;558;p80"/>
          <p:cNvSpPr txBox="1"/>
          <p:nvPr>
            <p:ph idx="1" type="body"/>
          </p:nvPr>
        </p:nvSpPr>
        <p:spPr>
          <a:xfrm>
            <a:off x="311700" y="1536624"/>
            <a:ext cx="8520600" cy="48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u="sng">
                <a:solidFill>
                  <a:schemeClr val="hlink"/>
                </a:solidFill>
                <a:hlinkClick r:id="rId3"/>
              </a:rPr>
              <a:t>https://www.codeproject.com/Articles/33052/Visual-Representation-of-SQL-Joins</a:t>
            </a:r>
            <a:endParaRPr sz="1800"/>
          </a:p>
        </p:txBody>
      </p:sp>
      <p:sp>
        <p:nvSpPr>
          <p:cNvPr id="559" name="Google Shape;559;p8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60" name="Google Shape;560;p8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9817" y="1356875"/>
            <a:ext cx="5604371" cy="440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81"/>
          <p:cNvSpPr txBox="1"/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8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8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is the level of detail of the result?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p.prod_name, p.prod_list_price, p.prod_category, p.prod_subcategory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 p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prod_category, prod_subcategory;</a:t>
            </a:r>
            <a:endParaRPr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8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73" name="Google Shape;57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236600"/>
            <a:ext cx="7862625" cy="185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8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</p:txBody>
      </p:sp>
      <p:sp>
        <p:nvSpPr>
          <p:cNvPr id="579" name="Google Shape;579;p8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How many rows does this return?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AVG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(prod_list_price)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products;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8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8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</p:txBody>
      </p:sp>
      <p:sp>
        <p:nvSpPr>
          <p:cNvPr id="586" name="Google Shape;586;p8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How many rows does this return?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AVG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(prod_list_price)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products;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Much lower level of detail</a:t>
            </a:r>
            <a:endParaRPr/>
          </a:p>
        </p:txBody>
      </p:sp>
      <p:sp>
        <p:nvSpPr>
          <p:cNvPr id="587" name="Google Shape;587;p8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88" name="Google Shape;588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100" y="3670039"/>
            <a:ext cx="3296025" cy="110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</p:txBody>
      </p:sp>
      <p:sp>
        <p:nvSpPr>
          <p:cNvPr id="594" name="Google Shape;594;p8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Pseudocode</a:t>
            </a:r>
            <a:endParaRPr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Add up a running total of the value of </a:t>
            </a:r>
            <a:r>
              <a:rPr lang="en-GB" sz="2200">
                <a:latin typeface="Courier"/>
                <a:ea typeface="Courier"/>
                <a:cs typeface="Courier"/>
                <a:sym typeface="Courier"/>
              </a:rPr>
              <a:t>prod_list_price </a:t>
            </a:r>
            <a:r>
              <a:rPr lang="en-GB" sz="2200"/>
              <a:t>in each row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Divide by the number of rows</a:t>
            </a:r>
            <a:endParaRPr sz="2200"/>
          </a:p>
          <a:p>
            <a:pPr indent="-368300" lvl="1" marL="914400" rtl="0" algn="l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/>
              <a:t>Output the answer as a single row with a single column</a:t>
            </a:r>
            <a:endParaRPr sz="2200"/>
          </a:p>
        </p:txBody>
      </p:sp>
      <p:sp>
        <p:nvSpPr>
          <p:cNvPr id="595" name="Google Shape;595;p8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96" name="Google Shape;596;p85"/>
          <p:cNvSpPr txBox="1"/>
          <p:nvPr/>
        </p:nvSpPr>
        <p:spPr>
          <a:xfrm>
            <a:off x="655700" y="1590875"/>
            <a:ext cx="6890400" cy="11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AVG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(prod_list_price)</a:t>
            </a:r>
            <a:endParaRPr sz="3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3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products;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8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Aggregate Queries</a:t>
            </a:r>
            <a:endParaRPr/>
          </a:p>
        </p:txBody>
      </p:sp>
      <p:sp>
        <p:nvSpPr>
          <p:cNvPr id="602" name="Google Shape;602;p86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>
                <a:latin typeface="Courier"/>
                <a:ea typeface="Courier"/>
                <a:cs typeface="Courier"/>
                <a:sym typeface="Courier"/>
              </a:rPr>
              <a:t>SUM</a:t>
            </a:r>
            <a:r>
              <a:rPr lang="en-GB"/>
              <a:t>,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COUNT</a:t>
            </a:r>
            <a:r>
              <a:rPr lang="en-GB"/>
              <a:t>,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AVG</a:t>
            </a:r>
            <a:r>
              <a:rPr lang="en-GB"/>
              <a:t>,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STDDEV </a:t>
            </a:r>
            <a:r>
              <a:rPr lang="en-GB"/>
              <a:t>are </a:t>
            </a:r>
            <a:r>
              <a:rPr i="1" lang="en-GB"/>
              <a:t>aggregate functions</a:t>
            </a:r>
            <a:br>
              <a:rPr i="1" lang="en-GB"/>
            </a:br>
            <a:endParaRPr i="1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An aggregate function takes multiple numerical values as input and outputs a single numerical value</a:t>
            </a:r>
            <a:br>
              <a:rPr lang="en-GB"/>
            </a:br>
            <a:endParaRPr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In databases, multiple numerical values are supplied as multiple rows in a query</a:t>
            </a:r>
            <a:endParaRPr/>
          </a:p>
        </p:txBody>
      </p:sp>
      <p:sp>
        <p:nvSpPr>
          <p:cNvPr id="603" name="Google Shape;603;p8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8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Aggregate Queries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87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is the average list price for each sub-category of products?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is the level of detail of the resulting query?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8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11" name="Google Shape;611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513" y="2588550"/>
            <a:ext cx="7862625" cy="185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8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Aggregate Queries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88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Pseudocode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For each row, check the value of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PROD_SUBCATEGORY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Create a new bucket (a unit of storage) for each distinct value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In each bucket, initialize a counter for average price at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0.00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Add the value of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PROD_LIST_PRICE </a:t>
            </a:r>
            <a:r>
              <a:rPr lang="en-GB"/>
              <a:t>to its bucket’s counter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For each bucket, divide the running total by the total number of rows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Output one row for each bucket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-GB"/>
              <a:t>Level of detail is at the level of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PROD_SUBCATEGORY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8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8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Aggregate Queries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8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25" name="Google Shape;625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063" y="1480463"/>
            <a:ext cx="8461874" cy="448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9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 By</a:t>
            </a:r>
            <a:endParaRPr/>
          </a:p>
        </p:txBody>
      </p:sp>
      <p:sp>
        <p:nvSpPr>
          <p:cNvPr id="631" name="Google Shape;631;p9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By default, using any aggregate query will reduce our output table to a single row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If we want to change the level of detail we need to tell the database how to create its buckets using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GROUP BY </a:t>
            </a:r>
            <a:r>
              <a:rPr lang="en-GB"/>
              <a:t>statement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9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33" name="Google Shape;633;p90"/>
          <p:cNvSpPr txBox="1"/>
          <p:nvPr/>
        </p:nvSpPr>
        <p:spPr>
          <a:xfrm>
            <a:off x="1236175" y="3998700"/>
            <a:ext cx="59766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prord_subcategory,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AVG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(prod_list_price)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prod_subcategory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prod_subcategory;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 By</a:t>
            </a:r>
            <a:endParaRPr/>
          </a:p>
        </p:txBody>
      </p:sp>
      <p:sp>
        <p:nvSpPr>
          <p:cNvPr id="639" name="Google Shape;639;p9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40" name="Google Shape;640;p91"/>
          <p:cNvSpPr txBox="1"/>
          <p:nvPr/>
        </p:nvSpPr>
        <p:spPr>
          <a:xfrm>
            <a:off x="295100" y="2221550"/>
            <a:ext cx="48339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prod_subcategory,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AVG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(prod_list_price)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products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prod_subcategory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 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prod_subcategory; 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641" name="Google Shape;64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8933" y="1063425"/>
            <a:ext cx="3700975" cy="498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 By</a:t>
            </a:r>
            <a:endParaRPr/>
          </a:p>
        </p:txBody>
      </p:sp>
      <p:sp>
        <p:nvSpPr>
          <p:cNvPr id="647" name="Google Shape;647;p9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48" name="Google Shape;648;p92"/>
          <p:cNvSpPr txBox="1"/>
          <p:nvPr/>
        </p:nvSpPr>
        <p:spPr>
          <a:xfrm>
            <a:off x="386000" y="2729350"/>
            <a:ext cx="71697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cust_id, channel_id,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(*) </a:t>
            </a:r>
            <a:r>
              <a:rPr lang="en-GB" sz="20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"Txn Count"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channel_id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cust_id, channel_id;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49" name="Google Shape;649;p92"/>
          <p:cNvSpPr txBox="1"/>
          <p:nvPr>
            <p:ph idx="1" type="body"/>
          </p:nvPr>
        </p:nvSpPr>
        <p:spPr>
          <a:xfrm>
            <a:off x="308850" y="1579626"/>
            <a:ext cx="8520600" cy="12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If we use multiple columns in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GROUP BY</a:t>
            </a:r>
            <a:r>
              <a:rPr lang="en-GB"/>
              <a:t> statement we get one row for each unique combination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50" name="Google Shape;650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6250" y="3972625"/>
            <a:ext cx="3619775" cy="230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9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 By</a:t>
            </a:r>
            <a:endParaRPr/>
          </a:p>
        </p:txBody>
      </p:sp>
      <p:sp>
        <p:nvSpPr>
          <p:cNvPr id="656" name="Google Shape;656;p93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is the problem?</a:t>
            </a:r>
            <a:endParaRPr/>
          </a:p>
        </p:txBody>
      </p:sp>
      <p:sp>
        <p:nvSpPr>
          <p:cNvPr id="657" name="Google Shape;657;p9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58" name="Google Shape;658;p93"/>
          <p:cNvSpPr txBox="1"/>
          <p:nvPr/>
        </p:nvSpPr>
        <p:spPr>
          <a:xfrm>
            <a:off x="208050" y="2409750"/>
            <a:ext cx="89151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cust_id, channel_desc,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(*) </a:t>
            </a:r>
            <a:r>
              <a:rPr lang="en-GB" sz="22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"Txn Count"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 s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channels c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s.channel_id = c.channel_id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channel_desc;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9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 By</a:t>
            </a:r>
            <a:endParaRPr/>
          </a:p>
        </p:txBody>
      </p:sp>
      <p:sp>
        <p:nvSpPr>
          <p:cNvPr id="664" name="Google Shape;664;p94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What is the problem?</a:t>
            </a:r>
            <a:endParaRPr/>
          </a:p>
        </p:txBody>
      </p:sp>
      <p:sp>
        <p:nvSpPr>
          <p:cNvPr id="665" name="Google Shape;665;p9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66" name="Google Shape;666;p94"/>
          <p:cNvSpPr txBox="1"/>
          <p:nvPr/>
        </p:nvSpPr>
        <p:spPr>
          <a:xfrm>
            <a:off x="208050" y="2409750"/>
            <a:ext cx="89151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cust_id,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channel_desc,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(*) </a:t>
            </a:r>
            <a:r>
              <a:rPr lang="en-GB" sz="22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"Txn Count"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 s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channels c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s.channel_id = c.channel_id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cust_id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channel_desc;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67" name="Google Shape;667;p94"/>
          <p:cNvSpPr txBox="1"/>
          <p:nvPr/>
        </p:nvSpPr>
        <p:spPr>
          <a:xfrm>
            <a:off x="311700" y="4769500"/>
            <a:ext cx="77604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22222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ERROR: column "c.channel_desc" must appear in the GROUP BY clause or be used in an aggregate function LINE 1: SELECT cust_id, channel_desc, COUNT(*) "Txn Count", SUM(amou…</a:t>
            </a:r>
            <a:endParaRPr sz="1700">
              <a:solidFill>
                <a:srgbClr val="22222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222222"/>
              </a:solidFill>
              <a:highlight>
                <a:srgbClr val="FFFFF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22222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SQL state: 42803 </a:t>
            </a:r>
            <a:br>
              <a:rPr lang="en-GB" sz="1700">
                <a:solidFill>
                  <a:srgbClr val="22222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</a:br>
            <a:r>
              <a:rPr lang="en-GB" sz="1700">
                <a:solidFill>
                  <a:srgbClr val="222222"/>
                </a:solidFill>
                <a:highlight>
                  <a:srgbClr val="FFFFFF"/>
                </a:highlight>
                <a:latin typeface="Consolas"/>
                <a:ea typeface="Consolas"/>
                <a:cs typeface="Consolas"/>
                <a:sym typeface="Consolas"/>
              </a:rPr>
              <a:t>Character: 17Query returned successfully in 572 msec.</a:t>
            </a:r>
            <a:endParaRPr sz="220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9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Group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9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If you use any aggregate functions in your query then every column you select must</a:t>
            </a:r>
            <a:endParaRPr/>
          </a:p>
          <a:p>
            <a:pPr indent="-3683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 u="sng"/>
              <a:t>Be an aggregate function or</a:t>
            </a:r>
            <a:endParaRPr sz="2200" u="sng"/>
          </a:p>
          <a:p>
            <a:pPr indent="-3683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-GB" sz="2200" u="sng"/>
              <a:t>Appear in the GROUP BY clause</a:t>
            </a:r>
            <a:endParaRPr sz="2200" u="sng"/>
          </a:p>
          <a:p>
            <a:pPr indent="-3683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This ensures that the granularity of your query is compatible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9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9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Group By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9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81" name="Google Shape;681;p96"/>
          <p:cNvSpPr txBox="1"/>
          <p:nvPr/>
        </p:nvSpPr>
        <p:spPr>
          <a:xfrm>
            <a:off x="235500" y="1424350"/>
            <a:ext cx="99861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cu.cust_id,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 s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cu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s.cust_id = cu.cust_id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Countries co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cu.country_id = co.country_id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co.country_name = </a:t>
            </a:r>
            <a:r>
              <a:rPr lang="en-GB" sz="20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'Canada'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cu.cust_id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desc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682" name="Google Shape;682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7775" y="3223050"/>
            <a:ext cx="2875300" cy="327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9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Order of Execution</a:t>
            </a:r>
            <a:endParaRPr/>
          </a:p>
        </p:txBody>
      </p:sp>
      <p:sp>
        <p:nvSpPr>
          <p:cNvPr id="688" name="Google Shape;688;p97"/>
          <p:cNvSpPr txBox="1"/>
          <p:nvPr>
            <p:ph idx="1" type="body"/>
          </p:nvPr>
        </p:nvSpPr>
        <p:spPr>
          <a:xfrm>
            <a:off x="311700" y="1536625"/>
            <a:ext cx="68424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The SQL engine applies any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WHERE </a:t>
            </a:r>
            <a:r>
              <a:rPr lang="en-GB"/>
              <a:t>clauses before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GROUP BY</a:t>
            </a:r>
            <a:r>
              <a:rPr lang="en-GB"/>
              <a:t> clauses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When we apply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WHERE </a:t>
            </a:r>
            <a:r>
              <a:rPr lang="en-GB"/>
              <a:t>clause, none of the aggregate functions have yet been calculated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How do we deal with this?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9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98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Order of Execution</a:t>
            </a:r>
            <a:endParaRPr/>
          </a:p>
        </p:txBody>
      </p:sp>
      <p:sp>
        <p:nvSpPr>
          <p:cNvPr id="695" name="Google Shape;695;p98"/>
          <p:cNvSpPr txBox="1"/>
          <p:nvPr>
            <p:ph idx="1" type="body"/>
          </p:nvPr>
        </p:nvSpPr>
        <p:spPr>
          <a:xfrm>
            <a:off x="311700" y="1536625"/>
            <a:ext cx="42138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4734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WHERE </a:t>
            </a:r>
            <a:r>
              <a:rPr lang="en-GB"/>
              <a:t>clause lets us filter out rows before our aggregate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functions are calculated</a:t>
            </a:r>
            <a:endParaRPr/>
          </a:p>
          <a:p>
            <a:pPr indent="-34734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HAVING </a:t>
            </a:r>
            <a:r>
              <a:rPr lang="en-GB"/>
              <a:t>clause lets us filter out rows after our aggregate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functions are calculated</a:t>
            </a:r>
            <a:endParaRPr/>
          </a:p>
          <a:p>
            <a:pPr indent="-34734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We can filter on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MAX</a:t>
            </a:r>
            <a:r>
              <a:rPr lang="en-GB"/>
              <a:t>,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MIN</a:t>
            </a:r>
            <a:r>
              <a:rPr lang="en-GB"/>
              <a:t>,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AVG</a:t>
            </a:r>
            <a:r>
              <a:rPr lang="en-GB"/>
              <a:t>,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/>
              <a:t>etc, using a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HAVING </a:t>
            </a:r>
            <a:r>
              <a:rPr lang="en-GB"/>
              <a:t>clause</a:t>
            </a:r>
            <a:endParaRPr/>
          </a:p>
          <a:p>
            <a:pPr indent="-34734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We can prevent rows from being counted in our aggregate functions using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WHERE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98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97" name="Google Shape;697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4663" y="242200"/>
            <a:ext cx="2028825" cy="594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9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HAVING clause</a:t>
            </a:r>
            <a:endParaRPr/>
          </a:p>
        </p:txBody>
      </p:sp>
      <p:sp>
        <p:nvSpPr>
          <p:cNvPr id="703" name="Google Shape;703;p99"/>
          <p:cNvSpPr txBox="1"/>
          <p:nvPr>
            <p:ph idx="1" type="body"/>
          </p:nvPr>
        </p:nvSpPr>
        <p:spPr>
          <a:xfrm>
            <a:off x="235500" y="1536625"/>
            <a:ext cx="89541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cu.cust_id,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 s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Customers cu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s.cust_id = cu.cust_id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INNER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JOIN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Countries co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on 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cu.country_id = co.country_id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WHERE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co.country_name = </a:t>
            </a:r>
            <a:r>
              <a:rPr lang="en-GB" sz="20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'Canada'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cu.cust_id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HAVING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 &gt;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10000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 </a:t>
            </a:r>
            <a:r>
              <a:rPr lang="en-GB" sz="20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desc</a:t>
            </a:r>
            <a:r>
              <a:rPr lang="en-GB" sz="20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;</a:t>
            </a:r>
            <a:endParaRPr sz="20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704" name="Google Shape;704;p99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05" name="Google Shape;705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600" y="4843550"/>
            <a:ext cx="3330400" cy="148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100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Grouping by Date</a:t>
            </a:r>
            <a:endParaRPr/>
          </a:p>
        </p:txBody>
      </p:sp>
      <p:sp>
        <p:nvSpPr>
          <p:cNvPr id="711" name="Google Shape;711;p100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Date column types are very flexible for grouping results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summarise results over years, months, days, or even minutes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We can use the </a:t>
            </a:r>
            <a:r>
              <a:rPr lang="en-GB">
                <a:latin typeface="Courier"/>
                <a:ea typeface="Courier"/>
                <a:cs typeface="Courier"/>
                <a:sym typeface="Courier"/>
              </a:rPr>
              <a:t>EXTRACT </a:t>
            </a:r>
            <a:r>
              <a:rPr lang="en-GB"/>
              <a:t>function to extract the part of the date we are interested in.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100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01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Grouping by Date</a:t>
            </a:r>
            <a:endParaRPr/>
          </a:p>
        </p:txBody>
      </p:sp>
      <p:sp>
        <p:nvSpPr>
          <p:cNvPr id="718" name="Google Shape;718;p101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19" name="Google Shape;719;p101"/>
          <p:cNvSpPr txBox="1"/>
          <p:nvPr/>
        </p:nvSpPr>
        <p:spPr>
          <a:xfrm>
            <a:off x="470975" y="1819100"/>
            <a:ext cx="7782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time_id, quantity_sold, amount_sold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sales;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720" name="Google Shape;720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700" y="3066525"/>
            <a:ext cx="4347325" cy="3296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4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0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Grouping by Date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02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27" name="Google Shape;727;p102"/>
          <p:cNvSpPr txBox="1"/>
          <p:nvPr/>
        </p:nvSpPr>
        <p:spPr>
          <a:xfrm>
            <a:off x="311700" y="1816625"/>
            <a:ext cx="791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2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year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(quantity_sold),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2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year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2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 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time_id</a:t>
            </a:r>
            <a:r>
              <a:rPr lang="en-GB" sz="22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 sz="22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728" name="Google Shape;728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3525" y="3815675"/>
            <a:ext cx="3971125" cy="191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03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Grouping by Date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103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35" name="Google Shape;735;p103"/>
          <p:cNvSpPr txBox="1"/>
          <p:nvPr/>
        </p:nvSpPr>
        <p:spPr>
          <a:xfrm>
            <a:off x="311700" y="1588025"/>
            <a:ext cx="8832300" cy="19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1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month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time_id),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(quantity_sold),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21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</a:t>
            </a:r>
            <a:endParaRPr sz="21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lang="en-GB" sz="2100">
                <a:solidFill>
                  <a:srgbClr val="3F51B5"/>
                </a:solidFill>
                <a:latin typeface="Roboto Mono"/>
                <a:ea typeface="Roboto Mono"/>
                <a:cs typeface="Roboto Mono"/>
                <a:sym typeface="Roboto Mono"/>
              </a:rPr>
              <a:t>month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21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21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</a:t>
            </a:r>
            <a:endParaRPr sz="21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736" name="Google Shape;736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5675" y="3350700"/>
            <a:ext cx="3927450" cy="331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104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Grouping by Date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104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43" name="Google Shape;743;p104"/>
          <p:cNvSpPr txBox="1"/>
          <p:nvPr/>
        </p:nvSpPr>
        <p:spPr>
          <a:xfrm>
            <a:off x="75200" y="1477675"/>
            <a:ext cx="9362700" cy="24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SELECT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(year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 </a:t>
            </a:r>
            <a:r>
              <a:rPr lang="en-GB" sz="18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"year"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(month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 </a:t>
            </a:r>
            <a:r>
              <a:rPr lang="en-GB" sz="1800">
                <a:solidFill>
                  <a:srgbClr val="388E3C"/>
                </a:solidFill>
                <a:latin typeface="Roboto Mono"/>
                <a:ea typeface="Roboto Mono"/>
                <a:cs typeface="Roboto Mono"/>
                <a:sym typeface="Roboto Mono"/>
              </a:rPr>
              <a:t>"month"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,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(quantity_sold),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SUM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(amount_sold)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sales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GROUP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(year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time_id),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(month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ORDER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BY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(year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 time_id),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EXTRACT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(month </a:t>
            </a:r>
            <a:r>
              <a:rPr lang="en-GB" sz="1800">
                <a:solidFill>
                  <a:srgbClr val="C53929"/>
                </a:solidFill>
                <a:latin typeface="Roboto Mono"/>
                <a:ea typeface="Roboto Mono"/>
                <a:cs typeface="Roboto Mono"/>
                <a:sym typeface="Roboto Mono"/>
              </a:rPr>
              <a:t>FROM </a:t>
            </a:r>
            <a:r>
              <a:rPr lang="en-GB" sz="1800">
                <a:solidFill>
                  <a:srgbClr val="37474F"/>
                </a:solidFill>
                <a:latin typeface="Roboto Mono"/>
                <a:ea typeface="Roboto Mono"/>
                <a:cs typeface="Roboto Mono"/>
                <a:sym typeface="Roboto Mono"/>
              </a:rPr>
              <a:t>time_id);</a:t>
            </a:r>
            <a:endParaRPr sz="1800">
              <a:solidFill>
                <a:srgbClr val="3747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C53929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744" name="Google Shape;744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950" y="3643650"/>
            <a:ext cx="3875625" cy="3146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05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Summary</a:t>
            </a:r>
            <a:endParaRPr/>
          </a:p>
        </p:txBody>
      </p:sp>
      <p:sp>
        <p:nvSpPr>
          <p:cNvPr id="750" name="Google Shape;750;p105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This has been a quick tour of SQL.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Comparison with R/Python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CRUD operations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Many to many relationships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Aggregate queries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Those completely new to it will need to do quite a bit more study.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-GB"/>
              <a:t>DataCamp has an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introduction to sql for data science</a:t>
            </a:r>
            <a:endParaRPr/>
          </a:p>
        </p:txBody>
      </p:sp>
      <p:sp>
        <p:nvSpPr>
          <p:cNvPr id="751" name="Google Shape;751;p105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106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</a:t>
            </a:r>
            <a:endParaRPr/>
          </a:p>
        </p:txBody>
      </p:sp>
      <p:sp>
        <p:nvSpPr>
          <p:cNvPr id="757" name="Google Shape;757;p106"/>
          <p:cNvSpPr txBox="1"/>
          <p:nvPr>
            <p:ph idx="1" type="body"/>
          </p:nvPr>
        </p:nvSpPr>
        <p:spPr>
          <a:xfrm>
            <a:off x="311700" y="1450325"/>
            <a:ext cx="8520600" cy="46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4734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Complete the SQL Island game for a fun </a:t>
            </a:r>
            <a:r>
              <a:rPr lang="en-GB"/>
              <a:t>😁</a:t>
            </a:r>
            <a:r>
              <a:rPr lang="en-GB"/>
              <a:t> review of SQL</a:t>
            </a:r>
            <a:br>
              <a:rPr lang="en-GB"/>
            </a:br>
            <a:r>
              <a:rPr lang="en-GB"/>
              <a:t>in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SQL Island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If </a:t>
            </a:r>
            <a:r>
              <a:rPr lang="en-GB"/>
              <a:t>you</a:t>
            </a:r>
            <a:r>
              <a:rPr lang="en-GB"/>
              <a:t> don’t speak German,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      change the language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      “Sprache wechseln”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734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/>
              <a:t>Please</a:t>
            </a:r>
            <a:r>
              <a:rPr lang="en-GB"/>
              <a:t> complete the other not so fun lab on Brightspace to review/practice SQL concepts.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106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59" name="Google Shape;759;p10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200" y="2403426"/>
            <a:ext cx="1980225" cy="218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107"/>
          <p:cNvSpPr txBox="1"/>
          <p:nvPr>
            <p:ph type="title"/>
          </p:nvPr>
        </p:nvSpPr>
        <p:spPr>
          <a:xfrm>
            <a:off x="1388100" y="637525"/>
            <a:ext cx="63678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/>
              <a:t>Questions?</a:t>
            </a:r>
            <a:endParaRPr/>
          </a:p>
        </p:txBody>
      </p:sp>
      <p:sp>
        <p:nvSpPr>
          <p:cNvPr id="765" name="Google Shape;765;p107"/>
          <p:cNvSpPr txBox="1"/>
          <p:nvPr>
            <p:ph idx="12" type="sldNum"/>
          </p:nvPr>
        </p:nvSpPr>
        <p:spPr>
          <a:xfrm>
            <a:off x="8552258" y="6091822"/>
            <a:ext cx="5832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8EA4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