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1" r:id="rId1"/>
  </p:sldMasterIdLst>
  <p:notesMasterIdLst>
    <p:notesMasterId r:id="rId9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3C1E79-D414-4627-B45C-6BAA0697D71A}">
  <a:tblStyle styleId="{913C1E79-D414-4627-B45C-6BAA0697D7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0B5D8DE-C498-4371-BDE6-A087C3374FF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40" autoAdjust="0"/>
    <p:restoredTop sz="94660"/>
  </p:normalViewPr>
  <p:slideViewPr>
    <p:cSldViewPr snapToGrid="0">
      <p:cViewPr varScale="1">
        <p:scale>
          <a:sx n="99" d="100"/>
          <a:sy n="99" d="100"/>
        </p:scale>
        <p:origin x="148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8da4e15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7c8da4e15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f88dc329d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f88dc329d8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f7929006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f7929006d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7929006d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7929006d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5015df0467dc32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5015df0467dc32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5015df0467dc32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55015df0467dc32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20f67100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20f67100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020f67100f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020f67100f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f7929006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f7929006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f7929006d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f7929006d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f88dc329d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f88dc329d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f88dc329d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f88dc329d8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f7929006d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f7929006d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7929006d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7929006d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7929006d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f7929006d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7929006db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7929006db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e54518b9a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e54518b9a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88dc329d8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f88dc329d8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f88dc329d8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f88dc329d8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f88dc329d8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f88dc329d8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f88dc329d8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f88dc329d8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55015df0467dc3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55015df0467dc3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5015df0467dc3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55015df0467dc3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55015df0467dc3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55015df0467dc3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5015df0467dc3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55015df0467dc3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55015df0467dc32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55015df0467dc32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5015df0467dc3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55015df0467dc3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5e01ce10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5e01ce10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55015df0467dc3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55015df0467dc3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f88dc329d8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f88dc329d8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5e01ce10ad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5e01ce10ad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55015df0467dc3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55015df0467dc32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5015df0467dc3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55015df0467dc3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5e01ce10a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5e01ce10a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5e01ce10a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5e01ce10ad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5e01ce10a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5e01ce10ad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f7929006db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f7929006db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55015df0467dc32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55015df0467dc32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55015df0467dc3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55015df0467dc32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55015df0467dc3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55015df0467dc3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55015df0467dc3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55015df0467dc3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55015df0467dc32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55015df0467dc32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55015df0467dc3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55015df0467dc3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55015df0467dc3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55015df0467dc3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55015df0467dc32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55015df0467dc32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55015df0467dc3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55015df0467dc3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55015df0467dc3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55015df0467dc3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55015df0467dc32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55015df0467dc32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55015df0467dc32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55015df0467dc32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55015df0467dc32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55015df0467dc32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55015df0467dc32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55015df0467dc32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5e01ce10a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5e01ce10a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5e01ce10a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5e01ce10a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5e01ce10a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5e01ce10a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5e01ce10a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5e01ce10a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f6f7e62d3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g2f6f7e62d3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f6f7e62d3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g2f6f7e62d3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f6f7e62d3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g2f6f7e62d3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f6f7e62d3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g2f6f7e62d3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f6f7e62d3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g2f6f7e62d3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f6f7e62d3c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g2f6f7e62d3c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f6f7e62d3c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g2f6f7e62d3c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f75adcf7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2f75adcf7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5e01ce10a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5e01ce10a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e838c999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e838c999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e838c9994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1e838c9994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e838c9994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e838c9994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e838c9994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e838c99943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e838c9994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e838c9994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e838c9994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e838c9994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e838c9994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e838c9994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1e838c99943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1e838c99943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e838c9994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e838c9994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e838c9994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1e838c99943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1e838c9994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1e838c99943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851b3500c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2851b3500c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851b3500c8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851b3500c8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e838c99943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1e838c99943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851b3500c8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2851b3500c8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851b3500c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851b3500c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851b3500c8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851b3500c8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851b3500c8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851b3500c8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851b3500c8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851b3500c8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51b3500c8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51b3500c8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851b3500c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851b3500c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851b3500c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851b3500c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851b3500c8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851b3500c8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851b3500c8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851b3500c8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55015df0467dc3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55015df0467dc32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fcb44cb6a3_1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fcb44cb6a3_1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2" name="Google Shape;762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_Pearson">
  <p:cSld name="Title and Content_Pears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1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sz="1200" b="0" i="1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1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wnload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basestar.com/entity-relationship-diagra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project.com/Articles/33052/Visual-Representation-of-SQL-Joins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courses/intro-to-sql-for-data-science" TargetMode="Externa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sql-island.informatik.uni-kl.de/" TargetMode="Externa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4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subTitle" idx="2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{913C1E79-D414-4627-B45C-6BAA0697D71A}</a:tableStyleId>
              </a:tblPr>
              <a:tblGrid>
                <a:gridCol w="178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1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Set up environment and R notebook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2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Review Python and practice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3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strike="noStrike" cap="none"/>
                        <a:t>mporting data with R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4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5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lang="en-GB" sz="1200" b="1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b="1">
                        <a:solidFill>
                          <a:srgbClr val="E06666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6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Interpreting Data (summary statistics, data visualisation)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7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Review week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8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Data manipulation in R</a:t>
                      </a:r>
                      <a:endParaRPr sz="12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9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Data visualisation in Python</a:t>
                      </a:r>
                      <a:endParaRPr sz="12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 u="none" strike="noStrike" cap="none"/>
                        <a:t>Data processing (regular expressions) 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10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lang="en-GB" sz="1200" b="1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strike="noStrike" cap="none">
                        <a:solidFill>
                          <a:srgbClr val="E06666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11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lang="en-GB" sz="1200" b="1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b="1" u="none" strike="noStrike" cap="none">
                        <a:solidFill>
                          <a:srgbClr val="E06666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12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13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b="1" u="sng" strike="noStrike" cap="non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strike="noStrike" cap="none">
                        <a:solidFill>
                          <a:srgbClr val="E06666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dk2"/>
                </a:solidFill>
              </a:rPr>
              <a:t>Overview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Database refresher</a:t>
            </a:r>
            <a:endParaRPr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Tables, columns, keys</a:t>
            </a:r>
            <a:endParaRPr sz="200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SQL databases and R dataframes</a:t>
            </a:r>
            <a:endParaRPr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 modification language</a:t>
            </a:r>
            <a:endParaRPr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Basic data definition language</a:t>
            </a:r>
            <a:endParaRPr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Relationships</a:t>
            </a:r>
            <a:endParaRPr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Aggregate queries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PostgreSQL set up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download PostgreSQL here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https://www.postgresql.org/download/</a:t>
            </a:r>
            <a:r>
              <a:rPr lang="en-GB"/>
              <a:t>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Open the </a:t>
            </a:r>
            <a:r>
              <a:rPr lang="en-GB" b="1"/>
              <a:t>pgAdmin</a:t>
            </a:r>
            <a:r>
              <a:rPr lang="en-GB"/>
              <a:t> tool. This is the administration and management tools for the PostgreSQL database.</a:t>
            </a:r>
            <a:endParaRPr sz="2200"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1525" y="407574"/>
            <a:ext cx="920300" cy="94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4463" y="3780375"/>
            <a:ext cx="5015075" cy="257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Databases and R DataFrames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 </a:t>
            </a:r>
            <a:r>
              <a:rPr lang="en-GB" b="1"/>
              <a:t>R Dataframe</a:t>
            </a:r>
            <a:r>
              <a:rPr lang="en-GB"/>
              <a:t> is a like a lightweight </a:t>
            </a:r>
            <a:r>
              <a:rPr lang="en-GB" b="1"/>
              <a:t>SQL table</a:t>
            </a:r>
            <a:br>
              <a:rPr lang="en-GB" b="1"/>
            </a:br>
            <a:endParaRPr b="1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dataframe consists of: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b="1"/>
              <a:t>columns</a:t>
            </a:r>
            <a:r>
              <a:rPr lang="en-GB" sz="2200"/>
              <a:t> (with a type) which define the dataframe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b="1"/>
              <a:t>rows</a:t>
            </a:r>
            <a:r>
              <a:rPr lang="en-GB" sz="2200"/>
              <a:t>, or values, which make up the data</a:t>
            </a:r>
            <a:br>
              <a:rPr lang="en-GB" sz="2200"/>
            </a:b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Dataframes are often flat, we tend to have wide dataframes containing all the columns we need in a single place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 dataframes usually only live for as long as the R session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SQL Databases and R DataFrames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 SQL table is </a:t>
            </a:r>
            <a:r>
              <a:rPr lang="en-GB" b="1"/>
              <a:t>heavily optimized</a:t>
            </a:r>
            <a:r>
              <a:rPr lang="en-GB"/>
              <a:t> and </a:t>
            </a:r>
            <a:r>
              <a:rPr lang="en-GB" b="1"/>
              <a:t>more complex</a:t>
            </a:r>
            <a:r>
              <a:rPr lang="en-GB"/>
              <a:t> than a R dataframe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Like R dataframes, SQL tables consist of </a:t>
            </a:r>
            <a:r>
              <a:rPr lang="en-GB" b="1"/>
              <a:t>strongly typed columns and rows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Databases are usually </a:t>
            </a:r>
            <a:r>
              <a:rPr lang="en-GB" b="1" i="1"/>
              <a:t>normalized</a:t>
            </a:r>
            <a:r>
              <a:rPr lang="en-GB"/>
              <a:t>. We tend to have one table per thing (entity) and we join those tables together when we query SQL tables live on the hard drive; they are persistent.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ERD</a:t>
            </a:r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SQL databases depend on the </a:t>
            </a:r>
            <a:r>
              <a:rPr lang="en-GB" b="1"/>
              <a:t>structure of entities</a:t>
            </a:r>
            <a:r>
              <a:rPr lang="en-GB"/>
              <a:t> and the  </a:t>
            </a:r>
            <a:r>
              <a:rPr lang="en-GB" b="1"/>
              <a:t>pattern of relationships</a:t>
            </a:r>
            <a:r>
              <a:rPr lang="en-GB"/>
              <a:t> between them.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is designed to </a:t>
            </a:r>
            <a:r>
              <a:rPr lang="en-GB" b="1"/>
              <a:t>avoid data redundancy</a:t>
            </a:r>
            <a:r>
              <a:rPr lang="en-GB"/>
              <a:t> and increase </a:t>
            </a:r>
            <a:r>
              <a:rPr lang="en-GB" b="1"/>
              <a:t>data integrity</a:t>
            </a:r>
            <a:r>
              <a:rPr lang="en-GB"/>
              <a:t>.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 Entity Relationship Diagram (ERD)  lets you see how different entities relate to each other in an application or a database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is </a:t>
            </a:r>
            <a:r>
              <a:rPr lang="en-GB" b="1"/>
              <a:t>implementation independent</a:t>
            </a:r>
            <a:endParaRPr b="1"/>
          </a:p>
        </p:txBody>
      </p:sp>
      <p:sp>
        <p:nvSpPr>
          <p:cNvPr id="113" name="Google Shape;113;p2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ERD</a:t>
            </a:r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311700" y="5562456"/>
            <a:ext cx="85206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Examples of notation and models can be seen here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https://www.databasestar.com/entity-relationship-diagram/</a:t>
            </a: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900" y="1447938"/>
            <a:ext cx="3837876" cy="10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561400"/>
            <a:ext cx="5440900" cy="14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900" y="3985725"/>
            <a:ext cx="5238050" cy="15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/>
          <p:nvPr/>
        </p:nvSpPr>
        <p:spPr>
          <a:xfrm>
            <a:off x="4504775" y="1739000"/>
            <a:ext cx="291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Conceptual model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5997650" y="2820000"/>
            <a:ext cx="291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Logical model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5812675" y="4318600"/>
            <a:ext cx="291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 physical model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Structured?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SQL enforces </a:t>
            </a:r>
            <a:r>
              <a:rPr lang="en-GB" b="1"/>
              <a:t>strict data structures</a:t>
            </a:r>
            <a:endParaRPr b="1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All items in a collection have the </a:t>
            </a:r>
            <a:r>
              <a:rPr lang="en-GB" b="1"/>
              <a:t>same set of properties</a:t>
            </a:r>
            <a:endParaRPr b="1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Each item’s properties have the same type</a:t>
            </a:r>
            <a:endParaRPr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b="1"/>
              <a:t>Missing values</a:t>
            </a:r>
            <a:r>
              <a:rPr lang="en-GB"/>
              <a:t> must be </a:t>
            </a:r>
            <a:r>
              <a:rPr lang="en-GB" b="1"/>
              <a:t>explicitly allowed</a:t>
            </a:r>
            <a:endParaRPr b="1"/>
          </a:p>
        </p:txBody>
      </p:sp>
      <p:sp>
        <p:nvSpPr>
          <p:cNvPr id="133" name="Google Shape;133;p2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Flavours of SQL</a:t>
            </a:r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SQL is actually a family of closely related languages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SQL has a </a:t>
            </a:r>
            <a:r>
              <a:rPr lang="en-GB" b="1"/>
              <a:t>standard </a:t>
            </a:r>
            <a:r>
              <a:rPr lang="en-GB"/>
              <a:t>of the American National Standards Institute (ANSI), although implementations don’t follow it fully.</a:t>
            </a:r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sp>
        <p:nvSpPr>
          <p:cNvPr id="141" name="Google Shape;141;p24"/>
          <p:cNvSpPr txBox="1"/>
          <p:nvPr/>
        </p:nvSpPr>
        <p:spPr>
          <a:xfrm>
            <a:off x="401650" y="2271600"/>
            <a:ext cx="4377900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Oracle SQL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Students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dob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FETCH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FIRST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ROWS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ONLY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42" name="Google Shape;142;p24"/>
          <p:cNvSpPr txBox="1"/>
          <p:nvPr/>
        </p:nvSpPr>
        <p:spPr>
          <a:xfrm>
            <a:off x="2971625" y="2347800"/>
            <a:ext cx="43779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MS SQL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TOP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Students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dob;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43" name="Google Shape;143;p24"/>
          <p:cNvSpPr txBox="1"/>
          <p:nvPr/>
        </p:nvSpPr>
        <p:spPr>
          <a:xfrm>
            <a:off x="5492250" y="2286150"/>
            <a:ext cx="43779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PostgreSQL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Students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dob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LIMIT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Types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0221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/>
              <a:t>R</a:t>
            </a:r>
            <a:endParaRPr sz="2000" b="1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Double</a:t>
            </a:r>
            <a:br>
              <a:rPr lang="en-GB" sz="2000">
                <a:latin typeface="Courier"/>
                <a:ea typeface="Courier"/>
                <a:cs typeface="Courier"/>
                <a:sym typeface="Courier"/>
              </a:rPr>
            </a:b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Integer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Boolean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Character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Date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Factor</a:t>
            </a:r>
            <a:br>
              <a:rPr lang="en-GB" sz="2000">
                <a:latin typeface="Courier"/>
                <a:ea typeface="Courier"/>
                <a:cs typeface="Courier"/>
                <a:sym typeface="Courier"/>
              </a:rPr>
            </a:br>
            <a:br>
              <a:rPr lang="en-GB" sz="2000">
                <a:latin typeface="Courier"/>
                <a:ea typeface="Courier"/>
                <a:cs typeface="Courier"/>
                <a:sym typeface="Courier"/>
              </a:rPr>
            </a:b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NA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50" name="Google Shape;150;p2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5368175" y="1491400"/>
            <a:ext cx="39507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/>
              <a:t>SQL</a:t>
            </a:r>
            <a:endParaRPr sz="2000" b="1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NUMERIC(precision,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  scale)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INT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BOOLEAN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CHAR(Size),VARCHAR (Size), TEXT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DATE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Foreign Key (kind of, by using a table of categories)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NULL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2332350" y="1491400"/>
            <a:ext cx="30303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/>
              <a:t>Python</a:t>
            </a:r>
            <a:endParaRPr sz="2000" b="1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Float</a:t>
            </a:r>
            <a:br>
              <a:rPr lang="en-GB" sz="2000">
                <a:latin typeface="Courier"/>
                <a:ea typeface="Courier"/>
                <a:cs typeface="Courier"/>
                <a:sym typeface="Courier"/>
              </a:rPr>
            </a:b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Integer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Boolean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String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Datetime module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Pandas categorical data type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"/>
              <a:buChar char="●"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NA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Number</a:t>
            </a:r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SQL, you must specify exactly </a:t>
            </a:r>
            <a:r>
              <a:rPr lang="en-GB" b="1"/>
              <a:t>how much space</a:t>
            </a:r>
            <a:r>
              <a:rPr lang="en-GB"/>
              <a:t> you want to use to </a:t>
            </a:r>
            <a:r>
              <a:rPr lang="en-GB" b="1"/>
              <a:t>store a number</a:t>
            </a:r>
            <a:br>
              <a:rPr lang="en-GB" b="1"/>
            </a:br>
            <a:endParaRPr b="1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b="1"/>
              <a:t>Precision </a:t>
            </a:r>
            <a:r>
              <a:rPr lang="en-GB"/>
              <a:t>is the </a:t>
            </a:r>
            <a:r>
              <a:rPr lang="en-GB" b="1"/>
              <a:t>number of digits</a:t>
            </a:r>
            <a:r>
              <a:rPr lang="en-GB"/>
              <a:t> in a number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b="1"/>
              <a:t>Scale </a:t>
            </a:r>
            <a:r>
              <a:rPr lang="en-GB"/>
              <a:t>is the number of those digits to the </a:t>
            </a:r>
            <a:r>
              <a:rPr lang="en-GB" b="1"/>
              <a:t>right of the decimal place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Number</a:t>
            </a:r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precision and scale would you use for…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 random number seed which is a whole number 8 digits long?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Price of stock less than €1000?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 number between 0 and 1, to 5 decimal places?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 boolean column?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Number</a:t>
            </a:r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precision and scale would you use for…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 random number seed which is a whole number 8 digits long? </a:t>
            </a:r>
            <a:r>
              <a:rPr lang="en-GB" sz="2200">
                <a:solidFill>
                  <a:srgbClr val="FF0000"/>
                </a:solidFill>
              </a:rPr>
              <a:t>(8,0)</a:t>
            </a:r>
            <a:endParaRPr sz="2200">
              <a:solidFill>
                <a:srgbClr val="FF0000"/>
              </a:solidFill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Price of stock less than €1000?</a:t>
            </a:r>
            <a:r>
              <a:rPr lang="en-GB" sz="2200">
                <a:solidFill>
                  <a:srgbClr val="FF0000"/>
                </a:solidFill>
              </a:rPr>
              <a:t> (5,2)</a:t>
            </a:r>
            <a:endParaRPr sz="2200">
              <a:solidFill>
                <a:srgbClr val="FF0000"/>
              </a:solidFill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 number between 0 and 1, to 5 decimal places? </a:t>
            </a:r>
            <a:r>
              <a:rPr lang="en-GB" sz="2200">
                <a:solidFill>
                  <a:srgbClr val="FF0000"/>
                </a:solidFill>
              </a:rPr>
              <a:t>(6,5)</a:t>
            </a:r>
            <a:endParaRPr sz="2200">
              <a:solidFill>
                <a:srgbClr val="FF0000"/>
              </a:solidFill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 boolean column? </a:t>
            </a:r>
            <a:r>
              <a:rPr lang="en-GB" sz="2200">
                <a:solidFill>
                  <a:srgbClr val="FF0000"/>
                </a:solidFill>
              </a:rPr>
              <a:t>(1,0)</a:t>
            </a:r>
            <a:endParaRPr sz="22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VARCHAR</a:t>
            </a:r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Strings are represented in a database using 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VARCHAR </a:t>
            </a:r>
            <a:r>
              <a:rPr lang="en-GB"/>
              <a:t>type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varchar size specifies the maximum number of characters allowed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r>
              <a:rPr lang="en-GB" sz="1700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CREATE TABLE </a:t>
            </a:r>
            <a:r>
              <a:rPr lang="en-GB" sz="17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Customer </a:t>
            </a:r>
            <a:r>
              <a:rPr lang="en-GB" sz="17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FirstName </a:t>
            </a:r>
            <a:r>
              <a:rPr lang="en-GB" sz="1700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VARCHAR </a:t>
            </a:r>
            <a:r>
              <a:rPr lang="en-GB" sz="17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700">
                <a:solidFill>
                  <a:srgbClr val="008C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17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700">
              <a:solidFill>
                <a:srgbClr val="80803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String literals must be written using single quotes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21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 </a:t>
            </a:r>
            <a:r>
              <a:rPr lang="en-GB" sz="21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 sz="2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FirstName = </a:t>
            </a:r>
            <a:r>
              <a:rPr lang="en-GB" sz="2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'Lucas'</a:t>
            </a:r>
            <a:endParaRPr sz="2100"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DATE</a:t>
            </a:r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88323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add date information to a column using 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DATE </a:t>
            </a:r>
            <a:r>
              <a:rPr lang="en-GB"/>
              <a:t>datatype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specify dates as a string and PostgreSQL will automatically parse them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It’s better to use 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TO_DATE()</a:t>
            </a:r>
            <a:r>
              <a:rPr lang="en-GB"/>
              <a:t> function and specify our format manually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Orders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OrderDate &gt; 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'01-Nov-20'</a:t>
            </a:r>
            <a:endParaRPr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Orders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OrderDate &gt;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TO_DATE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'2020-11-01'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'YYYY-MM-DD'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578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value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NA </a:t>
            </a:r>
            <a:r>
              <a:rPr lang="en-GB"/>
              <a:t>in R corresponds to </a:t>
            </a:r>
            <a:r>
              <a:rPr lang="en-GB">
                <a:solidFill>
                  <a:srgbClr val="595959"/>
                </a:solidFill>
              </a:rPr>
              <a:t>PostgreSQL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NULL </a:t>
            </a:r>
            <a:r>
              <a:rPr lang="en-GB"/>
              <a:t>value</a:t>
            </a:r>
            <a:endParaRPr/>
          </a:p>
          <a:p>
            <a:pPr marL="457200" lvl="0" indent="-3578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 always allows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NA </a:t>
            </a:r>
            <a:r>
              <a:rPr lang="en-GB"/>
              <a:t>values in a dataframe, but in SQL columns must explicitly forbid them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CREATE TABLE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contacts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id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first_name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>
                <a:solidFill>
                  <a:srgbClr val="008C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u="sng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NOT NULL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last_name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>
                <a:solidFill>
                  <a:srgbClr val="008C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u="sng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NOT NULL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email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>
                <a:solidFill>
                  <a:srgbClr val="008C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255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u="sng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NOT NULL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phone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>
                <a:solidFill>
                  <a:srgbClr val="008C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15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PRIMARY KEY 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solidFill>
                <a:srgbClr val="80803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Primary Key</a:t>
            </a:r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Each table in SQL </a:t>
            </a:r>
            <a:r>
              <a:rPr lang="en-GB" b="1"/>
              <a:t>should have a primary key</a:t>
            </a:r>
            <a:br>
              <a:rPr lang="en-GB" b="1"/>
            </a:br>
            <a:endParaRPr b="1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primary key is a column (or group of columns) which </a:t>
            </a:r>
            <a:r>
              <a:rPr lang="en-GB" b="1" i="1"/>
              <a:t>uniquely </a:t>
            </a:r>
            <a:r>
              <a:rPr lang="en-GB"/>
              <a:t>identify the row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Primary keys can be </a:t>
            </a:r>
            <a:r>
              <a:rPr lang="en-GB" b="1"/>
              <a:t>actual features</a:t>
            </a:r>
            <a:r>
              <a:rPr lang="en-GB"/>
              <a:t> of the entity (i.e. a student number), or an </a:t>
            </a:r>
            <a:r>
              <a:rPr lang="en-GB" b="1"/>
              <a:t>auto-generated value</a:t>
            </a:r>
            <a:r>
              <a:rPr lang="en-GB"/>
              <a:t> (i.e. ID)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Technically, a primary key constraint is the combination of a </a:t>
            </a:r>
            <a:r>
              <a:rPr lang="en-GB" b="1"/>
              <a:t>not-null </a:t>
            </a:r>
            <a:r>
              <a:rPr lang="en-GB"/>
              <a:t>constraint and a </a:t>
            </a:r>
            <a:r>
              <a:rPr lang="en-GB" b="1"/>
              <a:t>UNIQUE </a:t>
            </a:r>
            <a:r>
              <a:rPr lang="en-GB"/>
              <a:t>constraint.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Primary Key</a:t>
            </a:r>
            <a:endParaRPr/>
          </a:p>
        </p:txBody>
      </p:sp>
      <p:sp>
        <p:nvSpPr>
          <p:cNvPr id="207" name="Google Shape;207;p33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8520600" cy="53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CREATE TABLE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po_headers 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po_no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solidFill>
                  <a:srgbClr val="262626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PRIMARY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vendor_no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description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shipping_address </a:t>
            </a:r>
            <a:r>
              <a:rPr lang="en-GB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endParaRPr>
              <a:solidFill>
                <a:srgbClr val="C53929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lang="en-GB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80803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0803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CREATE TABLE</a:t>
            </a: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po_items </a:t>
            </a:r>
            <a:r>
              <a:rPr lang="en-GB" sz="20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po_no </a:t>
            </a:r>
            <a:r>
              <a:rPr lang="en-GB" sz="2000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r>
              <a:rPr lang="en-GB" sz="20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item_no </a:t>
            </a:r>
            <a:r>
              <a:rPr lang="en-GB" sz="2000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r>
              <a:rPr lang="en-GB" sz="20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product_no </a:t>
            </a:r>
            <a:r>
              <a:rPr lang="en-GB" sz="2000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r>
              <a:rPr lang="en-GB" sz="20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2000">
                <a:solidFill>
                  <a:srgbClr val="C539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PRIMARY KEY</a:t>
            </a: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po_no</a:t>
            </a:r>
            <a:r>
              <a:rPr lang="en-GB" sz="20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item_no</a:t>
            </a:r>
            <a:r>
              <a:rPr lang="en-GB" sz="20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80803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2000">
              <a:solidFill>
                <a:srgbClr val="80803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0803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cxnSp>
        <p:nvCxnSpPr>
          <p:cNvPr id="209" name="Google Shape;209;p33"/>
          <p:cNvCxnSpPr/>
          <p:nvPr/>
        </p:nvCxnSpPr>
        <p:spPr>
          <a:xfrm rot="10800000" flipH="1">
            <a:off x="1084825" y="2255772"/>
            <a:ext cx="4299000" cy="1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Google Shape;210;p33"/>
          <p:cNvCxnSpPr/>
          <p:nvPr/>
        </p:nvCxnSpPr>
        <p:spPr>
          <a:xfrm rot="10800000" flipH="1">
            <a:off x="1036575" y="5648870"/>
            <a:ext cx="4195200" cy="4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Selecting Data	</a:t>
            </a:r>
            <a:endParaRPr/>
          </a:p>
        </p:txBody>
      </p:sp>
      <p:sp>
        <p:nvSpPr>
          <p:cNvPr id="216" name="Google Shape;216;p3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To retrieve data from our tables we use 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SELECT </a:t>
            </a:r>
            <a:r>
              <a:rPr lang="en-GB"/>
              <a:t>command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br>
              <a:rPr lang="en-GB"/>
            </a:br>
            <a:r>
              <a:rPr lang="en-GB"/>
              <a:t>     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col1, col2, col3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Table</a:t>
            </a:r>
            <a:br>
              <a:rPr lang="en-GB"/>
            </a:br>
            <a:br>
              <a:rPr lang="en-GB"/>
            </a:b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use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/>
              <a:t>as a shortcut to select all columns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Selecting and Ordering Data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sort results in SQL using 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ORDER BY</a:t>
            </a:r>
            <a:r>
              <a:rPr lang="en-GB"/>
              <a:t> clause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will sort results by a given column(s) in </a:t>
            </a:r>
            <a:r>
              <a:rPr lang="en-GB" i="1"/>
              <a:t>ascending</a:t>
            </a:r>
            <a:r>
              <a:rPr lang="en-GB"/>
              <a:t> order by default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DESC</a:t>
            </a:r>
            <a:r>
              <a:rPr lang="en-GB" b="1">
                <a:solidFill>
                  <a:srgbClr val="3C78D8"/>
                </a:solidFill>
              </a:rPr>
              <a:t> </a:t>
            </a:r>
            <a:r>
              <a:rPr lang="en-GB"/>
              <a:t>keyword reverses the default order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ORDER BY</a:t>
            </a:r>
            <a:r>
              <a:rPr lang="en-GB"/>
              <a:t> clause always comes last in a statement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FirstName, LastName;</a:t>
            </a:r>
            <a:b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LastLoginDate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Filtering Data</a:t>
            </a:r>
            <a:endParaRPr/>
          </a:p>
        </p:txBody>
      </p:sp>
      <p:sp>
        <p:nvSpPr>
          <p:cNvPr id="230" name="Google Shape;230;p3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use a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WHERE </a:t>
            </a:r>
            <a:r>
              <a:rPr lang="en-GB"/>
              <a:t>clause to filter the data we retrieve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email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marketingOptIn =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30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Filtering Data</a:t>
            </a:r>
            <a:endParaRPr/>
          </a:p>
        </p:txBody>
      </p:sp>
      <p:sp>
        <p:nvSpPr>
          <p:cNvPr id="237" name="Google Shape;237;p3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WHERE </a:t>
            </a:r>
            <a:r>
              <a:rPr lang="en-GB"/>
              <a:t>clause can be combined with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/>
              <a:t>,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OR</a:t>
            </a:r>
            <a:r>
              <a:rPr lang="en-GB"/>
              <a:t>, and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NOT </a:t>
            </a:r>
            <a:r>
              <a:rPr lang="en-GB"/>
              <a:t>operators.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PostgreSQL lets us use some basic wildcard matching on varchars using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LIKE</a:t>
            </a:r>
            <a:endParaRPr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%</a:t>
            </a:r>
            <a:r>
              <a:rPr lang="en-GB"/>
              <a:t> symbol is equivalent to </a:t>
            </a:r>
            <a:r>
              <a:rPr lang="en-GB">
                <a:solidFill>
                  <a:srgbClr val="1155CC"/>
                </a:solidFill>
                <a:latin typeface="Courier"/>
                <a:ea typeface="Courier"/>
                <a:cs typeface="Courier"/>
                <a:sym typeface="Courier"/>
              </a:rPr>
              <a:t>.*</a:t>
            </a:r>
            <a:r>
              <a:rPr lang="en-GB"/>
              <a:t> in a RegEx (match any number of characters)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_</a:t>
            </a:r>
            <a:r>
              <a:rPr lang="en-GB"/>
              <a:t> symbol is equivalent to </a:t>
            </a:r>
            <a:r>
              <a:rPr lang="en-GB">
                <a:solidFill>
                  <a:srgbClr val="1155CC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/>
              <a:t> in a RegEx (match a single character)</a:t>
            </a:r>
            <a:endParaRPr/>
          </a:p>
        </p:txBody>
      </p:sp>
      <p:sp>
        <p:nvSpPr>
          <p:cNvPr id="238" name="Google Shape;238;p3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Filtering Data</a:t>
            </a:r>
            <a:endParaRPr/>
          </a:p>
        </p:txBody>
      </p:sp>
      <p:sp>
        <p:nvSpPr>
          <p:cNvPr id="244" name="Google Shape;244;p3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Customers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Name = </a:t>
            </a:r>
            <a:r>
              <a:rPr lang="en-GB" sz="2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'Lucas'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Surname = </a:t>
            </a:r>
            <a:r>
              <a:rPr lang="en-GB" sz="2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'Rizzo'</a:t>
            </a:r>
            <a:br>
              <a:rPr lang="en-GB" sz="2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2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Customers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Name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LIKE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'%ca%'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Name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LIKE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'L%s'</a:t>
            </a:r>
            <a:br>
              <a:rPr lang="en-GB" sz="2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2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Customers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Name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LIKE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'L___s'</a:t>
            </a:r>
            <a:endParaRPr sz="2500"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245" name="Google Shape;245;p3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Inserting Data</a:t>
            </a:r>
            <a:endParaRPr/>
          </a:p>
        </p:txBody>
      </p:sp>
      <p:sp>
        <p:nvSpPr>
          <p:cNvPr id="251" name="Google Shape;251;p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use an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INSERT </a:t>
            </a:r>
            <a:r>
              <a:rPr lang="en-GB"/>
              <a:t>statement to add data to our tables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INTO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 (id, firstName, lastName, marketingOptIn)</a:t>
            </a:r>
            <a:endParaRPr sz="2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VALUES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1123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'Lucas'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'Rizzo'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2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Updating Data</a:t>
            </a:r>
            <a:endParaRPr/>
          </a:p>
        </p:txBody>
      </p:sp>
      <p:sp>
        <p:nvSpPr>
          <p:cNvPr id="258" name="Google Shape;258;p4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change the values in a database using an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UPDATE </a:t>
            </a:r>
            <a:r>
              <a:rPr lang="en-GB"/>
              <a:t>statement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marketingOptIn =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marketingOptIn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endParaRPr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4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Deleting Data</a:t>
            </a:r>
            <a:endParaRPr/>
          </a:p>
        </p:txBody>
      </p:sp>
      <p:sp>
        <p:nvSpPr>
          <p:cNvPr id="265" name="Google Shape;265;p4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delete values in a database using a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DELETE </a:t>
            </a:r>
            <a:r>
              <a:rPr lang="en-GB"/>
              <a:t>statement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id =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1123</a:t>
            </a:r>
            <a:endParaRPr sz="25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Dropping Tables</a:t>
            </a:r>
            <a:endParaRPr/>
          </a:p>
        </p:txBody>
      </p:sp>
      <p:sp>
        <p:nvSpPr>
          <p:cNvPr id="272" name="Google Shape;272;p4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To permanently remove a table from the database we use 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DROP </a:t>
            </a:r>
            <a:r>
              <a:rPr lang="en-GB"/>
              <a:t>command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DROP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4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Altering Tables</a:t>
            </a:r>
            <a:endParaRPr/>
          </a:p>
        </p:txBody>
      </p:sp>
      <p:sp>
        <p:nvSpPr>
          <p:cNvPr id="279" name="Google Shape;279;p4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change the definition of a table using the </a:t>
            </a:r>
            <a:r>
              <a:rPr lang="en-GB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ALTER TABLE</a:t>
            </a:r>
            <a:r>
              <a:rPr lang="en-GB"/>
              <a:t> command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ALTER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dob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GB" sz="2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Foreign Key</a:t>
            </a:r>
            <a:endParaRPr/>
          </a:p>
        </p:txBody>
      </p:sp>
      <p:sp>
        <p:nvSpPr>
          <p:cNvPr id="286" name="Google Shape;286;p4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Tables in a relational databases are </a:t>
            </a:r>
            <a:r>
              <a:rPr lang="en-GB" b="1"/>
              <a:t>related to each other</a:t>
            </a:r>
            <a:endParaRPr b="1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Every </a:t>
            </a:r>
            <a:r>
              <a:rPr lang="en-GB" i="1"/>
              <a:t>order </a:t>
            </a:r>
            <a:r>
              <a:rPr lang="en-GB"/>
              <a:t>in a sales database was placed by a </a:t>
            </a:r>
            <a:r>
              <a:rPr lang="en-GB" i="1"/>
              <a:t>customer</a:t>
            </a:r>
            <a:endParaRPr i="1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say that </a:t>
            </a:r>
            <a:r>
              <a:rPr lang="en-GB" i="1"/>
              <a:t>order </a:t>
            </a:r>
            <a:r>
              <a:rPr lang="en-GB" b="1"/>
              <a:t>belongs </a:t>
            </a:r>
            <a:r>
              <a:rPr lang="en-GB"/>
              <a:t>to the </a:t>
            </a:r>
            <a:r>
              <a:rPr lang="en-GB" i="1"/>
              <a:t>customer</a:t>
            </a:r>
            <a:endParaRPr i="1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represent this using a </a:t>
            </a:r>
            <a:r>
              <a:rPr lang="en-GB" b="1" i="1"/>
              <a:t>foreign key</a:t>
            </a:r>
            <a:endParaRPr b="1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4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293" name="Google Shape;293;p4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Suppose we want to model a very basic version of IMDB where we store information about movies and actors</a:t>
            </a:r>
            <a:endParaRPr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We’ll start with two tables</a:t>
            </a:r>
            <a:endParaRPr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Actor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4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00" name="Google Shape;300;p4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First, we need to think about what columns we’ll need for movie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07" name="Google Shape;307;p4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First, we need to think about what columns we’ll need for movie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movieTitle, Year, Director, Budget, Profit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4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14" name="Google Shape;314;p4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First, we need to think about what columns we’ll need for movie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movieTitle, Year, Director, Budget, Profit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Next, what are the datatypes for those columns?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movieTitle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Year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Director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Budget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Profit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21" name="Google Shape;321;p4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First, we need to think about what columns we’ll need for movie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movieTitle, Year, Director, Budget, Profit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Next, what are the datatypes for those columns?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movieTitle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VARCHAR(100)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Year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DATE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Director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VARCHAR(100)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Budget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Numeric(12, 2)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Profit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Numeric(12, 2)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4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28" name="Google Shape;328;p5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First, we need to think about what columns we’ll need for movie</a:t>
            </a:r>
            <a:endParaRPr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movieTitle, Year, Director, Budget, Profit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Next, what are the datatypes for those columns?</a:t>
            </a:r>
            <a:endParaRPr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movieTitle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VARCHAR(100)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Year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DATE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Director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VARCHAR(100)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Budget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Numeric(12, 2)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Profit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Numeric(12, 2)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Are we missing anything?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/>
          </a:p>
        </p:txBody>
      </p:sp>
      <p:sp>
        <p:nvSpPr>
          <p:cNvPr id="329" name="Google Shape;329;p5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35" name="Google Shape;335;p5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First, we need to think about what columns we’ll need for movie</a:t>
            </a:r>
            <a:endParaRPr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movieTitle, Year, Director, Budget, Profit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Next, what are the datatypes for those columns?</a:t>
            </a:r>
            <a:endParaRPr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movieTitle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VARCHAR(100)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Year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DATE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Director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VARCHAR(100)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Budget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Numeric(12, 2)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Profit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Numeric(12, 2)</a:t>
            </a:r>
            <a:endParaRPr sz="220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Are we missing anything?</a:t>
            </a:r>
            <a:endParaRPr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movieId </a:t>
            </a:r>
            <a:r>
              <a:rPr lang="en-GB" sz="220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Numeric(4)</a:t>
            </a:r>
            <a:endParaRPr sz="2200">
              <a:solidFill>
                <a:srgbClr val="3C78D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/>
          </a:p>
        </p:txBody>
      </p:sp>
      <p:sp>
        <p:nvSpPr>
          <p:cNvPr id="336" name="Google Shape;336;p5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42" name="Google Shape;342;p5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about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Actor</a:t>
            </a:r>
            <a:r>
              <a:rPr lang="en-GB"/>
              <a:t>? Which attributes can we define?</a:t>
            </a:r>
            <a:endParaRPr/>
          </a:p>
        </p:txBody>
      </p:sp>
      <p:sp>
        <p:nvSpPr>
          <p:cNvPr id="343" name="Google Shape;343;p5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49" name="Google Shape;349;p5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about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Actor</a:t>
            </a:r>
            <a:r>
              <a:rPr lang="en-GB"/>
              <a:t>? Which attributes can we define?</a:t>
            </a:r>
            <a:endParaRPr/>
          </a:p>
          <a:p>
            <a:pPr marL="914400" lvl="1" indent="-36639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70"/>
              <a:buFont typeface="Courier"/>
              <a:buChar char="○"/>
            </a:pPr>
            <a:r>
              <a:rPr lang="en-GB" sz="2170">
                <a:latin typeface="Courier"/>
                <a:ea typeface="Courier"/>
                <a:cs typeface="Courier"/>
                <a:sym typeface="Courier"/>
              </a:rPr>
              <a:t>ActorID </a:t>
            </a:r>
            <a:r>
              <a:rPr lang="en-GB" sz="217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Numeric(4)</a:t>
            </a:r>
            <a:endParaRPr sz="2170"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1" indent="-36639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70"/>
              <a:buFont typeface="Courier"/>
              <a:buChar char="○"/>
            </a:pPr>
            <a:r>
              <a:rPr lang="en-GB" sz="2170">
                <a:latin typeface="Courier"/>
                <a:ea typeface="Courier"/>
                <a:cs typeface="Courier"/>
                <a:sym typeface="Courier"/>
              </a:rPr>
              <a:t>ActorName </a:t>
            </a:r>
            <a:r>
              <a:rPr lang="en-GB" sz="2170" b="1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VARCHAR(100)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350" name="Google Shape;350;p5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56" name="Google Shape;356;p5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Movie(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movieID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movieTitle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year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director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budget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profit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PRIMARY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(movieID)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5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363" name="Google Shape;363;p5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Actor(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actorID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actorName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 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PRIMARY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(actorID)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5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Relationships</a:t>
            </a:r>
            <a:endParaRPr/>
          </a:p>
        </p:txBody>
      </p:sp>
      <p:sp>
        <p:nvSpPr>
          <p:cNvPr id="370" name="Google Shape;370;p5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now have a table to store movies and a table to store actors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do we store information about which actors acted in each movie?</a:t>
            </a:r>
            <a:endParaRPr/>
          </a:p>
        </p:txBody>
      </p:sp>
      <p:sp>
        <p:nvSpPr>
          <p:cNvPr id="371" name="Google Shape;371;p5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Relationships</a:t>
            </a:r>
            <a:endParaRPr/>
          </a:p>
        </p:txBody>
      </p:sp>
      <p:sp>
        <p:nvSpPr>
          <p:cNvPr id="377" name="Google Shape;377;p5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Title: </a:t>
            </a:r>
            <a:r>
              <a:rPr lang="en-GB" i="1" dirty="0"/>
              <a:t>Jumanji: Welcome to the Jungle</a:t>
            </a:r>
            <a:endParaRPr i="1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Year: </a:t>
            </a:r>
            <a:r>
              <a:rPr lang="en-GB" i="1" dirty="0"/>
              <a:t>2017</a:t>
            </a:r>
            <a:endParaRPr i="1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Director: </a:t>
            </a:r>
            <a:r>
              <a:rPr lang="en-GB" i="1" dirty="0"/>
              <a:t>Jake Kasdan</a:t>
            </a:r>
            <a:endParaRPr i="1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Budget: </a:t>
            </a:r>
            <a:r>
              <a:rPr lang="en-GB" i="1" dirty="0"/>
              <a:t>90 million</a:t>
            </a:r>
            <a:endParaRPr i="1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Profit: </a:t>
            </a:r>
            <a:r>
              <a:rPr lang="en-GB" i="1" dirty="0"/>
              <a:t>962,077,546</a:t>
            </a:r>
            <a:endParaRPr i="1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Some Cast Members:</a:t>
            </a:r>
            <a:endParaRPr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i="1" dirty="0"/>
              <a:t>Dwayne Johnson -&gt; Spencer</a:t>
            </a:r>
            <a:endParaRPr sz="2200" i="1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i="1" dirty="0"/>
              <a:t>Kevin Hart -&gt; Fridge</a:t>
            </a:r>
            <a:endParaRPr sz="2200" i="1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i="1" dirty="0"/>
              <a:t>Jack Black -&gt; Bethany</a:t>
            </a:r>
            <a:endParaRPr sz="22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8" name="Google Shape;378;p5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Relationships</a:t>
            </a:r>
            <a:endParaRPr/>
          </a:p>
        </p:txBody>
      </p:sp>
      <p:sp>
        <p:nvSpPr>
          <p:cNvPr id="384" name="Google Shape;384;p5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Suppose we include the </a:t>
            </a:r>
            <a:r>
              <a:rPr lang="en-GB" dirty="0" err="1">
                <a:latin typeface="Courier"/>
                <a:ea typeface="Courier"/>
                <a:cs typeface="Courier"/>
                <a:sym typeface="Courier"/>
              </a:rPr>
              <a:t>movieID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and name of the character played on the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ACTOR </a:t>
            </a:r>
            <a:r>
              <a:rPr lang="en-GB" dirty="0"/>
              <a:t>table.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5" name="Google Shape;385;p5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  <p:sp>
        <p:nvSpPr>
          <p:cNvPr id="386" name="Google Shape;386;p58"/>
          <p:cNvSpPr/>
          <p:nvPr/>
        </p:nvSpPr>
        <p:spPr>
          <a:xfrm>
            <a:off x="2235750" y="2669700"/>
            <a:ext cx="6316500" cy="23988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ALTER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Actor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9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movieID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character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9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</p:txBody>
      </p:sp>
      <p:sp>
        <p:nvSpPr>
          <p:cNvPr id="387" name="Google Shape;387;p58"/>
          <p:cNvSpPr/>
          <p:nvPr/>
        </p:nvSpPr>
        <p:spPr>
          <a:xfrm>
            <a:off x="3346800" y="5414725"/>
            <a:ext cx="725400" cy="677100"/>
          </a:xfrm>
          <a:prstGeom prst="smileyFace">
            <a:avLst>
              <a:gd name="adj" fmla="val -44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Relationships</a:t>
            </a:r>
            <a:endParaRPr/>
          </a:p>
        </p:txBody>
      </p:sp>
      <p:sp>
        <p:nvSpPr>
          <p:cNvPr id="393" name="Google Shape;393;p5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Our primary key is now not unique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Same actor can appear in multiple movies</a:t>
            </a:r>
            <a:endParaRPr dirty="0"/>
          </a:p>
        </p:txBody>
      </p:sp>
      <p:sp>
        <p:nvSpPr>
          <p:cNvPr id="394" name="Google Shape;394;p5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Relationships</a:t>
            </a:r>
            <a:endParaRPr dirty="0"/>
          </a:p>
        </p:txBody>
      </p:sp>
      <p:sp>
        <p:nvSpPr>
          <p:cNvPr id="400" name="Google Shape;400;p6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Suppose we include the </a:t>
            </a:r>
            <a:r>
              <a:rPr lang="en-GB" dirty="0" err="1">
                <a:latin typeface="Courier"/>
                <a:ea typeface="Courier"/>
                <a:cs typeface="Courier"/>
                <a:sym typeface="Courier"/>
              </a:rPr>
              <a:t>actorID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and name of the character played on the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Movie </a:t>
            </a:r>
            <a:r>
              <a:rPr lang="en-GB" dirty="0"/>
              <a:t>table.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1" name="Google Shape;401;p6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46</a:t>
            </a:fld>
            <a:endParaRPr/>
          </a:p>
        </p:txBody>
      </p:sp>
      <p:sp>
        <p:nvSpPr>
          <p:cNvPr id="402" name="Google Shape;402;p60"/>
          <p:cNvSpPr/>
          <p:nvPr/>
        </p:nvSpPr>
        <p:spPr>
          <a:xfrm>
            <a:off x="2148700" y="2466575"/>
            <a:ext cx="6316500" cy="23988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ALTER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Movie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9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actorID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character 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9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-GB" sz="19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9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3" name="Google Shape;403;p60"/>
          <p:cNvSpPr/>
          <p:nvPr/>
        </p:nvSpPr>
        <p:spPr>
          <a:xfrm>
            <a:off x="3259750" y="5211600"/>
            <a:ext cx="725400" cy="677100"/>
          </a:xfrm>
          <a:prstGeom prst="smileyFace">
            <a:avLst>
              <a:gd name="adj" fmla="val -44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Relationships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9" name="Google Shape;409;p6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Our primary key is now not unique.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We would have multiple rows of data for each movie (one for each actor who appeared in the movie.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solution?</a:t>
            </a:r>
            <a:endParaRPr dirty="0"/>
          </a:p>
        </p:txBody>
      </p:sp>
      <p:sp>
        <p:nvSpPr>
          <p:cNvPr id="410" name="Google Shape;410;p6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Relationships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6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Our primary key is now not unique.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We would have multiple rows of data for each movie (one for each actor who appeared in the movie.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solution?</a:t>
            </a:r>
            <a:endParaRPr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dirty="0"/>
              <a:t>Add another table, </a:t>
            </a:r>
            <a:r>
              <a:rPr lang="en-GB" sz="2200" dirty="0" err="1">
                <a:latin typeface="Courier"/>
                <a:ea typeface="Courier"/>
                <a:cs typeface="Courier"/>
                <a:sym typeface="Courier"/>
              </a:rPr>
              <a:t>Movie_Cast</a:t>
            </a:r>
            <a:r>
              <a:rPr lang="en-GB" sz="2200" dirty="0"/>
              <a:t>, containing </a:t>
            </a:r>
            <a:r>
              <a:rPr lang="en-GB" sz="2200" dirty="0" err="1">
                <a:latin typeface="Courier"/>
                <a:ea typeface="Courier"/>
                <a:cs typeface="Courier"/>
                <a:sym typeface="Courier"/>
              </a:rPr>
              <a:t>actorID</a:t>
            </a:r>
            <a:r>
              <a:rPr lang="en-GB" sz="2200" dirty="0"/>
              <a:t>, </a:t>
            </a:r>
            <a:r>
              <a:rPr lang="en-GB" sz="2200" dirty="0" err="1">
                <a:latin typeface="Courier"/>
                <a:ea typeface="Courier"/>
                <a:cs typeface="Courier"/>
                <a:sym typeface="Courier"/>
              </a:rPr>
              <a:t>movieID</a:t>
            </a:r>
            <a:r>
              <a:rPr lang="en-GB" sz="2200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2200" dirty="0"/>
              <a:t>and </a:t>
            </a:r>
            <a:r>
              <a:rPr lang="en-GB" sz="2200" dirty="0" err="1">
                <a:latin typeface="Courier"/>
                <a:ea typeface="Courier"/>
                <a:cs typeface="Courier"/>
                <a:sym typeface="Courier"/>
              </a:rPr>
              <a:t>roleName</a:t>
            </a:r>
            <a:endParaRPr sz="2200" dirty="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17" name="Google Shape;417;p6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Relationships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3" name="Google Shape;423;p6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Movie_Cast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2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25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actorID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2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25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movieID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2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roleplayed </a:t>
            </a:r>
            <a:r>
              <a:rPr lang="en-GB" sz="2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2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What should the primary key be?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4" name="Google Shape;424;p6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Relationships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0" name="Google Shape;430;p6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Movie_Cast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3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actorID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3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movieID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roleplayed 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PRIMARY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3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movieID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3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actorID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roleplayed)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2500" dirty="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6639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800" dirty="0"/>
              <a:t>The Cast table has a </a:t>
            </a:r>
            <a:r>
              <a:rPr lang="en-GB" sz="2800" i="1" dirty="0"/>
              <a:t>compound primary key</a:t>
            </a:r>
            <a:endParaRPr sz="2800" i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1" name="Google Shape;431;p6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Foreign Keys</a:t>
            </a:r>
            <a:endParaRPr dirty="0"/>
          </a:p>
        </p:txBody>
      </p:sp>
      <p:sp>
        <p:nvSpPr>
          <p:cNvPr id="437" name="Google Shape;437;p6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What happens to the </a:t>
            </a:r>
            <a:r>
              <a:rPr lang="en-GB" dirty="0" err="1">
                <a:latin typeface="Courier"/>
                <a:ea typeface="Courier"/>
                <a:cs typeface="Courier"/>
                <a:sym typeface="Courier"/>
              </a:rPr>
              <a:t>Movie_Cast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table if we remove an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actor/movie</a:t>
            </a:r>
            <a:r>
              <a:rPr lang="en-GB" dirty="0"/>
              <a:t> from the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Movie/Actor</a:t>
            </a:r>
            <a:r>
              <a:rPr lang="en-GB" dirty="0"/>
              <a:t> tables?</a:t>
            </a:r>
            <a:r>
              <a:rPr lang="en-GB" sz="2200" dirty="0"/>
              <a:t> </a:t>
            </a:r>
            <a:endParaRPr sz="2200" dirty="0"/>
          </a:p>
        </p:txBody>
      </p:sp>
      <p:sp>
        <p:nvSpPr>
          <p:cNvPr id="438" name="Google Shape;438;p6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Foreign Keys</a:t>
            </a:r>
            <a:endParaRPr/>
          </a:p>
        </p:txBody>
      </p:sp>
      <p:sp>
        <p:nvSpPr>
          <p:cNvPr id="444" name="Google Shape;444;p6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What happens to the </a:t>
            </a:r>
            <a:r>
              <a:rPr lang="en-GB" dirty="0" err="1">
                <a:latin typeface="Courier"/>
                <a:ea typeface="Courier"/>
                <a:cs typeface="Courier"/>
                <a:sym typeface="Courier"/>
              </a:rPr>
              <a:t>Movie_Cast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table if we remove an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actor/movie</a:t>
            </a:r>
            <a:r>
              <a:rPr lang="en-GB" dirty="0"/>
              <a:t> from the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Movie/Actor</a:t>
            </a:r>
            <a:r>
              <a:rPr lang="en-GB" dirty="0"/>
              <a:t> tables?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In order to improve data integrity we should define an explicitly relationship between our Cast table and Movie/Actor tables.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A foreign key can be defined for that. </a:t>
            </a:r>
            <a:endParaRPr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dirty="0"/>
              <a:t>A column of one table that is the same as the  primary key of another </a:t>
            </a:r>
            <a:endParaRPr sz="2200" dirty="0"/>
          </a:p>
        </p:txBody>
      </p:sp>
      <p:sp>
        <p:nvSpPr>
          <p:cNvPr id="445" name="Google Shape;445;p6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52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Foreign Keys</a:t>
            </a:r>
            <a:endParaRPr/>
          </a:p>
        </p:txBody>
      </p:sp>
      <p:sp>
        <p:nvSpPr>
          <p:cNvPr id="451" name="Google Shape;451;p6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Movie_Cast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actorID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rolePlayed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CONSTRAINT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cast_actor_fk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FOREIGN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actorID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REFERENCES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actor(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actorID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CONSTRAINT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cast_movie_fk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FOREIGN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REFERENCES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movie(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PRIMARY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movieID,actorID,rolePlayed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52" name="Google Shape;452;p6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53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Foreign Key</a:t>
            </a:r>
            <a:endParaRPr/>
          </a:p>
        </p:txBody>
      </p:sp>
      <p:sp>
        <p:nvSpPr>
          <p:cNvPr id="458" name="Google Shape;458;p6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6663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350" dirty="0"/>
              <a:t>A foreign key </a:t>
            </a:r>
            <a:r>
              <a:rPr lang="en-GB" sz="2350" b="1" dirty="0"/>
              <a:t>links </a:t>
            </a:r>
            <a:r>
              <a:rPr lang="en-GB" sz="2350" dirty="0"/>
              <a:t>one table to another. </a:t>
            </a:r>
            <a:endParaRPr sz="2350" dirty="0"/>
          </a:p>
          <a:p>
            <a:pPr marL="457200" lvl="0" indent="-36663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350" dirty="0"/>
              <a:t>An attribute column should </a:t>
            </a:r>
            <a:r>
              <a:rPr lang="en-GB" sz="2350" b="1" dirty="0"/>
              <a:t>depend only on the key</a:t>
            </a:r>
            <a:r>
              <a:rPr lang="en-GB" sz="2350" dirty="0"/>
              <a:t> of the table, not on another attribute column.</a:t>
            </a:r>
            <a:endParaRPr sz="23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9" name="Google Shape;459;p6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54</a:t>
            </a:fld>
            <a:endParaRPr/>
          </a:p>
        </p:txBody>
      </p:sp>
      <p:graphicFrame>
        <p:nvGraphicFramePr>
          <p:cNvPr id="460" name="Google Shape;460;p68"/>
          <p:cNvGraphicFramePr/>
          <p:nvPr/>
        </p:nvGraphicFramePr>
        <p:xfrm>
          <a:off x="572500" y="3168450"/>
          <a:ext cx="3619500" cy="1219140"/>
        </p:xfrm>
        <a:graphic>
          <a:graphicData uri="http://schemas.openxmlformats.org/drawingml/2006/table">
            <a:tbl>
              <a:tblPr>
                <a:noFill/>
                <a:tableStyleId>{70B5D8DE-C498-4371-BDE6-A087C3374FFE}</a:tableStyleId>
              </a:tblPr>
              <a:tblGrid>
                <a:gridCol w="125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Customer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First name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Last name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Lucas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Frodo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Bilbo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Rizzo</a:t>
                      </a:r>
                      <a:endParaRPr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Baggins</a:t>
                      </a:r>
                      <a:endParaRPr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Baggins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1" name="Google Shape;461;p68"/>
          <p:cNvGraphicFramePr/>
          <p:nvPr/>
        </p:nvGraphicFramePr>
        <p:xfrm>
          <a:off x="572500" y="4723000"/>
          <a:ext cx="4298575" cy="1005780"/>
        </p:xfrm>
        <a:graphic>
          <a:graphicData uri="http://schemas.openxmlformats.org/drawingml/2006/table">
            <a:tbl>
              <a:tblPr>
                <a:noFill/>
                <a:tableStyleId>{70B5D8DE-C498-4371-BDE6-A087C3374FFE}</a:tableStyleId>
              </a:tblPr>
              <a:tblGrid>
                <a:gridCol w="104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Order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Item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Qty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Customer ID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ORD003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ORD005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 Smoking pipe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Lembas bread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3</a:t>
                      </a:r>
                      <a:endParaRPr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2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Foreign Key</a:t>
            </a:r>
            <a:endParaRPr dirty="0"/>
          </a:p>
        </p:txBody>
      </p:sp>
      <p:sp>
        <p:nvSpPr>
          <p:cNvPr id="467" name="Google Shape;467;p6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6663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350"/>
              <a:t>A foreign key </a:t>
            </a:r>
            <a:r>
              <a:rPr lang="en-GB" sz="2350" b="1"/>
              <a:t>links </a:t>
            </a:r>
            <a:r>
              <a:rPr lang="en-GB" sz="2350"/>
              <a:t>one table to another. </a:t>
            </a:r>
            <a:endParaRPr sz="2350"/>
          </a:p>
          <a:p>
            <a:pPr marL="457200" lvl="0" indent="-36663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350"/>
              <a:t>An attribute column should </a:t>
            </a:r>
            <a:r>
              <a:rPr lang="en-GB" sz="2350" b="1"/>
              <a:t>depend only on the key</a:t>
            </a:r>
            <a:r>
              <a:rPr lang="en-GB" sz="2350"/>
              <a:t> of the table, not on another attribute column.</a:t>
            </a:r>
            <a:endParaRPr sz="23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55</a:t>
            </a:fld>
            <a:endParaRPr/>
          </a:p>
        </p:txBody>
      </p:sp>
      <p:graphicFrame>
        <p:nvGraphicFramePr>
          <p:cNvPr id="469" name="Google Shape;469;p69"/>
          <p:cNvGraphicFramePr/>
          <p:nvPr/>
        </p:nvGraphicFramePr>
        <p:xfrm>
          <a:off x="572500" y="3168450"/>
          <a:ext cx="3619500" cy="1219140"/>
        </p:xfrm>
        <a:graphic>
          <a:graphicData uri="http://schemas.openxmlformats.org/drawingml/2006/table">
            <a:tbl>
              <a:tblPr>
                <a:noFill/>
                <a:tableStyleId>{70B5D8DE-C498-4371-BDE6-A087C3374FFE}</a:tableStyleId>
              </a:tblPr>
              <a:tblGrid>
                <a:gridCol w="125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Customer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First name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Last name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Lucas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Frodo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Bilbo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Rizzo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Baggins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Baggins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0" name="Google Shape;470;p69"/>
          <p:cNvGraphicFramePr/>
          <p:nvPr/>
        </p:nvGraphicFramePr>
        <p:xfrm>
          <a:off x="572500" y="4723000"/>
          <a:ext cx="4298575" cy="1005780"/>
        </p:xfrm>
        <a:graphic>
          <a:graphicData uri="http://schemas.openxmlformats.org/drawingml/2006/table">
            <a:tbl>
              <a:tblPr>
                <a:noFill/>
                <a:tableStyleId>{70B5D8DE-C498-4371-BDE6-A087C3374FFE}</a:tableStyleId>
              </a:tblPr>
              <a:tblGrid>
                <a:gridCol w="104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Order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Item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Qty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Customer ID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ORD003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ORD005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 Smoking pipe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Lembas bread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71" name="Google Shape;471;p69"/>
          <p:cNvCxnSpPr/>
          <p:nvPr/>
        </p:nvCxnSpPr>
        <p:spPr>
          <a:xfrm>
            <a:off x="1200900" y="4266297"/>
            <a:ext cx="2932800" cy="980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stealth" w="sm" len="sm"/>
            <a:tailEnd type="none" w="sm" len="sm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Foreign Key</a:t>
            </a:r>
            <a:endParaRPr/>
          </a:p>
        </p:txBody>
      </p:sp>
      <p:sp>
        <p:nvSpPr>
          <p:cNvPr id="477" name="Google Shape;477;p7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6663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350"/>
              <a:t>A foreign key </a:t>
            </a:r>
            <a:r>
              <a:rPr lang="en-GB" sz="2350" b="1"/>
              <a:t>links </a:t>
            </a:r>
            <a:r>
              <a:rPr lang="en-GB" sz="2350"/>
              <a:t>one table to another. </a:t>
            </a:r>
            <a:endParaRPr sz="2350"/>
          </a:p>
          <a:p>
            <a:pPr marL="457200" lvl="0" indent="-36663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350"/>
              <a:t>An attribute column should </a:t>
            </a:r>
            <a:r>
              <a:rPr lang="en-GB" sz="2350" b="1"/>
              <a:t>depend only on the key</a:t>
            </a:r>
            <a:r>
              <a:rPr lang="en-GB" sz="2350"/>
              <a:t> of the table, not on another attribute column.</a:t>
            </a:r>
            <a:endParaRPr sz="23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7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56</a:t>
            </a:fld>
            <a:endParaRPr/>
          </a:p>
        </p:txBody>
      </p:sp>
      <p:graphicFrame>
        <p:nvGraphicFramePr>
          <p:cNvPr id="479" name="Google Shape;479;p70"/>
          <p:cNvGraphicFramePr/>
          <p:nvPr/>
        </p:nvGraphicFramePr>
        <p:xfrm>
          <a:off x="572500" y="3168450"/>
          <a:ext cx="3619500" cy="1219140"/>
        </p:xfrm>
        <a:graphic>
          <a:graphicData uri="http://schemas.openxmlformats.org/drawingml/2006/table">
            <a:tbl>
              <a:tblPr>
                <a:noFill/>
                <a:tableStyleId>{70B5D8DE-C498-4371-BDE6-A087C3374FFE}</a:tableStyleId>
              </a:tblPr>
              <a:tblGrid>
                <a:gridCol w="125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Customer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First name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Last name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Lucas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Frodo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Bilbo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Rizzo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Baggins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Baggins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0" name="Google Shape;480;p70"/>
          <p:cNvGraphicFramePr/>
          <p:nvPr/>
        </p:nvGraphicFramePr>
        <p:xfrm>
          <a:off x="572500" y="4723000"/>
          <a:ext cx="4298575" cy="1005780"/>
        </p:xfrm>
        <a:graphic>
          <a:graphicData uri="http://schemas.openxmlformats.org/drawingml/2006/table">
            <a:tbl>
              <a:tblPr>
                <a:noFill/>
                <a:tableStyleId>{70B5D8DE-C498-4371-BDE6-A087C3374FFE}</a:tableStyleId>
              </a:tblPr>
              <a:tblGrid>
                <a:gridCol w="104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Order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Item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Qty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Customer ID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ORD003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ORD005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 Smoking pipe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Lembas bread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81" name="Google Shape;481;p70"/>
          <p:cNvCxnSpPr/>
          <p:nvPr/>
        </p:nvCxnSpPr>
        <p:spPr>
          <a:xfrm>
            <a:off x="1284975" y="4050500"/>
            <a:ext cx="2919900" cy="1446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stealth" w="sm" len="sm"/>
            <a:tailEnd type="none" w="sm" len="sm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Foreign Key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7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We can use foreign keys to join tables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c.CustomerID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o.OrderID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c.FirstName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o.Item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o.Qty</a:t>
            </a:r>
            <a:endParaRPr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Customers c</a:t>
            </a:r>
            <a:endParaRPr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INNER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Orders o</a:t>
            </a:r>
            <a:endParaRPr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c.CustomerID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o.CustomerID</a:t>
            </a:r>
            <a:endParaRPr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8" name="Google Shape;488;p7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57</a:t>
            </a:fld>
            <a:endParaRPr/>
          </a:p>
        </p:txBody>
      </p:sp>
      <p:pic>
        <p:nvPicPr>
          <p:cNvPr id="489" name="Google Shape;48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75" y="4699405"/>
            <a:ext cx="7996475" cy="12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Joining Tables</a:t>
            </a:r>
            <a:endParaRPr dirty="0"/>
          </a:p>
        </p:txBody>
      </p:sp>
      <p:sp>
        <p:nvSpPr>
          <p:cNvPr id="495" name="Google Shape;495;p7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We will use this example to explore the different ways to join tables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  <p:sp>
        <p:nvSpPr>
          <p:cNvPr id="496" name="Google Shape;496;p7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58</a:t>
            </a:fld>
            <a:endParaRPr/>
          </a:p>
        </p:txBody>
      </p:sp>
      <p:pic>
        <p:nvPicPr>
          <p:cNvPr id="497" name="Google Shape;49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975" y="2793248"/>
            <a:ext cx="7042050" cy="311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Toy Example</a:t>
            </a:r>
            <a:endParaRPr dirty="0"/>
          </a:p>
        </p:txBody>
      </p:sp>
      <p:sp>
        <p:nvSpPr>
          <p:cNvPr id="503" name="Google Shape;503;p7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code below will create these dataframes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  <p:sp>
        <p:nvSpPr>
          <p:cNvPr id="504" name="Google Shape;504;p7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59</a:t>
            </a:fld>
            <a:endParaRPr/>
          </a:p>
        </p:txBody>
      </p:sp>
      <p:sp>
        <p:nvSpPr>
          <p:cNvPr id="505" name="Google Shape;505;p73"/>
          <p:cNvSpPr txBox="1"/>
          <p:nvPr/>
        </p:nvSpPr>
        <p:spPr>
          <a:xfrm>
            <a:off x="441700" y="2286600"/>
            <a:ext cx="4359000" cy="3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-- Create the table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Musicians (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Name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PRIMARY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Instrument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-- Insert data into the table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INTO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Musicians (Name, Instrument)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VALUES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'John'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'guitar'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'Paul'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'bass'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'George'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'guitar'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'Ringo'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'drums'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'Stuart'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'bass'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'Pete'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'drums'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6" name="Google Shape;506;p73"/>
          <p:cNvSpPr txBox="1"/>
          <p:nvPr/>
        </p:nvSpPr>
        <p:spPr>
          <a:xfrm>
            <a:off x="4800700" y="2286600"/>
            <a:ext cx="43008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-- Create the table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BandMembers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Name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PRIMARY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Band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-- Insert data into the table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INTO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BandMembers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(Name, Band)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VALUES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'John'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'Paul'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'George'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'Ringo'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'Brian'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Left Join</a:t>
            </a:r>
            <a:endParaRPr dirty="0"/>
          </a:p>
        </p:txBody>
      </p:sp>
      <p:sp>
        <p:nvSpPr>
          <p:cNvPr id="512" name="Google Shape;512;p7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60</a:t>
            </a:fld>
            <a:endParaRPr/>
          </a:p>
        </p:txBody>
      </p:sp>
      <p:pic>
        <p:nvPicPr>
          <p:cNvPr id="513" name="Google Shape;51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41" y="1558201"/>
            <a:ext cx="8247459" cy="4332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Inner Join</a:t>
            </a:r>
            <a:endParaRPr dirty="0"/>
          </a:p>
        </p:txBody>
      </p:sp>
      <p:sp>
        <p:nvSpPr>
          <p:cNvPr id="519" name="Google Shape;519;p7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61</a:t>
            </a:fld>
            <a:endParaRPr/>
          </a:p>
        </p:txBody>
      </p:sp>
      <p:pic>
        <p:nvPicPr>
          <p:cNvPr id="520" name="Google Shape;52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50" y="1687467"/>
            <a:ext cx="8247459" cy="4404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Semi-Join</a:t>
            </a:r>
            <a:endParaRPr dirty="0"/>
          </a:p>
        </p:txBody>
      </p:sp>
      <p:sp>
        <p:nvSpPr>
          <p:cNvPr id="526" name="Google Shape;526;p7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62</a:t>
            </a:fld>
            <a:endParaRPr/>
          </a:p>
        </p:txBody>
      </p:sp>
      <p:pic>
        <p:nvPicPr>
          <p:cNvPr id="527" name="Google Shape;52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150" y="1655242"/>
            <a:ext cx="8247457" cy="435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Semi-Join</a:t>
            </a:r>
            <a:endParaRPr/>
          </a:p>
        </p:txBody>
      </p:sp>
      <p:sp>
        <p:nvSpPr>
          <p:cNvPr id="533" name="Google Shape;533;p7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63</a:t>
            </a:fld>
            <a:endParaRPr/>
          </a:p>
        </p:txBody>
      </p:sp>
      <p:pic>
        <p:nvPicPr>
          <p:cNvPr id="534" name="Google Shape;53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150" y="1655242"/>
            <a:ext cx="8247457" cy="435910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77"/>
          <p:cNvSpPr txBox="1"/>
          <p:nvPr/>
        </p:nvSpPr>
        <p:spPr>
          <a:xfrm>
            <a:off x="1724175" y="5627825"/>
            <a:ext cx="30705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FF0000"/>
                </a:solidFill>
              </a:rPr>
              <a:t>No semi-join keyword</a:t>
            </a:r>
            <a:endParaRPr sz="2200" dirty="0">
              <a:solidFill>
                <a:srgbClr val="FF0000"/>
              </a:solidFill>
            </a:endParaRPr>
          </a:p>
        </p:txBody>
      </p:sp>
      <p:cxnSp>
        <p:nvCxnSpPr>
          <p:cNvPr id="536" name="Google Shape;536;p77"/>
          <p:cNvCxnSpPr/>
          <p:nvPr/>
        </p:nvCxnSpPr>
        <p:spPr>
          <a:xfrm rot="10800000" flipH="1">
            <a:off x="2063200" y="4843325"/>
            <a:ext cx="484200" cy="784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Anti-Join</a:t>
            </a:r>
            <a:endParaRPr dirty="0"/>
          </a:p>
        </p:txBody>
      </p:sp>
      <p:sp>
        <p:nvSpPr>
          <p:cNvPr id="542" name="Google Shape;542;p7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64</a:t>
            </a:fld>
            <a:endParaRPr/>
          </a:p>
        </p:txBody>
      </p:sp>
      <p:pic>
        <p:nvPicPr>
          <p:cNvPr id="543" name="Google Shape;54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325" y="1557767"/>
            <a:ext cx="8181975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Anti-Join</a:t>
            </a:r>
            <a:endParaRPr/>
          </a:p>
        </p:txBody>
      </p:sp>
      <p:sp>
        <p:nvSpPr>
          <p:cNvPr id="549" name="Google Shape;549;p7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65</a:t>
            </a:fld>
            <a:endParaRPr/>
          </a:p>
        </p:txBody>
      </p:sp>
      <p:pic>
        <p:nvPicPr>
          <p:cNvPr id="550" name="Google Shape;55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325" y="1567392"/>
            <a:ext cx="8181975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79"/>
          <p:cNvSpPr txBox="1"/>
          <p:nvPr/>
        </p:nvSpPr>
        <p:spPr>
          <a:xfrm>
            <a:off x="1724175" y="5627825"/>
            <a:ext cx="30705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FF0000"/>
                </a:solidFill>
              </a:rPr>
              <a:t>No anti-join keyword</a:t>
            </a:r>
            <a:endParaRPr sz="2200" dirty="0">
              <a:solidFill>
                <a:srgbClr val="FF0000"/>
              </a:solidFill>
            </a:endParaRPr>
          </a:p>
        </p:txBody>
      </p:sp>
      <p:cxnSp>
        <p:nvCxnSpPr>
          <p:cNvPr id="552" name="Google Shape;552;p79"/>
          <p:cNvCxnSpPr/>
          <p:nvPr/>
        </p:nvCxnSpPr>
        <p:spPr>
          <a:xfrm rot="10800000">
            <a:off x="1530400" y="5259725"/>
            <a:ext cx="532800" cy="368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All joins cheat sheet</a:t>
            </a:r>
            <a:endParaRPr dirty="0"/>
          </a:p>
        </p:txBody>
      </p:sp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311700" y="1536624"/>
            <a:ext cx="8520600" cy="4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 dirty="0">
                <a:solidFill>
                  <a:schemeClr val="hlink"/>
                </a:solidFill>
                <a:hlinkClick r:id="rId3"/>
              </a:rPr>
              <a:t>https://www.codeproject.com/Articles/33052/Visual-Representation-of-SQL-Joins</a:t>
            </a:r>
            <a:endParaRPr sz="1800" dirty="0"/>
          </a:p>
        </p:txBody>
      </p:sp>
      <p:sp>
        <p:nvSpPr>
          <p:cNvPr id="559" name="Google Shape;559;p8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66</a:t>
            </a:fld>
            <a:endParaRPr/>
          </a:p>
        </p:txBody>
      </p:sp>
      <p:pic>
        <p:nvPicPr>
          <p:cNvPr id="560" name="Google Shape;56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9817" y="1356875"/>
            <a:ext cx="5604371" cy="44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1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Aggregate Queries</a:t>
            </a:r>
            <a:endParaRPr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Aggregate Queries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1" name="Google Shape;571;p82"/>
          <p:cNvSpPr txBox="1">
            <a:spLocks noGrp="1"/>
          </p:cNvSpPr>
          <p:nvPr>
            <p:ph type="body" idx="1"/>
          </p:nvPr>
        </p:nvSpPr>
        <p:spPr>
          <a:xfrm>
            <a:off x="323258" y="1151400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What is the level of detail of the result?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p.prod_name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p.prod_list_price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p.prod_category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p.prod_subcategory</a:t>
            </a:r>
            <a:endParaRPr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products p</a:t>
            </a:r>
            <a:endParaRPr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prod_category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prod_subcategory</a:t>
            </a:r>
            <a:r>
              <a:rPr lang="en-GB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2" name="Google Shape;572;p8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68</a:t>
            </a:fld>
            <a:endParaRPr/>
          </a:p>
        </p:txBody>
      </p:sp>
      <p:pic>
        <p:nvPicPr>
          <p:cNvPr id="573" name="Google Shape;57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236600"/>
            <a:ext cx="7862625" cy="185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Aggregate Queries</a:t>
            </a:r>
            <a:endParaRPr dirty="0"/>
          </a:p>
        </p:txBody>
      </p:sp>
      <p:sp>
        <p:nvSpPr>
          <p:cNvPr id="579" name="Google Shape;579;p8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How many rows does this return?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AVG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prod_list_price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products;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0" name="Google Shape;580;p8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69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Aggregate Queries</a:t>
            </a:r>
            <a:endParaRPr/>
          </a:p>
        </p:txBody>
      </p:sp>
      <p:sp>
        <p:nvSpPr>
          <p:cNvPr id="586" name="Google Shape;586;p8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How many rows does this return?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AVG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prod_list_price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products;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Much lower level of detail</a:t>
            </a:r>
            <a:endParaRPr dirty="0"/>
          </a:p>
        </p:txBody>
      </p:sp>
      <p:sp>
        <p:nvSpPr>
          <p:cNvPr id="587" name="Google Shape;587;p8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70</a:t>
            </a:fld>
            <a:endParaRPr/>
          </a:p>
        </p:txBody>
      </p:sp>
      <p:pic>
        <p:nvPicPr>
          <p:cNvPr id="588" name="Google Shape;58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100" y="3670039"/>
            <a:ext cx="3296025" cy="11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Aggregate Queries</a:t>
            </a:r>
            <a:endParaRPr dirty="0"/>
          </a:p>
        </p:txBody>
      </p:sp>
      <p:sp>
        <p:nvSpPr>
          <p:cNvPr id="594" name="Google Shape;594;p8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Pseudocode</a:t>
            </a:r>
            <a:endParaRPr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dirty="0"/>
              <a:t>Add up a running total of the value of </a:t>
            </a:r>
            <a:r>
              <a:rPr lang="en-GB" sz="2200" dirty="0" err="1">
                <a:latin typeface="Courier"/>
                <a:ea typeface="Courier"/>
                <a:cs typeface="Courier"/>
                <a:sym typeface="Courier"/>
              </a:rPr>
              <a:t>prod_list_price</a:t>
            </a:r>
            <a:r>
              <a:rPr lang="en-GB" sz="2200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2200" dirty="0"/>
              <a:t>in each row</a:t>
            </a:r>
            <a:endParaRPr sz="22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dirty="0"/>
              <a:t>Divide by the number of rows</a:t>
            </a:r>
            <a:endParaRPr sz="22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dirty="0"/>
              <a:t>Output the answer as a single row with a single column</a:t>
            </a:r>
            <a:endParaRPr sz="2200" dirty="0"/>
          </a:p>
        </p:txBody>
      </p:sp>
      <p:sp>
        <p:nvSpPr>
          <p:cNvPr id="595" name="Google Shape;595;p8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71</a:t>
            </a:fld>
            <a:endParaRPr/>
          </a:p>
        </p:txBody>
      </p:sp>
      <p:sp>
        <p:nvSpPr>
          <p:cNvPr id="596" name="Google Shape;596;p85"/>
          <p:cNvSpPr txBox="1"/>
          <p:nvPr/>
        </p:nvSpPr>
        <p:spPr>
          <a:xfrm>
            <a:off x="655700" y="1590875"/>
            <a:ext cx="68904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AVG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3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prod_list_price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3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products;</a:t>
            </a:r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Aggregate Queries</a:t>
            </a:r>
            <a:endParaRPr dirty="0"/>
          </a:p>
        </p:txBody>
      </p:sp>
      <p:sp>
        <p:nvSpPr>
          <p:cNvPr id="602" name="Google Shape;602;p8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SUM</a:t>
            </a:r>
            <a:r>
              <a:rPr lang="en-GB" dirty="0"/>
              <a:t>,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COUNT</a:t>
            </a:r>
            <a:r>
              <a:rPr lang="en-GB" dirty="0"/>
              <a:t>,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AVG</a:t>
            </a:r>
            <a:r>
              <a:rPr lang="en-GB" dirty="0"/>
              <a:t>,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STDDEV </a:t>
            </a:r>
            <a:r>
              <a:rPr lang="en-GB" dirty="0"/>
              <a:t>are </a:t>
            </a:r>
            <a:r>
              <a:rPr lang="en-GB" i="1" dirty="0"/>
              <a:t>aggregate functions</a:t>
            </a:r>
            <a:br>
              <a:rPr lang="en-GB" i="1" dirty="0"/>
            </a:br>
            <a:endParaRPr i="1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An aggregate function takes multiple numerical values as input and outputs a single numerical value</a:t>
            </a:r>
            <a:br>
              <a:rPr lang="en-GB" dirty="0"/>
            </a:b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In databases, multiple numerical values are supplied as multiple rows in a query</a:t>
            </a:r>
            <a:endParaRPr dirty="0"/>
          </a:p>
        </p:txBody>
      </p:sp>
      <p:sp>
        <p:nvSpPr>
          <p:cNvPr id="603" name="Google Shape;603;p8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72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Aggregate Queries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9" name="Google Shape;609;p8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What is the average list price for each sub-category of products?</a:t>
            </a:r>
            <a:br>
              <a:rPr lang="en-GB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What is the level of detail of the resulting query?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0" name="Google Shape;610;p8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73</a:t>
            </a:fld>
            <a:endParaRPr/>
          </a:p>
        </p:txBody>
      </p:sp>
      <p:pic>
        <p:nvPicPr>
          <p:cNvPr id="611" name="Google Shape;61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13" y="2588550"/>
            <a:ext cx="7862625" cy="185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Aggregate Queries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7" name="Google Shape;617;p8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Pseudocode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dirty="0"/>
              <a:t>For each row, check the value of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PROD_SUBCATEGORY</a:t>
            </a: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dirty="0"/>
              <a:t>Create a new bucket (a unit of storage) for each distinct value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dirty="0"/>
              <a:t>In each bucket, initialize a counter for average price at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0.00</a:t>
            </a: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dirty="0"/>
              <a:t>Add the value of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PROD_LIST_PRICE </a:t>
            </a:r>
            <a:r>
              <a:rPr lang="en-GB" dirty="0"/>
              <a:t>to its bucket’s counter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dirty="0"/>
              <a:t>For each bucket, divide the running total by the total number of rows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dirty="0"/>
              <a:t>Output one row for each bucket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dirty="0"/>
              <a:t>Level of detail is at the level of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PROD_SUBCATEGORY</a:t>
            </a: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8" name="Google Shape;618;p8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74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Aggregate Queries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4" name="Google Shape;624;p8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75</a:t>
            </a:fld>
            <a:endParaRPr/>
          </a:p>
        </p:txBody>
      </p:sp>
      <p:pic>
        <p:nvPicPr>
          <p:cNvPr id="625" name="Google Shape;62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63" y="1480463"/>
            <a:ext cx="8461874" cy="448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9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 By</a:t>
            </a:r>
            <a:endParaRPr dirty="0"/>
          </a:p>
        </p:txBody>
      </p:sp>
      <p:sp>
        <p:nvSpPr>
          <p:cNvPr id="631" name="Google Shape;631;p9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By default, using any aggregate query will reduce our output table to a single row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If we want to change the level of detail we need to tell the database how to create its buckets using the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GROUP BY </a:t>
            </a:r>
            <a:r>
              <a:rPr lang="en-GB" dirty="0"/>
              <a:t>statement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2" name="Google Shape;632;p9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76</a:t>
            </a:fld>
            <a:endParaRPr/>
          </a:p>
        </p:txBody>
      </p:sp>
      <p:sp>
        <p:nvSpPr>
          <p:cNvPr id="633" name="Google Shape;633;p90"/>
          <p:cNvSpPr txBox="1"/>
          <p:nvPr/>
        </p:nvSpPr>
        <p:spPr>
          <a:xfrm>
            <a:off x="1463040" y="4008326"/>
            <a:ext cx="59766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prord_subcategory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AVG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prod_list_price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products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prod_subcategory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prod_subcategory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9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 By</a:t>
            </a:r>
            <a:endParaRPr dirty="0"/>
          </a:p>
        </p:txBody>
      </p:sp>
      <p:sp>
        <p:nvSpPr>
          <p:cNvPr id="639" name="Google Shape;639;p9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77</a:t>
            </a:fld>
            <a:endParaRPr/>
          </a:p>
        </p:txBody>
      </p:sp>
      <p:sp>
        <p:nvSpPr>
          <p:cNvPr id="640" name="Google Shape;640;p91"/>
          <p:cNvSpPr txBox="1"/>
          <p:nvPr/>
        </p:nvSpPr>
        <p:spPr>
          <a:xfrm>
            <a:off x="295100" y="2221550"/>
            <a:ext cx="48339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prod_subcategory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AVG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prod_list_price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products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prod_subcategory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prod_subcategory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41" name="Google Shape;64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933" y="1063425"/>
            <a:ext cx="3700975" cy="498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9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 By</a:t>
            </a:r>
            <a:endParaRPr dirty="0"/>
          </a:p>
        </p:txBody>
      </p:sp>
      <p:sp>
        <p:nvSpPr>
          <p:cNvPr id="647" name="Google Shape;647;p9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78</a:t>
            </a:fld>
            <a:endParaRPr/>
          </a:p>
        </p:txBody>
      </p:sp>
      <p:sp>
        <p:nvSpPr>
          <p:cNvPr id="648" name="Google Shape;648;p92"/>
          <p:cNvSpPr txBox="1"/>
          <p:nvPr/>
        </p:nvSpPr>
        <p:spPr>
          <a:xfrm>
            <a:off x="386000" y="2729350"/>
            <a:ext cx="71697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cust_id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channel_id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(*) </a:t>
            </a:r>
            <a:r>
              <a:rPr lang="en-GB" sz="20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20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Txn</a:t>
            </a:r>
            <a:r>
              <a:rPr lang="en-GB" sz="20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 Count"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sales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cust_id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channel_id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cust_id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channel_id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9" name="Google Shape;649;p92"/>
          <p:cNvSpPr txBox="1">
            <a:spLocks noGrp="1"/>
          </p:cNvSpPr>
          <p:nvPr>
            <p:ph type="body" idx="1"/>
          </p:nvPr>
        </p:nvSpPr>
        <p:spPr>
          <a:xfrm>
            <a:off x="308850" y="1579626"/>
            <a:ext cx="8520600" cy="12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If we use multiple columns in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GROUP BY</a:t>
            </a:r>
            <a:r>
              <a:rPr lang="en-GB" dirty="0"/>
              <a:t> statement we get one row for each unique combination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50" name="Google Shape;65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6250" y="3972625"/>
            <a:ext cx="3619775" cy="230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9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By</a:t>
            </a:r>
            <a:endParaRPr/>
          </a:p>
        </p:txBody>
      </p:sp>
      <p:sp>
        <p:nvSpPr>
          <p:cNvPr id="656" name="Google Shape;656;p9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What is the problem?</a:t>
            </a:r>
            <a:endParaRPr dirty="0"/>
          </a:p>
        </p:txBody>
      </p:sp>
      <p:sp>
        <p:nvSpPr>
          <p:cNvPr id="657" name="Google Shape;657;p9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79</a:t>
            </a:fld>
            <a:endParaRPr/>
          </a:p>
        </p:txBody>
      </p:sp>
      <p:sp>
        <p:nvSpPr>
          <p:cNvPr id="658" name="Google Shape;658;p93"/>
          <p:cNvSpPr txBox="1"/>
          <p:nvPr/>
        </p:nvSpPr>
        <p:spPr>
          <a:xfrm>
            <a:off x="208050" y="2409750"/>
            <a:ext cx="89151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cust_id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channel_desc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(*) </a:t>
            </a:r>
            <a:r>
              <a:rPr lang="en-GB" sz="22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22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Txn</a:t>
            </a:r>
            <a:r>
              <a:rPr lang="en-GB" sz="22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 Count"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sales s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INNER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channels c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s.channel_id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c.channel_id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cust_id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channel_desc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 By</a:t>
            </a:r>
            <a:endParaRPr dirty="0"/>
          </a:p>
        </p:txBody>
      </p:sp>
      <p:sp>
        <p:nvSpPr>
          <p:cNvPr id="664" name="Google Shape;664;p9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What is the problem?</a:t>
            </a:r>
            <a:endParaRPr dirty="0"/>
          </a:p>
        </p:txBody>
      </p:sp>
      <p:sp>
        <p:nvSpPr>
          <p:cNvPr id="665" name="Google Shape;665;p9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80</a:t>
            </a:fld>
            <a:endParaRPr/>
          </a:p>
        </p:txBody>
      </p:sp>
      <p:sp>
        <p:nvSpPr>
          <p:cNvPr id="666" name="Google Shape;666;p94"/>
          <p:cNvSpPr txBox="1"/>
          <p:nvPr/>
        </p:nvSpPr>
        <p:spPr>
          <a:xfrm>
            <a:off x="208050" y="2409750"/>
            <a:ext cx="89151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cust_id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channel_desc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(*) </a:t>
            </a:r>
            <a:r>
              <a:rPr lang="en-GB" sz="22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22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Txn</a:t>
            </a:r>
            <a:r>
              <a:rPr lang="en-GB" sz="22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 Count"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sales s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INNER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channels c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s.channel_id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c.channel_id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cust_id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channel_desc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7" name="Google Shape;667;p94"/>
          <p:cNvSpPr txBox="1"/>
          <p:nvPr/>
        </p:nvSpPr>
        <p:spPr>
          <a:xfrm>
            <a:off x="311700" y="4769500"/>
            <a:ext cx="77604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ERROR: column "</a:t>
            </a:r>
            <a:r>
              <a:rPr lang="en-GB" sz="1700" dirty="0" err="1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c.channel_desc</a:t>
            </a:r>
            <a:r>
              <a:rPr lang="en-GB" sz="1700" dirty="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 must appear in the GROUP BY clause or be used in an aggregate function LINE 1: SELECT </a:t>
            </a:r>
            <a:r>
              <a:rPr lang="en-GB" sz="1700" dirty="0" err="1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cust_id</a:t>
            </a:r>
            <a:r>
              <a:rPr lang="en-GB" sz="1700" dirty="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700" dirty="0" err="1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channel_desc</a:t>
            </a:r>
            <a:r>
              <a:rPr lang="en-GB" sz="1700" dirty="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COUNT(*) "</a:t>
            </a:r>
            <a:r>
              <a:rPr lang="en-GB" sz="1700" dirty="0" err="1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Txn</a:t>
            </a:r>
            <a:r>
              <a:rPr lang="en-GB" sz="1700" dirty="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Count", SUM(</a:t>
            </a:r>
            <a:r>
              <a:rPr lang="en-GB" sz="1700" dirty="0" err="1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amou</a:t>
            </a:r>
            <a:r>
              <a:rPr lang="en-GB" sz="1700" dirty="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700" dirty="0">
              <a:solidFill>
                <a:srgbClr val="22222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22222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SQL state: 42803 </a:t>
            </a:r>
            <a:br>
              <a:rPr lang="en-GB" sz="1700" dirty="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700" dirty="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Character: 17Query returned successfully in 572 msec.</a:t>
            </a:r>
            <a:endParaRPr sz="2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Group By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3" name="Google Shape;673;p9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If you use any aggregate functions in your query then every column you select must</a:t>
            </a:r>
            <a:endParaRPr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u="sng" dirty="0"/>
              <a:t>Be an aggregate function or</a:t>
            </a:r>
            <a:endParaRPr sz="2200" u="sng"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u="sng" dirty="0"/>
              <a:t>Appear in the GROUP BY clause</a:t>
            </a:r>
            <a:endParaRPr sz="2200" u="sng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This ensures that the granularity of your query is compatible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4" name="Google Shape;674;p9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81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9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Group By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0" name="Google Shape;680;p9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82</a:t>
            </a:fld>
            <a:endParaRPr/>
          </a:p>
        </p:txBody>
      </p:sp>
      <p:sp>
        <p:nvSpPr>
          <p:cNvPr id="681" name="Google Shape;681;p96"/>
          <p:cNvSpPr txBox="1"/>
          <p:nvPr/>
        </p:nvSpPr>
        <p:spPr>
          <a:xfrm>
            <a:off x="235500" y="1424350"/>
            <a:ext cx="99861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cu.cust_id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Sales s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INNER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Customers cu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s.cust_id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cu.cust_id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INNER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Countries co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cu.country_id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co.country_id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co.country_name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20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'Canada'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cu.cust_id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2000" dirty="0" err="1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82" name="Google Shape;68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775" y="3223050"/>
            <a:ext cx="2875300" cy="32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Order of Execution</a:t>
            </a:r>
            <a:endParaRPr dirty="0"/>
          </a:p>
        </p:txBody>
      </p:sp>
      <p:sp>
        <p:nvSpPr>
          <p:cNvPr id="688" name="Google Shape;688;p97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6842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SQL engine applies any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WHERE </a:t>
            </a:r>
            <a:r>
              <a:rPr lang="en-GB" dirty="0"/>
              <a:t>clauses before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GROUP BY</a:t>
            </a:r>
            <a:r>
              <a:rPr lang="en-GB" dirty="0"/>
              <a:t> clauses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When we apply the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WHERE </a:t>
            </a:r>
            <a:r>
              <a:rPr lang="en-GB" dirty="0"/>
              <a:t>clause, none of the aggregate functions have yet been calculated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How do we deal with this?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9" name="Google Shape;689;p9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83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Order of Execution</a:t>
            </a:r>
            <a:endParaRPr dirty="0"/>
          </a:p>
        </p:txBody>
      </p:sp>
      <p:sp>
        <p:nvSpPr>
          <p:cNvPr id="695" name="Google Shape;695;p98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213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4734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The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WHERE </a:t>
            </a:r>
            <a:r>
              <a:rPr lang="en-GB" dirty="0"/>
              <a:t>clause lets us filter out rows before our aggregate</a:t>
            </a:r>
            <a:endParaRPr dirty="0"/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 are calculated</a:t>
            </a:r>
            <a:endParaRPr dirty="0"/>
          </a:p>
          <a:p>
            <a:pPr marL="457200" lvl="0" indent="-34734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The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HAVING </a:t>
            </a:r>
            <a:r>
              <a:rPr lang="en-GB" dirty="0"/>
              <a:t>clause lets us filter out rows after our aggregate</a:t>
            </a:r>
            <a:endParaRPr dirty="0"/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 are calculated</a:t>
            </a:r>
            <a:endParaRPr dirty="0"/>
          </a:p>
          <a:p>
            <a:pPr marL="457200" lvl="0" indent="-34734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We can filter on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MAX</a:t>
            </a:r>
            <a:r>
              <a:rPr lang="en-GB" dirty="0"/>
              <a:t>,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MIN</a:t>
            </a:r>
            <a:r>
              <a:rPr lang="en-GB" dirty="0"/>
              <a:t>,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AVG</a:t>
            </a:r>
            <a:r>
              <a:rPr lang="en-GB" dirty="0"/>
              <a:t>,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etc, using a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HAVING </a:t>
            </a:r>
            <a:r>
              <a:rPr lang="en-GB" dirty="0"/>
              <a:t>clause</a:t>
            </a:r>
            <a:endParaRPr dirty="0"/>
          </a:p>
          <a:p>
            <a:pPr marL="457200" lvl="0" indent="-34734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We can prevent rows from being counted in our aggregate functions using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WHERE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6" name="Google Shape;696;p9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84</a:t>
            </a:fld>
            <a:endParaRPr/>
          </a:p>
        </p:txBody>
      </p:sp>
      <p:pic>
        <p:nvPicPr>
          <p:cNvPr id="697" name="Google Shape;69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4663" y="242200"/>
            <a:ext cx="2028825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HAVING clause</a:t>
            </a:r>
            <a:endParaRPr dirty="0"/>
          </a:p>
        </p:txBody>
      </p:sp>
      <p:sp>
        <p:nvSpPr>
          <p:cNvPr id="703" name="Google Shape;703;p99"/>
          <p:cNvSpPr txBox="1">
            <a:spLocks noGrp="1"/>
          </p:cNvSpPr>
          <p:nvPr>
            <p:ph type="body" idx="1"/>
          </p:nvPr>
        </p:nvSpPr>
        <p:spPr>
          <a:xfrm>
            <a:off x="235500" y="1536625"/>
            <a:ext cx="89541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cu.cust_id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Sales s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INNER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Customers cu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s.cust_id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cu.cust_id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INNER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Countries co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cu.country_id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co.country_id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co.country_name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20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'Canada'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cu.cust_id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HAVING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&gt;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10000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0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2000" dirty="0" err="1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-GB" sz="20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0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704" name="Google Shape;704;p9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85</a:t>
            </a:fld>
            <a:endParaRPr/>
          </a:p>
        </p:txBody>
      </p:sp>
      <p:pic>
        <p:nvPicPr>
          <p:cNvPr id="705" name="Google Shape;70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600" y="4873997"/>
            <a:ext cx="3330400" cy="14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0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Grouping by Date</a:t>
            </a:r>
            <a:endParaRPr dirty="0"/>
          </a:p>
        </p:txBody>
      </p:sp>
      <p:sp>
        <p:nvSpPr>
          <p:cNvPr id="711" name="Google Shape;711;p10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Date column types are very flexible for grouping results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We can summarise results over years, months, days, or even minutes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We can use the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EXTRACT </a:t>
            </a:r>
            <a:r>
              <a:rPr lang="en-GB" dirty="0"/>
              <a:t>function to extract the part of the date we are interested in.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2" name="Google Shape;712;p10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86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0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Grouping by Date</a:t>
            </a:r>
            <a:endParaRPr dirty="0"/>
          </a:p>
        </p:txBody>
      </p:sp>
      <p:sp>
        <p:nvSpPr>
          <p:cNvPr id="718" name="Google Shape;718;p10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87</a:t>
            </a:fld>
            <a:endParaRPr/>
          </a:p>
        </p:txBody>
      </p:sp>
      <p:sp>
        <p:nvSpPr>
          <p:cNvPr id="719" name="Google Shape;719;p101"/>
          <p:cNvSpPr txBox="1"/>
          <p:nvPr/>
        </p:nvSpPr>
        <p:spPr>
          <a:xfrm>
            <a:off x="470975" y="1819100"/>
            <a:ext cx="7782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quantity_sold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sales;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20" name="Google Shape;72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081" y="2968558"/>
            <a:ext cx="4347325" cy="329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0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Grouping by Date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6" name="Google Shape;726;p10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88</a:t>
            </a:fld>
            <a:endParaRPr/>
          </a:p>
        </p:txBody>
      </p:sp>
      <p:sp>
        <p:nvSpPr>
          <p:cNvPr id="727" name="Google Shape;727;p102"/>
          <p:cNvSpPr txBox="1"/>
          <p:nvPr/>
        </p:nvSpPr>
        <p:spPr>
          <a:xfrm>
            <a:off x="640658" y="1816621"/>
            <a:ext cx="79116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2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quantity_sold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sales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2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28" name="Google Shape;72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25" y="3767859"/>
            <a:ext cx="3971125" cy="19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0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Grouping by Date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4" name="Google Shape;734;p10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89</a:t>
            </a:fld>
            <a:endParaRPr/>
          </a:p>
        </p:txBody>
      </p:sp>
      <p:sp>
        <p:nvSpPr>
          <p:cNvPr id="735" name="Google Shape;735;p103"/>
          <p:cNvSpPr txBox="1"/>
          <p:nvPr/>
        </p:nvSpPr>
        <p:spPr>
          <a:xfrm>
            <a:off x="311700" y="1588025"/>
            <a:ext cx="88323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1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month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1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</a:t>
            </a: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1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quantity_sold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</a:t>
            </a: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1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1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sales</a:t>
            </a:r>
            <a:endParaRPr sz="21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21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month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1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1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21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1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36" name="Google Shape;736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5675" y="3350700"/>
            <a:ext cx="3927450" cy="331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0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Grouping by Date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2" name="Google Shape;742;p10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90</a:t>
            </a:fld>
            <a:endParaRPr/>
          </a:p>
        </p:txBody>
      </p:sp>
      <p:sp>
        <p:nvSpPr>
          <p:cNvPr id="743" name="Google Shape;743;p104"/>
          <p:cNvSpPr txBox="1"/>
          <p:nvPr/>
        </p:nvSpPr>
        <p:spPr>
          <a:xfrm>
            <a:off x="-109350" y="1477675"/>
            <a:ext cx="9362700" cy="24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(year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18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"year"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(month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18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"month"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quantity_sold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amount_sold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sales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(year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(month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(year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EXTRACT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(month </a:t>
            </a:r>
            <a:r>
              <a:rPr lang="en-GB" sz="18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time_id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44" name="Google Shape;74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950" y="3643650"/>
            <a:ext cx="3875625" cy="3146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0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sp>
        <p:nvSpPr>
          <p:cNvPr id="750" name="Google Shape;750;p10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This has been a quick tour of SQL.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Comparison with R/Python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CRUD operations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Many to many relationships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Aggregate queries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Those completely new to it will need to do quite a bit more study.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 err="1"/>
              <a:t>DataCamp</a:t>
            </a:r>
            <a:r>
              <a:rPr lang="en-GB" dirty="0"/>
              <a:t> has an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introduction to </a:t>
            </a:r>
            <a:r>
              <a:rPr lang="en-GB" u="sng" dirty="0" err="1">
                <a:solidFill>
                  <a:schemeClr val="hlink"/>
                </a:solidFill>
                <a:hlinkClick r:id="rId3"/>
              </a:rPr>
              <a:t>sql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 for data science</a:t>
            </a:r>
            <a:endParaRPr dirty="0"/>
          </a:p>
        </p:txBody>
      </p:sp>
      <p:sp>
        <p:nvSpPr>
          <p:cNvPr id="751" name="Google Shape;751;p10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91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Lab</a:t>
            </a:r>
            <a:endParaRPr dirty="0"/>
          </a:p>
        </p:txBody>
      </p:sp>
      <p:sp>
        <p:nvSpPr>
          <p:cNvPr id="757" name="Google Shape;757;p106"/>
          <p:cNvSpPr txBox="1">
            <a:spLocks noGrp="1"/>
          </p:cNvSpPr>
          <p:nvPr>
            <p:ph type="body" idx="1"/>
          </p:nvPr>
        </p:nvSpPr>
        <p:spPr>
          <a:xfrm>
            <a:off x="311700" y="1450325"/>
            <a:ext cx="8520600" cy="4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473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Complete the SQL Island game for a fun 😁 review of SQL</a:t>
            </a:r>
            <a:br>
              <a:rPr lang="en-GB" dirty="0"/>
            </a:br>
            <a:r>
              <a:rPr lang="en-GB" dirty="0"/>
              <a:t>in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SQL Island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you don’t speak German,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      change the language 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      “</a:t>
            </a:r>
            <a:r>
              <a:rPr lang="en-GB" dirty="0" err="1"/>
              <a:t>Sprache</a:t>
            </a:r>
            <a:r>
              <a:rPr lang="en-GB" dirty="0"/>
              <a:t> </a:t>
            </a:r>
            <a:r>
              <a:rPr lang="en-GB" dirty="0" err="1"/>
              <a:t>wechseln</a:t>
            </a:r>
            <a:r>
              <a:rPr lang="en-GB" dirty="0"/>
              <a:t>”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73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Please complete the other not so fun lab on Brightspace to review/practice SQL concepts.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8" name="Google Shape;758;p10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92</a:t>
            </a:fld>
            <a:endParaRPr/>
          </a:p>
        </p:txBody>
      </p:sp>
      <p:pic>
        <p:nvPicPr>
          <p:cNvPr id="759" name="Google Shape;759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4200" y="2403426"/>
            <a:ext cx="1980225" cy="218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7"/>
          <p:cNvSpPr txBox="1">
            <a:spLocks noGrp="1"/>
          </p:cNvSpPr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 dirty="0"/>
              <a:t>Questions?</a:t>
            </a:r>
            <a:endParaRPr dirty="0"/>
          </a:p>
        </p:txBody>
      </p:sp>
      <p:sp>
        <p:nvSpPr>
          <p:cNvPr id="765" name="Google Shape;765;p10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93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4121</Words>
  <Application>Microsoft Office PowerPoint</Application>
  <PresentationFormat>On-screen Show (4:3)</PresentationFormat>
  <Paragraphs>840</Paragraphs>
  <Slides>93</Slides>
  <Notes>93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0" baseType="lpstr">
      <vt:lpstr>Arial</vt:lpstr>
      <vt:lpstr>Book Antiqua</vt:lpstr>
      <vt:lpstr>Century Gothic</vt:lpstr>
      <vt:lpstr>Consolas</vt:lpstr>
      <vt:lpstr>Courier</vt:lpstr>
      <vt:lpstr>Roboto Mono</vt:lpstr>
      <vt:lpstr>Simple Light</vt:lpstr>
      <vt:lpstr>Working With Data DATA9910 Week 4</vt:lpstr>
      <vt:lpstr>Indicative schedule</vt:lpstr>
      <vt:lpstr>Overview</vt:lpstr>
      <vt:lpstr>PostgreSQL set up</vt:lpstr>
      <vt:lpstr>SQL Databases and R DataFrames</vt:lpstr>
      <vt:lpstr>SQL Databases and R DataFrames  </vt:lpstr>
      <vt:lpstr>ERD</vt:lpstr>
      <vt:lpstr>Different types of ERD</vt:lpstr>
      <vt:lpstr>Why Structured?</vt:lpstr>
      <vt:lpstr>Flavours of SQL</vt:lpstr>
      <vt:lpstr>Data Types</vt:lpstr>
      <vt:lpstr>SQL Number</vt:lpstr>
      <vt:lpstr>SQL Number</vt:lpstr>
      <vt:lpstr>SQL Number</vt:lpstr>
      <vt:lpstr>VARCHAR</vt:lpstr>
      <vt:lpstr>DATE</vt:lpstr>
      <vt:lpstr>NULL</vt:lpstr>
      <vt:lpstr>Primary Key</vt:lpstr>
      <vt:lpstr>Primary Key</vt:lpstr>
      <vt:lpstr>Selecting Data </vt:lpstr>
      <vt:lpstr>Selecting and Ordering Data  </vt:lpstr>
      <vt:lpstr>Filtering Data</vt:lpstr>
      <vt:lpstr>Filtering Data</vt:lpstr>
      <vt:lpstr>Filtering Data</vt:lpstr>
      <vt:lpstr>Inserting Data</vt:lpstr>
      <vt:lpstr>Updating Data</vt:lpstr>
      <vt:lpstr>Deleting Data</vt:lpstr>
      <vt:lpstr>Dropping Tables</vt:lpstr>
      <vt:lpstr>Altering Tables</vt:lpstr>
      <vt:lpstr>Foreign Key</vt:lpstr>
      <vt:lpstr>Creating Tables</vt:lpstr>
      <vt:lpstr>Creating Tables</vt:lpstr>
      <vt:lpstr>Creating Tables</vt:lpstr>
      <vt:lpstr>Creating Tables</vt:lpstr>
      <vt:lpstr>Creating Tables</vt:lpstr>
      <vt:lpstr>Creating Tables</vt:lpstr>
      <vt:lpstr>Creating Tables</vt:lpstr>
      <vt:lpstr>Creating Tables</vt:lpstr>
      <vt:lpstr>Creating Tables</vt:lpstr>
      <vt:lpstr>Creating tables</vt:lpstr>
      <vt:lpstr>Creating tables</vt:lpstr>
      <vt:lpstr>Relationships</vt:lpstr>
      <vt:lpstr>Relationships</vt:lpstr>
      <vt:lpstr>Relationships</vt:lpstr>
      <vt:lpstr>Relationships</vt:lpstr>
      <vt:lpstr>Relationships</vt:lpstr>
      <vt:lpstr>Relationships  </vt:lpstr>
      <vt:lpstr>Relationships  </vt:lpstr>
      <vt:lpstr>Relationships  </vt:lpstr>
      <vt:lpstr>Relationships  </vt:lpstr>
      <vt:lpstr>Foreign Keys</vt:lpstr>
      <vt:lpstr>Foreign Keys</vt:lpstr>
      <vt:lpstr>Foreign Keys</vt:lpstr>
      <vt:lpstr>Foreign Key</vt:lpstr>
      <vt:lpstr>Foreign Key</vt:lpstr>
      <vt:lpstr>Foreign Key</vt:lpstr>
      <vt:lpstr>Foreign Key </vt:lpstr>
      <vt:lpstr>Joining Tables</vt:lpstr>
      <vt:lpstr>Toy Example</vt:lpstr>
      <vt:lpstr>Left Join</vt:lpstr>
      <vt:lpstr>Inner Join</vt:lpstr>
      <vt:lpstr>Semi-Join</vt:lpstr>
      <vt:lpstr>Semi-Join</vt:lpstr>
      <vt:lpstr>Anti-Join</vt:lpstr>
      <vt:lpstr>Anti-Join</vt:lpstr>
      <vt:lpstr>All joins cheat sheet</vt:lpstr>
      <vt:lpstr>Aggregate Queries</vt:lpstr>
      <vt:lpstr>Aggregate Queries  </vt:lpstr>
      <vt:lpstr>Aggregate Queries</vt:lpstr>
      <vt:lpstr>Aggregate Queries</vt:lpstr>
      <vt:lpstr>Aggregate Queries</vt:lpstr>
      <vt:lpstr>Aggregate Queries</vt:lpstr>
      <vt:lpstr>Aggregate Queries  </vt:lpstr>
      <vt:lpstr>Aggregate Queries   </vt:lpstr>
      <vt:lpstr>Aggregate Queries    </vt:lpstr>
      <vt:lpstr>Group By</vt:lpstr>
      <vt:lpstr>Group By</vt:lpstr>
      <vt:lpstr>Group By</vt:lpstr>
      <vt:lpstr>Group By</vt:lpstr>
      <vt:lpstr>Group By</vt:lpstr>
      <vt:lpstr>Group By </vt:lpstr>
      <vt:lpstr>Group By  </vt:lpstr>
      <vt:lpstr>Order of Execution</vt:lpstr>
      <vt:lpstr>Order of Execution</vt:lpstr>
      <vt:lpstr>The HAVING clause</vt:lpstr>
      <vt:lpstr>Grouping by Date</vt:lpstr>
      <vt:lpstr>Grouping by Date</vt:lpstr>
      <vt:lpstr>Grouping by Date  </vt:lpstr>
      <vt:lpstr>Grouping by Date  </vt:lpstr>
      <vt:lpstr>Grouping by Date  </vt:lpstr>
      <vt:lpstr>Summary</vt:lpstr>
      <vt:lpstr>Lab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Eamonn Kelly</cp:lastModifiedBy>
  <cp:revision>3</cp:revision>
  <dcterms:modified xsi:type="dcterms:W3CDTF">2025-10-10T16:48:41Z</dcterms:modified>
</cp:coreProperties>
</file>