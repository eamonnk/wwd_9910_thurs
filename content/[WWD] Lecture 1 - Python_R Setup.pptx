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w5Q4i0Rros3LXqMS0DoUBXKWi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19cd3dd8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19cd3dd8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94c38686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94c38686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94c38686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94c38686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94c38686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94c38686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594c38686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594c38686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94c38686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594c38686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94c38686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2594c38686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94c38686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2594c386864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9cd3dd8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9cd3dd8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94c38686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94c38686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>
            <a:spLocks noGrp="1"/>
          </p:cNvSpPr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subTitle" idx="1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ldNum" idx="12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0"/>
          <p:cNvSpPr txBox="1">
            <a:spLocks noGrp="1"/>
          </p:cNvSpPr>
          <p:nvPr>
            <p:ph type="subTitle" idx="2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7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9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anaconda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p.pypa.io/en/stable/installati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python/python_pip.as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conda.io/projects/conda/en/4.6.0/_downloads/52a95608c49671267e40c689e0bc00ca/conda-cheatsheet.pdf" TargetMode="External"/><Relationship Id="rId5" Type="http://schemas.openxmlformats.org/officeDocument/2006/relationships/hyperlink" Target="https://docs.anaconda.com/free/anacondaorg/user-guide/getting-started/#cloud-getting-started" TargetMode="External"/><Relationship Id="rId4" Type="http://schemas.openxmlformats.org/officeDocument/2006/relationships/hyperlink" Target="https://docs.anaconda.com/anaconda/install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datascience/jupyter-notebook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m-p/markdown-here/wiki/Markdown-Cheatshee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-project.or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1</a:t>
            </a:r>
            <a:endParaRPr/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>
            <a:spLocks noGrp="1"/>
          </p:cNvSpPr>
          <p:nvPr>
            <p:ph type="subTitle" idx="2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Installing Python</a:t>
            </a:r>
            <a:endParaRPr/>
          </a:p>
        </p:txBody>
      </p:sp>
      <p:sp>
        <p:nvSpPr>
          <p:cNvPr id="69" name="Google Shape;69;p3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84663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There are lots of ways to install Python. I recommend the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official installer</a:t>
            </a:r>
            <a:r>
              <a:rPr lang="en-GB" sz="1700"/>
              <a:t> or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Anaconda</a:t>
            </a:r>
            <a:r>
              <a:rPr lang="en-GB" sz="1700"/>
              <a:t>.</a:t>
            </a:r>
            <a:endParaRPr sz="17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If you already have Python installed check your version by opening a terminal and running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"/>
              <a:buChar char="○"/>
            </a:pPr>
            <a:r>
              <a:rPr lang="en-GB" sz="1700">
                <a:latin typeface="Courier"/>
                <a:ea typeface="Courier"/>
                <a:cs typeface="Courier"/>
                <a:sym typeface="Courier"/>
              </a:rPr>
              <a:t>&gt;&gt;python --version</a:t>
            </a:r>
            <a:endParaRPr sz="1700"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It should show something starting with 3</a:t>
            </a:r>
            <a:endParaRPr sz="17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0" name="Google Shape;70;p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63925" y="3860675"/>
            <a:ext cx="4421524" cy="25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Installing on Windows</a:t>
            </a:r>
            <a:endParaRPr/>
          </a:p>
        </p:txBody>
      </p:sp>
      <p:sp>
        <p:nvSpPr>
          <p:cNvPr id="77" name="Google Shape;77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Download Python from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https://www.python.org/downloads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Make sure you check the option to Add Python to your PATH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Once the installation is</a:t>
            </a:r>
            <a:br>
              <a:rPr lang="en-GB"/>
            </a:br>
            <a:r>
              <a:rPr lang="en-GB"/>
              <a:t>complete, open up a </a:t>
            </a:r>
            <a:br>
              <a:rPr lang="en-GB"/>
            </a:br>
            <a:r>
              <a:rPr lang="en-GB"/>
              <a:t>terminal and check </a:t>
            </a:r>
            <a:br>
              <a:rPr lang="en-GB"/>
            </a:br>
            <a:r>
              <a:rPr lang="en-GB"/>
              <a:t>your version as </a:t>
            </a:r>
            <a:br>
              <a:rPr lang="en-GB"/>
            </a:br>
            <a:r>
              <a:rPr lang="en-GB"/>
              <a:t>shown previously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endParaRPr/>
          </a:p>
        </p:txBody>
      </p:sp>
      <p:sp>
        <p:nvSpPr>
          <p:cNvPr id="78" name="Google Shape;78;p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pic>
        <p:nvPicPr>
          <p:cNvPr id="79" name="Google Shape;7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0100" y="2777350"/>
            <a:ext cx="4776601" cy="29315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5621000" y="5402275"/>
            <a:ext cx="1346400" cy="260700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5062100" y="2723475"/>
            <a:ext cx="558900" cy="2819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Installing on Mac / Ubuntu	</a:t>
            </a:r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Newer versions of MacOS ship with Python 3 by default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you’re running MacOS and don’t have python head to the downloads page on the official website to install it</a:t>
            </a:r>
            <a:endParaRPr/>
          </a:p>
          <a:p>
            <a:pPr marL="13716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https://www.python.org/downloads/</a:t>
            </a:r>
            <a:br>
              <a:rPr lang="en-GB"/>
            </a:b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 3 can be installed on Ubuntu using apt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&gt;&gt;sudo apt install python3.11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PIP</a:t>
            </a:r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PIP is a package manager for Python packages, or modules if you like.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If you have Python version 3.4 or later, PIP is included by default.</a:t>
            </a:r>
            <a:br>
              <a:rPr lang="en-GB" sz="1700"/>
            </a:b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 package contains all the files you need for a module.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Modules are Python code libraries you can include in your project.</a:t>
            </a:r>
            <a:br>
              <a:rPr lang="en-GB" sz="1700"/>
            </a:b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Check if PIP is Installed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"/>
              <a:buChar char="○"/>
            </a:pPr>
            <a:r>
              <a:rPr lang="en-GB" sz="1700">
                <a:latin typeface="Courier"/>
                <a:ea typeface="Courier"/>
                <a:cs typeface="Courier"/>
                <a:sym typeface="Courier"/>
              </a:rPr>
              <a:t>&gt;&gt;pip --version</a:t>
            </a:r>
            <a:br>
              <a:rPr lang="en-GB" sz="1700">
                <a:latin typeface="Courier"/>
                <a:ea typeface="Courier"/>
                <a:cs typeface="Courier"/>
                <a:sym typeface="Courier"/>
              </a:rPr>
            </a:br>
            <a:endParaRPr sz="1700"/>
          </a:p>
        </p:txBody>
      </p:sp>
      <p:sp>
        <p:nvSpPr>
          <p:cNvPr id="95" name="Google Shape;95;p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2"/>
          </p:nvPr>
        </p:nvSpPr>
        <p:spPr>
          <a:xfrm>
            <a:off x="4393450" y="1536625"/>
            <a:ext cx="44154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If you don’t have it, follow this guide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https://pip.pypa.io/en/stable/installation/</a:t>
            </a:r>
            <a:br>
              <a:rPr lang="en-GB" sz="1700"/>
            </a:b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To install a Python package open a terminal and run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"/>
              <a:buChar char="○"/>
            </a:pPr>
            <a:r>
              <a:rPr lang="en-GB" sz="1700">
                <a:latin typeface="Courier"/>
                <a:ea typeface="Courier"/>
                <a:cs typeface="Courier"/>
                <a:sym typeface="Courier"/>
              </a:rPr>
              <a:t>&gt;&gt;pip install &lt;package name&gt;</a:t>
            </a:r>
            <a:br>
              <a:rPr lang="en-GB" sz="1700">
                <a:latin typeface="Courier"/>
                <a:ea typeface="Courier"/>
                <a:cs typeface="Courier"/>
                <a:sym typeface="Courier"/>
              </a:rPr>
            </a:br>
            <a:endParaRPr sz="17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For example, to install numpy you would run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>
                <a:latin typeface="Courier New"/>
                <a:ea typeface="Courier New"/>
                <a:cs typeface="Courier New"/>
                <a:sym typeface="Courier New"/>
              </a:rPr>
              <a:t>&gt;&gt;pip install numpy</a:t>
            </a:r>
            <a:br>
              <a:rPr lang="en-GB" sz="1700"/>
            </a:b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More info commands using PIP here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u="sng">
                <a:solidFill>
                  <a:schemeClr val="hlink"/>
                </a:solidFill>
                <a:hlinkClick r:id="rId4"/>
              </a:rPr>
              <a:t>https://www.w3schools.com/python/python_pip.asp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19cd3dd81_0_11"/>
          <p:cNvSpPr txBox="1">
            <a:spLocks noGrp="1"/>
          </p:cNvSpPr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Notebooks</a:t>
            </a:r>
            <a:endParaRPr/>
          </a:p>
        </p:txBody>
      </p:sp>
      <p:sp>
        <p:nvSpPr>
          <p:cNvPr id="102" name="Google Shape;102;g2f19cd3dd81_0_1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103" name="Google Shape;103;g2f19cd3dd81_0_1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2f19cd3dd81_0_11"/>
          <p:cNvSpPr txBox="1">
            <a:spLocks noGrp="1"/>
          </p:cNvSpPr>
          <p:nvPr>
            <p:ph type="body" idx="1"/>
          </p:nvPr>
        </p:nvSpPr>
        <p:spPr>
          <a:xfrm>
            <a:off x="230300" y="850600"/>
            <a:ext cx="5355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GB" sz="1750"/>
              <a:t>Notebooks are interactive documents that allow you to combine code, text, and multimedia elements into a single file.</a:t>
            </a:r>
            <a:br>
              <a:rPr lang="en-GB" sz="1750"/>
            </a:br>
            <a:endParaRPr sz="1750"/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GB" sz="1750"/>
              <a:t>It makes commenting your code much easier and allows you to interactively edit the code and run it from your web browser (if you want)</a:t>
            </a:r>
            <a:br>
              <a:rPr lang="en-GB" sz="1750"/>
            </a:br>
            <a:endParaRPr sz="1750"/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GB" sz="1750"/>
              <a:t>In this course we </a:t>
            </a:r>
            <a:r>
              <a:rPr lang="en-GB" sz="1750" b="1"/>
              <a:t>will be using them for basically everything</a:t>
            </a:r>
            <a:r>
              <a:rPr lang="en-GB" sz="1750"/>
              <a:t> (studying, assignments, labs, etc.)</a:t>
            </a:r>
            <a:br>
              <a:rPr lang="en-GB" sz="1750"/>
            </a:br>
            <a:endParaRPr sz="1750"/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GB" sz="1750"/>
              <a:t>We will be using two types of notebooks:</a:t>
            </a:r>
            <a:endParaRPr sz="1750"/>
          </a:p>
          <a:p>
            <a:pPr marL="914400" lvl="1" indent="-339725" algn="l" rtl="0">
              <a:spcBef>
                <a:spcPts val="0"/>
              </a:spcBef>
              <a:spcAft>
                <a:spcPts val="0"/>
              </a:spcAft>
              <a:buSzPts val="1750"/>
              <a:buChar char="○"/>
            </a:pPr>
            <a:r>
              <a:rPr lang="en-GB" sz="1750"/>
              <a:t>Jupyter Notebooks (</a:t>
            </a:r>
            <a:r>
              <a:rPr lang="en-GB" sz="1750" b="1"/>
              <a:t>.ipynb</a:t>
            </a:r>
            <a:r>
              <a:rPr lang="en-GB" sz="1750"/>
              <a:t> file extensions) that can handle Python and R kernels.</a:t>
            </a:r>
            <a:br>
              <a:rPr lang="en-GB" sz="1750"/>
            </a:br>
            <a:endParaRPr sz="1750"/>
          </a:p>
          <a:p>
            <a:pPr marL="914400" lvl="1" indent="-339725" algn="l" rtl="0">
              <a:spcBef>
                <a:spcPts val="0"/>
              </a:spcBef>
              <a:spcAft>
                <a:spcPts val="0"/>
              </a:spcAft>
              <a:buSzPts val="1750"/>
              <a:buChar char="○"/>
            </a:pPr>
            <a:r>
              <a:rPr lang="en-GB" sz="1750"/>
              <a:t>R Markdown notebooks (</a:t>
            </a:r>
            <a:r>
              <a:rPr lang="en-GB" sz="1750" b="1"/>
              <a:t>.rmd</a:t>
            </a:r>
            <a:r>
              <a:rPr lang="en-GB" sz="1750"/>
              <a:t> file extension) that can only handle R kernel.</a:t>
            </a:r>
            <a:endParaRPr sz="17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sz="1285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5"/>
              <a:buNone/>
            </a:pPr>
            <a:endParaRPr sz="1285"/>
          </a:p>
        </p:txBody>
      </p:sp>
      <p:pic>
        <p:nvPicPr>
          <p:cNvPr id="105" name="Google Shape;105;g2f19cd3dd81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600" y="201024"/>
            <a:ext cx="3412424" cy="3500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f19cd3dd81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2300" y="3863150"/>
            <a:ext cx="2770875" cy="2753375"/>
          </a:xfrm>
          <a:prstGeom prst="rect">
            <a:avLst/>
          </a:prstGeom>
          <a:noFill/>
          <a:ln>
            <a:noFill/>
          </a:ln>
          <a:effectLst>
            <a:outerShdw blurRad="57150" dist="209550" dir="3000000" algn="bl" rotWithShape="0">
              <a:srgbClr val="000000">
                <a:alpha val="17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Installing Jupyter	</a:t>
            </a:r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Jupyter Notebook is a software that lets you combine text markdown with Python/R code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025" y="2623375"/>
            <a:ext cx="7427625" cy="35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Installing Jupyter</a:t>
            </a:r>
            <a:endParaRPr/>
          </a:p>
        </p:txBody>
      </p:sp>
      <p:sp>
        <p:nvSpPr>
          <p:cNvPr id="120" name="Google Shape;120;p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install Jupyter using pip (but the module is actually called notebook)</a:t>
            </a:r>
            <a:br>
              <a:rPr lang="en-GB"/>
            </a:br>
            <a:br>
              <a:rPr lang="en-GB"/>
            </a:b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125" y="2728298"/>
            <a:ext cx="7525751" cy="25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94c386864_0_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Installing Jupyter with Anaconda</a:t>
            </a:r>
            <a:endParaRPr/>
          </a:p>
        </p:txBody>
      </p:sp>
      <p:sp>
        <p:nvSpPr>
          <p:cNvPr id="128" name="Google Shape;128;g2594c386864_0_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You can use Anaconda to help you manage Python open-source packages.</a:t>
            </a:r>
            <a:br>
              <a:rPr lang="en-GB"/>
            </a:br>
            <a:endParaRPr/>
          </a:p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Anaconda is a Python/R data science distribution that contains conda, a package and environment manager, which helps you manage open-source packages available to them.</a:t>
            </a:r>
            <a:br>
              <a:rPr lang="en-GB"/>
            </a:br>
            <a:endParaRPr/>
          </a:p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It is good if you want to manage several Python/R environments, with different versions and packages. It also gives you a better interface to handle your packages.</a:t>
            </a:r>
            <a:br>
              <a:rPr lang="en-GB"/>
            </a:br>
            <a:endParaRPr/>
          </a:p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main issues are that it can be </a:t>
            </a:r>
            <a:r>
              <a:rPr lang="en-GB" b="1"/>
              <a:t>very slow </a:t>
            </a:r>
            <a:r>
              <a:rPr lang="en-GB"/>
              <a:t>when updating and installing packages and R packages might be harder to find.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594c386864_0_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pic>
        <p:nvPicPr>
          <p:cNvPr id="130" name="Google Shape;130;g2594c386864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450" y="446763"/>
            <a:ext cx="867451" cy="9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94c386864_0_1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Anaconda</a:t>
            </a:r>
            <a:endParaRPr/>
          </a:p>
        </p:txBody>
      </p:sp>
      <p:sp>
        <p:nvSpPr>
          <p:cNvPr id="136" name="Google Shape;136;g2594c386864_0_1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pic>
        <p:nvPicPr>
          <p:cNvPr id="137" name="Google Shape;137;g2594c38686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250" y="446750"/>
            <a:ext cx="867451" cy="9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594c386864_0_12" descr="Graphical user interface, application&#10;&#10;Description automatically generat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13" y="1465650"/>
            <a:ext cx="7424374" cy="47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94c386864_0_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Anaconda</a:t>
            </a:r>
            <a:endParaRPr/>
          </a:p>
        </p:txBody>
      </p:sp>
      <p:sp>
        <p:nvSpPr>
          <p:cNvPr id="144" name="Google Shape;144;g2594c386864_0_2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pic>
        <p:nvPicPr>
          <p:cNvPr id="145" name="Google Shape;145;g2594c386864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250" y="446750"/>
            <a:ext cx="867451" cy="9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594c386864_0_2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Detailed instructions, including other operating systems, can be found </a:t>
            </a:r>
            <a:r>
              <a:rPr lang="en-GB" sz="2500" u="sng">
                <a:solidFill>
                  <a:schemeClr val="hlink"/>
                </a:solidFill>
                <a:hlinkClick r:id="rId4"/>
              </a:rPr>
              <a:t>here</a:t>
            </a:r>
            <a:r>
              <a:rPr lang="en-GB" sz="2500"/>
              <a:t> (</a:t>
            </a:r>
            <a:r>
              <a:rPr lang="en-GB" sz="2500" i="1"/>
              <a:t>it should be easy</a:t>
            </a:r>
            <a:r>
              <a:rPr lang="en-GB" sz="2500"/>
              <a:t>).</a:t>
            </a:r>
            <a:endParaRPr sz="2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You can check Anaconda </a:t>
            </a:r>
            <a:r>
              <a:rPr lang="en-GB" sz="2500" u="sng">
                <a:solidFill>
                  <a:schemeClr val="hlink"/>
                </a:solidFill>
                <a:hlinkClick r:id="rId5"/>
              </a:rPr>
              <a:t>starter guide</a:t>
            </a:r>
            <a:r>
              <a:rPr lang="en-GB" sz="2500"/>
              <a:t> </a:t>
            </a:r>
            <a:endParaRPr sz="2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 u="sng">
                <a:solidFill>
                  <a:schemeClr val="hlink"/>
                </a:solidFill>
                <a:hlinkClick r:id="rId6"/>
              </a:rPr>
              <a:t>Conda cheat sheet 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594c386864_0_3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Using Jupyter Notebook (from command line)</a:t>
            </a:r>
            <a:endParaRPr/>
          </a:p>
        </p:txBody>
      </p:sp>
      <p:sp>
        <p:nvSpPr>
          <p:cNvPr id="152" name="Google Shape;152;g2594c386864_0_3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56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To start jupyter open a terminal and switch to the directory containing your code and run the notebook command</a:t>
            </a:r>
            <a:br>
              <a:rPr lang="en-GB" sz="1904"/>
            </a:br>
            <a:endParaRPr sz="1904"/>
          </a:p>
          <a:p>
            <a:pPr marL="457200" lvl="0" indent="-34956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For example, if your code is in a folder called Python in your home directory</a:t>
            </a:r>
            <a:endParaRPr sz="1904"/>
          </a:p>
          <a:p>
            <a:pPr marL="914400" lvl="1" indent="-32988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Courier New"/>
              <a:buChar char="○"/>
            </a:pPr>
            <a:r>
              <a:rPr lang="en-GB" sz="1595">
                <a:latin typeface="Courier New"/>
                <a:ea typeface="Courier New"/>
                <a:cs typeface="Courier New"/>
                <a:sym typeface="Courier New"/>
              </a:rPr>
              <a:t>&gt;&gt; cd Python</a:t>
            </a:r>
            <a:endParaRPr sz="1595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988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Courier New"/>
              <a:buChar char="○"/>
            </a:pPr>
            <a:r>
              <a:rPr lang="en-GB" sz="1595">
                <a:latin typeface="Courier New"/>
                <a:ea typeface="Courier New"/>
                <a:cs typeface="Courier New"/>
                <a:sym typeface="Courier New"/>
              </a:rPr>
              <a:t>&gt;&gt; jupyter notebook</a:t>
            </a:r>
            <a:endParaRPr sz="1595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95"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r>
              <a:rPr lang="en-GB" sz="1595" b="1"/>
              <a:t>OR</a:t>
            </a:r>
            <a:br>
              <a:rPr lang="en-GB" sz="1595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595">
                <a:latin typeface="Courier New"/>
                <a:ea typeface="Courier New"/>
                <a:cs typeface="Courier New"/>
                <a:sym typeface="Courier New"/>
              </a:rPr>
              <a:t>		&gt;&gt; python -m notebook</a:t>
            </a:r>
            <a:br>
              <a:rPr lang="en-GB" sz="1595">
                <a:latin typeface="Courier New"/>
                <a:ea typeface="Courier New"/>
                <a:cs typeface="Courier New"/>
                <a:sym typeface="Courier New"/>
              </a:rPr>
            </a:br>
            <a:endParaRPr sz="1595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956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A browser should open automatically but if not copy and paste the link shown in the terminal</a:t>
            </a:r>
            <a:br>
              <a:rPr lang="en-GB" sz="1904"/>
            </a:br>
            <a:endParaRPr sz="1904"/>
          </a:p>
          <a:p>
            <a:pPr marL="457200" lvl="0" indent="-34956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When you’re finished, you can stop jupyter by pressing </a:t>
            </a:r>
            <a:r>
              <a:rPr lang="en-GB" sz="1904">
                <a:latin typeface="Courier"/>
                <a:ea typeface="Courier"/>
                <a:cs typeface="Courier"/>
                <a:sym typeface="Courier"/>
              </a:rPr>
              <a:t>control + c</a:t>
            </a:r>
            <a:br>
              <a:rPr lang="en-GB" sz="1904">
                <a:latin typeface="Courier"/>
                <a:ea typeface="Courier"/>
                <a:cs typeface="Courier"/>
                <a:sym typeface="Courier"/>
              </a:rPr>
            </a:br>
            <a:endParaRPr sz="1904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4956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If you need to install a package using pip you may need to stop and restart the jupyter notebook for the changes to come through</a:t>
            </a:r>
            <a:endParaRPr sz="1904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endParaRPr sz="1904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endParaRPr sz="1904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1904"/>
          </a:p>
        </p:txBody>
      </p:sp>
      <p:sp>
        <p:nvSpPr>
          <p:cNvPr id="153" name="Google Shape;153;g2594c386864_0_3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594c386864_0_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Starting Jupyter Notebook (from command line)</a:t>
            </a:r>
            <a:endParaRPr/>
          </a:p>
        </p:txBody>
      </p:sp>
      <p:sp>
        <p:nvSpPr>
          <p:cNvPr id="159" name="Google Shape;159;g2594c386864_0_3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000">
                <a:solidFill>
                  <a:srgbClr val="404040"/>
                </a:solidFill>
              </a:rPr>
              <a:t>If a browser doesn’t automatically open, copy and paste one of the URLs highlighted</a:t>
            </a:r>
            <a:endParaRPr sz="2000">
              <a:solidFill>
                <a:srgbClr val="40404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SzPts val="2200"/>
              <a:buNone/>
            </a:pPr>
            <a:endParaRPr/>
          </a:p>
        </p:txBody>
      </p:sp>
      <p:sp>
        <p:nvSpPr>
          <p:cNvPr id="160" name="Google Shape;160;g2594c386864_0_3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pic>
        <p:nvPicPr>
          <p:cNvPr id="161" name="Google Shape;161;g2594c386864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688" y="2649276"/>
            <a:ext cx="8080624" cy="3343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g2594c386864_0_38"/>
          <p:cNvCxnSpPr/>
          <p:nvPr/>
        </p:nvCxnSpPr>
        <p:spPr>
          <a:xfrm rot="10800000" flipH="1">
            <a:off x="1263100" y="5190050"/>
            <a:ext cx="7011900" cy="16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g2594c386864_0_38"/>
          <p:cNvCxnSpPr/>
          <p:nvPr/>
        </p:nvCxnSpPr>
        <p:spPr>
          <a:xfrm rot="10800000" flipH="1">
            <a:off x="1263100" y="5400575"/>
            <a:ext cx="7036200" cy="16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94c386864_0_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Starting Jupyter Notebook (with Anaconda)</a:t>
            </a:r>
            <a:endParaRPr/>
          </a:p>
        </p:txBody>
      </p:sp>
      <p:sp>
        <p:nvSpPr>
          <p:cNvPr id="169" name="Google Shape;169;g2594c386864_0_4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pic>
        <p:nvPicPr>
          <p:cNvPr id="170" name="Google Shape;170;g2594c386864_0_48" descr="Graphical user interface, application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813" y="1465650"/>
            <a:ext cx="7424374" cy="475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2594c386864_0_48"/>
          <p:cNvSpPr/>
          <p:nvPr/>
        </p:nvSpPr>
        <p:spPr>
          <a:xfrm>
            <a:off x="4288575" y="5284725"/>
            <a:ext cx="795000" cy="260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94c386864_0_5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Starting Jupyter Notebook </a:t>
            </a:r>
            <a:endParaRPr/>
          </a:p>
        </p:txBody>
      </p:sp>
      <p:sp>
        <p:nvSpPr>
          <p:cNvPr id="177" name="Google Shape;177;g2594c386864_0_5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pic>
        <p:nvPicPr>
          <p:cNvPr id="178" name="Google Shape;178;g2594c386864_0_59" descr="Graphical user interface, text, application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763" y="2763350"/>
            <a:ext cx="7341276" cy="21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594c386864_0_59"/>
          <p:cNvSpPr txBox="1"/>
          <p:nvPr/>
        </p:nvSpPr>
        <p:spPr>
          <a:xfrm>
            <a:off x="311700" y="1518550"/>
            <a:ext cx="90534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000">
                <a:solidFill>
                  <a:srgbClr val="404040"/>
                </a:solidFill>
              </a:rPr>
              <a:t>You should have something like that in the browser</a:t>
            </a:r>
            <a:endParaRPr sz="2000">
              <a:solidFill>
                <a:srgbClr val="40404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19cd3dd81_0_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VSCode</a:t>
            </a:r>
            <a:endParaRPr/>
          </a:p>
        </p:txBody>
      </p:sp>
      <p:sp>
        <p:nvSpPr>
          <p:cNvPr id="185" name="Google Shape;185;g2f19cd3dd81_0_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186" name="Google Shape;186;g2f19cd3dd81_0_2"/>
          <p:cNvSpPr txBox="1"/>
          <p:nvPr/>
        </p:nvSpPr>
        <p:spPr>
          <a:xfrm>
            <a:off x="311700" y="1518550"/>
            <a:ext cx="7818300" cy="19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200">
                <a:solidFill>
                  <a:srgbClr val="404040"/>
                </a:solidFill>
              </a:rPr>
              <a:t>VSCode can also handle </a:t>
            </a:r>
            <a:r>
              <a:rPr lang="en-GB" sz="2200" b="1">
                <a:solidFill>
                  <a:srgbClr val="404040"/>
                </a:solidFill>
              </a:rPr>
              <a:t>.ipynb</a:t>
            </a:r>
            <a:r>
              <a:rPr lang="en-GB" sz="2200">
                <a:solidFill>
                  <a:srgbClr val="404040"/>
                </a:solidFill>
              </a:rPr>
              <a:t> files</a:t>
            </a:r>
            <a:br>
              <a:rPr lang="en-GB" sz="2200">
                <a:solidFill>
                  <a:srgbClr val="404040"/>
                </a:solidFill>
              </a:rPr>
            </a:br>
            <a:endParaRPr sz="2200">
              <a:solidFill>
                <a:srgbClr val="404040"/>
              </a:solidFill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2200"/>
              <a:buChar char="●"/>
            </a:pPr>
            <a:r>
              <a:rPr lang="en-GB" sz="2200">
                <a:solidFill>
                  <a:srgbClr val="404040"/>
                </a:solidFill>
              </a:rPr>
              <a:t>If you want to use it follow the tutorial </a:t>
            </a:r>
            <a:r>
              <a:rPr lang="en-GB" sz="22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 sz="2200">
                <a:solidFill>
                  <a:srgbClr val="404040"/>
                </a:solidFill>
              </a:rPr>
              <a:t> to start working with notebooks.</a:t>
            </a:r>
            <a:endParaRPr sz="2200">
              <a:solidFill>
                <a:srgbClr val="40404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endParaRPr sz="2400">
              <a:solidFill>
                <a:schemeClr val="dk2"/>
              </a:solidFill>
            </a:endParaRPr>
          </a:p>
        </p:txBody>
      </p:sp>
      <p:pic>
        <p:nvPicPr>
          <p:cNvPr id="187" name="Google Shape;187;g2f19cd3dd81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75" y="3317075"/>
            <a:ext cx="7647023" cy="29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Markdown Cells</a:t>
            </a:r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5782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Jupyter notebooks consist of blocks of code (called cells). Each cell can be either code or markdown (dropdown at the top of the screen)</a:t>
            </a:r>
            <a:br>
              <a:rPr lang="en-GB"/>
            </a:br>
            <a:endParaRPr/>
          </a:p>
          <a:p>
            <a:pPr marL="457200" lvl="0" indent="-35782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Jupyter uses GitHub markdown for the text cells.</a:t>
            </a:r>
            <a:br>
              <a:rPr lang="en-GB"/>
            </a:br>
            <a:endParaRPr/>
          </a:p>
          <a:p>
            <a:pPr marL="457200" lvl="0" indent="-35782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Markdown is a simple text-based formatting system</a:t>
            </a:r>
            <a:br>
              <a:rPr lang="en-GB"/>
            </a:br>
            <a:endParaRPr/>
          </a:p>
          <a:p>
            <a:pPr marL="457200" lvl="0" indent="-35782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For a full list of markdown commands see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this web-page</a:t>
            </a:r>
            <a:br>
              <a:rPr lang="en-GB"/>
            </a:br>
            <a:endParaRPr/>
          </a:p>
          <a:p>
            <a:pPr marL="457200" lvl="0" indent="-35782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When you edit a cell you will see the markdown source code, run the cell to see the formatted output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6"/>
              <a:buNone/>
            </a:pPr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Code cells</a:t>
            </a:r>
            <a:endParaRPr/>
          </a:p>
        </p:txBody>
      </p:sp>
      <p:sp>
        <p:nvSpPr>
          <p:cNvPr id="200" name="Google Shape;200;p1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Code cells let you run Python/R code (depending on the chosen kernel) and show you the output directly underneath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Variables can be shared between cells (provided you run them in the correct order).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Before submitting a notebook select the option to </a:t>
            </a:r>
            <a:r>
              <a:rPr lang="en-GB" b="1"/>
              <a:t>restart kernel and run all cells</a:t>
            </a:r>
            <a:r>
              <a:rPr lang="en-GB"/>
              <a:t> to make sure it will work for another user running your notebook (when you’re working ad-hoc it’s easy to get the order wrong)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endParaRPr/>
          </a:p>
        </p:txBody>
      </p:sp>
      <p:sp>
        <p:nvSpPr>
          <p:cNvPr id="201" name="Google Shape;201;p1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Submitting Notebooks</a:t>
            </a:r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Make sure you run your code before saving your notebook for submission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you’re using external files, include them in the notebook folder and use a relative path, for example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&gt; I = cv2.imread(‘image.jpg’)</a:t>
            </a:r>
            <a:br>
              <a:rPr lang="en-GB"/>
            </a:br>
            <a:r>
              <a:rPr lang="en-GB"/>
              <a:t>Not</a:t>
            </a:r>
            <a:br>
              <a:rPr lang="en-GB"/>
            </a:br>
            <a:r>
              <a:rPr lang="en-GB">
                <a:latin typeface="Courier"/>
                <a:ea typeface="Courier"/>
                <a:cs typeface="Courier"/>
                <a:sym typeface="Courier"/>
              </a:rPr>
              <a:t>&gt; I = cv2.imread(‘C:\Users\453526\Python\image.jpg’)</a:t>
            </a:r>
            <a:br>
              <a:rPr lang="en-GB">
                <a:latin typeface="Courier"/>
                <a:ea typeface="Courier"/>
                <a:cs typeface="Courier"/>
                <a:sym typeface="Courier"/>
              </a:rPr>
            </a:b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When you’re finished, save the notebook, and zip the entire folder including any external files you used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Your instructor should be able to restart kernel and run all cells without making any edits</a:t>
            </a:r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Downloading and Installing R (from scratch)</a:t>
            </a:r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 is another base language you’ll be using. </a:t>
            </a: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“a free software environment for statistical computing and graphics”. By itself, R is just a programme which will read in and execute a script. 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Open an internet browser and go to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www.r-project.org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Click the "download R" link in the middle of the page under "Getting Started."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Select a CRAN location (a mirror site) and click the corresponding link.  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Click on the "Download R for Windows" link at the top of the page.  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Click on the "install R for the first time" link at the top of the page.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Click "Download R for Windows" and save the executable file somewhere on your computer.  Run the .exe file and follow the installation instructions.  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Now that R is installed, you need to download and install RStudio. </a:t>
            </a:r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RStudio (from scratch)</a:t>
            </a:r>
            <a:endParaRPr/>
          </a:p>
        </p:txBody>
      </p:sp>
      <p:sp>
        <p:nvSpPr>
          <p:cNvPr id="221" name="Google Shape;221;p1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RStudio is a very nice Integrated Development Environment (IDE) which makes writing R programmes a joy. This isn’t necessary but highly recommended!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GB" sz="2300"/>
              <a:t>Go to </a:t>
            </a:r>
            <a:r>
              <a:rPr lang="en-GB" sz="2300" u="sng">
                <a:solidFill>
                  <a:schemeClr val="hlink"/>
                </a:solidFill>
                <a:hlinkClick r:id="rId3"/>
              </a:rPr>
              <a:t>https://posit.co/download/rstudio-desktop/</a:t>
            </a:r>
            <a:r>
              <a:rPr lang="en-GB" sz="2300"/>
              <a:t>  and click on the "Download RStudio" button.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GB" sz="2300"/>
              <a:t>Click on "Download RStudio Desktop."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GB" sz="2300"/>
              <a:t>Click on the version recommended for your system, or the latest Windows version, and save the executable file.  Run the .exe file and follow the installation instructions.     </a:t>
            </a:r>
            <a:endParaRPr sz="2300"/>
          </a:p>
        </p:txBody>
      </p:sp>
      <p:sp>
        <p:nvSpPr>
          <p:cNvPr id="222" name="Google Shape;222;p1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94c386864_0_7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 and RStudio (Anaconda)</a:t>
            </a:r>
            <a:endParaRPr/>
          </a:p>
        </p:txBody>
      </p:sp>
      <p:sp>
        <p:nvSpPr>
          <p:cNvPr id="228" name="Google Shape;228;g2594c386864_0_7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pic>
        <p:nvPicPr>
          <p:cNvPr id="229" name="Google Shape;229;g2594c386864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675" y="1420400"/>
            <a:ext cx="7264648" cy="467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594c386864_0_70"/>
          <p:cNvSpPr/>
          <p:nvPr/>
        </p:nvSpPr>
        <p:spPr>
          <a:xfrm>
            <a:off x="4259175" y="5441475"/>
            <a:ext cx="795000" cy="260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RStudio example</a:t>
            </a:r>
            <a:endParaRPr/>
          </a:p>
        </p:txBody>
      </p:sp>
      <p:sp>
        <p:nvSpPr>
          <p:cNvPr id="236" name="Google Shape;236;p1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Download the file “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Titanic Exploration.Rmd”</a:t>
            </a:r>
            <a:r>
              <a:rPr lang="en-GB"/>
              <a:t> in Brightspace and open it with RStudio.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Rmd is an extension for R Markdown file. </a:t>
            </a:r>
            <a:endParaRPr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It contains YAML (yet another markup language) metadata, Markdown-formatted plain text, and chunks of R code that, when rendered using RStudio, combine to form a sophisticated data analysis document.</a:t>
            </a:r>
            <a:endParaRPr sz="2200"/>
          </a:p>
        </p:txBody>
      </p:sp>
      <p:sp>
        <p:nvSpPr>
          <p:cNvPr id="237" name="Google Shape;237;p1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week you will go through the same Titanic Exploration example but using Python and Jupyter Notebook instead.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Download the file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“Titanic Exploration.ipynb”</a:t>
            </a:r>
            <a:r>
              <a:rPr lang="en-GB"/>
              <a:t> in Brightspace and make sure you can run the code in it.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Check the difference in syntax between Python and R and see what you prefer. Observe the differences between methods and data types to achieve the same results.</a:t>
            </a:r>
            <a:br>
              <a:rPr lang="en-GB"/>
            </a:br>
            <a:endParaRPr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won’t understand all the details. This is just to give an overview of how and what you can do with both languages.</a:t>
            </a:r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>
            <a:spLocks noGrp="1"/>
          </p:cNvSpPr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250" name="Google Shape;250;p1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</Words>
  <Application>Microsoft Office PowerPoint</Application>
  <PresentationFormat>On-screen Show (4:3)</PresentationFormat>
  <Paragraphs>142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Courier</vt:lpstr>
      <vt:lpstr>Courier New</vt:lpstr>
      <vt:lpstr>Simple Light</vt:lpstr>
      <vt:lpstr>Working With Data DATA9910 Week 1</vt:lpstr>
      <vt:lpstr>Installing Python</vt:lpstr>
      <vt:lpstr>Installing on Windows</vt:lpstr>
      <vt:lpstr>Installing on Mac / Ubuntu </vt:lpstr>
      <vt:lpstr>PIP</vt:lpstr>
      <vt:lpstr>Notebooks</vt:lpstr>
      <vt:lpstr>Installing Jupyter </vt:lpstr>
      <vt:lpstr>Installing Jupyter</vt:lpstr>
      <vt:lpstr>Installing Jupyter with Anaconda</vt:lpstr>
      <vt:lpstr>Anaconda</vt:lpstr>
      <vt:lpstr>Anaconda</vt:lpstr>
      <vt:lpstr>Using Jupyter Notebook (from command line)</vt:lpstr>
      <vt:lpstr>Starting Jupyter Notebook (from command line)</vt:lpstr>
      <vt:lpstr>Starting Jupyter Notebook (with Anaconda)</vt:lpstr>
      <vt:lpstr>Starting Jupyter Notebook </vt:lpstr>
      <vt:lpstr>VSCode</vt:lpstr>
      <vt:lpstr>Markdown Cells</vt:lpstr>
      <vt:lpstr>Code cells</vt:lpstr>
      <vt:lpstr>Submitting Notebooks</vt:lpstr>
      <vt:lpstr>Downloading and Installing R (from scratch)</vt:lpstr>
      <vt:lpstr>RStudio (from scratch)</vt:lpstr>
      <vt:lpstr>R and RStudio (Anaconda)</vt:lpstr>
      <vt:lpstr>RStudio example</vt:lpstr>
      <vt:lpstr>Lab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Eamonn Kelly</cp:lastModifiedBy>
  <cp:revision>1</cp:revision>
  <dcterms:modified xsi:type="dcterms:W3CDTF">2025-10-03T10:09:30Z</dcterms:modified>
</cp:coreProperties>
</file>