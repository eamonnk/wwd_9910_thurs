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6858000" cx="9144000"/>
  <p:notesSz cx="6858000" cy="9144000"/>
  <p:embeddedFontLst>
    <p:embeddedFont>
      <p:font typeface="Book Antiqua"/>
      <p:regular r:id="rId55"/>
      <p:bold r:id="rId56"/>
      <p:italic r:id="rId57"/>
      <p:boldItalic r:id="rId58"/>
    </p:embeddedFont>
    <p:embeddedFont>
      <p:font typeface="Century Gothic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hcX7Bf7FJnv8CQ8xeF8X5AE7l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3BCE00-8015-466C-97DF-B94CE7D42D82}">
  <a:tblStyle styleId="{CB3BCE00-8015-466C-97DF-B94CE7D42D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CenturyGothic-boldItalic.fntdata"/><Relationship Id="rId61" Type="http://schemas.openxmlformats.org/officeDocument/2006/relationships/font" Target="fonts/CenturyGothic-italic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CenturyGothic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BookAntiqua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BookAntiqua-italic.fntdata"/><Relationship Id="rId12" Type="http://schemas.openxmlformats.org/officeDocument/2006/relationships/slide" Target="slides/slide6.xml"/><Relationship Id="rId56" Type="http://schemas.openxmlformats.org/officeDocument/2006/relationships/font" Target="fonts/BookAntiqua-bold.fntdata"/><Relationship Id="rId15" Type="http://schemas.openxmlformats.org/officeDocument/2006/relationships/slide" Target="slides/slide9.xml"/><Relationship Id="rId59" Type="http://schemas.openxmlformats.org/officeDocument/2006/relationships/font" Target="fonts/CenturyGothic-regular.fntdata"/><Relationship Id="rId14" Type="http://schemas.openxmlformats.org/officeDocument/2006/relationships/slide" Target="slides/slide8.xml"/><Relationship Id="rId58" Type="http://schemas.openxmlformats.org/officeDocument/2006/relationships/font" Target="fonts/BookAntiqua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a6564f88_2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a6564f8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51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51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5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5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5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5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5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5" name="Google Shape;45;p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6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3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3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3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63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63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50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6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ca6564f88_2_57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g37ca6564f88_2_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g37ca6564f88_2_57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{CB3BCE00-8015-466C-97DF-B94CE7D42D82}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 practice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Import data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Type conversion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Finding NAs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Calculating average and quantiles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Variation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Before you start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Download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Summary Statistics Lecture Practical</a:t>
            </a:r>
            <a:br>
              <a:rPr lang="en-GB">
                <a:latin typeface="Courier"/>
                <a:ea typeface="Courier"/>
                <a:cs typeface="Courier"/>
                <a:sym typeface="Courier"/>
              </a:rPr>
            </a:b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Start your jupyter notebook server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Follow along with the examples in today's lecture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900" y="3909500"/>
            <a:ext cx="7331649" cy="24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1 – Import the data into R</a:t>
            </a:r>
            <a:endParaRPr/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40">
                <a:latin typeface="Courier New"/>
                <a:ea typeface="Courier New"/>
                <a:cs typeface="Courier New"/>
                <a:sym typeface="Courier New"/>
              </a:rPr>
              <a:t># Download the bank.zip file from brightspace</a:t>
            </a:r>
            <a:endParaRPr sz="1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40">
                <a:latin typeface="Courier New"/>
                <a:ea typeface="Courier New"/>
                <a:cs typeface="Courier New"/>
                <a:sym typeface="Courier New"/>
              </a:rPr>
              <a:t>url &lt;- 'http://archive.ics.uci.edu/ml/machine-learning-databases/00222/bank.zip'</a:t>
            </a:r>
            <a:endParaRPr sz="1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40">
                <a:latin typeface="Courier New"/>
                <a:ea typeface="Courier New"/>
                <a:cs typeface="Courier New"/>
                <a:sym typeface="Courier New"/>
              </a:rPr>
              <a:t>download.file(url, destfile = 'bank.zip')</a:t>
            </a:r>
            <a:endParaRPr sz="1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40">
                <a:latin typeface="Courier New"/>
                <a:ea typeface="Courier New"/>
                <a:cs typeface="Courier New"/>
                <a:sym typeface="Courier New"/>
              </a:rPr>
              <a:t>unzip('bank.zip', list = T)</a:t>
            </a:r>
            <a:endParaRPr sz="134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 sz="1500"/>
          </a:p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311700" y="2818500"/>
            <a:ext cx="8240400" cy="4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The notebook downloads and unzips the data for you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Underneath the Task 1 cell import that data into a R DataFrame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 sz="2200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1 - Tips</a:t>
            </a:r>
            <a:endParaRPr/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Check back on week 3 notes to refresh your memory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readr </a:t>
            </a:r>
            <a:r>
              <a:rPr lang="en-GB"/>
              <a:t>package might do a better job than the base r packages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readr</a:t>
            </a:r>
            <a:r>
              <a:rPr lang="en-GB"/>
              <a:t> doesn't always guess the columns correctly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Check the docs to find out how to control the maximum number of rows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readr </a:t>
            </a:r>
            <a:r>
              <a:rPr lang="en-GB"/>
              <a:t>will look at to guess a column type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you prefer you can specify the column types yourself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</p:txBody>
      </p:sp>
      <p:sp>
        <p:nvSpPr>
          <p:cNvPr id="106" name="Google Shape;106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1 - Answer</a:t>
            </a:r>
            <a:endParaRPr/>
          </a:p>
        </p:txBody>
      </p:sp>
      <p:sp>
        <p:nvSpPr>
          <p:cNvPr id="112" name="Google Shape;112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934625"/>
            <a:ext cx="8679901" cy="312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2 - Basic Checks</a:t>
            </a:r>
            <a:endParaRPr/>
          </a:p>
        </p:txBody>
      </p:sp>
      <p:sp>
        <p:nvSpPr>
          <p:cNvPr id="119" name="Google Shape;119;p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Try this out before moving onto the next slide</a:t>
            </a:r>
            <a:br>
              <a:rPr lang="en-GB"/>
            </a:br>
            <a:endParaRPr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Import Problems</a:t>
            </a:r>
            <a:endParaRPr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Dataset Dimensions</a:t>
            </a:r>
            <a:endParaRPr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Head and Tail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2 - Answer </a:t>
            </a:r>
            <a:endParaRPr/>
          </a:p>
        </p:txBody>
      </p:sp>
      <p:sp>
        <p:nvSpPr>
          <p:cNvPr id="126" name="Google Shape;126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1466850"/>
            <a:ext cx="62865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3 - Type conversion</a:t>
            </a:r>
            <a:endParaRPr/>
          </a:p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By default,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read_delim</a:t>
            </a:r>
            <a:r>
              <a:rPr lang="en-GB"/>
              <a:t> function imports strings as character type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as.functions</a:t>
            </a:r>
            <a:r>
              <a:rPr lang="en-GB"/>
              <a:t> can be used to change the type of a column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Change the the type of the columns that should be factors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might do that one by one or using a loop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Task 3 - Answer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One by 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With a loop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2" name="Google Shape;1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125" y="2165438"/>
            <a:ext cx="4000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113" y="4544563"/>
            <a:ext cx="4391025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4 - Finding NAs</a:t>
            </a:r>
            <a:endParaRPr/>
          </a:p>
        </p:txBody>
      </p:sp>
      <p:sp>
        <p:nvSpPr>
          <p:cNvPr id="149" name="Google Shape;149;p1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How many NAs are there for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education </a:t>
            </a:r>
            <a:r>
              <a:rPr lang="en-GB"/>
              <a:t>attribute?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percentage of the total is this?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50" name="Google Shape;150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4 - Tips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is.na</a:t>
            </a:r>
            <a:r>
              <a:rPr lang="en-GB"/>
              <a:t> function takes a vector and returns a vector where the value is 1, if the input was an NA or 0 otherwise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calculate percentage by dividing the number of rows we're interested in by the total number of rows and multiplying by 100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Think about how you should format your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4 - Answer</a:t>
            </a:r>
            <a:endParaRPr/>
          </a:p>
        </p:txBody>
      </p:sp>
      <p:sp>
        <p:nvSpPr>
          <p:cNvPr id="163" name="Google Shape;163;p1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150" y="1647402"/>
            <a:ext cx="4486700" cy="25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NAs for all columns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We've just calculated the percentage of NAs for a single column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if we want to do this for all columns?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Any ideas?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Finding NAs for all columns</a:t>
            </a:r>
            <a:endParaRPr/>
          </a:p>
        </p:txBody>
      </p:sp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We've just calculated the percentage of NAs for a single column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if we want to do this for all columns?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375" y="3182300"/>
            <a:ext cx="751522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5 - Calculating Averages</a:t>
            </a:r>
            <a:endParaRPr/>
          </a:p>
        </p:txBody>
      </p:sp>
      <p:sp>
        <p:nvSpPr>
          <p:cNvPr id="185" name="Google Shape;185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What is the average value of the following columns</a:t>
            </a:r>
            <a:br>
              <a:rPr lang="en-GB"/>
            </a:br>
            <a:endParaRPr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age</a:t>
            </a:r>
            <a:endParaRPr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duration</a:t>
            </a:r>
            <a:endParaRPr/>
          </a:p>
          <a:p>
            <a:pPr indent="-3683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pdays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/>
          </a:p>
        </p:txBody>
      </p:sp>
      <p:sp>
        <p:nvSpPr>
          <p:cNvPr id="186" name="Google Shape;186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5 - Tips</a:t>
            </a:r>
            <a:endParaRPr/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 doesn't have an average function, it prefers the more specific term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mean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3" name="Google Shape;193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5 - Answer</a:t>
            </a:r>
            <a:endParaRPr/>
          </a:p>
        </p:txBody>
      </p:sp>
      <p:sp>
        <p:nvSpPr>
          <p:cNvPr id="199" name="Google Shape;199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150" y="1923717"/>
            <a:ext cx="3971925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7500" y="1976104"/>
            <a:ext cx="371475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Watch Out!</a:t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says in the data description file that: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/>
              <a:t>"pdays: number of days that passed by after the client was last contacted from a previous campaign (numeric, -1 means client was not previously contacted)"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value -1 is therefore not meaningful for calculating the average number of previous days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00" y="4374051"/>
            <a:ext cx="7607924" cy="20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Fixing Misleading Values - NA</a:t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One option is to use NA rather than -1 to indicate that a customer wasn't contacted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then tell R to ignore NAs when calculating the average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Fixing Misleading Values - NA</a:t>
            </a:r>
            <a:endParaRPr/>
          </a:p>
        </p:txBody>
      </p:sp>
      <p:sp>
        <p:nvSpPr>
          <p:cNvPr id="222" name="Google Shape;222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100" y="1489542"/>
            <a:ext cx="752475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Fixing Misleading Values - Keep numeric flag</a:t>
            </a:r>
            <a:endParaRPr/>
          </a:p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might not want to replace the values with NA (technically the data is available and meaningful).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this case we need to manually select the rows we want to average over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Fixing Misleading Values - Keep numeric flag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988" y="1600200"/>
            <a:ext cx="705802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6 - Omitting Rows Containing NA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we wish to remove all rows containing at least 1 NA we can 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na.omit() </a:t>
            </a:r>
            <a:r>
              <a:rPr lang="en-GB"/>
              <a:t>function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can lead to substantial data loss, so make sure you check how much you'll lose by doing this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Create a copy of the dataset omitting any rows with NAs. How much data do we lose doing this? (express as a percentage of total rows)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6 - Tips</a:t>
            </a:r>
            <a:endParaRPr/>
          </a:p>
        </p:txBody>
      </p:sp>
      <p:sp>
        <p:nvSpPr>
          <p:cNvPr id="250" name="Google Shape;250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copy a dataframe just by assigning it to a new variable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Percentage lost = 100 – percentage remaining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6 - Answer</a:t>
            </a:r>
            <a:endParaRPr/>
          </a:p>
        </p:txBody>
      </p:sp>
      <p:sp>
        <p:nvSpPr>
          <p:cNvPr id="257" name="Google Shape;257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8" name="Google Shape;2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31303"/>
            <a:ext cx="7379026" cy="16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 Statistics</a:t>
            </a:r>
            <a:endParaRPr/>
          </a:p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Summary statistics represent properties of the values of an attribute with a single or small set of numbers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If chosen correctly, summary statistics make it much easier to understand the shape of the data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 provides a quick summary with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summary</a:t>
            </a:r>
            <a:r>
              <a:rPr lang="en-GB"/>
              <a:t>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Measures of Location</a:t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/>
              <a:t>mean </a:t>
            </a:r>
            <a:r>
              <a:rPr lang="en-GB"/>
              <a:t>and the </a:t>
            </a:r>
            <a:r>
              <a:rPr b="1" lang="en-GB"/>
              <a:t>median</a:t>
            </a:r>
            <a:r>
              <a:rPr lang="en-GB"/>
              <a:t> are the among the most commonly used summary statistics; providing a measure of location (central value) for the data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mean is calculated by adding together the column values and dividing by the total number of values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not a robust tool since it is largely influenced by outliers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Measures of Location</a:t>
            </a:r>
            <a:endParaRPr/>
          </a:p>
        </p:txBody>
      </p:sp>
      <p:sp>
        <p:nvSpPr>
          <p:cNvPr id="278" name="Google Shape;278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median is better suited for skewed distributions to derive at central tendency since it is much more robust and sensible.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a </a:t>
            </a:r>
            <a:r>
              <a:rPr b="1" lang="en-GB"/>
              <a:t>sorted </a:t>
            </a:r>
            <a:r>
              <a:rPr lang="en-GB"/>
              <a:t>list of column values, the median may be calculated by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The value at the middle index if the number of values is odd</a:t>
            </a:r>
            <a:br>
              <a:rPr lang="en-GB"/>
            </a:br>
            <a:r>
              <a:rPr lang="en-GB">
                <a:latin typeface="Courier"/>
                <a:ea typeface="Courier"/>
                <a:cs typeface="Courier"/>
                <a:sym typeface="Courier"/>
              </a:rPr>
              <a:t>{1,2,</a:t>
            </a: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3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,4,5}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Taking the average of the values at the two middle indices if the number of values is even </a:t>
            </a:r>
            <a:br>
              <a:rPr lang="en-GB"/>
            </a:br>
            <a:r>
              <a:rPr lang="en-GB">
                <a:latin typeface="Courier"/>
                <a:ea typeface="Courier"/>
                <a:cs typeface="Courier"/>
                <a:sym typeface="Courier"/>
              </a:rPr>
              <a:t>{1,2,</a:t>
            </a:r>
            <a:r>
              <a:rPr b="1" lang="en-GB">
                <a:latin typeface="Courier"/>
                <a:ea typeface="Courier"/>
                <a:cs typeface="Courier"/>
                <a:sym typeface="Courier"/>
              </a:rPr>
              <a:t>3,4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,5,6}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9" name="Google Shape;279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Percentile</a:t>
            </a:r>
            <a:endParaRPr/>
          </a:p>
        </p:txBody>
      </p:sp>
      <p:sp>
        <p:nvSpPr>
          <p:cNvPr id="285" name="Google Shape;285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ordered data, the percentile is a useful summary statistic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P-th percentile or quantile (0 &lt;= P &lt;= 100) of a list of values sorted in ascending order is given as:</a:t>
            </a:r>
            <a:endParaRPr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GB" sz="2200"/>
              <a:t>The smallest value, such that at least P percent of the data is less than or equal to that value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86" name="Google Shape;286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7 - Calculating Quantiles</a:t>
            </a:r>
            <a:endParaRPr/>
          </a:p>
        </p:txBody>
      </p:sp>
      <p:sp>
        <p:nvSpPr>
          <p:cNvPr id="292" name="Google Shape;292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Write a script to find the tenth percentile of the following data.</a:t>
            </a:r>
            <a:br>
              <a:rPr lang="en-GB"/>
            </a:br>
            <a:r>
              <a:rPr lang="en-GB"/>
              <a:t>	c(</a:t>
            </a:r>
            <a:r>
              <a:rPr lang="en-GB">
                <a:solidFill>
                  <a:srgbClr val="93C47D"/>
                </a:solidFill>
              </a:rPr>
              <a:t>14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15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9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14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8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9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6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7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8</a:t>
            </a:r>
            <a:r>
              <a:rPr lang="en-GB"/>
              <a:t>, </a:t>
            </a:r>
            <a:r>
              <a:rPr lang="en-GB">
                <a:solidFill>
                  <a:srgbClr val="93C47D"/>
                </a:solidFill>
              </a:rPr>
              <a:t>12</a:t>
            </a:r>
            <a:r>
              <a:rPr lang="en-GB"/>
              <a:t>)</a:t>
            </a:r>
            <a:br>
              <a:rPr lang="en-GB"/>
            </a:br>
            <a:r>
              <a:rPr lang="en-GB"/>
              <a:t>Use the first cell to add your own implementation.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Now find the 30th, 50th and 75th percentile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In the second cell, use the r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quantile()</a:t>
            </a:r>
            <a:r>
              <a:rPr lang="en-GB"/>
              <a:t> function to calculate each of the percentiles above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93" name="Google Shape;293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7 - Tips</a:t>
            </a:r>
            <a:endParaRPr/>
          </a:p>
        </p:txBody>
      </p:sp>
      <p:sp>
        <p:nvSpPr>
          <p:cNvPr id="299" name="Google Shape;299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Begin by working out which index you need from the list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a list of 100 items the 50th percentile is the value in position 50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Remember that we can't use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doubles </a:t>
            </a:r>
            <a:r>
              <a:rPr lang="en-GB"/>
              <a:t>to index a list, make sure you get your desired index as an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int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?quantile</a:t>
            </a:r>
            <a:r>
              <a:rPr lang="en-GB"/>
              <a:t> to find out more about the R quantile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00" name="Google Shape;300;p3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7 - Answer</a:t>
            </a:r>
            <a:endParaRPr/>
          </a:p>
        </p:txBody>
      </p:sp>
      <p:sp>
        <p:nvSpPr>
          <p:cNvPr id="306" name="Google Shape;306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700" y="1391488"/>
            <a:ext cx="5905500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7 - Answer</a:t>
            </a:r>
            <a:endParaRPr/>
          </a:p>
        </p:txBody>
      </p:sp>
      <p:sp>
        <p:nvSpPr>
          <p:cNvPr id="313" name="Google Shape;313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4" name="Google Shape;3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8" y="1706617"/>
            <a:ext cx="76676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Quantiles and Interpolation</a:t>
            </a:r>
            <a:endParaRPr/>
          </a:p>
        </p:txBody>
      </p:sp>
      <p:sp>
        <p:nvSpPr>
          <p:cNvPr id="320" name="Google Shape;320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Notice that R gave slightly different answers to the ones we got.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Quantiles may use linear interpolation to smooth the values. For instance when quantiles fall in decimal positions.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Linear interpolation is a method of curve fitting.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type </a:t>
            </a:r>
            <a:r>
              <a:rPr lang="en-GB"/>
              <a:t>parameter of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quantile </a:t>
            </a:r>
            <a:r>
              <a:rPr lang="en-GB"/>
              <a:t>function allows you to change how R deals with it (documentation is a bit confusing…)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21" name="Google Shape;321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2" name="Google Shape;3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13" y="4134888"/>
            <a:ext cx="852487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The Five Number Summary</a:t>
            </a:r>
            <a:endParaRPr/>
          </a:p>
        </p:txBody>
      </p:sp>
      <p:sp>
        <p:nvSpPr>
          <p:cNvPr id="328" name="Google Shape;328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fivenum </a:t>
            </a:r>
            <a:r>
              <a:rPr lang="en-GB"/>
              <a:t>function returns a selection of five percentile values i.e. 0%, 25%, 50%, 75% and 100%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29" name="Google Shape;329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0" name="Google Shape;3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475" y="2991438"/>
            <a:ext cx="3817725" cy="16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Trimmed mean</a:t>
            </a:r>
            <a:endParaRPr/>
          </a:p>
        </p:txBody>
      </p:sp>
      <p:sp>
        <p:nvSpPr>
          <p:cNvPr id="336" name="Google Shape;336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Technically, the mean only gives a measure of the central value if the distribution is symmetric</a:t>
            </a:r>
            <a:br>
              <a:rPr lang="en-GB"/>
            </a:b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trimmed mean can be used to mitigate the effect of outliers i.e. for a value of trim T  (0 &lt;= T &lt;= 0.5), the top and bottom Tx100 percent of the data are excluded from the calculation.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For example: T = 0.01 excludes top and bottom 1%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37" name="Google Shape;337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Skewed data</a:t>
            </a:r>
            <a:endParaRPr/>
          </a:p>
        </p:txBody>
      </p:sp>
      <p:sp>
        <p:nvSpPr>
          <p:cNvPr id="343" name="Google Shape;343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44" name="Google Shape;34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725" y="1738892"/>
            <a:ext cx="592455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Roughly Symmetric Data</a:t>
            </a:r>
            <a:endParaRPr/>
          </a:p>
        </p:txBody>
      </p:sp>
      <p:sp>
        <p:nvSpPr>
          <p:cNvPr id="350" name="Google Shape;350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1" name="Google Shape;3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08413"/>
            <a:ext cx="5486400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8 - Calculate the Trimmed Mean</a:t>
            </a:r>
            <a:endParaRPr/>
          </a:p>
        </p:txBody>
      </p:sp>
      <p:sp>
        <p:nvSpPr>
          <p:cNvPr id="357" name="Google Shape;357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Calculate the mean and median of the balance feature of our bankData dataframe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Calculate the trimmed mean @ T = 0.1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Show that the trimmed mean is more representative of the centre than the raw mean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Tips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58" name="Google Shape;358;p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8 - Tips</a:t>
            </a:r>
            <a:endParaRPr/>
          </a:p>
        </p:txBody>
      </p:sp>
      <p:sp>
        <p:nvSpPr>
          <p:cNvPr id="364" name="Google Shape;364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use quantiles to find cut-off points for the top or bottom x% of values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Logical subsetting (indexing) can help us select only the rows we're interested in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Have a look at the graphs on the previous slides showing skewed and symmetric data, this should give a hint as to how you can show which is more representative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65" name="Google Shape;365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Task 8 - Answer</a:t>
            </a:r>
            <a:endParaRPr/>
          </a:p>
        </p:txBody>
      </p:sp>
      <p:sp>
        <p:nvSpPr>
          <p:cNvPr id="371" name="Google Shape;371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72" name="Google Shape;372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3" name="Google Shape;37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75" y="1403262"/>
            <a:ext cx="8733626" cy="482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Measures of Spread</a:t>
            </a:r>
            <a:endParaRPr/>
          </a:p>
        </p:txBody>
      </p:sp>
      <p:sp>
        <p:nvSpPr>
          <p:cNvPr id="379" name="Google Shape;379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Measures of spread are summary statistics that capture the separation of the data about the central value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range and the interquartile range (IQR) measures are similar in that they estimate the spread of a column of values by subtracting extreme values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IQR(x) = quantile(x, 3/4) - quantile(x, 1/4)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range = max(x) - min(x)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80" name="Google Shape;380;p4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1" name="Google Shape;38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5413" y="4108002"/>
            <a:ext cx="4810676" cy="22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Measures of Spread</a:t>
            </a:r>
            <a:endParaRPr/>
          </a:p>
        </p:txBody>
      </p:sp>
      <p:sp>
        <p:nvSpPr>
          <p:cNvPr id="387" name="Google Shape;387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73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standard deviation is a measure of the average distance of each column value from the mean: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-34734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variance is simply the square of the standard deviation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6"/>
              <a:buNone/>
            </a:pPr>
            <a:r>
              <a:t/>
            </a:r>
            <a:endParaRPr/>
          </a:p>
        </p:txBody>
      </p:sp>
      <p:sp>
        <p:nvSpPr>
          <p:cNvPr id="388" name="Google Shape;388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9" name="Google Shape;38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0952" y="2416852"/>
            <a:ext cx="4462100" cy="12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3580" y="4730725"/>
            <a:ext cx="3876854" cy="12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Measures of Spread</a:t>
            </a:r>
            <a:endParaRPr/>
          </a:p>
        </p:txBody>
      </p:sp>
      <p:sp>
        <p:nvSpPr>
          <p:cNvPr id="396" name="Google Shape;396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7" name="Google Shape;3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475" y="1272452"/>
            <a:ext cx="7258175" cy="51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403" name="Google Shape;403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 Sanity Checks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importance of fixing magic numbers or numeric flags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Measures of Location: mean, median, percentile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Measures of Spread: interquartile range, standard deviation, variance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04" name="Google Shape;404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410" name="Google Shape;410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