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6858000" cx="9144000"/>
  <p:notesSz cx="6858000" cy="9144000"/>
  <p:embeddedFontLst>
    <p:embeddedFont>
      <p:font typeface="Book Antiqua"/>
      <p:regular r:id="rId49"/>
      <p:bold r:id="rId50"/>
      <p:italic r:id="rId51"/>
      <p:boldItalic r:id="rId52"/>
    </p:embeddedFont>
    <p:embeddedFont>
      <p:font typeface="Century Gothic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7" roundtripDataSignature="AMtx7miq+WSfM1pArlCebl1gPK1bG56A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C27DD3-1DF0-468F-9EF9-BB93B2B354B5}">
  <a:tblStyle styleId="{BDC27DD3-1DF0-468F-9EF9-BB93B2B354B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font" Target="fonts/BookAntiqua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BookAntiqua-italic.fntdata"/><Relationship Id="rId50" Type="http://schemas.openxmlformats.org/officeDocument/2006/relationships/font" Target="fonts/BookAntiqua-bold.fntdata"/><Relationship Id="rId53" Type="http://schemas.openxmlformats.org/officeDocument/2006/relationships/font" Target="fonts/CenturyGothic-regular.fntdata"/><Relationship Id="rId52" Type="http://schemas.openxmlformats.org/officeDocument/2006/relationships/font" Target="fonts/BookAntiqua-boldItalic.fntdata"/><Relationship Id="rId11" Type="http://schemas.openxmlformats.org/officeDocument/2006/relationships/slide" Target="slides/slide5.xml"/><Relationship Id="rId55" Type="http://schemas.openxmlformats.org/officeDocument/2006/relationships/font" Target="fonts/CenturyGothic-italic.fntdata"/><Relationship Id="rId10" Type="http://schemas.openxmlformats.org/officeDocument/2006/relationships/slide" Target="slides/slide4.xml"/><Relationship Id="rId54" Type="http://schemas.openxmlformats.org/officeDocument/2006/relationships/font" Target="fonts/CenturyGothic-bold.fntdata"/><Relationship Id="rId13" Type="http://schemas.openxmlformats.org/officeDocument/2006/relationships/slide" Target="slides/slide7.xml"/><Relationship Id="rId57" Type="http://customschemas.google.com/relationships/presentationmetadata" Target="metadata"/><Relationship Id="rId12" Type="http://schemas.openxmlformats.org/officeDocument/2006/relationships/slide" Target="slides/slide6.xml"/><Relationship Id="rId56" Type="http://schemas.openxmlformats.org/officeDocument/2006/relationships/font" Target="fonts/CenturyGothic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c8c103df9_0_5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7c8c103df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ddec43ef9_0_1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27ddec43ef9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05cb1ff2d7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05cb1ff2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05cb1ff2d7_0_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305cb1ff2d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4"/>
          <p:cNvSpPr txBox="1"/>
          <p:nvPr>
            <p:ph type="ctrTitle"/>
          </p:nvPr>
        </p:nvSpPr>
        <p:spPr>
          <a:xfrm>
            <a:off x="311700" y="925567"/>
            <a:ext cx="8520600" cy="23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44"/>
          <p:cNvSpPr txBox="1"/>
          <p:nvPr>
            <p:ph idx="1" type="subTitle"/>
          </p:nvPr>
        </p:nvSpPr>
        <p:spPr>
          <a:xfrm>
            <a:off x="311700" y="3629900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44"/>
          <p:cNvSpPr txBox="1"/>
          <p:nvPr>
            <p:ph idx="12" type="sldNum"/>
          </p:nvPr>
        </p:nvSpPr>
        <p:spPr>
          <a:xfrm>
            <a:off x="84760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2000"/>
          </a:p>
        </p:txBody>
      </p:sp>
      <p:sp>
        <p:nvSpPr>
          <p:cNvPr id="14" name="Google Shape;14;p44"/>
          <p:cNvSpPr txBox="1"/>
          <p:nvPr>
            <p:ph idx="2" type="subTitle"/>
          </p:nvPr>
        </p:nvSpPr>
        <p:spPr>
          <a:xfrm>
            <a:off x="279775" y="48608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5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8" name="Google Shape;18;p5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2" name="Google Shape;22;p4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6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46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4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7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4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8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" name="Google Shape;33;p4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4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0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50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5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1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1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51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51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6" name="Google Shape;46;p5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2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9" name="Google Shape;49;p5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3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53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5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_Pearson" showMasterSp="0">
  <p:cSld name="Title and Content_Pears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6"/>
          <p:cNvSpPr txBox="1"/>
          <p:nvPr>
            <p:ph type="title"/>
          </p:nvPr>
        </p:nvSpPr>
        <p:spPr>
          <a:xfrm>
            <a:off x="0" y="1"/>
            <a:ext cx="9144000" cy="8367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ook Antiqua"/>
              <a:buNone/>
              <a:defRPr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6"/>
          <p:cNvSpPr txBox="1"/>
          <p:nvPr>
            <p:ph idx="1" type="body"/>
          </p:nvPr>
        </p:nvSpPr>
        <p:spPr>
          <a:xfrm>
            <a:off x="457200" y="1628800"/>
            <a:ext cx="8229600" cy="44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56"/>
          <p:cNvSpPr txBox="1"/>
          <p:nvPr>
            <p:ph idx="11" type="ftr"/>
          </p:nvPr>
        </p:nvSpPr>
        <p:spPr>
          <a:xfrm>
            <a:off x="0" y="6597352"/>
            <a:ext cx="9144000" cy="28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56"/>
          <p:cNvSpPr txBox="1"/>
          <p:nvPr>
            <p:ph idx="12" type="sldNum"/>
          </p:nvPr>
        </p:nvSpPr>
        <p:spPr>
          <a:xfrm>
            <a:off x="8500892" y="6504885"/>
            <a:ext cx="648000" cy="3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56"/>
          <p:cNvSpPr txBox="1"/>
          <p:nvPr/>
        </p:nvSpPr>
        <p:spPr>
          <a:xfrm>
            <a:off x="827585" y="6227885"/>
            <a:ext cx="828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GB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Punch, Enbody “The Practice of Computing Using Python”, ©2013 Pearson Addison-Wesley. All rights reserved</a:t>
            </a:r>
            <a:endParaRPr b="0" i="1" sz="12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2600"/>
          </a:p>
        </p:txBody>
      </p:sp>
      <p:sp>
        <p:nvSpPr>
          <p:cNvPr id="9" name="Google Shape;9;p43"/>
          <p:cNvSpPr/>
          <p:nvPr/>
        </p:nvSpPr>
        <p:spPr>
          <a:xfrm>
            <a:off x="0" y="6542800"/>
            <a:ext cx="9140400" cy="3153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learn.datacamp.com/courses/intro-to-python-for-data-science" TargetMode="External"/><Relationship Id="rId4" Type="http://schemas.openxmlformats.org/officeDocument/2006/relationships/hyperlink" Target="https://learn.datacamp.com/courses/intermediate-python" TargetMode="External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datacamp.com/" TargetMode="External"/><Relationship Id="rId4" Type="http://schemas.openxmlformats.org/officeDocument/2006/relationships/hyperlink" Target="https://www.datacamp.com/groups/shared_links/a5c5ef3c830e553a96bdf3364c75c7326015338026e31eb4cc16b1aa3a1d1945" TargetMode="External"/><Relationship Id="rId9" Type="http://schemas.openxmlformats.org/officeDocument/2006/relationships/hyperlink" Target="https://learn.datacamp.com/courses/web-scraping-in-r" TargetMode="External"/><Relationship Id="rId5" Type="http://schemas.openxmlformats.org/officeDocument/2006/relationships/hyperlink" Target="https://learn.datacamp.com/courses/intro-to-python-for-data-science" TargetMode="External"/><Relationship Id="rId6" Type="http://schemas.openxmlformats.org/officeDocument/2006/relationships/hyperlink" Target="https://learn.datacamp.com/courses/intermediate-python" TargetMode="External"/><Relationship Id="rId7" Type="http://schemas.openxmlformats.org/officeDocument/2006/relationships/hyperlink" Target="https://learn.datacamp.com/courses/free-introduction-to-r" TargetMode="External"/><Relationship Id="rId8" Type="http://schemas.openxmlformats.org/officeDocument/2006/relationships/hyperlink" Target="https://learn.datacamp.com/courses/introduction-to-importing-data-in-r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ocs.python.org/3.1/tutorial/datastructures.html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probabilitycourse.com/chapter1/1_2_0_review_set_theory.php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 txBox="1"/>
          <p:nvPr>
            <p:ph type="ctrTitle"/>
          </p:nvPr>
        </p:nvSpPr>
        <p:spPr>
          <a:xfrm>
            <a:off x="311700" y="925567"/>
            <a:ext cx="8520600" cy="23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Working With Data DATA9910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Week 2</a:t>
            </a:r>
            <a:endParaRPr/>
          </a:p>
        </p:txBody>
      </p:sp>
      <p:sp>
        <p:nvSpPr>
          <p:cNvPr id="67" name="Google Shape;67;p1"/>
          <p:cNvSpPr txBox="1"/>
          <p:nvPr>
            <p:ph idx="1" type="subTitle"/>
          </p:nvPr>
        </p:nvSpPr>
        <p:spPr>
          <a:xfrm>
            <a:off x="311700" y="3803975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Lucas Rizzo</a:t>
            </a:r>
            <a:endParaRPr/>
          </a:p>
        </p:txBody>
      </p:sp>
      <p:pic>
        <p:nvPicPr>
          <p:cNvPr id="68" name="Google Shape;6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2375" y="3749896"/>
            <a:ext cx="3379925" cy="21277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"/>
          <p:cNvSpPr txBox="1"/>
          <p:nvPr>
            <p:ph idx="2" type="subTitle"/>
          </p:nvPr>
        </p:nvSpPr>
        <p:spPr>
          <a:xfrm>
            <a:off x="279775" y="48608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email: lucas.rizzo@tudublin.ie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c8c103df9_0_57"/>
          <p:cNvSpPr txBox="1"/>
          <p:nvPr>
            <p:ph type="title"/>
          </p:nvPr>
        </p:nvSpPr>
        <p:spPr>
          <a:xfrm>
            <a:off x="311700" y="163942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Indicative schedule</a:t>
            </a:r>
            <a:endParaRPr/>
          </a:p>
        </p:txBody>
      </p:sp>
      <p:sp>
        <p:nvSpPr>
          <p:cNvPr id="75" name="Google Shape;75;g37c8c103df9_0_5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76" name="Google Shape;76;g37c8c103df9_0_57"/>
          <p:cNvGraphicFramePr/>
          <p:nvPr/>
        </p:nvGraphicFramePr>
        <p:xfrm>
          <a:off x="412000" y="7569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{BDC27DD3-1DF0-468F-9EF9-BB93B2B354B5}</a:tableStyleId>
              </a:tblPr>
              <a:tblGrid>
                <a:gridCol w="1781900"/>
                <a:gridCol w="6247900"/>
              </a:tblGrid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1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Set up environment and R notebook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2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Review Python and practice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3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/>
                        <a:t>Review R, i</a:t>
                      </a:r>
                      <a:r>
                        <a:rPr lang="en-GB" sz="1200" u="none" cap="none" strike="noStrike"/>
                        <a:t>mporting data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4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Intro SQL and aggregate queries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5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Databases and scripting languages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b="1" sz="1200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6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Interpreting Data (summary statistics, data visualisation)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7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Review week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8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Data manipulation in R</a:t>
                      </a:r>
                      <a:endParaRPr sz="1200" u="none" cap="none" strike="noStrike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Pandas and Numpy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9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Data visualisation in Python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200" u="none" cap="none" strike="noStrike"/>
                        <a:t>Data processing (regular expressions)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10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Audio data (R and tuneR)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sz="1200" u="none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11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Image data (Python and skimage)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b="1" sz="1200" u="none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12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Time series (Python and Pandas)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13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Working on Assignment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200" u="sng" cap="none" strike="noStrike">
                          <a:solidFill>
                            <a:srgbClr val="E06666"/>
                          </a:solidFill>
                        </a:rPr>
                        <a:t>Assignment deadline</a:t>
                      </a:r>
                      <a:endParaRPr sz="1400" u="sng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Overview</a:t>
            </a:r>
            <a:endParaRPr/>
          </a:p>
        </p:txBody>
      </p:sp>
      <p:sp>
        <p:nvSpPr>
          <p:cNvPr id="82" name="Google Shape;82;p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Python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Data types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Functions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Lists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Sets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Dictionaries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Tuples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Strings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Before you start</a:t>
            </a:r>
            <a:endParaRPr/>
          </a:p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You should be familiar with at least one general-purpose language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Functions / Methods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Flow-Control (if/else and loops)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Variables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Types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are going to see a very quick introduction. More training is available on the </a:t>
            </a:r>
            <a:r>
              <a:rPr b="1" lang="en-GB">
                <a:solidFill>
                  <a:schemeClr val="dk1"/>
                </a:solidFill>
              </a:rPr>
              <a:t>datacamps provided.</a:t>
            </a:r>
            <a:endParaRPr b="1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u="sng">
                <a:solidFill>
                  <a:schemeClr val="hlink"/>
                </a:solidFill>
                <a:hlinkClick r:id="rId3"/>
              </a:rPr>
              <a:t>Intro to Python for Data Science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u="sng">
                <a:solidFill>
                  <a:schemeClr val="hlink"/>
                </a:solidFill>
                <a:hlinkClick r:id="rId4"/>
              </a:rPr>
              <a:t>Intermediate Python</a:t>
            </a:r>
            <a:endParaRPr/>
          </a:p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7ddec43ef9_0_11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Datacamp</a:t>
            </a:r>
            <a:endParaRPr/>
          </a:p>
        </p:txBody>
      </p:sp>
      <p:sp>
        <p:nvSpPr>
          <p:cNvPr id="96" name="Google Shape;96;g27ddec43ef9_0_114"/>
          <p:cNvSpPr txBox="1"/>
          <p:nvPr>
            <p:ph idx="1" type="body"/>
          </p:nvPr>
        </p:nvSpPr>
        <p:spPr>
          <a:xfrm>
            <a:off x="311700" y="12318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entury Gothic"/>
              <a:buChar char="●"/>
            </a:pPr>
            <a:r>
              <a:rPr lang="en-GB" sz="2000">
                <a:solidFill>
                  <a:srgbClr val="564B3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 can access </a:t>
            </a:r>
            <a:r>
              <a:rPr lang="en-GB" sz="2000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/>
              </a:rPr>
              <a:t>DataCamp </a:t>
            </a:r>
            <a:r>
              <a:rPr lang="en-GB" sz="2000">
                <a:solidFill>
                  <a:srgbClr val="564B3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courses for extra practice (that is highly recommended)</a:t>
            </a:r>
            <a:br>
              <a:rPr lang="en-GB" sz="2000">
                <a:solidFill>
                  <a:srgbClr val="564B3C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000">
              <a:solidFill>
                <a:srgbClr val="564B3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entury Gothic"/>
              <a:buChar char="●"/>
            </a:pPr>
            <a:r>
              <a:rPr lang="en-GB" sz="2000">
                <a:solidFill>
                  <a:srgbClr val="564B3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Please create an account with the </a:t>
            </a:r>
            <a:r>
              <a:rPr b="1" lang="en-GB" sz="2000">
                <a:solidFill>
                  <a:srgbClr val="564B3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@mytudublin.ie</a:t>
            </a:r>
            <a:r>
              <a:rPr lang="en-GB" sz="2000">
                <a:solidFill>
                  <a:srgbClr val="564B3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domain to have </a:t>
            </a:r>
            <a:r>
              <a:rPr b="1" lang="en-GB" sz="2000">
                <a:solidFill>
                  <a:srgbClr val="564B3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free </a:t>
            </a:r>
            <a:r>
              <a:rPr lang="en-GB" sz="2000">
                <a:solidFill>
                  <a:srgbClr val="564B3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access to all courses through the link below</a:t>
            </a:r>
            <a:br>
              <a:rPr lang="en-GB" sz="2000">
                <a:solidFill>
                  <a:srgbClr val="564B3C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000">
              <a:solidFill>
                <a:srgbClr val="564B3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4"/>
              </a:rPr>
              <a:t>Link to register on DataCamp</a:t>
            </a:r>
            <a:endParaRPr b="1" sz="2000">
              <a:solidFill>
                <a:srgbClr val="564B3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564B3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entury Gothic"/>
              <a:buChar char="●"/>
            </a:pPr>
            <a:r>
              <a:rPr lang="en-GB" sz="2000">
                <a:solidFill>
                  <a:srgbClr val="564B3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Some courses that might help you in the first weeks (not all there is covered in this module):</a:t>
            </a:r>
            <a:br>
              <a:rPr lang="en-GB" sz="2000">
                <a:solidFill>
                  <a:srgbClr val="564B3C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GB" sz="2000">
                <a:solidFill>
                  <a:srgbClr val="564B3C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GB" sz="2000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5"/>
              </a:rPr>
              <a:t>Intro to Python for Data Science</a:t>
            </a:r>
            <a:br>
              <a:rPr lang="en-GB" sz="2000">
                <a:solidFill>
                  <a:srgbClr val="564B3C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GB" sz="2000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6"/>
              </a:rPr>
              <a:t>Intermediate Python</a:t>
            </a:r>
            <a:endParaRPr sz="2000">
              <a:solidFill>
                <a:srgbClr val="564B3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7"/>
              </a:rPr>
              <a:t>	Introduction to R</a:t>
            </a:r>
            <a:endParaRPr sz="2000">
              <a:solidFill>
                <a:srgbClr val="564B3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8"/>
              </a:rPr>
              <a:t>Introduction to importing data to R</a:t>
            </a:r>
            <a:endParaRPr sz="2000">
              <a:solidFill>
                <a:srgbClr val="564B3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9"/>
              </a:rPr>
              <a:t>Web scraping in R</a:t>
            </a:r>
            <a:endParaRPr sz="20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564B3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27ddec43ef9_0_11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8" name="Google Shape;98;g27ddec43ef9_0_1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163850" y="468325"/>
            <a:ext cx="763500" cy="76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Python Built-in Data Types</a:t>
            </a:r>
            <a:endParaRPr/>
          </a:p>
        </p:txBody>
      </p:sp>
      <p:sp>
        <p:nvSpPr>
          <p:cNvPr id="104" name="Google Shape;104;p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473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Integer</a:t>
            </a:r>
            <a:r>
              <a:rPr lang="en-GB"/>
              <a:t>: Whole numbers (can’t contain decimals)</a:t>
            </a:r>
            <a:endParaRPr/>
          </a:p>
          <a:p>
            <a:pPr indent="-3473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Float</a:t>
            </a:r>
            <a:r>
              <a:rPr lang="en-GB"/>
              <a:t>: Any number (can contain decimals)</a:t>
            </a:r>
            <a:endParaRPr/>
          </a:p>
          <a:p>
            <a:pPr indent="-3473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Boolean</a:t>
            </a:r>
            <a:r>
              <a:rPr lang="en-GB"/>
              <a:t>: Either True or False</a:t>
            </a:r>
            <a:endParaRPr/>
          </a:p>
          <a:p>
            <a:pPr indent="-3473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String</a:t>
            </a:r>
            <a:r>
              <a:rPr lang="en-GB"/>
              <a:t>: Text </a:t>
            </a:r>
            <a:endParaRPr/>
          </a:p>
          <a:p>
            <a:pPr indent="-3473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List</a:t>
            </a:r>
            <a:r>
              <a:rPr lang="en-GB"/>
              <a:t>: A collection of values arranged one after the other</a:t>
            </a:r>
            <a:endParaRPr/>
          </a:p>
          <a:p>
            <a:pPr indent="-3473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Set</a:t>
            </a:r>
            <a:r>
              <a:rPr lang="en-GB"/>
              <a:t>: A collection of values with no duplicates</a:t>
            </a:r>
            <a:endParaRPr/>
          </a:p>
          <a:p>
            <a:pPr indent="-3473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Dictionary</a:t>
            </a:r>
            <a:r>
              <a:rPr lang="en-GB"/>
              <a:t>: A collection of values which can be accessed with lookups</a:t>
            </a:r>
            <a:endParaRPr/>
          </a:p>
          <a:p>
            <a:pPr indent="-3473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Tuple</a:t>
            </a:r>
            <a:r>
              <a:rPr lang="en-GB"/>
              <a:t>: Similar to a list, but with a fixed size and order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7646"/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Checking and Converting Types</a:t>
            </a:r>
            <a:endParaRPr/>
          </a:p>
        </p:txBody>
      </p:sp>
      <p:sp>
        <p:nvSpPr>
          <p:cNvPr id="111" name="Google Shape;111;p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Usually you don’t need to worry about data types.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If you need to check you can use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type()</a:t>
            </a:r>
            <a:r>
              <a:rPr lang="en-GB"/>
              <a:t> function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This is called </a:t>
            </a:r>
            <a:r>
              <a:rPr b="1" i="1" lang="en-GB"/>
              <a:t>introspection</a:t>
            </a:r>
            <a:r>
              <a:rPr lang="en-GB"/>
              <a:t>, meaning that a variable might change its type, and you can check that during runtime.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3" name="Google Shape;11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587374"/>
            <a:ext cx="9143999" cy="2007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Python functions</a:t>
            </a:r>
            <a:endParaRPr/>
          </a:p>
        </p:txBody>
      </p:sp>
      <p:sp>
        <p:nvSpPr>
          <p:cNvPr id="119" name="Google Shape;119;p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A Python function is a block of code that returns something and that we can run later in the script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It allows us to reuse code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Functions can take zero or more parameters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 sz="1900"/>
          </a:p>
        </p:txBody>
      </p:sp>
      <p:sp>
        <p:nvSpPr>
          <p:cNvPr id="120" name="Google Shape;120;p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21" name="Google Shape;12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375" y="3200402"/>
            <a:ext cx="7832299" cy="3052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05cb1ff2d7_0_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Python functions</a:t>
            </a:r>
            <a:endParaRPr/>
          </a:p>
        </p:txBody>
      </p:sp>
      <p:sp>
        <p:nvSpPr>
          <p:cNvPr id="127" name="Google Shape;127;g305cb1ff2d7_0_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28" name="Google Shape;128;g305cb1ff2d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300" y="1275492"/>
            <a:ext cx="7353738" cy="5196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What is a Python List?</a:t>
            </a:r>
            <a:endParaRPr/>
          </a:p>
        </p:txBody>
      </p:sp>
      <p:sp>
        <p:nvSpPr>
          <p:cNvPr id="134" name="Google Shape;134;p8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-3480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7523"/>
              <a:t>A list lets us pack lots of values into a single variable</a:t>
            </a:r>
            <a:endParaRPr sz="7523"/>
          </a:p>
          <a:p>
            <a:pPr indent="-3480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7523"/>
              <a:t>Similar to an array in most other languages</a:t>
            </a:r>
            <a:endParaRPr sz="7523"/>
          </a:p>
          <a:p>
            <a:pPr indent="-3480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7523"/>
              <a:t>We can use loops to process each item in an array</a:t>
            </a:r>
            <a:endParaRPr sz="7523"/>
          </a:p>
          <a:p>
            <a:pPr indent="-3480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7523"/>
              <a:t>Or we can retrieve items individually by index</a:t>
            </a:r>
            <a:endParaRPr sz="7523"/>
          </a:p>
          <a:p>
            <a:pPr indent="-3480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7523"/>
              <a:t>Python allows you to store different data types in a single list</a:t>
            </a:r>
            <a:endParaRPr/>
          </a:p>
        </p:txBody>
      </p:sp>
      <p:sp>
        <p:nvSpPr>
          <p:cNvPr id="135" name="Google Shape;135;p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36" name="Google Shape;13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1275" y="1365513"/>
            <a:ext cx="4238249" cy="3669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Working with Lists</a:t>
            </a:r>
            <a:endParaRPr/>
          </a:p>
        </p:txBody>
      </p:sp>
      <p:sp>
        <p:nvSpPr>
          <p:cNvPr id="142" name="Google Shape;142;p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create a list in Python using square-bracket notation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add items to the end of a list using the list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append()</a:t>
            </a:r>
            <a:r>
              <a:rPr lang="en-GB"/>
              <a:t> method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remove items using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remove()</a:t>
            </a:r>
            <a:r>
              <a:rPr lang="en-GB"/>
              <a:t> method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This removes the first occurrence only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If the item doesn’t exist in the list we get an error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43" name="Google Shape;143;p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4" name="Google Shape;14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7075" y="3885920"/>
            <a:ext cx="4443224" cy="257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Accessing Items by Index</a:t>
            </a:r>
            <a:endParaRPr/>
          </a:p>
        </p:txBody>
      </p:sp>
      <p:sp>
        <p:nvSpPr>
          <p:cNvPr id="150" name="Google Shape;150;p1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Each item in a list has an index, or position, within the list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Python indexes are zero-based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This means the first item has an index of 0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The second item has an index of 1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use the index to retrieve an item from a list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51" name="Google Shape;151;p1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Accessing Items by Index</a:t>
            </a:r>
            <a:endParaRPr/>
          </a:p>
        </p:txBody>
      </p:sp>
      <p:sp>
        <p:nvSpPr>
          <p:cNvPr id="157" name="Google Shape;157;p1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8" name="Google Shape;15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200" y="5792300"/>
            <a:ext cx="77247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5675" y="1714139"/>
            <a:ext cx="6129826" cy="37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Inserting Items</a:t>
            </a:r>
            <a:endParaRPr/>
          </a:p>
        </p:txBody>
      </p:sp>
      <p:sp>
        <p:nvSpPr>
          <p:cNvPr id="165" name="Google Shape;165;p1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insert an item in a specific position using the list </a:t>
            </a:r>
            <a:r>
              <a:rPr b="1" lang="en-GB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insert()</a:t>
            </a:r>
            <a:r>
              <a:rPr lang="en-GB"/>
              <a:t> method.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Or add something in the last position using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append()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66" name="Google Shape;166;p1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7" name="Google Shape;16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3300" y="2772938"/>
            <a:ext cx="4876800" cy="11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3288" y="4858588"/>
            <a:ext cx="5095875" cy="100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List operators</a:t>
            </a:r>
            <a:endParaRPr/>
          </a:p>
        </p:txBody>
      </p:sp>
      <p:sp>
        <p:nvSpPr>
          <p:cNvPr id="174" name="Google Shape;174;p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Concatenate  </a:t>
            </a:r>
            <a:r>
              <a:rPr b="1" lang="en-GB"/>
              <a:t>+</a:t>
            </a:r>
            <a:endParaRPr b="1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Repeat </a:t>
            </a:r>
            <a:r>
              <a:rPr b="1" lang="en-GB"/>
              <a:t>*</a:t>
            </a:r>
            <a:endParaRPr b="1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Indexing the </a:t>
            </a:r>
            <a:r>
              <a:rPr b="1" lang="en-GB"/>
              <a:t>[ ]</a:t>
            </a:r>
            <a:r>
              <a:rPr lang="en-GB"/>
              <a:t> operator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Slicing </a:t>
            </a:r>
            <a:r>
              <a:rPr b="1" lang="en-GB"/>
              <a:t>[start:end:step]</a:t>
            </a:r>
            <a:r>
              <a:rPr lang="en-GB"/>
              <a:t> (end not inclusive)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Membership (the </a:t>
            </a:r>
            <a:r>
              <a:rPr b="1" lang="en-GB"/>
              <a:t>in </a:t>
            </a:r>
            <a:r>
              <a:rPr lang="en-GB"/>
              <a:t>operator)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Length </a:t>
            </a:r>
            <a:r>
              <a:rPr b="1" lang="en-GB"/>
              <a:t>len </a:t>
            </a:r>
            <a:r>
              <a:rPr lang="en-GB"/>
              <a:t>(the length operator)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75" name="Google Shape;175;p1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Lists of lists</a:t>
            </a:r>
            <a:endParaRPr/>
          </a:p>
        </p:txBody>
      </p:sp>
      <p:sp>
        <p:nvSpPr>
          <p:cNvPr id="181" name="Google Shape;181;p15"/>
          <p:cNvSpPr txBox="1"/>
          <p:nvPr>
            <p:ph idx="1" type="body"/>
          </p:nvPr>
        </p:nvSpPr>
        <p:spPr>
          <a:xfrm>
            <a:off x="-304900" y="13080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rPr lang="en-GB"/>
              <a:t>What is the second element (index 1) of that list? Another list.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82" name="Google Shape;182;p1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3" name="Google Shape;18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035031"/>
            <a:ext cx="9144002" cy="1527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725" y="1590500"/>
            <a:ext cx="8834551" cy="48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Some list methods</a:t>
            </a:r>
            <a:endParaRPr/>
          </a:p>
        </p:txBody>
      </p:sp>
      <p:sp>
        <p:nvSpPr>
          <p:cNvPr id="190" name="Google Shape;190;p1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798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80"/>
              <a:buChar char="●"/>
            </a:pPr>
            <a:r>
              <a:rPr lang="en-GB" sz="1879"/>
              <a:t>A list is mutable and can change</a:t>
            </a:r>
            <a:endParaRPr sz="1879"/>
          </a:p>
          <a:p>
            <a:pPr indent="-34798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80"/>
              <a:buFont typeface="Courier"/>
              <a:buChar char="○"/>
            </a:pPr>
            <a:r>
              <a:rPr lang="en-GB" sz="1879">
                <a:latin typeface="Courier"/>
                <a:ea typeface="Courier"/>
                <a:cs typeface="Courier"/>
                <a:sym typeface="Courier"/>
              </a:rPr>
              <a:t>my_list[0] = 'a'  #index assignment</a:t>
            </a:r>
            <a:endParaRPr sz="1879">
              <a:latin typeface="Courier"/>
              <a:ea typeface="Courier"/>
              <a:cs typeface="Courier"/>
              <a:sym typeface="Courier"/>
            </a:endParaRPr>
          </a:p>
          <a:p>
            <a:pPr indent="-34798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80"/>
              <a:buFont typeface="Courier"/>
              <a:buChar char="○"/>
            </a:pPr>
            <a:r>
              <a:rPr lang="en-GB" sz="1879">
                <a:latin typeface="Courier"/>
                <a:ea typeface="Courier"/>
                <a:cs typeface="Courier"/>
                <a:sym typeface="Courier"/>
              </a:rPr>
              <a:t>my_list.append()</a:t>
            </a:r>
            <a:endParaRPr sz="1879">
              <a:latin typeface="Courier"/>
              <a:ea typeface="Courier"/>
              <a:cs typeface="Courier"/>
              <a:sym typeface="Courier"/>
            </a:endParaRPr>
          </a:p>
          <a:p>
            <a:pPr indent="-34798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80"/>
              <a:buFont typeface="Courier"/>
              <a:buChar char="○"/>
            </a:pPr>
            <a:r>
              <a:rPr lang="en-GB" sz="1879">
                <a:latin typeface="Courier"/>
                <a:ea typeface="Courier"/>
                <a:cs typeface="Courier"/>
                <a:sym typeface="Courier"/>
              </a:rPr>
              <a:t>my_list.extend()</a:t>
            </a:r>
            <a:endParaRPr sz="1879">
              <a:latin typeface="Courier"/>
              <a:ea typeface="Courier"/>
              <a:cs typeface="Courier"/>
              <a:sym typeface="Courier"/>
            </a:endParaRPr>
          </a:p>
          <a:p>
            <a:pPr indent="-34798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80"/>
              <a:buFont typeface="Courier"/>
              <a:buChar char="○"/>
            </a:pPr>
            <a:r>
              <a:rPr lang="en-GB" sz="1879">
                <a:latin typeface="Courier"/>
                <a:ea typeface="Courier"/>
                <a:cs typeface="Courier"/>
                <a:sym typeface="Courier"/>
              </a:rPr>
              <a:t>my_list.pop()</a:t>
            </a:r>
            <a:endParaRPr sz="1879">
              <a:latin typeface="Courier"/>
              <a:ea typeface="Courier"/>
              <a:cs typeface="Courier"/>
              <a:sym typeface="Courier"/>
            </a:endParaRPr>
          </a:p>
          <a:p>
            <a:pPr indent="-34798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80"/>
              <a:buFont typeface="Courier"/>
              <a:buChar char="○"/>
            </a:pPr>
            <a:r>
              <a:rPr lang="en-GB" sz="1879">
                <a:latin typeface="Courier"/>
                <a:ea typeface="Courier"/>
                <a:cs typeface="Courier"/>
                <a:sym typeface="Courier"/>
              </a:rPr>
              <a:t>my_list.insert()</a:t>
            </a:r>
            <a:endParaRPr sz="1879">
              <a:latin typeface="Courier"/>
              <a:ea typeface="Courier"/>
              <a:cs typeface="Courier"/>
              <a:sym typeface="Courier"/>
            </a:endParaRPr>
          </a:p>
          <a:p>
            <a:pPr indent="-34798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80"/>
              <a:buFont typeface="Courier"/>
              <a:buChar char="○"/>
            </a:pPr>
            <a:r>
              <a:rPr lang="en-GB" sz="1879">
                <a:latin typeface="Courier"/>
                <a:ea typeface="Courier"/>
                <a:cs typeface="Courier"/>
                <a:sym typeface="Courier"/>
              </a:rPr>
              <a:t>my_list.remove()</a:t>
            </a:r>
            <a:endParaRPr sz="1879">
              <a:latin typeface="Courier"/>
              <a:ea typeface="Courier"/>
              <a:cs typeface="Courier"/>
              <a:sym typeface="Courier"/>
            </a:endParaRPr>
          </a:p>
          <a:p>
            <a:pPr indent="-34798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80"/>
              <a:buFont typeface="Courier"/>
              <a:buChar char="○"/>
            </a:pPr>
            <a:r>
              <a:rPr lang="en-GB" sz="1879">
                <a:latin typeface="Courier"/>
                <a:ea typeface="Courier"/>
                <a:cs typeface="Courier"/>
                <a:sym typeface="Courier"/>
              </a:rPr>
              <a:t>my_list.sort()</a:t>
            </a:r>
            <a:endParaRPr sz="1879">
              <a:latin typeface="Courier"/>
              <a:ea typeface="Courier"/>
              <a:cs typeface="Courier"/>
              <a:sym typeface="Courier"/>
            </a:endParaRPr>
          </a:p>
          <a:p>
            <a:pPr indent="-34798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80"/>
              <a:buFont typeface="Courier"/>
              <a:buChar char="○"/>
            </a:pPr>
            <a:r>
              <a:rPr lang="en-GB" sz="1879">
                <a:latin typeface="Courier"/>
                <a:ea typeface="Courier"/>
                <a:cs typeface="Courier"/>
                <a:sym typeface="Courier"/>
              </a:rPr>
              <a:t>my_list.reverse()</a:t>
            </a:r>
            <a:endParaRPr sz="1879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t/>
            </a:r>
            <a:endParaRPr sz="1879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GB" sz="1879"/>
              <a:t>Python documentation:</a:t>
            </a:r>
            <a:endParaRPr sz="1879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GB" sz="1879" u="sng">
                <a:solidFill>
                  <a:schemeClr val="hlink"/>
                </a:solidFill>
                <a:hlinkClick r:id="rId3"/>
              </a:rPr>
              <a:t>https://docs.python.org/3.1/tutorial/datastructures.html</a:t>
            </a:r>
            <a:endParaRPr sz="1879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t/>
            </a:r>
            <a:endParaRPr sz="1879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1879"/>
          </a:p>
        </p:txBody>
      </p:sp>
      <p:sp>
        <p:nvSpPr>
          <p:cNvPr id="191" name="Google Shape;191;p1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List comprehension	</a:t>
            </a:r>
            <a:endParaRPr/>
          </a:p>
        </p:txBody>
      </p:sp>
      <p:sp>
        <p:nvSpPr>
          <p:cNvPr id="197" name="Google Shape;197;p1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List comprehensions are a very readable way of creating lists (once you get used to them)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98" name="Google Shape;198;p1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99" name="Google Shape;19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900" y="2834465"/>
            <a:ext cx="8520599" cy="1153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Sorting Lists	</a:t>
            </a:r>
            <a:endParaRPr/>
          </a:p>
        </p:txBody>
      </p:sp>
      <p:sp>
        <p:nvSpPr>
          <p:cNvPr id="205" name="Google Shape;205;p1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use the list </a:t>
            </a:r>
            <a:r>
              <a:rPr b="1" lang="en-GB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sort()</a:t>
            </a:r>
            <a:r>
              <a:rPr lang="en-GB"/>
              <a:t> method to sort a list in ascending order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06" name="Google Shape;206;p1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07" name="Google Shape;20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425" y="2738925"/>
            <a:ext cx="8667151" cy="245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Tuples</a:t>
            </a:r>
            <a:endParaRPr/>
          </a:p>
        </p:txBody>
      </p:sp>
      <p:sp>
        <p:nvSpPr>
          <p:cNvPr id="213" name="Google Shape;213;p2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4734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Tuples are </a:t>
            </a:r>
            <a:r>
              <a:rPr b="1" lang="en-GB"/>
              <a:t>immutable </a:t>
            </a:r>
            <a:r>
              <a:rPr lang="en-GB"/>
              <a:t>sequences</a:t>
            </a:r>
            <a:endParaRPr/>
          </a:p>
          <a:p>
            <a:pPr indent="-34734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They are printed with (,) and similarly to lists can have various length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6"/>
              <a:buNone/>
            </a:pPr>
            <a:br>
              <a:rPr lang="en-GB"/>
            </a:br>
            <a:endParaRPr/>
          </a:p>
          <a:p>
            <a:pPr indent="-34734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Not a tuple, multiple assignment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7646"/>
              <a:buNone/>
            </a:pPr>
            <a:r>
              <a:t/>
            </a:r>
            <a:endParaRPr/>
          </a:p>
        </p:txBody>
      </p:sp>
      <p:sp>
        <p:nvSpPr>
          <p:cNvPr id="214" name="Google Shape;214;p2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15" name="Google Shape;2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238" y="4887363"/>
            <a:ext cx="24003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951" y="2396425"/>
            <a:ext cx="1884900" cy="181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Tuples</a:t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For the most part, tuples work exactly like lists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However, an immutable list gives you a data structure with some integrity, some permanent-ness if you will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You know you cannot accidentally change one.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Tuples</a:t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Everything that works with a list works with a tuple </a:t>
            </a:r>
            <a:r>
              <a:rPr b="1" lang="en-GB"/>
              <a:t>except </a:t>
            </a:r>
            <a:r>
              <a:rPr lang="en-GB"/>
              <a:t>methods that modify the tuple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Thus indexing, slicing, len, print all work as expected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However, none of the mutable methods work: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append, extend, del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30" name="Google Shape;230;p2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Tuples</a:t>
            </a:r>
            <a:endParaRPr/>
          </a:p>
        </p:txBody>
      </p:sp>
      <p:sp>
        <p:nvSpPr>
          <p:cNvPr id="236" name="Google Shape;236;p2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For tuples you can think of a comma as the operator that makes a tuple, where the ( ) simply acts as a grouping: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38" name="Google Shape;23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3095555"/>
            <a:ext cx="6023225" cy="1437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4"/>
          <p:cNvSpPr txBox="1"/>
          <p:nvPr/>
        </p:nvSpPr>
        <p:spPr>
          <a:xfrm>
            <a:off x="6148050" y="3764325"/>
            <a:ext cx="240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That is an integer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Tuples</a:t>
            </a:r>
            <a:endParaRPr/>
          </a:p>
        </p:txBody>
      </p:sp>
      <p:sp>
        <p:nvSpPr>
          <p:cNvPr id="245" name="Google Shape;245;p2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Suppose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my_tuple = (1,2,3,4,5)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Concatenate: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my_tuple + my_tuple 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Repetition: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my_tuple * 3 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Index access: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my_tuple[1] 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Index access: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my_tuple[-1]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Slice: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my_tuple[:3]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Slice: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my_tuple[1:3]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Membership: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2 </a:t>
            </a:r>
            <a:r>
              <a:rPr b="1" lang="en-GB">
                <a:latin typeface="Courier"/>
                <a:ea typeface="Courier"/>
                <a:cs typeface="Courier"/>
                <a:sym typeface="Courier"/>
              </a:rPr>
              <a:t>in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my_tuple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Membership: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10 </a:t>
            </a:r>
            <a:r>
              <a:rPr b="1" lang="en-GB">
                <a:latin typeface="Courier"/>
                <a:ea typeface="Courier"/>
                <a:cs typeface="Courier"/>
                <a:sym typeface="Courier"/>
              </a:rPr>
              <a:t>in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my_tuple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Length: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len(my_tuple)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Minimum: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min(my_tuple)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Maximum: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max(my_tuple)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Sum: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sum(my_tuple)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Comparison: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(1,2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,3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) &gt; (1,2,1)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46" name="Google Shape;246;p2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Python Sets</a:t>
            </a:r>
            <a:endParaRPr/>
          </a:p>
        </p:txBody>
      </p:sp>
      <p:sp>
        <p:nvSpPr>
          <p:cNvPr id="252" name="Google Shape;252;p2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 python set is similar to a list but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Sets can't contain any duplicates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Sets are unordered (no index)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Sets follow the rules for mathematical Set Theory</a:t>
            </a:r>
            <a:endParaRPr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 u="sng">
                <a:solidFill>
                  <a:schemeClr val="hlink"/>
                </a:solidFill>
                <a:hlinkClick r:id="rId3"/>
              </a:rPr>
              <a:t>https://www.probabilitycourse.com/chapter1/1_2_0_review_set_theory.php</a:t>
            </a:r>
            <a:endParaRPr sz="17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Checking if an item exists in a set is very fast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53" name="Google Shape;253;p2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Creating a set</a:t>
            </a:r>
            <a:endParaRPr/>
          </a:p>
        </p:txBody>
      </p:sp>
      <p:sp>
        <p:nvSpPr>
          <p:cNvPr id="259" name="Google Shape;259;p2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56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5"/>
              <a:buChar char="●"/>
            </a:pPr>
            <a:r>
              <a:rPr lang="en-GB" sz="1904"/>
              <a:t>Sets can be created in one of two ways:</a:t>
            </a:r>
            <a:endParaRPr sz="1904"/>
          </a:p>
          <a:p>
            <a:pPr indent="-329882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95"/>
              <a:buChar char="○"/>
            </a:pPr>
            <a:r>
              <a:rPr lang="en-GB" sz="1595"/>
              <a:t>constructor: </a:t>
            </a:r>
            <a:r>
              <a:rPr lang="en-GB" sz="1595">
                <a:latin typeface="Courier"/>
                <a:ea typeface="Courier"/>
                <a:cs typeface="Courier"/>
                <a:sym typeface="Courier"/>
              </a:rPr>
              <a:t>set(iterable)</a:t>
            </a:r>
            <a:r>
              <a:rPr lang="en-GB" sz="1595"/>
              <a:t> where the argument is iterable</a:t>
            </a:r>
            <a:endParaRPr sz="159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GB" sz="1904">
                <a:latin typeface="Courier"/>
                <a:ea typeface="Courier"/>
                <a:cs typeface="Courier"/>
                <a:sym typeface="Courier"/>
              </a:rPr>
              <a:t>		my_set = set('abc')</a:t>
            </a:r>
            <a:endParaRPr sz="1904">
              <a:latin typeface="Courier"/>
              <a:ea typeface="Courier"/>
              <a:cs typeface="Courier"/>
              <a:sym typeface="Courier"/>
            </a:endParaRPr>
          </a:p>
          <a:p>
            <a:pPr indent="457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-GB" sz="1904">
                <a:latin typeface="Courier"/>
                <a:ea typeface="Courier"/>
                <a:cs typeface="Courier"/>
                <a:sym typeface="Courier"/>
              </a:rPr>
              <a:t>print(my_set) 🡪 {'a', 'b', 'c'}</a:t>
            </a:r>
            <a:endParaRPr sz="1904"/>
          </a:p>
          <a:p>
            <a:pPr indent="-329882" lvl="1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95"/>
              <a:buChar char="○"/>
            </a:pPr>
            <a:r>
              <a:rPr lang="en-GB" sz="1595"/>
              <a:t>shortcut: </a:t>
            </a:r>
            <a:r>
              <a:rPr lang="en-GB" sz="1595">
                <a:latin typeface="Courier New"/>
                <a:ea typeface="Courier New"/>
                <a:cs typeface="Courier New"/>
                <a:sym typeface="Courier New"/>
              </a:rPr>
              <a:t>{}</a:t>
            </a:r>
            <a:r>
              <a:rPr lang="en-GB" sz="1595"/>
              <a:t>, curly brackets where the elements have no colons</a:t>
            </a:r>
            <a:endParaRPr sz="1595"/>
          </a:p>
          <a:p>
            <a:pPr indent="457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-GB" sz="1904">
                <a:latin typeface="Courier"/>
                <a:ea typeface="Courier"/>
                <a:cs typeface="Courier"/>
                <a:sym typeface="Courier"/>
              </a:rPr>
              <a:t>my_set = {'a', 'b','c'}</a:t>
            </a:r>
            <a:br>
              <a:rPr lang="en-GB" sz="1904">
                <a:latin typeface="Courier"/>
                <a:ea typeface="Courier"/>
                <a:cs typeface="Courier"/>
                <a:sym typeface="Courier"/>
              </a:rPr>
            </a:br>
            <a:endParaRPr sz="1904">
              <a:latin typeface="Courier"/>
              <a:ea typeface="Courier"/>
              <a:cs typeface="Courier"/>
              <a:sym typeface="Courier"/>
            </a:endParaRPr>
          </a:p>
          <a:p>
            <a:pPr indent="-34956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905"/>
              <a:buChar char="●"/>
            </a:pPr>
            <a:r>
              <a:rPr lang="en-GB" sz="1904"/>
              <a:t>Duplicates are automatically removed</a:t>
            </a:r>
            <a:endParaRPr sz="1904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-GB" sz="1904">
                <a:latin typeface="Courier"/>
                <a:ea typeface="Courier"/>
                <a:cs typeface="Courier"/>
                <a:sym typeface="Courier"/>
              </a:rPr>
              <a:t>my_set = set("aabbccdd")</a:t>
            </a:r>
            <a:endParaRPr sz="1904">
              <a:latin typeface="Courier"/>
              <a:ea typeface="Courier"/>
              <a:cs typeface="Courier"/>
              <a:sym typeface="Courier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-GB" sz="1904">
                <a:latin typeface="Courier"/>
                <a:ea typeface="Courier"/>
                <a:cs typeface="Courier"/>
                <a:sym typeface="Courier"/>
              </a:rPr>
              <a:t>print(my_set) 🡪 {'a', 'c', 'b', 'd'}</a:t>
            </a:r>
            <a:endParaRPr sz="1904">
              <a:latin typeface="Courier"/>
              <a:ea typeface="Courier"/>
              <a:cs typeface="Courier"/>
              <a:sym typeface="Courier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904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904"/>
          </a:p>
        </p:txBody>
      </p:sp>
      <p:sp>
        <p:nvSpPr>
          <p:cNvPr id="260" name="Google Shape;260;p2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Set Operations</a:t>
            </a:r>
            <a:endParaRPr/>
          </a:p>
        </p:txBody>
      </p:sp>
      <p:sp>
        <p:nvSpPr>
          <p:cNvPr id="266" name="Google Shape;266;p2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-GB" sz="21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len(s)</a:t>
            </a:r>
            <a:r>
              <a:rPr lang="en-GB" sz="2100"/>
              <a:t> → Number of elements in the set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x </a:t>
            </a:r>
            <a:r>
              <a:rPr b="1" lang="en-GB" sz="2100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in </a:t>
            </a:r>
            <a:r>
              <a:rPr lang="en-GB" sz="2100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s</a:t>
            </a:r>
            <a:r>
              <a:rPr lang="en-GB" sz="2100"/>
              <a:t> → test if set </a:t>
            </a:r>
            <a:r>
              <a:rPr lang="en-GB" sz="2100">
                <a:latin typeface="Courier"/>
                <a:ea typeface="Courier"/>
                <a:cs typeface="Courier"/>
                <a:sym typeface="Courier"/>
              </a:rPr>
              <a:t>s</a:t>
            </a:r>
            <a:r>
              <a:rPr lang="en-GB" sz="2100"/>
              <a:t> contains value </a:t>
            </a:r>
            <a:r>
              <a:rPr lang="en-GB" sz="2100">
                <a:latin typeface="Courier"/>
                <a:ea typeface="Courier"/>
                <a:cs typeface="Courier"/>
                <a:sym typeface="Courier"/>
              </a:rPr>
              <a:t>x</a:t>
            </a:r>
            <a:endParaRPr sz="2100">
              <a:latin typeface="Courier"/>
              <a:ea typeface="Courier"/>
              <a:cs typeface="Courier"/>
              <a:sym typeface="Courier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x </a:t>
            </a:r>
            <a:r>
              <a:rPr b="1" lang="en-GB" sz="2100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not in</a:t>
            </a:r>
            <a:r>
              <a:rPr lang="en-GB" sz="2100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 s</a:t>
            </a:r>
            <a:r>
              <a:rPr lang="en-GB" sz="2100"/>
              <a:t> → the opposite of </a:t>
            </a:r>
            <a:r>
              <a:rPr lang="en-GB" sz="2100"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lang="en-GB" sz="2100"/>
              <a:t> in </a:t>
            </a:r>
            <a:r>
              <a:rPr lang="en-GB" sz="2100">
                <a:latin typeface="Courier"/>
                <a:ea typeface="Courier"/>
                <a:cs typeface="Courier"/>
                <a:sym typeface="Courier"/>
              </a:rPr>
              <a:t>s</a:t>
            </a:r>
            <a:endParaRPr sz="2100">
              <a:latin typeface="Courier"/>
              <a:ea typeface="Courier"/>
              <a:cs typeface="Courier"/>
              <a:sym typeface="Courier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s.union(t)</a:t>
            </a:r>
            <a:r>
              <a:rPr lang="en-GB" sz="2100"/>
              <a:t> → new set with everything in </a:t>
            </a:r>
            <a:r>
              <a:rPr lang="en-GB" sz="2100">
                <a:latin typeface="Courier"/>
                <a:ea typeface="Courier"/>
                <a:cs typeface="Courier"/>
                <a:sym typeface="Courier"/>
              </a:rPr>
              <a:t>s</a:t>
            </a:r>
            <a:r>
              <a:rPr lang="en-GB" sz="2100"/>
              <a:t> and everything in </a:t>
            </a:r>
            <a:r>
              <a:rPr lang="en-GB" sz="2100">
                <a:latin typeface="Courier"/>
                <a:ea typeface="Courier"/>
                <a:cs typeface="Courier"/>
                <a:sym typeface="Courier"/>
              </a:rPr>
              <a:t>t</a:t>
            </a:r>
            <a:endParaRPr sz="2100">
              <a:latin typeface="Courier"/>
              <a:ea typeface="Courier"/>
              <a:cs typeface="Courier"/>
              <a:sym typeface="Courier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s.intersection(t)</a:t>
            </a:r>
            <a:r>
              <a:rPr lang="en-GB" sz="2100"/>
              <a:t> → new set containing elements in both </a:t>
            </a:r>
            <a:r>
              <a:rPr lang="en-GB" sz="2100">
                <a:latin typeface="Courier"/>
                <a:ea typeface="Courier"/>
                <a:cs typeface="Courier"/>
                <a:sym typeface="Courier"/>
              </a:rPr>
              <a:t>s</a:t>
            </a:r>
            <a:r>
              <a:rPr lang="en-GB" sz="2100"/>
              <a:t> and </a:t>
            </a:r>
            <a:r>
              <a:rPr lang="en-GB" sz="2100">
                <a:latin typeface="Courier"/>
                <a:ea typeface="Courier"/>
                <a:cs typeface="Courier"/>
                <a:sym typeface="Courier"/>
              </a:rPr>
              <a:t>t</a:t>
            </a:r>
            <a:endParaRPr sz="2100">
              <a:latin typeface="Courier"/>
              <a:ea typeface="Courier"/>
              <a:cs typeface="Courier"/>
              <a:sym typeface="Courier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s.difference(t)</a:t>
            </a:r>
            <a:r>
              <a:rPr lang="en-GB" sz="2100"/>
              <a:t> → new set with elements in </a:t>
            </a:r>
            <a:r>
              <a:rPr lang="en-GB" sz="2100">
                <a:latin typeface="Courier"/>
                <a:ea typeface="Courier"/>
                <a:cs typeface="Courier"/>
                <a:sym typeface="Courier"/>
              </a:rPr>
              <a:t>s</a:t>
            </a:r>
            <a:r>
              <a:rPr lang="en-GB" sz="2100"/>
              <a:t> but not </a:t>
            </a:r>
            <a:r>
              <a:rPr lang="en-GB" sz="2100">
                <a:latin typeface="Courier"/>
                <a:ea typeface="Courier"/>
                <a:cs typeface="Courier"/>
                <a:sym typeface="Courier"/>
              </a:rPr>
              <a:t>t</a:t>
            </a:r>
            <a:endParaRPr sz="2100">
              <a:latin typeface="Courier"/>
              <a:ea typeface="Courier"/>
              <a:cs typeface="Courier"/>
              <a:sym typeface="Courier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s.symmetric_difference(t)</a:t>
            </a:r>
            <a:r>
              <a:rPr lang="en-GB" sz="2100"/>
              <a:t> → new set with elements in </a:t>
            </a:r>
            <a:r>
              <a:rPr lang="en-GB" sz="2100">
                <a:latin typeface="Courier"/>
                <a:ea typeface="Courier"/>
                <a:cs typeface="Courier"/>
                <a:sym typeface="Courier"/>
              </a:rPr>
              <a:t>s</a:t>
            </a:r>
            <a:r>
              <a:rPr lang="en-GB" sz="2100"/>
              <a:t> or </a:t>
            </a:r>
            <a:r>
              <a:rPr lang="en-GB" sz="2100">
                <a:latin typeface="Courier"/>
                <a:ea typeface="Courier"/>
                <a:cs typeface="Courier"/>
                <a:sym typeface="Courier"/>
              </a:rPr>
              <a:t>t</a:t>
            </a:r>
            <a:r>
              <a:rPr lang="en-GB" sz="2100"/>
              <a:t> but not both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67" name="Google Shape;267;p2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Check yourself</a:t>
            </a:r>
            <a:endParaRPr/>
          </a:p>
        </p:txBody>
      </p:sp>
      <p:sp>
        <p:nvSpPr>
          <p:cNvPr id="273" name="Google Shape;273;p2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2100">
              <a:solidFill>
                <a:srgbClr val="80808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74" name="Google Shape;274;p2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75" name="Google Shape;27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697" y="1649275"/>
            <a:ext cx="5151124" cy="44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9"/>
          <p:cNvSpPr txBox="1"/>
          <p:nvPr/>
        </p:nvSpPr>
        <p:spPr>
          <a:xfrm>
            <a:off x="5832900" y="1967800"/>
            <a:ext cx="3234600" cy="5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1" sz="2800" u="none" cap="none" strike="noStrike">
              <a:solidFill>
                <a:srgbClr val="80808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What is the output of (a) Line 1, (b) Line 2, and (c) Line 3</a:t>
            </a:r>
            <a:endParaRPr b="0" i="0" sz="28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F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rgbClr val="564B3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7" name="Google Shape;277;p29"/>
          <p:cNvSpPr txBox="1"/>
          <p:nvPr/>
        </p:nvSpPr>
        <p:spPr>
          <a:xfrm>
            <a:off x="1379458" y="4473468"/>
            <a:ext cx="1537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highlight>
                  <a:schemeClr val="lt2"/>
                </a:highlight>
              </a:rPr>
              <a:t>set(“ab”)</a:t>
            </a:r>
            <a:endParaRPr sz="1900">
              <a:highlight>
                <a:schemeClr val="lt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highlight>
                  <a:schemeClr val="lt2"/>
                </a:highlight>
              </a:rPr>
              <a:t>set(“cd”)</a:t>
            </a:r>
            <a:endParaRPr sz="1900">
              <a:highlight>
                <a:schemeClr val="lt2"/>
              </a:highlight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Python Dictionaries</a:t>
            </a:r>
            <a:endParaRPr/>
          </a:p>
        </p:txBody>
      </p:sp>
      <p:sp>
        <p:nvSpPr>
          <p:cNvPr id="283" name="Google Shape;283;p3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83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10"/>
              <a:buChar char="●"/>
            </a:pPr>
            <a:r>
              <a:rPr lang="en-GB" sz="1610"/>
              <a:t>In data structure terms, a dictionary is better termed an associative array, associative list or a map.</a:t>
            </a:r>
            <a:endParaRPr sz="1610"/>
          </a:p>
          <a:p>
            <a:pPr indent="-33083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10"/>
              <a:buChar char="●"/>
            </a:pPr>
            <a:r>
              <a:rPr lang="en-GB" sz="1610"/>
              <a:t>You can think if it as a list of pairs, where the first element of the pair, the key, is used to retrieve the second element, the value.</a:t>
            </a:r>
            <a:endParaRPr sz="1610"/>
          </a:p>
          <a:p>
            <a:pPr indent="-33083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10"/>
              <a:buChar char="●"/>
            </a:pPr>
            <a:r>
              <a:rPr lang="en-GB" sz="1610"/>
              <a:t>Thus we map a key to a value</a:t>
            </a:r>
            <a:endParaRPr sz="1610"/>
          </a:p>
          <a:p>
            <a:pPr indent="-33083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10"/>
              <a:buChar char="●"/>
            </a:pPr>
            <a:r>
              <a:rPr lang="en-GB" sz="1610"/>
              <a:t>Use the </a:t>
            </a:r>
            <a:r>
              <a:rPr b="1" lang="en-GB" sz="1610"/>
              <a:t>{ }</a:t>
            </a:r>
            <a:r>
              <a:rPr lang="en-GB" sz="1610"/>
              <a:t> marker to create a dictionary. Use the </a:t>
            </a:r>
            <a:r>
              <a:rPr b="1" lang="en-GB" sz="1610"/>
              <a:t>:</a:t>
            </a:r>
            <a:r>
              <a:rPr lang="en-GB" sz="1610"/>
              <a:t> marker to indicate </a:t>
            </a:r>
            <a:r>
              <a:rPr b="1" lang="en-GB" sz="1610"/>
              <a:t>key:value</a:t>
            </a:r>
            <a:r>
              <a:rPr lang="en-GB" sz="1610"/>
              <a:t> pairs. Separate elements by </a:t>
            </a:r>
            <a:r>
              <a:rPr b="1" lang="en-GB" sz="1610"/>
              <a:t>comma. </a:t>
            </a:r>
            <a:br>
              <a:rPr lang="en-GB" sz="1610"/>
            </a:br>
            <a:endParaRPr sz="161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6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sz="16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sz="16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1610"/>
          </a:p>
        </p:txBody>
      </p:sp>
      <p:sp>
        <p:nvSpPr>
          <p:cNvPr id="284" name="Google Shape;284;p3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85" name="Google Shape;28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625" y="4291050"/>
            <a:ext cx="8693376" cy="10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Python Dictionaries	</a:t>
            </a:r>
            <a:endParaRPr/>
          </a:p>
        </p:txBody>
      </p:sp>
      <p:sp>
        <p:nvSpPr>
          <p:cNvPr id="291" name="Google Shape;291;p3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6767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88"/>
              <a:buChar char="●"/>
            </a:pPr>
            <a:r>
              <a:rPr lang="en-GB" sz="2188"/>
              <a:t>Key must be immutable</a:t>
            </a:r>
            <a:endParaRPr sz="2188"/>
          </a:p>
          <a:p>
            <a:pPr indent="-37432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91"/>
              <a:buChar char="○"/>
            </a:pPr>
            <a:r>
              <a:rPr lang="en-GB" sz="2291"/>
              <a:t>strings, integers, tuples are fine</a:t>
            </a:r>
            <a:endParaRPr sz="2291"/>
          </a:p>
          <a:p>
            <a:pPr indent="-37432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91"/>
              <a:buChar char="○"/>
            </a:pPr>
            <a:r>
              <a:rPr lang="en-GB" sz="2291"/>
              <a:t>lists are </a:t>
            </a:r>
            <a:r>
              <a:rPr b="1" lang="en-GB" sz="2291"/>
              <a:t>NOT</a:t>
            </a:r>
            <a:endParaRPr b="1" sz="2291"/>
          </a:p>
          <a:p>
            <a:pPr indent="-36767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88"/>
              <a:buChar char="●"/>
            </a:pPr>
            <a:r>
              <a:rPr lang="en-GB" sz="2188"/>
              <a:t>Value can be anything</a:t>
            </a:r>
            <a:endParaRPr sz="2188"/>
          </a:p>
          <a:p>
            <a:pPr indent="-36767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88"/>
              <a:buChar char="●"/>
            </a:pPr>
            <a:r>
              <a:rPr lang="en-GB" sz="2188"/>
              <a:t>Keys can not be repeated in the dictionary</a:t>
            </a:r>
            <a:endParaRPr sz="2188"/>
          </a:p>
          <a:p>
            <a:pPr indent="-36767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88"/>
              <a:buChar char="●"/>
            </a:pPr>
            <a:r>
              <a:rPr lang="en-GB" sz="2188"/>
              <a:t>Dictionaries are collections but they are not sequences (such as lists, strings or tuples)</a:t>
            </a:r>
            <a:endParaRPr sz="2188"/>
          </a:p>
          <a:p>
            <a:pPr indent="-36767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88"/>
              <a:buChar char="●"/>
            </a:pPr>
            <a:r>
              <a:rPr lang="en-GB" sz="2188"/>
              <a:t>There is no order to the elements of a dictionary</a:t>
            </a:r>
            <a:endParaRPr sz="2188"/>
          </a:p>
          <a:p>
            <a:pPr indent="-35721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21"/>
              <a:buChar char="○"/>
            </a:pPr>
            <a:r>
              <a:rPr lang="en-GB" sz="2022"/>
              <a:t>in fact, the order (for example, when printed) might change as elements are added or deleted</a:t>
            </a:r>
            <a:endParaRPr/>
          </a:p>
        </p:txBody>
      </p:sp>
      <p:sp>
        <p:nvSpPr>
          <p:cNvPr id="292" name="Google Shape;292;p3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Dictionary operations</a:t>
            </a:r>
            <a:endParaRPr/>
          </a:p>
        </p:txBody>
      </p:sp>
      <p:sp>
        <p:nvSpPr>
          <p:cNvPr id="298" name="Google Shape;298;p3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7646"/>
              <a:buNone/>
            </a:pPr>
            <a:r>
              <a:rPr lang="en-GB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key </a:t>
            </a:r>
            <a:r>
              <a:rPr b="1" lang="en-GB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in </a:t>
            </a:r>
            <a:r>
              <a:rPr lang="en-GB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d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:</a:t>
            </a:r>
            <a:r>
              <a:rPr lang="en-GB"/>
              <a:t> returns True if the item is found, False otherwise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GB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d.get(key, [default value])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:</a:t>
            </a:r>
            <a:r>
              <a:rPr lang="en-GB"/>
              <a:t> gets the item with the given key. If the key doesn't exist this will return default value, if you've given one, otherwise it will error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GB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d[k] = v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:</a:t>
            </a:r>
            <a:r>
              <a:rPr lang="en-GB"/>
              <a:t> adds v to the dictionary with the key k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GB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d.keys()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:</a:t>
            </a:r>
            <a:r>
              <a:rPr lang="en-GB"/>
              <a:t> returns the set of all keys in the dictionary 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GB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d.values()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:</a:t>
            </a:r>
            <a:r>
              <a:rPr lang="en-GB"/>
              <a:t> returns a  list of all values in the dictionary 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GB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d.items()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:</a:t>
            </a:r>
            <a:r>
              <a:rPr lang="en-GB"/>
              <a:t> returns a list of all key-value pairs in the dictionary 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GB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del d[k]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:</a:t>
            </a:r>
            <a:r>
              <a:rPr lang="en-GB"/>
              <a:t> removes the item with key k from the dictionary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7646"/>
              <a:buNone/>
            </a:pPr>
            <a:r>
              <a:t/>
            </a:r>
            <a:endParaRPr/>
          </a:p>
        </p:txBody>
      </p:sp>
      <p:sp>
        <p:nvSpPr>
          <p:cNvPr id="299" name="Google Shape;299;p3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Looping through a Dictionary</a:t>
            </a:r>
            <a:endParaRPr/>
          </a:p>
        </p:txBody>
      </p:sp>
      <p:sp>
        <p:nvSpPr>
          <p:cNvPr id="305" name="Google Shape;305;p3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loop through a dictionary just like we can loop through a list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b="1" lang="en-GB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keys()</a:t>
            </a:r>
            <a:r>
              <a:rPr lang="en-GB"/>
              <a:t> method returns all of the keys in the dictionary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b="1" lang="en-GB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values()</a:t>
            </a:r>
            <a:r>
              <a:rPr lang="en-GB"/>
              <a:t> method returns all of the values in the dictionary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b="1" lang="en-GB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items()</a:t>
            </a:r>
            <a:r>
              <a:rPr lang="en-GB"/>
              <a:t> method returns both keys and values for the dictionary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06" name="Google Shape;306;p3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05cb1ff2d7_0_8"/>
          <p:cNvSpPr txBox="1"/>
          <p:nvPr>
            <p:ph type="title"/>
          </p:nvPr>
        </p:nvSpPr>
        <p:spPr>
          <a:xfrm>
            <a:off x="311700" y="3647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Looping through a Dictionary</a:t>
            </a:r>
            <a:endParaRPr/>
          </a:p>
        </p:txBody>
      </p:sp>
      <p:sp>
        <p:nvSpPr>
          <p:cNvPr id="312" name="Google Shape;312;g305cb1ff2d7_0_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13" name="Google Shape;313;g305cb1ff2d7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400" y="1250296"/>
            <a:ext cx="6550426" cy="5196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Check yourself</a:t>
            </a:r>
            <a:endParaRPr/>
          </a:p>
        </p:txBody>
      </p:sp>
      <p:sp>
        <p:nvSpPr>
          <p:cNvPr id="319" name="Google Shape;319;p3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20" name="Google Shape;32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88" y="1536625"/>
            <a:ext cx="5286375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4"/>
          <p:cNvSpPr txBox="1"/>
          <p:nvPr/>
        </p:nvSpPr>
        <p:spPr>
          <a:xfrm>
            <a:off x="5598000" y="3124050"/>
            <a:ext cx="3234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What is the output of (a) Line 1, (b) Line 2, (c) Line 3, and (d) Line 4?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Strings</a:t>
            </a:r>
            <a:endParaRPr/>
          </a:p>
        </p:txBody>
      </p:sp>
      <p:sp>
        <p:nvSpPr>
          <p:cNvPr id="327" name="Google Shape;327;p3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 string is a sequence of characters 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In Python it is enclosed between ' ' or '' ''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exact sequence of characters is maintained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"Hello"</a:t>
            </a:r>
            <a:r>
              <a:rPr lang="en-GB"/>
              <a:t> or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'Hello' </a:t>
            </a:r>
            <a:r>
              <a:rPr lang="en-GB"/>
              <a:t> - </a:t>
            </a:r>
            <a:r>
              <a:rPr b="1" lang="en-GB"/>
              <a:t>OK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"Hello' </a:t>
            </a:r>
            <a:r>
              <a:rPr lang="en-GB"/>
              <a:t>                     - </a:t>
            </a:r>
            <a:r>
              <a:rPr b="1" lang="en-GB"/>
              <a:t>Error!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28" name="Google Shape;328;p3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String Access		</a:t>
            </a:r>
            <a:endParaRPr/>
          </a:p>
        </p:txBody>
      </p:sp>
      <p:sp>
        <p:nvSpPr>
          <p:cNvPr id="334" name="Google Shape;334;p3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Essentially a string is a list of characters, so you can access a string by index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As with lists, slices and negative indexes work on strings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35" name="Google Shape;335;p3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36" name="Google Shape;33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925" y="3302350"/>
            <a:ext cx="8058150" cy="268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String methods</a:t>
            </a:r>
            <a:endParaRPr/>
          </a:p>
        </p:txBody>
      </p:sp>
      <p:sp>
        <p:nvSpPr>
          <p:cNvPr id="342" name="Google Shape;342;p3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9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5"/>
              <a:buChar char="●"/>
            </a:pPr>
            <a:r>
              <a:rPr lang="en-GB" sz="2004"/>
              <a:t>We can convert strings to lower and upper case using the </a:t>
            </a:r>
            <a:r>
              <a:rPr b="1" lang="en-GB" sz="2004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upper()</a:t>
            </a:r>
            <a:r>
              <a:rPr lang="en-GB" sz="2004"/>
              <a:t> and </a:t>
            </a:r>
            <a:r>
              <a:rPr b="1" lang="en-GB" sz="2004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lower()</a:t>
            </a:r>
            <a:r>
              <a:rPr lang="en-GB" sz="2004"/>
              <a:t> functions</a:t>
            </a:r>
            <a:endParaRPr sz="2004"/>
          </a:p>
          <a:p>
            <a:pPr indent="-3559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5"/>
              <a:buChar char="●"/>
            </a:pPr>
            <a:r>
              <a:rPr lang="en-GB" sz="2004"/>
              <a:t>We can search for text within a string using the string </a:t>
            </a:r>
            <a:r>
              <a:rPr b="1" lang="en-GB" sz="2004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find()</a:t>
            </a:r>
            <a:r>
              <a:rPr lang="en-GB" sz="2004"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sz="2004"/>
              <a:t>method</a:t>
            </a:r>
            <a:endParaRPr sz="2004"/>
          </a:p>
          <a:p>
            <a:pPr indent="-3559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5"/>
              <a:buChar char="●"/>
            </a:pPr>
            <a:r>
              <a:rPr lang="en-GB" sz="2004"/>
              <a:t>We can replace text within a string using the </a:t>
            </a:r>
            <a:r>
              <a:rPr b="1" lang="en-GB" sz="2004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replace()</a:t>
            </a:r>
            <a:r>
              <a:rPr lang="en-GB" sz="2004"/>
              <a:t> method</a:t>
            </a:r>
            <a:endParaRPr sz="2004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2004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2004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2004"/>
          </a:p>
        </p:txBody>
      </p:sp>
      <p:sp>
        <p:nvSpPr>
          <p:cNvPr id="343" name="Google Shape;343;p3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44" name="Google Shape;34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075" y="3428996"/>
            <a:ext cx="8399849" cy="2599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Split and join</a:t>
            </a:r>
            <a:endParaRPr/>
          </a:p>
        </p:txBody>
      </p:sp>
      <p:sp>
        <p:nvSpPr>
          <p:cNvPr id="350" name="Google Shape;350;p3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4734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The </a:t>
            </a:r>
            <a:r>
              <a:rPr b="1" lang="en-GB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split()</a:t>
            </a:r>
            <a:r>
              <a:rPr lang="en-GB"/>
              <a:t> function converts a string to a list using a specified delimiter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4734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The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b="1" lang="en-GB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join()</a:t>
            </a:r>
            <a:r>
              <a:rPr lang="en-GB"/>
              <a:t> function converts a list to a string using a specified delimiter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7646"/>
              <a:buNone/>
            </a:pPr>
            <a:r>
              <a:t/>
            </a:r>
            <a:endParaRPr/>
          </a:p>
        </p:txBody>
      </p:sp>
      <p:sp>
        <p:nvSpPr>
          <p:cNvPr id="351" name="Google Shape;351;p3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52" name="Google Shape;35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325" y="2140850"/>
            <a:ext cx="7603350" cy="189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325" y="5183800"/>
            <a:ext cx="8009000" cy="76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Advanced String Manipulation</a:t>
            </a:r>
            <a:endParaRPr/>
          </a:p>
        </p:txBody>
      </p:sp>
      <p:sp>
        <p:nvSpPr>
          <p:cNvPr id="359" name="Google Shape;359;p3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String manipulation is very important, particularly in Natural Language Processing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Regular Expressions (RegEx) is a mini-language used for advanced string matching and replacing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Text Preprocessing is very important in NLP and Python provides lots of libraries to help you do it.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All of this is for another day though!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60" name="Google Shape;360;p3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366" name="Google Shape;366;p4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226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05"/>
              <a:buChar char="●"/>
            </a:pPr>
            <a:r>
              <a:rPr lang="en-GB" sz="2105"/>
              <a:t>Python</a:t>
            </a:r>
            <a:endParaRPr sz="2105"/>
          </a:p>
          <a:p>
            <a:pPr indent="-342582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95"/>
              <a:buChar char="○"/>
            </a:pPr>
            <a:r>
              <a:rPr lang="en-GB" sz="1795"/>
              <a:t>Data types description</a:t>
            </a:r>
            <a:endParaRPr sz="1795"/>
          </a:p>
          <a:p>
            <a:pPr indent="-342582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95"/>
              <a:buChar char="○"/>
            </a:pPr>
            <a:r>
              <a:rPr lang="en-GB" sz="1795"/>
              <a:t>Function syntax and how to create</a:t>
            </a:r>
            <a:endParaRPr sz="1795"/>
          </a:p>
          <a:p>
            <a:pPr indent="-342582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95"/>
              <a:buChar char="○"/>
            </a:pPr>
            <a:r>
              <a:rPr lang="en-GB" sz="1795"/>
              <a:t>Lists</a:t>
            </a:r>
            <a:endParaRPr sz="1795"/>
          </a:p>
          <a:p>
            <a:pPr indent="-342582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95"/>
              <a:buChar char="■"/>
            </a:pPr>
            <a:r>
              <a:rPr lang="en-GB" sz="1795"/>
              <a:t>How to create, access, loop through it, remove items, list operators, list methods</a:t>
            </a:r>
            <a:endParaRPr sz="1795"/>
          </a:p>
          <a:p>
            <a:pPr indent="-342582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95"/>
              <a:buChar char="○"/>
            </a:pPr>
            <a:r>
              <a:rPr lang="en-GB" sz="1795"/>
              <a:t>Sets</a:t>
            </a:r>
            <a:endParaRPr sz="1795"/>
          </a:p>
          <a:p>
            <a:pPr indent="-342582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95"/>
              <a:buChar char="■"/>
            </a:pPr>
            <a:r>
              <a:rPr lang="en-GB" sz="1795"/>
              <a:t>How to create and methods</a:t>
            </a:r>
            <a:endParaRPr sz="1795"/>
          </a:p>
          <a:p>
            <a:pPr indent="-342582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95"/>
              <a:buChar char="○"/>
            </a:pPr>
            <a:r>
              <a:rPr lang="en-GB" sz="1795"/>
              <a:t>Dictionaries</a:t>
            </a:r>
            <a:endParaRPr sz="1795"/>
          </a:p>
          <a:p>
            <a:pPr indent="-342582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95"/>
              <a:buChar char="■"/>
            </a:pPr>
            <a:r>
              <a:rPr lang="en-GB" sz="1795"/>
              <a:t>How to create, access keys and values, loop through it</a:t>
            </a:r>
            <a:endParaRPr sz="1795"/>
          </a:p>
          <a:p>
            <a:pPr indent="-342582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95"/>
              <a:buChar char="○"/>
            </a:pPr>
            <a:r>
              <a:rPr lang="en-GB" sz="1795"/>
              <a:t>Tuples</a:t>
            </a:r>
            <a:endParaRPr sz="1795"/>
          </a:p>
          <a:p>
            <a:pPr indent="-342582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95"/>
              <a:buChar char="■"/>
            </a:pPr>
            <a:r>
              <a:rPr lang="en-GB" sz="1795"/>
              <a:t>How to create, operators and methods</a:t>
            </a:r>
            <a:endParaRPr sz="1795"/>
          </a:p>
          <a:p>
            <a:pPr indent="-342582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95"/>
              <a:buChar char="○"/>
            </a:pPr>
            <a:r>
              <a:rPr lang="en-GB" sz="1795"/>
              <a:t>Strings</a:t>
            </a:r>
            <a:endParaRPr sz="1795"/>
          </a:p>
          <a:p>
            <a:pPr indent="-342582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95"/>
              <a:buChar char="■"/>
            </a:pPr>
            <a:r>
              <a:rPr lang="en-GB" sz="1795"/>
              <a:t>How to create, access and use some of its methods</a:t>
            </a:r>
            <a:br>
              <a:rPr lang="en-GB" sz="1795"/>
            </a:br>
            <a:endParaRPr sz="1795"/>
          </a:p>
          <a:p>
            <a:pPr indent="-36226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05"/>
              <a:buChar char="●"/>
            </a:pPr>
            <a:r>
              <a:rPr lang="en-GB" sz="2105"/>
              <a:t>Next week: R data structures and data importation </a:t>
            </a:r>
            <a:endParaRPr sz="21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t/>
            </a:r>
            <a:endParaRPr sz="21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t/>
            </a:r>
            <a:endParaRPr sz="21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006"/>
              <a:buNone/>
            </a:pPr>
            <a:r>
              <a:t/>
            </a:r>
            <a:endParaRPr sz="2105"/>
          </a:p>
        </p:txBody>
      </p:sp>
      <p:sp>
        <p:nvSpPr>
          <p:cNvPr id="367" name="Google Shape;367;p4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1"/>
          <p:cNvSpPr txBox="1"/>
          <p:nvPr>
            <p:ph type="title"/>
          </p:nvPr>
        </p:nvSpPr>
        <p:spPr>
          <a:xfrm>
            <a:off x="1388100" y="637525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/>
              <a:t>Questions?</a:t>
            </a:r>
            <a:endParaRPr/>
          </a:p>
        </p:txBody>
      </p:sp>
      <p:sp>
        <p:nvSpPr>
          <p:cNvPr id="373" name="Google Shape;373;p4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Lab</a:t>
            </a:r>
            <a:endParaRPr/>
          </a:p>
        </p:txBody>
      </p:sp>
      <p:sp>
        <p:nvSpPr>
          <p:cNvPr id="379" name="Google Shape;379;p4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0" name="Google Shape;380;p42"/>
          <p:cNvSpPr txBox="1"/>
          <p:nvPr>
            <p:ph idx="1" type="body"/>
          </p:nvPr>
        </p:nvSpPr>
        <p:spPr>
          <a:xfrm>
            <a:off x="311700" y="1446758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226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05"/>
              <a:buChar char="●"/>
            </a:pPr>
            <a:r>
              <a:rPr lang="en-GB" sz="2105"/>
              <a:t>Python practice exercises in Jupyter Notebook</a:t>
            </a:r>
            <a:endParaRPr sz="2105"/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105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8EA4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