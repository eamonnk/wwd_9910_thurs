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y="6858000" cx="9144000"/>
  <p:notesSz cx="6858000" cy="9144000"/>
  <p:embeddedFontLst>
    <p:embeddedFont>
      <p:font typeface="Book Antiqua"/>
      <p:regular r:id="rId84"/>
      <p:bold r:id="rId85"/>
      <p:italic r:id="rId86"/>
      <p:boldItalic r:id="rId87"/>
    </p:embeddedFont>
    <p:embeddedFont>
      <p:font typeface="Roboto Mono"/>
      <p:regular r:id="rId88"/>
      <p:bold r:id="rId89"/>
      <p:italic r:id="rId90"/>
      <p:boldItalic r:id="rId91"/>
    </p:embeddedFont>
    <p:embeddedFont>
      <p:font typeface="Century Gothic"/>
      <p:regular r:id="rId92"/>
      <p:bold r:id="rId93"/>
      <p:italic r:id="rId94"/>
      <p:boldItalic r:id="rId9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F58BE8-2475-45F7-BE11-48EE9FCB161C}">
  <a:tblStyle styleId="{F1F58BE8-2475-45F7-BE11-48EE9FCB161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21F9BE2-007E-4CDF-B460-9FED8055BF6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BookAntiqua-regular.fntdata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font" Target="fonts/BookAntiqua-italic.fntdata"/><Relationship Id="rId41" Type="http://schemas.openxmlformats.org/officeDocument/2006/relationships/slide" Target="slides/slide35.xml"/><Relationship Id="rId85" Type="http://schemas.openxmlformats.org/officeDocument/2006/relationships/font" Target="fonts/BookAntiqua-bold.fntdata"/><Relationship Id="rId44" Type="http://schemas.openxmlformats.org/officeDocument/2006/relationships/slide" Target="slides/slide38.xml"/><Relationship Id="rId88" Type="http://schemas.openxmlformats.org/officeDocument/2006/relationships/font" Target="fonts/RobotoMono-regular.fntdata"/><Relationship Id="rId43" Type="http://schemas.openxmlformats.org/officeDocument/2006/relationships/slide" Target="slides/slide37.xml"/><Relationship Id="rId87" Type="http://schemas.openxmlformats.org/officeDocument/2006/relationships/font" Target="fonts/BookAntiqua-boldItalic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font" Target="fonts/RobotoMono-bold.fntdata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95" Type="http://schemas.openxmlformats.org/officeDocument/2006/relationships/font" Target="fonts/CenturyGothic-boldItalic.fntdata"/><Relationship Id="rId50" Type="http://schemas.openxmlformats.org/officeDocument/2006/relationships/slide" Target="slides/slide44.xml"/><Relationship Id="rId94" Type="http://schemas.openxmlformats.org/officeDocument/2006/relationships/font" Target="fonts/CenturyGothic-italic.fntdata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1" Type="http://schemas.openxmlformats.org/officeDocument/2006/relationships/font" Target="fonts/RobotoMono-boldItalic.fntdata"/><Relationship Id="rId90" Type="http://schemas.openxmlformats.org/officeDocument/2006/relationships/font" Target="fonts/RobotoMono-italic.fntdata"/><Relationship Id="rId93" Type="http://schemas.openxmlformats.org/officeDocument/2006/relationships/font" Target="fonts/CenturyGothic-bold.fntdata"/><Relationship Id="rId92" Type="http://schemas.openxmlformats.org/officeDocument/2006/relationships/font" Target="fonts/CenturyGothic-regular.fntdata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800"/>
              <a:t>Entered text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Slide 1: Introduction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Start with a brief introduction to the topic of image processing.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Mention that it's a crucial field in today's digital age.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Explain that you'll be covering the basics, real-world applications, and key terminology.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Slide 2: What is Image Processing?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Define image processing as the manipulation of an image to extract information or enhance its features.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Mention its wide range of applications, from photography to medical imaging.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Slide 3: Importance of Image Processing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Discuss the importance of image processing in various fields: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Medical: Diagnosis and treatment planning.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Entertainment: Special effects in movies and video games.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Security: Face recognition and surveillance.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Agriculture: Crop analysis and yield prediction.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Manufacturing: Quality control and defect detection.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Emphasize how it improves decision-making, saves time, and reduces errors.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Slide 4: Real-world Applications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4.1: Medical Imaging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Explain how image processing is used in medical imaging.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Mention applications like MRI, CT scans, and X-rays.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Highlight its role in disease detection and treatment planning.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4.2: Entertainment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Discuss how image processing enhances visual effects in movies and video games.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Mention CGI (Computer-Generated Imagery) and motion capture technology.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4.3: Security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Explain image processing's role in security through face recognition and surveillance systems.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Emphasize its significance in crime prevention and national security.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4.4: Agriculture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Discuss its applications in agriculture, such as crop analysis and yield prediction.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Explain how it helps farmers make informed decisions.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4.5: Manufacturing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Describe how image processing is used in manufacturing for quality control and defect detection.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/>
              <a:t>Mention its role in ensuring product consistency.</a:t>
            </a:r>
            <a:endParaRPr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cffb8c7f2_2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7cffb8c7f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88e6d0fa6b_2_2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88e6d0fa6b_2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88e6d0fa6b_2_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88e6d0fa6b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8e6d0fa6b_2_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88e6d0fa6b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88e6d0fa6b_2_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88e6d0fa6b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88e6d0fa6b_2_6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88e6d0fa6b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88e6d0fa6b_2_7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88e6d0fa6b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88e6d0fa6b_2_1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88e6d0fa6b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88e6d0fa6b_2_1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88e6d0fa6b_2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88e6d0fa6b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88e6d0fa6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88e6d0fa6b_2_2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88e6d0fa6b_2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8bd2b62cdc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8bd2b62c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8bd2b62cdc_0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8bd2b62cd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8bd2b62cdc_0_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8bd2b62cd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8bd2b62cdc_0_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8bd2b62cd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88e6d0fa6b_2_2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88e6d0fa6b_2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8a83b294fb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8a83b294f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8a83b294fb_0_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8a83b294f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8a83b294fb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8a83b294f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88e6d0fa6b_2_27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88e6d0fa6b_2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8a83b294fb_0_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8a83b294f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8a83b294fb_0_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8a83b294f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88e6d0fa6b_2_28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88e6d0fa6b_2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8a83b294fb_0_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8a83b294f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8a83b294fb_0_5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8a83b294f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8a83b294fb_0_7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8a83b294f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8a83b294fb_0_8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8a83b294f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8a83b294fb_0_9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8a83b294f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8a83b294fb_0_1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8a83b294f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8a83b294fb_0_1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8a83b294f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8a83b294fb_0_1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8a83b294f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8a83b294fb_0_1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8a83b294f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8a83b294fb_0_2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8a83b294fb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8bd2b62cdc_0_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8bd2b62cd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8bd2b62cdc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8bd2b62cd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8bd2b62cdc_0_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8bd2b62cd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8bd2b62cdc_0_1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8bd2b62cdc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8bd2b62cdc_0_1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8bd2b62cd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8bd2b62cdc_0_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8bd2b62cd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8bd2b62cdc_0_7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8bd2b62cd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8bd2b62cdc_0_8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8bd2b62cd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8bd2b62cdc_0_10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8bd2b62cd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8bd2b62cdc_0_16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8bd2b62cdc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8a83b294fb_0_2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8a83b294fb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8bd2b62cdc_0_18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8bd2b62cdc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8bd2b62cdc_0_18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8bd2b62cdc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center is [0, 0] and neighbours vary +-1. This is centered and makes sure the blur occurs evenly among the neighbours. Off center values would shift the result.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8bd2b62cdc_0_20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8bd2b62cdc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8bd2b62cdc_0_2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8bd2b62cdc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8bd2b62cdc_0_24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28bd2b62cdc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8bd2b62cdc_0_2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28bd2b62cdc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8bd2b62cdc_0_3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8bd2b62cdc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8bd2b62cdc_0_29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28bd2b62cdc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8bd2b62cdc_0_30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28bd2b62cdc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8bd2b62cdc_0_3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8bd2b62cdc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8a83b294fb_0_2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28a83b294fb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8c87565a8e_0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8c87565a8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8c87565a8e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28c87565a8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8c87565a8e_0_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28c87565a8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8c87565a8e_0_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28c87565a8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8c87565a8e_0_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28c87565a8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e950db3c97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1e950db3c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1e950db3c97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1e950db3c9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e950db3c97_0_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1e950db3c9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8c87565a8e_0_5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8c87565a8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8c87565a8e_0_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28c87565a8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28a83b294fb_0_2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28a83b294fb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2901d4f532e_0_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2901d4f532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901d4f532e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2901d4f532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2901d4f532e_0_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2901d4f532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9a7fc96bed_0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29a7fc96be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8a83b294fb_0_2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8a83b294fb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f7a46a8028_0_1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gf7a46a802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288e6d0fa6b_2_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288e6d0fa6b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fcb44cb6a3_1_55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fcb44cb6a3_1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629900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60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000"/>
          </a:p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_Pearson" showMasterSp="0">
  <p:cSld name="Title and Content_Pears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0" y="1"/>
            <a:ext cx="9144000" cy="8367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Book Antiqua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628800"/>
            <a:ext cx="8229600" cy="44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0" y="6597352"/>
            <a:ext cx="9144000" cy="28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500892" y="6504885"/>
            <a:ext cx="648000" cy="38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827585" y="6227885"/>
            <a:ext cx="828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GB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Punch, Enbody “The Practice of Computing Using Python”, ©2013 Pearson Addison-Wesley. All rights reserved</a:t>
            </a:r>
            <a:endParaRPr b="0" i="1" sz="12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2600"/>
          </a:p>
        </p:txBody>
      </p:sp>
      <p:sp>
        <p:nvSpPr>
          <p:cNvPr id="9" name="Google Shape;9;p1"/>
          <p:cNvSpPr/>
          <p:nvPr/>
        </p:nvSpPr>
        <p:spPr>
          <a:xfrm>
            <a:off x="0" y="6542800"/>
            <a:ext cx="9140400" cy="3153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en.wikipedia.org/wiki/Image_file_format#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airosvg.org/documentation/" TargetMode="External"/><Relationship Id="rId4" Type="http://schemas.openxmlformats.org/officeDocument/2006/relationships/hyperlink" Target="https://pycairo.readthedocs.io/en/latest/" TargetMode="External"/><Relationship Id="rId5" Type="http://schemas.openxmlformats.org/officeDocument/2006/relationships/hyperlink" Target="https://www.overleaf.com/learn/latex/TikZ_packag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scikit-image.org/docs/stable/api/skimage.io.html#skimage.io.show" TargetMode="External"/><Relationship Id="rId4" Type="http://schemas.openxmlformats.org/officeDocument/2006/relationships/hyperlink" Target="https://numpy.org/doc/stable/reference/random/generated/numpy.random.randint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6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scikit-image.org/" TargetMode="External"/><Relationship Id="rId4" Type="http://schemas.openxmlformats.org/officeDocument/2006/relationships/hyperlink" Target="https://scikit-image.org/docs/stable/api/skimage.io.html#skimage.io.imread" TargetMode="External"/><Relationship Id="rId5" Type="http://schemas.openxmlformats.org/officeDocument/2006/relationships/hyperlink" Target="https://scikit-image.org/docs/stable/api/skimage.io.html#skimage.io.imread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pillow.readthedocs.io/en/stable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rive.google.com/file/d/1XziZ-05mm4eFk17k2U6ELX-oIBob4v1v/view?usp=sharing" TargetMode="External"/><Relationship Id="rId4" Type="http://schemas.openxmlformats.org/officeDocument/2006/relationships/hyperlink" Target="https://exiv2.org/tags.html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5.png"/><Relationship Id="rId4" Type="http://schemas.openxmlformats.org/officeDocument/2006/relationships/image" Target="../media/image2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8.png"/><Relationship Id="rId4" Type="http://schemas.openxmlformats.org/officeDocument/2006/relationships/image" Target="../media/image2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3.gif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5.png"/><Relationship Id="rId4" Type="http://schemas.openxmlformats.org/officeDocument/2006/relationships/image" Target="../media/image4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7.png"/><Relationship Id="rId4" Type="http://schemas.openxmlformats.org/officeDocument/2006/relationships/image" Target="../media/image40.png"/><Relationship Id="rId5" Type="http://schemas.openxmlformats.org/officeDocument/2006/relationships/hyperlink" Target="https://en.wikipedia.org/wiki/Kernel_(image_processing)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4.png"/><Relationship Id="rId4" Type="http://schemas.openxmlformats.org/officeDocument/2006/relationships/image" Target="../media/image5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hyperlink" Target="https://i.ibb.co/h041g0p/Red-Cat-8727.jpg" TargetMode="Externa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9.png"/><Relationship Id="rId4" Type="http://schemas.openxmlformats.org/officeDocument/2006/relationships/image" Target="../media/image54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0.png"/><Relationship Id="rId4" Type="http://schemas.openxmlformats.org/officeDocument/2006/relationships/image" Target="../media/image6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8.png"/><Relationship Id="rId4" Type="http://schemas.openxmlformats.org/officeDocument/2006/relationships/image" Target="../media/image61.png"/><Relationship Id="rId5" Type="http://schemas.openxmlformats.org/officeDocument/2006/relationships/image" Target="../media/image64.png"/><Relationship Id="rId6" Type="http://schemas.openxmlformats.org/officeDocument/2006/relationships/image" Target="../media/image55.png"/><Relationship Id="rId7" Type="http://schemas.openxmlformats.org/officeDocument/2006/relationships/image" Target="../media/image5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hyperlink" Target="https://cran.r-project.org/web/packages/magick/vignettes/intro.html" TargetMode="External"/><Relationship Id="rId4" Type="http://schemas.openxmlformats.org/officeDocument/2006/relationships/hyperlink" Target="https://cran.r-project.org/web/packages/magick/vignettes/intro.html" TargetMode="External"/><Relationship Id="rId9" Type="http://schemas.openxmlformats.org/officeDocument/2006/relationships/hyperlink" Target="https://cran.r-project.org/web/packages/pavo/vignettes/pavo.html" TargetMode="External"/><Relationship Id="rId5" Type="http://schemas.openxmlformats.org/officeDocument/2006/relationships/hyperlink" Target="https://cran.r-project.org/web/packages/imager/vignettes/gettingstarted.html" TargetMode="External"/><Relationship Id="rId6" Type="http://schemas.openxmlformats.org/officeDocument/2006/relationships/hyperlink" Target="https://cran.r-project.org/web/packages/OpenImageR/vignettes/The_OpenImageR_package.html" TargetMode="External"/><Relationship Id="rId7" Type="http://schemas.openxmlformats.org/officeDocument/2006/relationships/hyperlink" Target="https://bioconductor.org/packages/devel/bioc/vignettes/EBImage/inst/doc/EBImage-introduction.html" TargetMode="External"/><Relationship Id="rId8" Type="http://schemas.openxmlformats.org/officeDocument/2006/relationships/hyperlink" Target="https://cran.r-project.org/web/packages/imagerExtra/vignettes/gettingstarted.html" TargetMode="Externa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hyperlink" Target="https://campus.datacamp.com/courses/image-processing-in-python/%20%20#" TargetMode="External"/><Relationship Id="rId4" Type="http://schemas.openxmlformats.org/officeDocument/2006/relationships/hyperlink" Target="https://de.mathworks.com/discovery/image-enhancement.html" TargetMode="External"/><Relationship Id="rId5" Type="http://schemas.openxmlformats.org/officeDocument/2006/relationships/hyperlink" Target="https://pub.towardsai.net/gaussian-blurring-a-gentle-introduction-e34aca1d9bbd" TargetMode="External"/><Relationship Id="rId6" Type="http://schemas.openxmlformats.org/officeDocument/2006/relationships/hyperlink" Target="https://en.wikipedia.org/wiki/Kernel_(image_processing)" TargetMode="External"/><Relationship Id="rId7" Type="http://schemas.openxmlformats.org/officeDocument/2006/relationships/hyperlink" Target="https://www.analyticsvidhya.com/blog/2022/07/a-brief-study-of-image-thresholding-algorithms/" TargetMode="Externa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0" y="925567"/>
            <a:ext cx="8520600" cy="230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Working With Data DATA9910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en-GB"/>
              <a:t>Week 11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3803975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Lucas Rizzo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2375" y="3749896"/>
            <a:ext cx="3379925" cy="21277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idx="2" type="subTitle"/>
          </p:nvPr>
        </p:nvSpPr>
        <p:spPr>
          <a:xfrm>
            <a:off x="279775" y="48608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email: lucas.rizzo@tudublin.ie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16394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Indicative schedule</a:t>
            </a:r>
            <a:endParaRPr/>
          </a:p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412000" y="756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{F1F58BE8-2475-45F7-BE11-48EE9FCB161C}</a:tableStyleId>
              </a:tblPr>
              <a:tblGrid>
                <a:gridCol w="1781900"/>
                <a:gridCol w="6247900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Set up environment and R notebook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Python and practice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3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Review R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/>
                        <a:t>I</a:t>
                      </a:r>
                      <a:r>
                        <a:rPr lang="en-GB" sz="1200" u="none" cap="none" strike="noStrike"/>
                        <a:t>mporting data with R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4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Intro SQL and aggregate queries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5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Databases and scripting languages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6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Interpreting Data (summary statistics, data visualisation)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7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Review week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8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manipulation in R</a:t>
                      </a:r>
                      <a:endParaRPr sz="1200" u="none" cap="none" strike="noStrike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Pandas and Numpy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9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/>
                        <a:t>Data visualisation in Python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200" u="none" cap="none" strike="noStrike"/>
                        <a:t>Data processing (regular expressions) 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10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Audio data (R and tuneR)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Image data (Python and skimage) 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(</a:t>
                      </a:r>
                      <a:r>
                        <a:rPr b="1" lang="en-GB" sz="1200" u="sng">
                          <a:solidFill>
                            <a:srgbClr val="E06666"/>
                          </a:solidFill>
                        </a:rPr>
                        <a:t>To be submitted</a:t>
                      </a:r>
                      <a:r>
                        <a:rPr b="1" lang="en-GB" sz="1200">
                          <a:solidFill>
                            <a:srgbClr val="E06666"/>
                          </a:solidFill>
                        </a:rPr>
                        <a:t>)</a:t>
                      </a:r>
                      <a:endParaRPr b="1" sz="1200" u="none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</a:t>
                      </a:r>
                      <a:r>
                        <a:rPr b="1" lang="en-GB" sz="1200"/>
                        <a:t>12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Time series (Python and Pandas)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/>
                        <a:t>Week 13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</a:rPr>
                        <a:t>Working on Assignment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200" u="sng" cap="none" strike="noStrike">
                          <a:solidFill>
                            <a:srgbClr val="E06666"/>
                          </a:solidFill>
                        </a:rPr>
                        <a:t>Assignment deadline</a:t>
                      </a:r>
                      <a:endParaRPr sz="1400" u="sng" cap="none" strike="noStrike">
                        <a:solidFill>
                          <a:srgbClr val="E06666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Overview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Image processing definition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Loading and displaying images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Image manipulation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Basic image analysis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Image filtering and segmentation</a:t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Digital Image Processing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The manipulation of digital images using various computer algorithms and techniques to modify, analyse or extract information from the images.</a:t>
            </a:r>
            <a:br>
              <a:rPr lang="en-GB" sz="2400"/>
            </a:br>
            <a:endParaRPr sz="2400"/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Digital Image Processing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The manipulation of digital images using various computer algorithms and techniques to modify, analyse or extract information from the images.</a:t>
            </a:r>
            <a:br>
              <a:rPr lang="en-GB" sz="2400"/>
            </a:br>
            <a:endParaRPr sz="2400"/>
          </a:p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Fundamental field within computer vision and image analysis. It involves (not exclusively):</a:t>
            </a:r>
            <a:endParaRPr sz="24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Enhancement techniques</a:t>
            </a:r>
            <a:endParaRPr sz="2000"/>
          </a:p>
          <a:p>
            <a:pPr indent="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6800" y="3672950"/>
            <a:ext cx="3638050" cy="21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5241175" y="5819357"/>
            <a:ext cx="3249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Enhancing grayscale images with histogram equalization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Digital Image Processing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The manipulation of digital images using various computer algorithms and techniques to modify, analyse or extract information from the images.</a:t>
            </a:r>
            <a:br>
              <a:rPr lang="en-GB" sz="2400"/>
            </a:br>
            <a:endParaRPr sz="2400"/>
          </a:p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Fundamental field within computer vision and image analysis. It involves (not exclusively):</a:t>
            </a:r>
            <a:endParaRPr sz="24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Enhancement techniques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Restoration techniques</a:t>
            </a:r>
            <a:endParaRPr sz="2000"/>
          </a:p>
          <a:p>
            <a:pPr indent="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7" name="Google Shape;107;p20"/>
          <p:cNvSpPr txBox="1"/>
          <p:nvPr/>
        </p:nvSpPr>
        <p:spPr>
          <a:xfrm>
            <a:off x="7885425" y="3721001"/>
            <a:ext cx="12066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Applying different filters to reduce noise</a:t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6750" y="3608125"/>
            <a:ext cx="2805150" cy="272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Digital Image Processing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The manipulation of digital images using various computer algorithms and techniques to modify, analyse or extract information from the images.</a:t>
            </a:r>
            <a:br>
              <a:rPr lang="en-GB" sz="2400"/>
            </a:br>
            <a:endParaRPr sz="2400"/>
          </a:p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Fundamental field within computer vision and image analysis. It involves (not exclusively):</a:t>
            </a:r>
            <a:endParaRPr sz="24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Enhancement techniques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Restoration techniques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Feature Extraction</a:t>
            </a:r>
            <a:endParaRPr sz="2000"/>
          </a:p>
          <a:p>
            <a:pPr indent="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7885425" y="3721001"/>
            <a:ext cx="12066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Boundary extraction of a circular stroke</a:t>
            </a: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5225" y="3721000"/>
            <a:ext cx="1145715" cy="261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6770" y="3733848"/>
            <a:ext cx="1155030" cy="2614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Digital Image Processing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The manipulation of digital images using various computer algorithms and techniques to modify, analyse or extract information from the images.</a:t>
            </a:r>
            <a:br>
              <a:rPr lang="en-GB" sz="2400"/>
            </a:br>
            <a:endParaRPr sz="2400"/>
          </a:p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Fundamental field within computer vision and image analysis. It involves (not exclusively):</a:t>
            </a:r>
            <a:endParaRPr sz="24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Enhancement techniques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Restoration techniques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Feature Extraction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Pattern Recognition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6" name="Google Shape;126;p22"/>
          <p:cNvSpPr txBox="1"/>
          <p:nvPr/>
        </p:nvSpPr>
        <p:spPr>
          <a:xfrm>
            <a:off x="7505350" y="3721000"/>
            <a:ext cx="15867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Petal and sepal width and length measurements performed on iris flowers for the purpose of data classification.</a:t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1775" y="3686875"/>
            <a:ext cx="2587925" cy="278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Digital Image Processing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The manipulation of digital images using various computer algorithms and techniques to modify, analyse or extract information from the images.</a:t>
            </a:r>
            <a:br>
              <a:rPr lang="en-GB" sz="2400"/>
            </a:br>
            <a:endParaRPr sz="2400"/>
          </a:p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Fundamental field within computer vision and image analysis. It involves (not exclusively):</a:t>
            </a:r>
            <a:endParaRPr sz="24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Enhancement techniques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Restoration techniques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Feature Extraction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Pattern Recognition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Medical Imaging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0200" y="3585075"/>
            <a:ext cx="1883625" cy="303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 txBox="1"/>
          <p:nvPr/>
        </p:nvSpPr>
        <p:spPr>
          <a:xfrm>
            <a:off x="6823900" y="3585075"/>
            <a:ext cx="2148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Medical imaging used to diagnose and analyze medical conditions. For example, with CT scans, MRI, and X-ray image processing aid in the detection of abnormalities.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Digital Image Processing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The manipulation of digital images using various computer algorithms and techniques to modify, analyse or extract information from the images.</a:t>
            </a:r>
            <a:br>
              <a:rPr lang="en-GB" sz="2400"/>
            </a:br>
            <a:endParaRPr sz="2400"/>
          </a:p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Fundamental field within computer vision and image analysis. It involves (not exclusively):</a:t>
            </a:r>
            <a:endParaRPr sz="24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Enhancement techniques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Restoration techniques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Feature Extraction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Pattern Recognition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Medical Imaging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Remote Sensing</a:t>
            </a:r>
            <a:endParaRPr sz="20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43" name="Google Shape;143;p2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763" y="4005838"/>
            <a:ext cx="2066925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9700" y="4020138"/>
            <a:ext cx="200025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/>
          <p:nvPr/>
        </p:nvSpPr>
        <p:spPr>
          <a:xfrm>
            <a:off x="4248450" y="5877625"/>
            <a:ext cx="422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Aerial image of an airport and extracted two edges defining the principal runway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Digital Image Processing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The manipulation of digital images using various computer algorithms and techniques to modify, analyse or extract information from the images.</a:t>
            </a:r>
            <a:br>
              <a:rPr lang="en-GB" sz="2400"/>
            </a:br>
            <a:endParaRPr sz="2400"/>
          </a:p>
          <a:p>
            <a:pPr indent="-3810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Fundamental field within computer vision and image analysis. It involves (not exclusively):</a:t>
            </a:r>
            <a:endParaRPr sz="24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Enhancement techniques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Restoration techniques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Feature Extraction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Pattern Recognition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Medical Imaging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Remote Sensing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Computer Vision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etc.</a:t>
            </a:r>
            <a:endParaRPr sz="2000"/>
          </a:p>
        </p:txBody>
      </p:sp>
      <p:sp>
        <p:nvSpPr>
          <p:cNvPr id="153" name="Google Shape;153;p2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0450" y="3628726"/>
            <a:ext cx="4482151" cy="234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5"/>
          <p:cNvSpPr txBox="1"/>
          <p:nvPr/>
        </p:nvSpPr>
        <p:spPr>
          <a:xfrm>
            <a:off x="4290450" y="5973550"/>
            <a:ext cx="421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and analyze </a:t>
            </a:r>
            <a:r>
              <a:rPr lang="en-GB">
                <a:solidFill>
                  <a:schemeClr val="dk1"/>
                </a:solidFill>
              </a:rPr>
              <a:t>images</a:t>
            </a:r>
            <a:r>
              <a:rPr lang="en-GB"/>
              <a:t> so that computers can interpret them and perform actions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 digital image?</a:t>
            </a:r>
            <a:endParaRPr/>
          </a:p>
        </p:txBody>
      </p:sp>
      <p:sp>
        <p:nvSpPr>
          <p:cNvPr id="161" name="Google Shape;161;p2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375" y="1651425"/>
            <a:ext cx="7025249" cy="465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 digital image?</a:t>
            </a:r>
            <a:endParaRPr/>
          </a:p>
        </p:txBody>
      </p:sp>
      <p:sp>
        <p:nvSpPr>
          <p:cNvPr id="168" name="Google Shape;168;p2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375" y="1651425"/>
            <a:ext cx="7025249" cy="465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7"/>
          <p:cNvSpPr txBox="1"/>
          <p:nvPr/>
        </p:nvSpPr>
        <p:spPr>
          <a:xfrm>
            <a:off x="5911175" y="4128450"/>
            <a:ext cx="3000000" cy="831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wo-dimensional representation of visual information that has been digitized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file types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There are several relevant image file formats, each with its own characteristics and use cases.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 more comprehensive list can be seen </a:t>
            </a:r>
            <a:r>
              <a:rPr lang="en-GB" sz="2000" u="sng">
                <a:solidFill>
                  <a:schemeClr val="hlink"/>
                </a:solidFill>
                <a:hlinkClick r:id="rId3"/>
              </a:rPr>
              <a:t>here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7" name="Google Shape;177;p2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78" name="Google Shape;178;p28"/>
          <p:cNvGraphicFramePr/>
          <p:nvPr/>
        </p:nvGraphicFramePr>
        <p:xfrm>
          <a:off x="800100" y="251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{C21F9BE2-007E-4CDF-B460-9FED8055BF6A}</a:tableStyleId>
              </a:tblPr>
              <a:tblGrid>
                <a:gridCol w="1112675"/>
                <a:gridCol w="6383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JPEG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Joint Photographic Experts Group file type. Reduces file size by discarding some image data, good for photographs and images with natural scenes.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PNG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Portable Network Graphics file type. Suitable for high-quality images with transparency such as icons and logos.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BMP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Bitmap Image file type. Uncompressed format resulting in high-quality images but large file sizes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TIFF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Tagged Image File Format. Flexible format supporting lossless compression, used in professional photography, medical imaging, and printing.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RAW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RAW formats are used in professional photography and are often uncompressed or minimally processed.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Vector image files</a:t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311700" y="1536625"/>
            <a:ext cx="4108200" cy="49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Common image types are usually</a:t>
            </a:r>
            <a:r>
              <a:rPr lang="en-GB" sz="2100"/>
              <a:t> pixel (or raster) images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Another popular type are vector images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They are constructed using proportional formulas rather than pixels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EPS, SVG and PDF are some examples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They are good for creating graphics that require frequent resizing</a:t>
            </a:r>
            <a:endParaRPr sz="2100"/>
          </a:p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7725" y="1356872"/>
            <a:ext cx="3543779" cy="45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Vector images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 SVG file for example is defined using XML</a:t>
            </a:r>
            <a:endParaRPr/>
          </a:p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4" name="Google Shape;194;p30"/>
          <p:cNvSpPr txBox="1"/>
          <p:nvPr/>
        </p:nvSpPr>
        <p:spPr>
          <a:xfrm>
            <a:off x="100150" y="2475525"/>
            <a:ext cx="99471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svg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xmlns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http://www.w3.org/2000/svg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"&gt;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GB" sz="13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&lt;!-- Shapes and Elements --&gt;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circle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cx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cy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30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fill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red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/&gt;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rect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40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40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fill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blue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/&gt;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line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x1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y1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60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x2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90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y2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60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stroke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green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stroke-width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/&gt;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text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20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y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90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font-family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Arial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fill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black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"&gt;SVG Example&lt;/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svg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95" name="Google Shape;19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6450" y="4203040"/>
            <a:ext cx="2075600" cy="188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Vector images</a:t>
            </a:r>
            <a:endParaRPr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311700" y="13080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0522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35"/>
              <a:buChar char="●"/>
            </a:pPr>
            <a:r>
              <a:rPr lang="en-GB" sz="2235"/>
              <a:t>Some Python libraries can handle some types of vector images, like SVG.</a:t>
            </a:r>
            <a:endParaRPr sz="2235"/>
          </a:p>
          <a:p>
            <a:pPr indent="-370522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35"/>
              <a:buChar char="○"/>
            </a:pPr>
            <a:r>
              <a:rPr lang="en-GB" sz="2235"/>
              <a:t>For example </a:t>
            </a:r>
            <a:r>
              <a:rPr lang="en-GB" sz="2235" u="sng">
                <a:solidFill>
                  <a:schemeClr val="hlink"/>
                </a:solidFill>
                <a:hlinkClick r:id="rId3"/>
              </a:rPr>
              <a:t>CairoSVG</a:t>
            </a:r>
            <a:r>
              <a:rPr lang="en-GB" sz="2235"/>
              <a:t> and </a:t>
            </a:r>
            <a:r>
              <a:rPr lang="en-GB" sz="2235" u="sng">
                <a:solidFill>
                  <a:schemeClr val="hlink"/>
                </a:solidFill>
                <a:hlinkClick r:id="rId4"/>
              </a:rPr>
              <a:t>PyCairo</a:t>
            </a:r>
            <a:r>
              <a:rPr lang="en-GB" sz="2235"/>
              <a:t>.</a:t>
            </a:r>
            <a:br>
              <a:rPr lang="en-GB" sz="2235"/>
            </a:br>
            <a:endParaRPr sz="2235"/>
          </a:p>
          <a:p>
            <a:pPr indent="-370522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35"/>
              <a:buChar char="●"/>
            </a:pPr>
            <a:r>
              <a:rPr lang="en-GB" sz="2235"/>
              <a:t>Most commonly though, you should use a vector graphics software to manipulate this</a:t>
            </a:r>
            <a:endParaRPr sz="2235"/>
          </a:p>
          <a:p>
            <a:pPr indent="-370522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35"/>
              <a:buChar char="○"/>
            </a:pPr>
            <a:r>
              <a:rPr lang="en-GB" sz="2235"/>
              <a:t>Examples include Adobe Illustrator, or languages for producing vector graphics, like in the </a:t>
            </a:r>
            <a:r>
              <a:rPr lang="en-GB" sz="2235" u="sng">
                <a:solidFill>
                  <a:schemeClr val="hlink"/>
                </a:solidFill>
                <a:hlinkClick r:id="rId5"/>
              </a:rPr>
              <a:t>TikZ</a:t>
            </a:r>
            <a:r>
              <a:rPr lang="en-GB" sz="2235"/>
              <a:t> package for Latex.</a:t>
            </a:r>
            <a:br>
              <a:rPr lang="en-GB" sz="2235"/>
            </a:br>
            <a:endParaRPr sz="2235"/>
          </a:p>
          <a:p>
            <a:pPr indent="-370522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35"/>
              <a:buChar char="●"/>
            </a:pPr>
            <a:r>
              <a:rPr lang="en-GB" sz="2235"/>
              <a:t>We are </a:t>
            </a:r>
            <a:r>
              <a:rPr i="1" lang="en-GB" sz="2235"/>
              <a:t>not</a:t>
            </a:r>
            <a:r>
              <a:rPr lang="en-GB" sz="2235"/>
              <a:t> going to study vector images in-depth.</a:t>
            </a:r>
            <a:endParaRPr sz="2235"/>
          </a:p>
        </p:txBody>
      </p:sp>
      <p:sp>
        <p:nvSpPr>
          <p:cNvPr id="202" name="Google Shape;202;p3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Digital image representation (Grayscale)</a:t>
            </a:r>
            <a:endParaRPr/>
          </a:p>
        </p:txBody>
      </p:sp>
      <p:sp>
        <p:nvSpPr>
          <p:cNvPr id="208" name="Google Shape;208;p32"/>
          <p:cNvSpPr txBox="1"/>
          <p:nvPr>
            <p:ph idx="1" type="body"/>
          </p:nvPr>
        </p:nvSpPr>
        <p:spPr>
          <a:xfrm>
            <a:off x="311700" y="1536625"/>
            <a:ext cx="5565300" cy="455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Discrete representation of images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A rectangular grid of pixels </a:t>
            </a:r>
            <a:r>
              <a:rPr b="1" lang="en-GB"/>
              <a:t>P(x,y)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Each pixel </a:t>
            </a:r>
            <a:r>
              <a:rPr b="1" lang="en-GB"/>
              <a:t>p</a:t>
            </a:r>
            <a:r>
              <a:rPr lang="en-GB"/>
              <a:t> will store an intensity value. Usually, aa 8 bit/pixel, which allows us to have (0-255) different brightness (gray) levels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0 → black;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255 → white;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in-between → gray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Image size </a:t>
            </a:r>
            <a:r>
              <a:rPr b="1" lang="en-GB"/>
              <a:t>m ✕ n</a:t>
            </a:r>
            <a:r>
              <a:rPr lang="en-GB"/>
              <a:t> → </a:t>
            </a:r>
            <a:r>
              <a:rPr b="1" lang="en-GB"/>
              <a:t>mn pixels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Represented as an array or matrix.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0" name="Google Shape;21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5550" y="1224900"/>
            <a:ext cx="2061050" cy="53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1</a:t>
            </a:r>
            <a:endParaRPr/>
          </a:p>
        </p:txBody>
      </p:sp>
      <p:sp>
        <p:nvSpPr>
          <p:cNvPr id="216" name="Google Shape;216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Create a numpy array of 100x100 dimensions, with a random int value between 0 and 255 in each position. </a:t>
            </a:r>
            <a:r>
              <a:rPr lang="en-GB"/>
              <a:t>You will need to set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dtype </a:t>
            </a:r>
            <a:r>
              <a:rPr lang="en-GB"/>
              <a:t>value of the numpy array to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np.uint8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Using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skimage.io</a:t>
            </a:r>
            <a:r>
              <a:rPr lang="en-GB"/>
              <a:t> module, call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io.imshow </a:t>
            </a:r>
            <a:r>
              <a:rPr lang="en-GB"/>
              <a:t>function passing your numpy array and see the resulting image.</a:t>
            </a:r>
            <a:endParaRPr/>
          </a:p>
        </p:txBody>
      </p:sp>
      <p:sp>
        <p:nvSpPr>
          <p:cNvPr id="217" name="Google Shape;217;p3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8" name="Google Shape;218;p33"/>
          <p:cNvSpPr txBox="1"/>
          <p:nvPr/>
        </p:nvSpPr>
        <p:spPr>
          <a:xfrm>
            <a:off x="3411775" y="5300450"/>
            <a:ext cx="3147300" cy="1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Tips in the next slide…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1</a:t>
            </a:r>
            <a:endParaRPr/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Create a numpy array of 100x100 dimensions, with a random int value between 0 and 255 in each position. You will need to set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dtype </a:t>
            </a:r>
            <a:r>
              <a:rPr lang="en-GB"/>
              <a:t>value of the numpy array to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np.uint8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Using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skimage.io</a:t>
            </a:r>
            <a:r>
              <a:rPr lang="en-GB"/>
              <a:t> module, call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io.imshow </a:t>
            </a:r>
            <a:r>
              <a:rPr lang="en-GB"/>
              <a:t>function passing your numpy array and see the resulting image.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Hint: you can check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io.imshow</a:t>
            </a:r>
            <a:r>
              <a:rPr lang="en-GB"/>
              <a:t> examples in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documentation</a:t>
            </a:r>
            <a:r>
              <a:rPr lang="en-GB"/>
              <a:t> and how to generate random numpy arrays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here</a:t>
            </a:r>
            <a:r>
              <a:rPr lang="en-GB"/>
              <a:t>.</a:t>
            </a:r>
            <a:endParaRPr/>
          </a:p>
        </p:txBody>
      </p:sp>
      <p:sp>
        <p:nvSpPr>
          <p:cNvPr id="225" name="Google Shape;225;p3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6" name="Google Shape;226;p34"/>
          <p:cNvSpPr txBox="1"/>
          <p:nvPr/>
        </p:nvSpPr>
        <p:spPr>
          <a:xfrm>
            <a:off x="3411775" y="5300450"/>
            <a:ext cx="3147300" cy="1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Solution in the next slide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1 (solution)</a:t>
            </a:r>
            <a:endParaRPr/>
          </a:p>
        </p:txBody>
      </p:sp>
      <p:sp>
        <p:nvSpPr>
          <p:cNvPr id="232" name="Google Shape;232;p3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3" name="Google Shape;23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50" y="1742400"/>
            <a:ext cx="7160374" cy="27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0750" y="3851092"/>
            <a:ext cx="2857275" cy="2835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representation (RGB)</a:t>
            </a:r>
            <a:endParaRPr/>
          </a:p>
        </p:txBody>
      </p:sp>
      <p:sp>
        <p:nvSpPr>
          <p:cNvPr id="240" name="Google Shape;240;p36"/>
          <p:cNvSpPr txBox="1"/>
          <p:nvPr>
            <p:ph idx="1" type="body"/>
          </p:nvPr>
        </p:nvSpPr>
        <p:spPr>
          <a:xfrm>
            <a:off x="311700" y="1536625"/>
            <a:ext cx="8063700" cy="455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RGB images have three color channels </a:t>
            </a:r>
            <a:r>
              <a:rPr lang="en-GB" sz="2100"/>
              <a:t>represented using three 2D arrays of same size, one for each color channel: red (R), green (G), and blue (B)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Each array element contains an 8-bit value, indicating the amount of red, green, or blue at that point in a [0, 255] scale.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Three 8-bit values combine into a 24-bit number,</a:t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allowing 2^24 (16,777,216 color combinations)</a:t>
            </a:r>
            <a:endParaRPr sz="2100"/>
          </a:p>
        </p:txBody>
      </p:sp>
      <p:sp>
        <p:nvSpPr>
          <p:cNvPr id="241" name="Google Shape;241;p3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42" name="Google Shape;2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0225" y="4387975"/>
            <a:ext cx="4994174" cy="227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2</a:t>
            </a:r>
            <a:endParaRPr/>
          </a:p>
        </p:txBody>
      </p:sp>
      <p:sp>
        <p:nvSpPr>
          <p:cNvPr id="248" name="Google Shape;248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Using the same code from task 1, add a third dimension to your numpy array with </a:t>
            </a:r>
            <a:r>
              <a:rPr lang="en-GB"/>
              <a:t>length</a:t>
            </a:r>
            <a:r>
              <a:rPr lang="en-GB"/>
              <a:t> 3.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Display the resulting image with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io.imshow</a:t>
            </a:r>
            <a:r>
              <a:rPr lang="en-GB"/>
              <a:t> function</a:t>
            </a:r>
            <a:endParaRPr/>
          </a:p>
        </p:txBody>
      </p:sp>
      <p:sp>
        <p:nvSpPr>
          <p:cNvPr id="249" name="Google Shape;249;p3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0" name="Google Shape;250;p37"/>
          <p:cNvSpPr txBox="1"/>
          <p:nvPr/>
        </p:nvSpPr>
        <p:spPr>
          <a:xfrm>
            <a:off x="1971925" y="5002650"/>
            <a:ext cx="3147300" cy="1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Solution in the next slide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2 (solution)</a:t>
            </a:r>
            <a:endParaRPr/>
          </a:p>
        </p:txBody>
      </p:sp>
      <p:sp>
        <p:nvSpPr>
          <p:cNvPr id="256" name="Google Shape;256;p3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7" name="Google Shape;25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50" y="1518992"/>
            <a:ext cx="68199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0800" y="2808367"/>
            <a:ext cx="3573912" cy="3586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Loading and displaying images</a:t>
            </a:r>
            <a:endParaRPr/>
          </a:p>
        </p:txBody>
      </p:sp>
      <p:sp>
        <p:nvSpPr>
          <p:cNvPr id="264" name="Google Shape;264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Python/R there a several toolkits that can help you loading an image.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</a:t>
            </a:r>
            <a:r>
              <a:rPr lang="en-GB"/>
              <a:t>n the context of data science and machine learning,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Skimage package</a:t>
            </a:r>
            <a:r>
              <a:rPr lang="en-GB"/>
              <a:t> is quite popular.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Specifically, the </a:t>
            </a:r>
            <a:r>
              <a:rPr lang="en-GB" u="sng">
                <a:solidFill>
                  <a:schemeClr val="hlink"/>
                </a:solidFill>
                <a:latin typeface="Courier"/>
                <a:ea typeface="Courier"/>
                <a:cs typeface="Courier"/>
                <a:sym typeface="Courier"/>
                <a:hlinkClick r:id="rId4"/>
              </a:rPr>
              <a:t>imread</a:t>
            </a:r>
            <a:r>
              <a:rPr lang="en-GB" u="sng">
                <a:solidFill>
                  <a:schemeClr val="hlink"/>
                </a:solidFill>
                <a:hlinkClick r:id="rId5"/>
              </a:rPr>
              <a:t> function</a:t>
            </a:r>
            <a:r>
              <a:rPr lang="en-GB"/>
              <a:t> to read images from files to your computer.</a:t>
            </a:r>
            <a:endParaRPr/>
          </a:p>
        </p:txBody>
      </p:sp>
      <p:sp>
        <p:nvSpPr>
          <p:cNvPr id="265" name="Google Shape;265;p3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skimage.io.imread</a:t>
            </a:r>
            <a:endParaRPr/>
          </a:p>
        </p:txBody>
      </p:sp>
      <p:sp>
        <p:nvSpPr>
          <p:cNvPr id="271" name="Google Shape;271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</a:t>
            </a:r>
            <a:r>
              <a:rPr lang="en-GB"/>
              <a:t>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imread</a:t>
            </a:r>
            <a:r>
              <a:rPr lang="en-GB"/>
              <a:t> function gets a file path or url and returns a numpy array.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dimension of the array will depend on the type the image: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the image is in </a:t>
            </a:r>
            <a:r>
              <a:rPr b="1" lang="en-GB"/>
              <a:t>grayscale</a:t>
            </a:r>
            <a:r>
              <a:rPr lang="en-GB"/>
              <a:t>, then the output will be an M x N array (M rows and N columns).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the image uses </a:t>
            </a:r>
            <a:r>
              <a:rPr b="1" lang="en-GB"/>
              <a:t>RGB colors</a:t>
            </a:r>
            <a:r>
              <a:rPr lang="en-GB"/>
              <a:t>, then the output will be M x N x 3. 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the image uses </a:t>
            </a:r>
            <a:r>
              <a:rPr b="1" lang="en-GB"/>
              <a:t>RGBA colors</a:t>
            </a:r>
            <a:r>
              <a:rPr lang="en-GB"/>
              <a:t>, then the output will be M x N x 4.</a:t>
            </a:r>
            <a:endParaRPr/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RGBA adds a fourth channel, to indicate opacity. This is a value between 0 and 1.</a:t>
            </a:r>
            <a:endParaRPr/>
          </a:p>
        </p:txBody>
      </p:sp>
      <p:sp>
        <p:nvSpPr>
          <p:cNvPr id="272" name="Google Shape;272;p4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skimage.io.imread</a:t>
            </a:r>
            <a:endParaRPr/>
          </a:p>
        </p:txBody>
      </p:sp>
      <p:sp>
        <p:nvSpPr>
          <p:cNvPr id="278" name="Google Shape;278;p4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Reading a local file</a:t>
            </a:r>
            <a:endParaRPr/>
          </a:p>
        </p:txBody>
      </p:sp>
      <p:sp>
        <p:nvSpPr>
          <p:cNvPr id="279" name="Google Shape;279;p4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0" name="Google Shape;280;p41"/>
          <p:cNvSpPr txBox="1"/>
          <p:nvPr/>
        </p:nvSpPr>
        <p:spPr>
          <a:xfrm>
            <a:off x="180875" y="2665275"/>
            <a:ext cx="5472600" cy="15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skimage.io </a:t>
            </a:r>
            <a:r>
              <a:rPr lang="en-GB" sz="1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io</a:t>
            </a:r>
            <a:endParaRPr sz="1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 = io.imread(</a:t>
            </a:r>
            <a:r>
              <a:rPr lang="en-GB" sz="19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'cat_example.jpg'</a:t>
            </a: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io.imshow(image)</a:t>
            </a:r>
            <a:endParaRPr sz="1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81" name="Google Shape;28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175" y="1682600"/>
            <a:ext cx="2832125" cy="352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skimage.io.imread</a:t>
            </a:r>
            <a:endParaRPr/>
          </a:p>
        </p:txBody>
      </p:sp>
      <p:sp>
        <p:nvSpPr>
          <p:cNvPr id="287" name="Google Shape;287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Reading a local file in grayscale</a:t>
            </a:r>
            <a:endParaRPr/>
          </a:p>
        </p:txBody>
      </p:sp>
      <p:sp>
        <p:nvSpPr>
          <p:cNvPr id="288" name="Google Shape;288;p4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9" name="Google Shape;289;p42"/>
          <p:cNvSpPr txBox="1"/>
          <p:nvPr/>
        </p:nvSpPr>
        <p:spPr>
          <a:xfrm>
            <a:off x="180875" y="2284275"/>
            <a:ext cx="81051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skimage.io </a:t>
            </a:r>
            <a:r>
              <a:rPr lang="en-GB" sz="1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io</a:t>
            </a:r>
            <a:endParaRPr sz="1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 = io.imread(</a:t>
            </a:r>
            <a:r>
              <a:rPr lang="en-GB" sz="19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'cat_example.jpg'</a:t>
            </a: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as_gray=</a:t>
            </a:r>
            <a:r>
              <a:rPr lang="en-GB" sz="1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io.imshow(image)</a:t>
            </a:r>
            <a:endParaRPr sz="1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90" name="Google Shape;29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9995" y="3428995"/>
            <a:ext cx="2659775" cy="322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skimage.io.imread</a:t>
            </a:r>
            <a:endParaRPr/>
          </a:p>
        </p:txBody>
      </p:sp>
      <p:sp>
        <p:nvSpPr>
          <p:cNvPr id="296" name="Google Shape;296;p4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Reading from a URL</a:t>
            </a:r>
            <a:endParaRPr/>
          </a:p>
        </p:txBody>
      </p:sp>
      <p:sp>
        <p:nvSpPr>
          <p:cNvPr id="297" name="Google Shape;297;p4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8" name="Google Shape;298;p43"/>
          <p:cNvSpPr txBox="1"/>
          <p:nvPr/>
        </p:nvSpPr>
        <p:spPr>
          <a:xfrm>
            <a:off x="180875" y="2284275"/>
            <a:ext cx="8520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skimage.io </a:t>
            </a:r>
            <a:r>
              <a:rPr lang="en-GB" sz="2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io</a:t>
            </a:r>
            <a:endParaRPr sz="2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matplotlib.pyplot </a:t>
            </a:r>
            <a:r>
              <a:rPr lang="en-GB" sz="20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</a:t>
            </a:r>
            <a:endParaRPr sz="2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 =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io.imread(</a:t>
            </a:r>
            <a:r>
              <a:rPr lang="en-GB" sz="20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'https://i.ibb.co/h041g0p/Red-Cat-8727.jpg'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plt.imshow(image)</a:t>
            </a:r>
            <a:endParaRPr sz="2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99" name="Google Shape;29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2525" y="4180775"/>
            <a:ext cx="3796850" cy="253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Loading and displaying images</a:t>
            </a:r>
            <a:endParaRPr/>
          </a:p>
        </p:txBody>
      </p:sp>
      <p:sp>
        <p:nvSpPr>
          <p:cNvPr id="305" name="Google Shape;305;p4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lang="en-GB" u="sng">
                <a:solidFill>
                  <a:schemeClr val="hlink"/>
                </a:solidFill>
                <a:latin typeface="Courier"/>
                <a:ea typeface="Courier"/>
                <a:cs typeface="Courier"/>
                <a:sym typeface="Courier"/>
                <a:hlinkClick r:id="rId3"/>
              </a:rPr>
              <a:t>Pillow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GB"/>
              <a:t>module can also be used to load images.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One of its advantages is that it can also extract image metadata.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</a:t>
            </a:r>
            <a:r>
              <a:rPr lang="en-GB"/>
              <a:t> metadata is often created by cameras and include technical information about an image and its capture method.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Metadata is usually stored in the </a:t>
            </a:r>
            <a:r>
              <a:rPr b="1" lang="en-GB"/>
              <a:t>Exchangeable image file format</a:t>
            </a:r>
            <a:r>
              <a:rPr lang="en-GB"/>
              <a:t> (Exif).</a:t>
            </a:r>
            <a:endParaRPr/>
          </a:p>
        </p:txBody>
      </p:sp>
      <p:sp>
        <p:nvSpPr>
          <p:cNvPr id="306" name="Google Shape;306;p4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image metadata</a:t>
            </a:r>
            <a:endParaRPr/>
          </a:p>
        </p:txBody>
      </p:sp>
      <p:sp>
        <p:nvSpPr>
          <p:cNvPr id="312" name="Google Shape;312;p4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3" name="Google Shape;313;p45"/>
          <p:cNvSpPr txBox="1"/>
          <p:nvPr/>
        </p:nvSpPr>
        <p:spPr>
          <a:xfrm>
            <a:off x="4112950" y="2749050"/>
            <a:ext cx="561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14" name="Google Shape;31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26" y="1703550"/>
            <a:ext cx="5293225" cy="352795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5"/>
          <p:cNvSpPr txBox="1"/>
          <p:nvPr/>
        </p:nvSpPr>
        <p:spPr>
          <a:xfrm>
            <a:off x="5684125" y="2423675"/>
            <a:ext cx="5838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PIL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Image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PIL.ExifTags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TAGS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Open the image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 = Image.</a:t>
            </a:r>
            <a:r>
              <a:rPr lang="en-GB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open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"tokyo.jpg"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Extracting the exif metadata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exifdata = image.getexif()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image metadata</a:t>
            </a:r>
            <a:endParaRPr/>
          </a:p>
        </p:txBody>
      </p:sp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2" name="Google Shape;322;p46"/>
          <p:cNvSpPr txBox="1"/>
          <p:nvPr/>
        </p:nvSpPr>
        <p:spPr>
          <a:xfrm>
            <a:off x="387900" y="1170200"/>
            <a:ext cx="61974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Looping through all the tags present </a:t>
            </a:r>
            <a:endParaRPr>
              <a:solidFill>
                <a:srgbClr val="D81B6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in exifdata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tagid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exifdata: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getting the tag name instead of tag id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tagname = TAGS.get(tagid, tagid)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passing the tagid to get its respective value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value = exifdata.get(tagid)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printing the final result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f"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{tagname:17}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{value}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image.close()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3" name="Google Shape;323;p46"/>
          <p:cNvSpPr txBox="1"/>
          <p:nvPr/>
        </p:nvSpPr>
        <p:spPr>
          <a:xfrm>
            <a:off x="4112950" y="2749050"/>
            <a:ext cx="561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24" name="Google Shape;32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1475" y="4206750"/>
            <a:ext cx="3681700" cy="253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3</a:t>
            </a:r>
            <a:endParaRPr/>
          </a:p>
        </p:txBody>
      </p:sp>
      <p:sp>
        <p:nvSpPr>
          <p:cNvPr id="330" name="Google Shape;330;p4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Run the above example and set the missing artist name (“Sarah”) in the image metadata. You can download the image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-GB"/>
              <a:t>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tag id for artist name is 315 (you can also check the full list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here</a:t>
            </a:r>
            <a:r>
              <a:rPr lang="en-GB"/>
              <a:t>)</a:t>
            </a:r>
            <a:r>
              <a:rPr lang="en-GB"/>
              <a:t>. You should set that before printing all the other metadata information.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Hint: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getexif()</a:t>
            </a:r>
            <a:r>
              <a:rPr lang="en-GB"/>
              <a:t> function returns a dictionary like object.</a:t>
            </a:r>
            <a:endParaRPr/>
          </a:p>
        </p:txBody>
      </p:sp>
      <p:sp>
        <p:nvSpPr>
          <p:cNvPr id="331" name="Google Shape;331;p4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2" name="Google Shape;332;p47"/>
          <p:cNvSpPr txBox="1"/>
          <p:nvPr/>
        </p:nvSpPr>
        <p:spPr>
          <a:xfrm>
            <a:off x="1971925" y="5231250"/>
            <a:ext cx="3147300" cy="1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Solution in the next slide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3</a:t>
            </a:r>
            <a:endParaRPr/>
          </a:p>
        </p:txBody>
      </p:sp>
      <p:sp>
        <p:nvSpPr>
          <p:cNvPr id="338" name="Google Shape;338;p4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9" name="Google Shape;339;p48"/>
          <p:cNvSpPr txBox="1"/>
          <p:nvPr/>
        </p:nvSpPr>
        <p:spPr>
          <a:xfrm>
            <a:off x="466250" y="1457075"/>
            <a:ext cx="6906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PIL </a:t>
            </a:r>
            <a:r>
              <a:rPr lang="en-GB" sz="1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Image</a:t>
            </a:r>
            <a:endParaRPr sz="18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PIL.ExifTags </a:t>
            </a:r>
            <a:r>
              <a:rPr lang="en-GB" sz="18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TAGS</a:t>
            </a:r>
            <a:endParaRPr sz="18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Open the image</a:t>
            </a:r>
            <a:endParaRPr sz="18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 = Image.</a:t>
            </a:r>
            <a:r>
              <a:rPr lang="en-GB" sz="1800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open</a:t>
            </a: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GB" sz="18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"tokyo.jpg"</a:t>
            </a: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8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Extracting the exif metadata</a:t>
            </a:r>
            <a:endParaRPr sz="18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exifdata = image.getexif()</a:t>
            </a:r>
            <a:endParaRPr sz="18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exifdata[</a:t>
            </a:r>
            <a:r>
              <a:rPr lang="en-GB" sz="18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315</a:t>
            </a:r>
            <a:r>
              <a:rPr lang="en-GB" sz="18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= </a:t>
            </a:r>
            <a:r>
              <a:rPr lang="en-GB" sz="18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"Sarah"</a:t>
            </a:r>
            <a:endParaRPr sz="1800">
              <a:solidFill>
                <a:srgbClr val="388E3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40" name="Google Shape;34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3075" y="4135175"/>
            <a:ext cx="3419172" cy="24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manipulation</a:t>
            </a:r>
            <a:endParaRPr/>
          </a:p>
        </p:txBody>
      </p:sp>
      <p:sp>
        <p:nvSpPr>
          <p:cNvPr id="346" name="Google Shape;346;p4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Manipulating images might be necessary when passing them to a machine learning model or to increase the diversity of training data.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might need to: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Preprocess images</a:t>
            </a:r>
            <a:r>
              <a:rPr lang="en-GB"/>
              <a:t>: resizing all to the same size, reducing noise, normalizing pixel values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Extract features</a:t>
            </a:r>
            <a:r>
              <a:rPr lang="en-GB"/>
              <a:t>: edge detection, texture analysis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Data augmentation</a:t>
            </a:r>
            <a:r>
              <a:rPr lang="en-GB"/>
              <a:t>: resizing, cropping, rotating, and flipping training images to generate </a:t>
            </a:r>
            <a:r>
              <a:rPr lang="en-GB"/>
              <a:t>additional</a:t>
            </a:r>
            <a:r>
              <a:rPr lang="en-GB"/>
              <a:t> data.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Hence, image manipulation techniques can contribute to the quality and diversity of the training data</a:t>
            </a:r>
            <a:endParaRPr/>
          </a:p>
        </p:txBody>
      </p:sp>
      <p:sp>
        <p:nvSpPr>
          <p:cNvPr id="347" name="Google Shape;347;p4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Image Operations (resizing)</a:t>
            </a:r>
            <a:endParaRPr/>
          </a:p>
        </p:txBody>
      </p:sp>
      <p:sp>
        <p:nvSpPr>
          <p:cNvPr id="353" name="Google Shape;353;p5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54" name="Google Shape;35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75" y="1509275"/>
            <a:ext cx="6522574" cy="3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1450" y="4050050"/>
            <a:ext cx="3918650" cy="26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4</a:t>
            </a:r>
            <a:endParaRPr/>
          </a:p>
        </p:txBody>
      </p:sp>
      <p:sp>
        <p:nvSpPr>
          <p:cNvPr id="361" name="Google Shape;361;p5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Resize the previous image to 343 pixels width while preserving the its aspect ratio.</a:t>
            </a:r>
            <a:endParaRPr/>
          </a:p>
        </p:txBody>
      </p:sp>
      <p:sp>
        <p:nvSpPr>
          <p:cNvPr id="362" name="Google Shape;362;p5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3" name="Google Shape;363;p51"/>
          <p:cNvSpPr txBox="1"/>
          <p:nvPr/>
        </p:nvSpPr>
        <p:spPr>
          <a:xfrm>
            <a:off x="1971925" y="5231250"/>
            <a:ext cx="3147300" cy="1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Solution in the next slide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4</a:t>
            </a:r>
            <a:endParaRPr/>
          </a:p>
        </p:txBody>
      </p:sp>
      <p:sp>
        <p:nvSpPr>
          <p:cNvPr id="369" name="Google Shape;369;p5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70" name="Google Shape;37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575" y="2320675"/>
            <a:ext cx="6095350" cy="40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2025" y="699925"/>
            <a:ext cx="4744925" cy="323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7" name="Google Shape;377;p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Image Operations (resizing)</a:t>
            </a:r>
            <a:endParaRPr/>
          </a:p>
        </p:txBody>
      </p:sp>
      <p:sp>
        <p:nvSpPr>
          <p:cNvPr id="378" name="Google Shape;378;p5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Another option to resize is to use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rescale </a:t>
            </a:r>
            <a:r>
              <a:rPr lang="en-GB"/>
              <a:t>function</a:t>
            </a:r>
            <a:endParaRPr/>
          </a:p>
        </p:txBody>
      </p:sp>
      <p:pic>
        <p:nvPicPr>
          <p:cNvPr id="379" name="Google Shape;37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839" y="2181302"/>
            <a:ext cx="8800325" cy="384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839" y="2181302"/>
            <a:ext cx="8800325" cy="38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5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6" name="Google Shape;386;p5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Image Operations (resizing)</a:t>
            </a:r>
            <a:endParaRPr/>
          </a:p>
        </p:txBody>
      </p:sp>
      <p:sp>
        <p:nvSpPr>
          <p:cNvPr id="387" name="Google Shape;387;p5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Another option to resize is to use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rescale </a:t>
            </a:r>
            <a:r>
              <a:rPr lang="en-GB"/>
              <a:t>function</a:t>
            </a:r>
            <a:endParaRPr/>
          </a:p>
        </p:txBody>
      </p:sp>
      <p:cxnSp>
        <p:nvCxnSpPr>
          <p:cNvPr id="388" name="Google Shape;388;p54"/>
          <p:cNvCxnSpPr/>
          <p:nvPr/>
        </p:nvCxnSpPr>
        <p:spPr>
          <a:xfrm flipH="1" rot="10800000">
            <a:off x="5025670" y="4463850"/>
            <a:ext cx="1138200" cy="1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54"/>
          <p:cNvCxnSpPr/>
          <p:nvPr/>
        </p:nvCxnSpPr>
        <p:spPr>
          <a:xfrm flipH="1">
            <a:off x="5485316" y="4481550"/>
            <a:ext cx="210600" cy="491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0" name="Google Shape;390;p54"/>
          <p:cNvSpPr txBox="1"/>
          <p:nvPr/>
        </p:nvSpPr>
        <p:spPr>
          <a:xfrm>
            <a:off x="4190445" y="4972647"/>
            <a:ext cx="23574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highlight>
                  <a:schemeClr val="lt2"/>
                </a:highlight>
              </a:rPr>
              <a:t>Color channel, otherwise assumed to be grayscale</a:t>
            </a:r>
            <a:endParaRPr>
              <a:solidFill>
                <a:srgbClr val="FF0000"/>
              </a:solidFill>
              <a:highlight>
                <a:schemeClr val="lt2"/>
              </a:highlight>
            </a:endParaRPr>
          </a:p>
        </p:txBody>
      </p:sp>
      <p:cxnSp>
        <p:nvCxnSpPr>
          <p:cNvPr id="391" name="Google Shape;391;p54"/>
          <p:cNvCxnSpPr/>
          <p:nvPr/>
        </p:nvCxnSpPr>
        <p:spPr>
          <a:xfrm flipH="1" rot="10800000">
            <a:off x="6570467" y="4477542"/>
            <a:ext cx="1138200" cy="1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54"/>
          <p:cNvCxnSpPr/>
          <p:nvPr/>
        </p:nvCxnSpPr>
        <p:spPr>
          <a:xfrm>
            <a:off x="7146170" y="4481547"/>
            <a:ext cx="303600" cy="553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3" name="Google Shape;393;p54"/>
          <p:cNvSpPr txBox="1"/>
          <p:nvPr/>
        </p:nvSpPr>
        <p:spPr>
          <a:xfrm>
            <a:off x="6432952" y="5017892"/>
            <a:ext cx="2436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highlight>
                  <a:schemeClr val="lt2"/>
                </a:highlight>
              </a:rPr>
              <a:t>Option to smooth the image (more about that soon)</a:t>
            </a:r>
            <a:endParaRPr>
              <a:solidFill>
                <a:srgbClr val="FF0000"/>
              </a:solidFill>
              <a:highlight>
                <a:schemeClr val="lt2"/>
              </a:highlight>
            </a:endParaRPr>
          </a:p>
        </p:txBody>
      </p:sp>
      <p:cxnSp>
        <p:nvCxnSpPr>
          <p:cNvPr id="394" name="Google Shape;394;p54"/>
          <p:cNvCxnSpPr/>
          <p:nvPr/>
        </p:nvCxnSpPr>
        <p:spPr>
          <a:xfrm>
            <a:off x="4502995" y="4463697"/>
            <a:ext cx="3381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54"/>
          <p:cNvCxnSpPr/>
          <p:nvPr/>
        </p:nvCxnSpPr>
        <p:spPr>
          <a:xfrm flipH="1">
            <a:off x="3726166" y="4472625"/>
            <a:ext cx="934500" cy="401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6" name="Google Shape;396;p54"/>
          <p:cNvSpPr txBox="1"/>
          <p:nvPr/>
        </p:nvSpPr>
        <p:spPr>
          <a:xfrm>
            <a:off x="3056370" y="4798122"/>
            <a:ext cx="1313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highlight>
                  <a:schemeClr val="lt2"/>
                </a:highlight>
              </a:rPr>
              <a:t>Rescale factor</a:t>
            </a:r>
            <a:endParaRPr>
              <a:solidFill>
                <a:srgbClr val="FF0000"/>
              </a:solidFill>
              <a:highlight>
                <a:schemeClr val="lt2"/>
              </a:highlight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Image Operations (cropping)</a:t>
            </a:r>
            <a:endParaRPr/>
          </a:p>
        </p:txBody>
      </p:sp>
      <p:sp>
        <p:nvSpPr>
          <p:cNvPr id="402" name="Google Shape;402;p5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slice the numpy array to crop any area of the image</a:t>
            </a:r>
            <a:endParaRPr/>
          </a:p>
        </p:txBody>
      </p:sp>
      <p:sp>
        <p:nvSpPr>
          <p:cNvPr id="403" name="Google Shape;403;p5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04" name="Google Shape;40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622" y="3346000"/>
            <a:ext cx="5187600" cy="3453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5"/>
          <p:cNvSpPr txBox="1"/>
          <p:nvPr/>
        </p:nvSpPr>
        <p:spPr>
          <a:xfrm>
            <a:off x="1293900" y="2237800"/>
            <a:ext cx="8206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cropped_image = image[</a:t>
            </a:r>
            <a:r>
              <a:rPr lang="en-GB" sz="2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1150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GB" sz="2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1400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1400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GB" sz="2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1800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2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plt.imshow(cropped_image)</a:t>
            </a:r>
            <a:endParaRPr sz="2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Image Operations (cropping)</a:t>
            </a:r>
            <a:endParaRPr/>
          </a:p>
        </p:txBody>
      </p:sp>
      <p:sp>
        <p:nvSpPr>
          <p:cNvPr id="411" name="Google Shape;411;p5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slice the numpy array to crop any area of the image</a:t>
            </a:r>
            <a:endParaRPr/>
          </a:p>
        </p:txBody>
      </p:sp>
      <p:sp>
        <p:nvSpPr>
          <p:cNvPr id="412" name="Google Shape;412;p5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13" name="Google Shape;41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622" y="3346000"/>
            <a:ext cx="5187600" cy="345340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56"/>
          <p:cNvSpPr txBox="1"/>
          <p:nvPr/>
        </p:nvSpPr>
        <p:spPr>
          <a:xfrm>
            <a:off x="1293900" y="2237800"/>
            <a:ext cx="8206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cropped_image = image[</a:t>
            </a:r>
            <a:r>
              <a:rPr lang="en-GB" sz="2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1150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GB" sz="2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1400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1400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GB" sz="2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1800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2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plt.imshow(cropped_image)</a:t>
            </a:r>
            <a:endParaRPr sz="2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415" name="Google Shape;415;p56"/>
          <p:cNvCxnSpPr/>
          <p:nvPr/>
        </p:nvCxnSpPr>
        <p:spPr>
          <a:xfrm>
            <a:off x="4669325" y="2978950"/>
            <a:ext cx="3187800" cy="9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56"/>
          <p:cNvCxnSpPr/>
          <p:nvPr/>
        </p:nvCxnSpPr>
        <p:spPr>
          <a:xfrm>
            <a:off x="6482050" y="2978950"/>
            <a:ext cx="348300" cy="812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7" name="Google Shape;417;p56"/>
          <p:cNvSpPr txBox="1"/>
          <p:nvPr/>
        </p:nvSpPr>
        <p:spPr>
          <a:xfrm>
            <a:off x="6357050" y="3943350"/>
            <a:ext cx="2679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Which region of the image this will return?</a:t>
            </a:r>
            <a:endParaRPr sz="19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Image Operations (cropping)</a:t>
            </a:r>
            <a:endParaRPr/>
          </a:p>
        </p:txBody>
      </p:sp>
      <p:sp>
        <p:nvSpPr>
          <p:cNvPr id="423" name="Google Shape;423;p5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slice the numpy array to crop any area of the image</a:t>
            </a:r>
            <a:endParaRPr/>
          </a:p>
        </p:txBody>
      </p:sp>
      <p:sp>
        <p:nvSpPr>
          <p:cNvPr id="424" name="Google Shape;424;p5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5" name="Google Shape;425;p57"/>
          <p:cNvSpPr txBox="1"/>
          <p:nvPr/>
        </p:nvSpPr>
        <p:spPr>
          <a:xfrm>
            <a:off x="1293900" y="2237800"/>
            <a:ext cx="8206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cropped_image = image[</a:t>
            </a:r>
            <a:r>
              <a:rPr lang="en-GB" sz="2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1150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GB" sz="2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1400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2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1400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-GB" sz="20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1800</a:t>
            </a: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2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plt.imshow(cropped_image)</a:t>
            </a:r>
            <a:endParaRPr sz="20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426" name="Google Shape;426;p57"/>
          <p:cNvCxnSpPr/>
          <p:nvPr/>
        </p:nvCxnSpPr>
        <p:spPr>
          <a:xfrm flipH="1" rot="10800000">
            <a:off x="5544350" y="4345350"/>
            <a:ext cx="660900" cy="53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7" name="Google Shape;427;p57"/>
          <p:cNvSpPr txBox="1"/>
          <p:nvPr/>
        </p:nvSpPr>
        <p:spPr>
          <a:xfrm>
            <a:off x="6155834" y="4019550"/>
            <a:ext cx="2339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bus</a:t>
            </a:r>
            <a:endParaRPr sz="1900"/>
          </a:p>
        </p:txBody>
      </p:sp>
      <p:pic>
        <p:nvPicPr>
          <p:cNvPr id="428" name="Google Shape;42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900" y="3592200"/>
            <a:ext cx="4712175" cy="3024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9" name="Google Shape;429;p57"/>
          <p:cNvCxnSpPr/>
          <p:nvPr/>
        </p:nvCxnSpPr>
        <p:spPr>
          <a:xfrm flipH="1" rot="10800000">
            <a:off x="4669325" y="2969950"/>
            <a:ext cx="1437600" cy="9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57"/>
          <p:cNvSpPr txBox="1"/>
          <p:nvPr/>
        </p:nvSpPr>
        <p:spPr>
          <a:xfrm>
            <a:off x="5079509" y="2903925"/>
            <a:ext cx="2339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FF0000"/>
                </a:solidFill>
              </a:rPr>
              <a:t>Y axis</a:t>
            </a:r>
            <a:endParaRPr sz="1900">
              <a:solidFill>
                <a:srgbClr val="FF0000"/>
              </a:solidFill>
            </a:endParaRPr>
          </a:p>
        </p:txBody>
      </p:sp>
      <p:cxnSp>
        <p:nvCxnSpPr>
          <p:cNvPr id="431" name="Google Shape;431;p57"/>
          <p:cNvCxnSpPr/>
          <p:nvPr/>
        </p:nvCxnSpPr>
        <p:spPr>
          <a:xfrm flipH="1" rot="10800000">
            <a:off x="6464775" y="2969950"/>
            <a:ext cx="1437600" cy="9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57"/>
          <p:cNvSpPr txBox="1"/>
          <p:nvPr/>
        </p:nvSpPr>
        <p:spPr>
          <a:xfrm>
            <a:off x="6722559" y="2903925"/>
            <a:ext cx="2339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FF0000"/>
                </a:solidFill>
              </a:rPr>
              <a:t>X</a:t>
            </a:r>
            <a:r>
              <a:rPr lang="en-GB" sz="1900">
                <a:solidFill>
                  <a:srgbClr val="FF0000"/>
                </a:solidFill>
              </a:rPr>
              <a:t> axis</a:t>
            </a:r>
            <a:endParaRPr sz="19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Image Operations (rotating)</a:t>
            </a:r>
            <a:endParaRPr/>
          </a:p>
        </p:txBody>
      </p:sp>
      <p:sp>
        <p:nvSpPr>
          <p:cNvPr id="438" name="Google Shape;438;p5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To rotate an image, scikit provides a rotate function </a:t>
            </a:r>
            <a:endParaRPr/>
          </a:p>
        </p:txBody>
      </p:sp>
      <p:sp>
        <p:nvSpPr>
          <p:cNvPr id="439" name="Google Shape;439;p5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40" name="Google Shape;44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81" y="2305225"/>
            <a:ext cx="5623350" cy="208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5275" y="3996925"/>
            <a:ext cx="3873500" cy="245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manipulation and enhancement</a:t>
            </a:r>
            <a:endParaRPr/>
          </a:p>
        </p:txBody>
      </p:sp>
      <p:sp>
        <p:nvSpPr>
          <p:cNvPr id="447" name="Google Shape;447;p5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is also possible to </a:t>
            </a:r>
            <a:r>
              <a:rPr lang="en-GB"/>
              <a:t>apply</a:t>
            </a:r>
            <a:r>
              <a:rPr lang="en-GB"/>
              <a:t> mathematical functions to filter, </a:t>
            </a:r>
            <a:r>
              <a:rPr lang="en-GB"/>
              <a:t>emphasise</a:t>
            </a:r>
            <a:r>
              <a:rPr lang="en-GB"/>
              <a:t> or remove certain features from an image.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Filters are usually a set of operations applied to the neighbours of each pixel.</a:t>
            </a:r>
            <a:endParaRPr/>
          </a:p>
        </p:txBody>
      </p:sp>
      <p:sp>
        <p:nvSpPr>
          <p:cNvPr id="448" name="Google Shape;448;p5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49" name="Google Shape;44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950" y="3673675"/>
            <a:ext cx="5352000" cy="260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Image Filtering and Convolution</a:t>
            </a:r>
            <a:endParaRPr/>
          </a:p>
        </p:txBody>
      </p:sp>
      <p:sp>
        <p:nvSpPr>
          <p:cNvPr id="455" name="Google Shape;455;p6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For example, the Gaussian filter can be applied as a form of anti-aliasing.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This filter process an image in </a:t>
            </a:r>
            <a:r>
              <a:rPr lang="en-GB"/>
              <a:t>sections</a:t>
            </a:r>
            <a:r>
              <a:rPr lang="en-GB"/>
              <a:t> (neighbours).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is aim is to smooth out </a:t>
            </a:r>
            <a:r>
              <a:rPr lang="en-GB"/>
              <a:t>aliasing artifacts, such as jagged or distorted edges, </a:t>
            </a:r>
            <a:r>
              <a:rPr lang="en-GB"/>
              <a:t>to create a more visually pleasing and accurate representation of the image</a:t>
            </a:r>
            <a:endParaRPr/>
          </a:p>
        </p:txBody>
      </p:sp>
      <p:sp>
        <p:nvSpPr>
          <p:cNvPr id="456" name="Google Shape;456;p6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Gaussian filter</a:t>
            </a:r>
            <a:endParaRPr/>
          </a:p>
        </p:txBody>
      </p:sp>
      <p:sp>
        <p:nvSpPr>
          <p:cNvPr id="462" name="Google Shape;462;p61"/>
          <p:cNvSpPr txBox="1"/>
          <p:nvPr>
            <p:ph idx="1" type="body"/>
          </p:nvPr>
        </p:nvSpPr>
        <p:spPr>
          <a:xfrm>
            <a:off x="311700" y="1536625"/>
            <a:ext cx="50094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Gaussian filter generates a new color value for each pixel by incorporating the color values of neighboring pixels, weighted depending on the distance between pixel and neighbor.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64" name="Google Shape;46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625" y="1303301"/>
            <a:ext cx="3476625" cy="3226887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61"/>
          <p:cNvSpPr txBox="1"/>
          <p:nvPr/>
        </p:nvSpPr>
        <p:spPr>
          <a:xfrm>
            <a:off x="311700" y="4358300"/>
            <a:ext cx="84384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-GB" sz="2200">
                <a:solidFill>
                  <a:schemeClr val="dk2"/>
                </a:solidFill>
              </a:rPr>
              <a:t>It is calculated by moving a sliding window over the image, adding up neighboring pixels (multiplied by weights).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Gaussian filter</a:t>
            </a:r>
            <a:endParaRPr/>
          </a:p>
        </p:txBody>
      </p:sp>
      <p:sp>
        <p:nvSpPr>
          <p:cNvPr id="471" name="Google Shape;471;p6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gaussian filter (or </a:t>
            </a:r>
            <a:r>
              <a:rPr lang="en-GB"/>
              <a:t>kernel</a:t>
            </a:r>
            <a:r>
              <a:rPr lang="en-GB"/>
              <a:t>) of a specific size is defined, typically an odd-sized square matrix (3x3, 5x5, 7x7, etc.)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6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73" name="Google Shape;47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995" y="3264100"/>
            <a:ext cx="4038500" cy="11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62"/>
          <p:cNvSpPr txBox="1"/>
          <p:nvPr/>
        </p:nvSpPr>
        <p:spPr>
          <a:xfrm>
            <a:off x="1113589" y="4479150"/>
            <a:ext cx="3339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Gaussian function</a:t>
            </a:r>
            <a:endParaRPr b="1"/>
          </a:p>
        </p:txBody>
      </p:sp>
      <p:pic>
        <p:nvPicPr>
          <p:cNvPr id="475" name="Google Shape;475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8625" y="3002050"/>
            <a:ext cx="1876500" cy="9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7225" y="4643575"/>
            <a:ext cx="2460750" cy="1448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7" name="Google Shape;477;p62"/>
          <p:cNvCxnSpPr/>
          <p:nvPr/>
        </p:nvCxnSpPr>
        <p:spPr>
          <a:xfrm flipH="1" rot="10800000">
            <a:off x="4813073" y="3550341"/>
            <a:ext cx="1276200" cy="28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62"/>
          <p:cNvCxnSpPr/>
          <p:nvPr/>
        </p:nvCxnSpPr>
        <p:spPr>
          <a:xfrm>
            <a:off x="4821125" y="4086225"/>
            <a:ext cx="991200" cy="839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" name="Google Shape;479;p62"/>
          <p:cNvSpPr txBox="1"/>
          <p:nvPr/>
        </p:nvSpPr>
        <p:spPr>
          <a:xfrm>
            <a:off x="5668314" y="3933250"/>
            <a:ext cx="3339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Approximated results</a:t>
            </a:r>
            <a:endParaRPr/>
          </a:p>
        </p:txBody>
      </p:sp>
      <p:sp>
        <p:nvSpPr>
          <p:cNvPr id="480" name="Google Shape;480;p62"/>
          <p:cNvSpPr txBox="1"/>
          <p:nvPr/>
        </p:nvSpPr>
        <p:spPr>
          <a:xfrm>
            <a:off x="5658614" y="6054350"/>
            <a:ext cx="3339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Approximated results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Gaussian filter</a:t>
            </a:r>
            <a:endParaRPr/>
          </a:p>
        </p:txBody>
      </p:sp>
      <p:sp>
        <p:nvSpPr>
          <p:cNvPr id="486" name="Google Shape;486;p6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gaussian filter (or kernel) of a specific size is defined, typically an odd-sized square matrix (3x3, 5x5, 7x7, etc.)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6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88" name="Google Shape;48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995" y="3264100"/>
            <a:ext cx="4038500" cy="11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63"/>
          <p:cNvSpPr txBox="1"/>
          <p:nvPr/>
        </p:nvSpPr>
        <p:spPr>
          <a:xfrm>
            <a:off x="1113589" y="4479150"/>
            <a:ext cx="3339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Gaussian function</a:t>
            </a:r>
            <a:endParaRPr b="1"/>
          </a:p>
        </p:txBody>
      </p:sp>
      <p:pic>
        <p:nvPicPr>
          <p:cNvPr id="490" name="Google Shape;490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8625" y="3002050"/>
            <a:ext cx="1876500" cy="9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7225" y="4643575"/>
            <a:ext cx="2460750" cy="1448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2" name="Google Shape;492;p63"/>
          <p:cNvCxnSpPr/>
          <p:nvPr/>
        </p:nvCxnSpPr>
        <p:spPr>
          <a:xfrm flipH="1" rot="10800000">
            <a:off x="4813073" y="3550341"/>
            <a:ext cx="1276200" cy="28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3" name="Google Shape;493;p63"/>
          <p:cNvCxnSpPr/>
          <p:nvPr/>
        </p:nvCxnSpPr>
        <p:spPr>
          <a:xfrm>
            <a:off x="4821125" y="4086225"/>
            <a:ext cx="991200" cy="839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4" name="Google Shape;494;p63"/>
          <p:cNvSpPr txBox="1"/>
          <p:nvPr/>
        </p:nvSpPr>
        <p:spPr>
          <a:xfrm>
            <a:off x="2741425" y="5420325"/>
            <a:ext cx="3000000" cy="1046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larger the kernel size, the stronger the smoothing effect, but it also increases computational complexity.</a:t>
            </a:r>
            <a:endParaRPr/>
          </a:p>
        </p:txBody>
      </p:sp>
      <p:sp>
        <p:nvSpPr>
          <p:cNvPr id="495" name="Google Shape;495;p63"/>
          <p:cNvSpPr txBox="1"/>
          <p:nvPr/>
        </p:nvSpPr>
        <p:spPr>
          <a:xfrm>
            <a:off x="5668314" y="3933250"/>
            <a:ext cx="3339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Approximated results</a:t>
            </a:r>
            <a:endParaRPr/>
          </a:p>
        </p:txBody>
      </p:sp>
      <p:sp>
        <p:nvSpPr>
          <p:cNvPr id="496" name="Google Shape;496;p63"/>
          <p:cNvSpPr txBox="1"/>
          <p:nvPr/>
        </p:nvSpPr>
        <p:spPr>
          <a:xfrm>
            <a:off x="5658614" y="6054350"/>
            <a:ext cx="3339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Approximated results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Gaussian filter</a:t>
            </a:r>
            <a:endParaRPr/>
          </a:p>
        </p:txBody>
      </p:sp>
      <p:sp>
        <p:nvSpPr>
          <p:cNvPr id="502" name="Google Shape;502;p6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gaussian filter (or kernel) of a specific size is defined, typically an odd-sized square matrix (3x3, 5x5, 7x7, etc.)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6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04" name="Google Shape;50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995" y="3264100"/>
            <a:ext cx="4038500" cy="11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64"/>
          <p:cNvSpPr txBox="1"/>
          <p:nvPr/>
        </p:nvSpPr>
        <p:spPr>
          <a:xfrm>
            <a:off x="1113589" y="4479150"/>
            <a:ext cx="3339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Gaussian function</a:t>
            </a:r>
            <a:endParaRPr b="1"/>
          </a:p>
        </p:txBody>
      </p:sp>
      <p:pic>
        <p:nvPicPr>
          <p:cNvPr id="506" name="Google Shape;506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8625" y="3002050"/>
            <a:ext cx="1876500" cy="9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7225" y="4643575"/>
            <a:ext cx="2460750" cy="1448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8" name="Google Shape;508;p64"/>
          <p:cNvCxnSpPr/>
          <p:nvPr/>
        </p:nvCxnSpPr>
        <p:spPr>
          <a:xfrm flipH="1" rot="10800000">
            <a:off x="4813073" y="3550341"/>
            <a:ext cx="1276200" cy="28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64"/>
          <p:cNvCxnSpPr/>
          <p:nvPr/>
        </p:nvCxnSpPr>
        <p:spPr>
          <a:xfrm>
            <a:off x="4821125" y="4086225"/>
            <a:ext cx="991200" cy="839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0" name="Google Shape;510;p64"/>
          <p:cNvSpPr txBox="1"/>
          <p:nvPr/>
        </p:nvSpPr>
        <p:spPr>
          <a:xfrm>
            <a:off x="526850" y="4996700"/>
            <a:ext cx="3000000" cy="1262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/>
              <a:t>igma controls the spread or width of the Gaussian distribution. A smaller sigma value means less smoothing, while a larger sigma value means more smoothing</a:t>
            </a:r>
            <a:endParaRPr/>
          </a:p>
        </p:txBody>
      </p:sp>
      <p:cxnSp>
        <p:nvCxnSpPr>
          <p:cNvPr id="511" name="Google Shape;511;p64"/>
          <p:cNvCxnSpPr>
            <a:stCxn id="510" idx="3"/>
          </p:cNvCxnSpPr>
          <p:nvPr/>
        </p:nvCxnSpPr>
        <p:spPr>
          <a:xfrm flipH="1" rot="10800000">
            <a:off x="3526850" y="4380950"/>
            <a:ext cx="356700" cy="1246800"/>
          </a:xfrm>
          <a:prstGeom prst="bentConnector2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64"/>
          <p:cNvCxnSpPr/>
          <p:nvPr/>
        </p:nvCxnSpPr>
        <p:spPr>
          <a:xfrm rot="10800000">
            <a:off x="3401175" y="4336200"/>
            <a:ext cx="473400" cy="447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13" name="Google Shape;513;p64"/>
          <p:cNvSpPr txBox="1"/>
          <p:nvPr/>
        </p:nvSpPr>
        <p:spPr>
          <a:xfrm>
            <a:off x="5668314" y="3933250"/>
            <a:ext cx="3339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Approximated results</a:t>
            </a:r>
            <a:endParaRPr/>
          </a:p>
        </p:txBody>
      </p:sp>
      <p:sp>
        <p:nvSpPr>
          <p:cNvPr id="514" name="Google Shape;514;p64"/>
          <p:cNvSpPr txBox="1"/>
          <p:nvPr/>
        </p:nvSpPr>
        <p:spPr>
          <a:xfrm>
            <a:off x="5658614" y="6054350"/>
            <a:ext cx="3339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Approximated results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Gaussian filter</a:t>
            </a:r>
            <a:endParaRPr/>
          </a:p>
        </p:txBody>
      </p:sp>
      <p:pic>
        <p:nvPicPr>
          <p:cNvPr id="520" name="Google Shape;52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18867"/>
            <a:ext cx="883920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6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2" name="Google Shape;522;p6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</a:t>
            </a:r>
            <a:r>
              <a:rPr lang="en-GB"/>
              <a:t>lement-wise multiplication between the kernel and the corresponding neighborhood of pixels.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</a:t>
            </a:r>
            <a:endParaRPr/>
          </a:p>
        </p:txBody>
      </p:sp>
      <p:sp>
        <p:nvSpPr>
          <p:cNvPr id="528" name="Google Shape;528;p6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9" name="Google Shape;529;p6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a) Change the scale option below to </a:t>
            </a:r>
            <a:r>
              <a:rPr lang="en-GB"/>
              <a:t>1/6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b) Change the anti-aliasing option to true.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c) Compare the difference between results for the two parameters.</a:t>
            </a:r>
            <a:endParaRPr/>
          </a:p>
        </p:txBody>
      </p:sp>
      <p:pic>
        <p:nvPicPr>
          <p:cNvPr id="530" name="Google Shape;53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323" y="3171125"/>
            <a:ext cx="8847825" cy="266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5</a:t>
            </a:r>
            <a:endParaRPr/>
          </a:p>
        </p:txBody>
      </p:sp>
      <p:sp>
        <p:nvSpPr>
          <p:cNvPr id="536" name="Google Shape;536;p6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37" name="Google Shape;53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79000"/>
            <a:ext cx="4458975" cy="30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67"/>
          <p:cNvSpPr txBox="1"/>
          <p:nvPr/>
        </p:nvSpPr>
        <p:spPr>
          <a:xfrm>
            <a:off x="311700" y="5219375"/>
            <a:ext cx="29988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Scale </a:t>
            </a:r>
            <a:r>
              <a:rPr lang="en-GB"/>
              <a:t>1/6, n</a:t>
            </a:r>
            <a:r>
              <a:rPr lang="en-GB"/>
              <a:t>o anti-aliasing</a:t>
            </a:r>
            <a:endParaRPr/>
          </a:p>
        </p:txBody>
      </p:sp>
      <p:pic>
        <p:nvPicPr>
          <p:cNvPr id="539" name="Google Shape;539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8975" y="2085850"/>
            <a:ext cx="4458974" cy="304708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67"/>
          <p:cNvSpPr txBox="1"/>
          <p:nvPr/>
        </p:nvSpPr>
        <p:spPr>
          <a:xfrm>
            <a:off x="4665650" y="5262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Scale 1/6, with anti-aliasing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Convolutional kernels</a:t>
            </a:r>
            <a:endParaRPr/>
          </a:p>
        </p:txBody>
      </p:sp>
      <p:sp>
        <p:nvSpPr>
          <p:cNvPr id="546" name="Google Shape;546;p6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process of applying a filter to an image is called </a:t>
            </a:r>
            <a:r>
              <a:rPr b="1" lang="en-GB"/>
              <a:t>convolution</a:t>
            </a:r>
            <a:r>
              <a:rPr lang="en-GB"/>
              <a:t>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In the context of image processing, filters like the Gaussian one, are also known as </a:t>
            </a:r>
            <a:r>
              <a:rPr b="1" lang="en-GB"/>
              <a:t>convolution kernels</a:t>
            </a:r>
            <a:r>
              <a:rPr lang="en-GB"/>
              <a:t>: a small matrix or a grid of values used to process an image.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/>
              <a:t>Kernels </a:t>
            </a:r>
            <a:r>
              <a:rPr lang="en-GB"/>
              <a:t>are a fundamental tool in many image processing and are used to extract features or enhance specific aspects of an image.</a:t>
            </a:r>
            <a:endParaRPr/>
          </a:p>
        </p:txBody>
      </p:sp>
      <p:sp>
        <p:nvSpPr>
          <p:cNvPr id="547" name="Google Shape;547;p6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Convolutional kernels</a:t>
            </a:r>
            <a:endParaRPr/>
          </a:p>
        </p:txBody>
      </p:sp>
      <p:sp>
        <p:nvSpPr>
          <p:cNvPr id="553" name="Google Shape;553;p6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54" name="Google Shape;55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50" y="1567162"/>
            <a:ext cx="4361375" cy="37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67142"/>
            <a:ext cx="4238625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69"/>
          <p:cNvSpPr txBox="1"/>
          <p:nvPr/>
        </p:nvSpPr>
        <p:spPr>
          <a:xfrm>
            <a:off x="146700" y="5745975"/>
            <a:ext cx="542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u="sng">
                <a:solidFill>
                  <a:schemeClr val="hlink"/>
                </a:solidFill>
                <a:hlinkClick r:id="rId5"/>
              </a:rPr>
              <a:t>https://en.wikipedia.org/wiki/Kernel_(image_processing)</a:t>
            </a:r>
            <a:r>
              <a:rPr lang="en-GB" sz="1600"/>
              <a:t> </a:t>
            </a:r>
            <a:endParaRPr sz="16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Edge detection</a:t>
            </a:r>
            <a:endParaRPr/>
          </a:p>
        </p:txBody>
      </p:sp>
      <p:sp>
        <p:nvSpPr>
          <p:cNvPr id="562" name="Google Shape;562;p7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common filter to </a:t>
            </a:r>
            <a:r>
              <a:rPr lang="en-GB"/>
              <a:t>detect</a:t>
            </a:r>
            <a:r>
              <a:rPr lang="en-GB"/>
              <a:t> edges is the </a:t>
            </a:r>
            <a:r>
              <a:rPr b="1" lang="en-GB"/>
              <a:t>Sobel filter</a:t>
            </a:r>
            <a:r>
              <a:rPr lang="en-GB"/>
              <a:t>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</a:t>
            </a:r>
            <a:r>
              <a:rPr lang="en-GB"/>
              <a:t> involves applying two 3 x 3 convolutional kernels to an image in grayscale.</a:t>
            </a:r>
            <a:endParaRPr/>
          </a:p>
        </p:txBody>
      </p:sp>
      <p:sp>
        <p:nvSpPr>
          <p:cNvPr id="563" name="Google Shape;563;p7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64" name="Google Shape;56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275" y="2914325"/>
            <a:ext cx="371475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7025" y="2914325"/>
            <a:ext cx="4420475" cy="29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Color Manipulation</a:t>
            </a:r>
            <a:endParaRPr/>
          </a:p>
        </p:txBody>
      </p:sp>
      <p:sp>
        <p:nvSpPr>
          <p:cNvPr id="571" name="Google Shape;571;p7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To</a:t>
            </a:r>
            <a:r>
              <a:rPr lang="en-GB"/>
              <a:t> extract individual color channels (red, green, blue) from a color image you just need to access the correct dimension of the image</a:t>
            </a:r>
            <a:endParaRPr/>
          </a:p>
        </p:txBody>
      </p:sp>
      <p:sp>
        <p:nvSpPr>
          <p:cNvPr id="572" name="Google Shape;572;p7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3" name="Google Shape;573;p71"/>
          <p:cNvSpPr txBox="1"/>
          <p:nvPr/>
        </p:nvSpPr>
        <p:spPr>
          <a:xfrm>
            <a:off x="213250" y="3105625"/>
            <a:ext cx="51852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 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io, color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numpy 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np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Load a color image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 = io.imread(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'tokyo.jpg'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Extract color channels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image[:, :,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=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Set red channel to 0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image[:, :,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=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3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Set blue channel to 0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Display the extracted color channels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plt.imshow(image)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74" name="Google Shape;57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5600" y="3160890"/>
            <a:ext cx="3546700" cy="2373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Color Manipulation</a:t>
            </a:r>
            <a:endParaRPr/>
          </a:p>
        </p:txBody>
      </p:sp>
      <p:sp>
        <p:nvSpPr>
          <p:cNvPr id="580" name="Google Shape;580;p7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It is also possible to evaluate the </a:t>
            </a:r>
            <a:r>
              <a:rPr lang="en-GB"/>
              <a:t>amount</a:t>
            </a:r>
            <a:r>
              <a:rPr lang="en-GB"/>
              <a:t> of a color contained in the image in a gray scale.</a:t>
            </a:r>
            <a:endParaRPr/>
          </a:p>
        </p:txBody>
      </p:sp>
      <p:sp>
        <p:nvSpPr>
          <p:cNvPr id="581" name="Google Shape;581;p7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82" name="Google Shape;582;p72"/>
          <p:cNvSpPr txBox="1"/>
          <p:nvPr/>
        </p:nvSpPr>
        <p:spPr>
          <a:xfrm>
            <a:off x="311700" y="2671288"/>
            <a:ext cx="51852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 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io, color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Load a color image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 = io.imread(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'tokyo.jpg'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Extract red color channel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red_channel = image[:, :,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 </a:t>
            </a:r>
            <a:r>
              <a:rPr lang="en-GB" sz="13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Red channel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Display the extracted color channels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plt.imshow(red_channel, cmap=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'gray'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51B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83" name="Google Shape;58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8596" y="2730425"/>
            <a:ext cx="4346849" cy="28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Color histograms</a:t>
            </a:r>
            <a:endParaRPr/>
          </a:p>
        </p:txBody>
      </p:sp>
      <p:sp>
        <p:nvSpPr>
          <p:cNvPr id="589" name="Google Shape;589;p73"/>
          <p:cNvSpPr txBox="1"/>
          <p:nvPr>
            <p:ph idx="1" type="body"/>
          </p:nvPr>
        </p:nvSpPr>
        <p:spPr>
          <a:xfrm>
            <a:off x="311700" y="1536625"/>
            <a:ext cx="36282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Another </a:t>
            </a:r>
            <a:r>
              <a:rPr lang="en-GB"/>
              <a:t>useful way to visualise color frequency is by using histograms.</a:t>
            </a:r>
            <a:endParaRPr/>
          </a:p>
        </p:txBody>
      </p:sp>
      <p:sp>
        <p:nvSpPr>
          <p:cNvPr id="590" name="Google Shape;590;p7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91" name="Google Shape;59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00" y="3663850"/>
            <a:ext cx="8082226" cy="2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7800" y="704575"/>
            <a:ext cx="4034449" cy="27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Color histograms</a:t>
            </a:r>
            <a:endParaRPr/>
          </a:p>
        </p:txBody>
      </p:sp>
      <p:sp>
        <p:nvSpPr>
          <p:cNvPr id="598" name="Google Shape;598;p74"/>
          <p:cNvSpPr txBox="1"/>
          <p:nvPr>
            <p:ph idx="1" type="body"/>
          </p:nvPr>
        </p:nvSpPr>
        <p:spPr>
          <a:xfrm>
            <a:off x="311700" y="1536625"/>
            <a:ext cx="36282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Another useful way to visualise color frequency is by using histograms.</a:t>
            </a:r>
            <a:endParaRPr/>
          </a:p>
        </p:txBody>
      </p:sp>
      <p:sp>
        <p:nvSpPr>
          <p:cNvPr id="599" name="Google Shape;599;p7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00" name="Google Shape;60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00" y="3663850"/>
            <a:ext cx="8082226" cy="2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7800" y="704575"/>
            <a:ext cx="4034449" cy="2768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2" name="Google Shape;602;p74"/>
          <p:cNvCxnSpPr>
            <a:endCxn id="603" idx="2"/>
          </p:cNvCxnSpPr>
          <p:nvPr/>
        </p:nvCxnSpPr>
        <p:spPr>
          <a:xfrm flipH="1" rot="10800000">
            <a:off x="5842025" y="6027300"/>
            <a:ext cx="699600" cy="29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4" name="Google Shape;604;p74"/>
          <p:cNvSpPr txBox="1"/>
          <p:nvPr/>
        </p:nvSpPr>
        <p:spPr>
          <a:xfrm>
            <a:off x="3709510" y="6183625"/>
            <a:ext cx="34716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Why this number of bins?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605" name="Google Shape;605;p74"/>
          <p:cNvCxnSpPr/>
          <p:nvPr/>
        </p:nvCxnSpPr>
        <p:spPr>
          <a:xfrm rot="10800000">
            <a:off x="4067900" y="6122125"/>
            <a:ext cx="109800" cy="17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6" name="Google Shape;606;p74"/>
          <p:cNvCxnSpPr/>
          <p:nvPr/>
        </p:nvCxnSpPr>
        <p:spPr>
          <a:xfrm rot="10800000">
            <a:off x="3044300" y="6130400"/>
            <a:ext cx="714300" cy="275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Color histograms</a:t>
            </a:r>
            <a:endParaRPr/>
          </a:p>
        </p:txBody>
      </p:sp>
      <p:sp>
        <p:nvSpPr>
          <p:cNvPr id="612" name="Google Shape;612;p75"/>
          <p:cNvSpPr txBox="1"/>
          <p:nvPr>
            <p:ph idx="1" type="body"/>
          </p:nvPr>
        </p:nvSpPr>
        <p:spPr>
          <a:xfrm>
            <a:off x="311700" y="1536625"/>
            <a:ext cx="36282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Another useful way to visualise color frequency is by using histograms.</a:t>
            </a:r>
            <a:endParaRPr/>
          </a:p>
        </p:txBody>
      </p:sp>
      <p:sp>
        <p:nvSpPr>
          <p:cNvPr id="613" name="Google Shape;613;p7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14" name="Google Shape;61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800" y="3663850"/>
            <a:ext cx="8082226" cy="2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7800" y="704575"/>
            <a:ext cx="4034449" cy="2768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75"/>
          <p:cNvSpPr/>
          <p:nvPr/>
        </p:nvSpPr>
        <p:spPr>
          <a:xfrm>
            <a:off x="8469225" y="3843550"/>
            <a:ext cx="307200" cy="255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7" name="Google Shape;617;p75"/>
          <p:cNvCxnSpPr>
            <a:endCxn id="616" idx="2"/>
          </p:cNvCxnSpPr>
          <p:nvPr/>
        </p:nvCxnSpPr>
        <p:spPr>
          <a:xfrm flipH="1" rot="10800000">
            <a:off x="7949025" y="3971500"/>
            <a:ext cx="520200" cy="204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8" name="Google Shape;618;p75"/>
          <p:cNvSpPr txBox="1"/>
          <p:nvPr/>
        </p:nvSpPr>
        <p:spPr>
          <a:xfrm>
            <a:off x="7360295" y="3971500"/>
            <a:ext cx="11004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What happened here?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7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Thresholding</a:t>
            </a:r>
            <a:endParaRPr/>
          </a:p>
        </p:txBody>
      </p:sp>
      <p:sp>
        <p:nvSpPr>
          <p:cNvPr id="624" name="Google Shape;624;p7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We can check where the high intensity blue pixels are located by applying a threshold.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Basically, we need to filter all the values &gt; 250 in the blue channel.</a:t>
            </a:r>
            <a:endParaRPr/>
          </a:p>
        </p:txBody>
      </p:sp>
      <p:sp>
        <p:nvSpPr>
          <p:cNvPr id="625" name="Google Shape;625;p76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26" name="Google Shape;62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9300" y="3758600"/>
            <a:ext cx="3572995" cy="240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76"/>
          <p:cNvSpPr txBox="1"/>
          <p:nvPr/>
        </p:nvSpPr>
        <p:spPr>
          <a:xfrm>
            <a:off x="593400" y="3554625"/>
            <a:ext cx="46044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io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matplotlib.pyplot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plt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Load a color image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 = io.imread(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'tokyo.jpg'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blue_channel = image[:, :,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mask_lower_pixel_values = blue_channel &lt;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250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mask_higher_pixel_values = blue_channel &gt;=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250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blue_channel[mask_lower_pixel_values] =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255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blue_channel[mask_higher_pixel_values] = </a:t>
            </a:r>
            <a:r>
              <a:rPr lang="en-GB" sz="1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plt.imshow(blue_channel, cmap='gray')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6</a:t>
            </a:r>
            <a:endParaRPr/>
          </a:p>
        </p:txBody>
      </p:sp>
      <p:sp>
        <p:nvSpPr>
          <p:cNvPr id="633" name="Google Shape;633;p7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Using the red cat image (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https://i.ibb.co/h041g0p/Red-Cat-8727.jpg</a:t>
            </a:r>
            <a:r>
              <a:rPr lang="en-GB"/>
              <a:t>) try to define a threshold value and highlight its background.</a:t>
            </a:r>
            <a:r>
              <a:rPr lang="en-GB"/>
              <a:t>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Hint: change the image to grayscale and plot its histogram using the following functions: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image_gray = rgb2gray(image)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plt.hist(image_gray.ravel(), bins=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256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7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5" name="Google Shape;635;p77"/>
          <p:cNvSpPr txBox="1"/>
          <p:nvPr/>
        </p:nvSpPr>
        <p:spPr>
          <a:xfrm>
            <a:off x="3934125" y="5376950"/>
            <a:ext cx="3147300" cy="1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Solution in the next slide</a:t>
            </a: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...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6</a:t>
            </a:r>
            <a:endParaRPr/>
          </a:p>
        </p:txBody>
      </p:sp>
      <p:sp>
        <p:nvSpPr>
          <p:cNvPr id="641" name="Google Shape;641;p7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7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43" name="Google Shape;64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9326" y="291375"/>
            <a:ext cx="3632974" cy="2644025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78"/>
          <p:cNvSpPr txBox="1"/>
          <p:nvPr/>
        </p:nvSpPr>
        <p:spPr>
          <a:xfrm>
            <a:off x="155400" y="1593075"/>
            <a:ext cx="50439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 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io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matplotlib.pyplot 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plt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skimage.color 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rgb2gray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numpy 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np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Load a color image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 = io.imread(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https://i.ibb.co/h041g0p/Red-Cat-8727.jpg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Make the image grayscale using rgb2gray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image_gray = rgb2gray(image)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mask_lower_pixel_values = image_gray &lt;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0.2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mask_higher_pixel_values = image_gray &gt;=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0.2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#print(mask)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image_gray[mask_lower_pixel_values] =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image_gray[mask_higher_pixel_values] =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plt.imshow(image_gray, 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cmap='gray'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45" name="Google Shape;64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1874" y="3374325"/>
            <a:ext cx="3240376" cy="214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6</a:t>
            </a:r>
            <a:endParaRPr/>
          </a:p>
        </p:txBody>
      </p:sp>
      <p:sp>
        <p:nvSpPr>
          <p:cNvPr id="651" name="Google Shape;651;p7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7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53" name="Google Shape;65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9326" y="291375"/>
            <a:ext cx="3632974" cy="264402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79"/>
          <p:cNvSpPr txBox="1"/>
          <p:nvPr/>
        </p:nvSpPr>
        <p:spPr>
          <a:xfrm>
            <a:off x="155400" y="1593075"/>
            <a:ext cx="50439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 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io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matplotlib.pyplot 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plt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skimage.color 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rgb2gray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numpy </a:t>
            </a:r>
            <a:r>
              <a:rPr lang="en-GB" sz="13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np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Load a color image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 = io.imread(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https://i.ibb.co/h041g0p/Red-Cat-8727.jpg</a:t>
            </a:r>
            <a:r>
              <a:rPr lang="en-GB" sz="13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Make the image grayscale using rgb2gray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image_gray = rgb2gray(image)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mask_lower_pixel_values = image_gray &lt;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0.2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mask_higher_pixel_values = image_gray &gt;=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0.2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#print(mask)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image_gray[mask_lower_pixel_values] =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image_gray[mask_higher_pixel_values] = </a:t>
            </a:r>
            <a:r>
              <a:rPr lang="en-GB" sz="13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plt.imshow(image_gray, 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cmap='gray'</a:t>
            </a:r>
            <a:r>
              <a:rPr lang="en-GB" sz="13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55" name="Google Shape;65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1874" y="3374325"/>
            <a:ext cx="3240376" cy="2149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79"/>
          <p:cNvSpPr txBox="1"/>
          <p:nvPr/>
        </p:nvSpPr>
        <p:spPr>
          <a:xfrm>
            <a:off x="4502902" y="3961833"/>
            <a:ext cx="14907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highlight>
                  <a:schemeClr val="lt1"/>
                </a:highlight>
              </a:rPr>
              <a:t>Is this the optimal value?</a:t>
            </a:r>
            <a:endParaRPr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cxnSp>
        <p:nvCxnSpPr>
          <p:cNvPr id="657" name="Google Shape;657;p79"/>
          <p:cNvCxnSpPr/>
          <p:nvPr/>
        </p:nvCxnSpPr>
        <p:spPr>
          <a:xfrm>
            <a:off x="4081344" y="4448961"/>
            <a:ext cx="369000" cy="9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79"/>
          <p:cNvCxnSpPr/>
          <p:nvPr/>
        </p:nvCxnSpPr>
        <p:spPr>
          <a:xfrm>
            <a:off x="4292028" y="4659644"/>
            <a:ext cx="369000" cy="9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8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Thresholding</a:t>
            </a:r>
            <a:endParaRPr/>
          </a:p>
        </p:txBody>
      </p:sp>
      <p:sp>
        <p:nvSpPr>
          <p:cNvPr id="664" name="Google Shape;664;p8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51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5"/>
              <a:buChar char="●"/>
            </a:pPr>
            <a:r>
              <a:rPr lang="en-GB" sz="1835"/>
              <a:t>It is not always obvious which threshold value needs to be applied.</a:t>
            </a:r>
            <a:endParaRPr sz="1835"/>
          </a:p>
          <a:p>
            <a:pPr indent="-3451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5"/>
              <a:buChar char="●"/>
            </a:pPr>
            <a:r>
              <a:rPr lang="en-GB" sz="1835"/>
              <a:t>There are several thresholding methods with different approaches: binary </a:t>
            </a:r>
            <a:r>
              <a:rPr lang="en-GB" sz="1835"/>
              <a:t>thresholding, local threshold, variance minimisation, etc.</a:t>
            </a:r>
            <a:endParaRPr sz="1835"/>
          </a:p>
          <a:p>
            <a:pPr indent="-3451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5"/>
              <a:buChar char="●"/>
            </a:pPr>
            <a:r>
              <a:rPr lang="en-GB" sz="1835"/>
              <a:t>The choice of the thresholding method depends on the characteristics of the image and the specific task. </a:t>
            </a:r>
            <a:endParaRPr sz="1835"/>
          </a:p>
          <a:p>
            <a:pPr indent="-3451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5"/>
              <a:buChar char="●"/>
            </a:pPr>
            <a:r>
              <a:rPr lang="en-GB" sz="1835"/>
              <a:t>Experimentation is often necessary to find the most suitable method for a particular application.</a:t>
            </a:r>
            <a:endParaRPr sz="1835"/>
          </a:p>
        </p:txBody>
      </p:sp>
      <p:sp>
        <p:nvSpPr>
          <p:cNvPr id="665" name="Google Shape;665;p8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66" name="Google Shape;66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50" y="4795775"/>
            <a:ext cx="8921300" cy="11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8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Thresholding</a:t>
            </a:r>
            <a:endParaRPr/>
          </a:p>
        </p:txBody>
      </p:sp>
      <p:sp>
        <p:nvSpPr>
          <p:cNvPr id="672" name="Google Shape;672;p8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3" name="Google Shape;673;p81"/>
          <p:cNvSpPr txBox="1"/>
          <p:nvPr>
            <p:ph idx="1" type="body"/>
          </p:nvPr>
        </p:nvSpPr>
        <p:spPr>
          <a:xfrm>
            <a:off x="311700" y="135688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512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5"/>
              <a:buChar char="●"/>
            </a:pPr>
            <a:r>
              <a:rPr lang="en-GB" sz="1835"/>
              <a:t>Example of binary threshold with </a:t>
            </a:r>
            <a:r>
              <a:rPr b="1" lang="en-GB" sz="1835"/>
              <a:t>Otsu’s method</a:t>
            </a:r>
            <a:r>
              <a:rPr lang="en-GB" sz="1835"/>
              <a:t> (good to separate regions of interest from the background in a grayscale image)</a:t>
            </a:r>
            <a:endParaRPr sz="1835"/>
          </a:p>
        </p:txBody>
      </p:sp>
      <p:sp>
        <p:nvSpPr>
          <p:cNvPr id="674" name="Google Shape;674;p81"/>
          <p:cNvSpPr txBox="1"/>
          <p:nvPr/>
        </p:nvSpPr>
        <p:spPr>
          <a:xfrm>
            <a:off x="435025" y="2695800"/>
            <a:ext cx="57225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Import the otsu threshold function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skimage.filters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threshold_otsu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skimage.color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rgb2gray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 </a:t>
            </a:r>
            <a:r>
              <a:rPr lang="en-GB" sz="1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io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Load a color image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 = io.imread(</a:t>
            </a:r>
            <a:r>
              <a:rPr lang="en-GB" sz="12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'tokyo.jpg'</a:t>
            </a: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Make the image grayscale using rgb2gray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image_gray = rgb2gray(image)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Obtain the optimal threshold value with otsu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thresh = threshold_otsu(image_gray)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Apply thresholding to the image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binary = image_gray &gt; thresh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Show the image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io.imshow(binary)</a:t>
            </a:r>
            <a:endParaRPr sz="1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75" name="Google Shape;67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4350" y="2450163"/>
            <a:ext cx="2895800" cy="195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4350" y="4457701"/>
            <a:ext cx="2989800" cy="19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segmentation</a:t>
            </a:r>
            <a:endParaRPr/>
          </a:p>
        </p:txBody>
      </p:sp>
      <p:sp>
        <p:nvSpPr>
          <p:cNvPr id="682" name="Google Shape;682;p82"/>
          <p:cNvSpPr txBox="1"/>
          <p:nvPr>
            <p:ph idx="1" type="body"/>
          </p:nvPr>
        </p:nvSpPr>
        <p:spPr>
          <a:xfrm>
            <a:off x="159300" y="1308025"/>
            <a:ext cx="47763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90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40"/>
              <a:buChar char="●"/>
            </a:pPr>
            <a:r>
              <a:rPr lang="en-GB" sz="1740"/>
              <a:t>Thresholding is one form of image segmentation.</a:t>
            </a:r>
            <a:br>
              <a:rPr lang="en-GB" sz="1740"/>
            </a:br>
            <a:endParaRPr sz="1740"/>
          </a:p>
          <a:p>
            <a:pPr indent="-3390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40"/>
              <a:buChar char="●"/>
            </a:pPr>
            <a:r>
              <a:rPr lang="en-GB" sz="1740"/>
              <a:t>Generally, image segmentation involves partitioning an image into meaningful, homogeneous regions or objects.</a:t>
            </a:r>
            <a:br>
              <a:rPr lang="en-GB" sz="1740"/>
            </a:br>
            <a:endParaRPr sz="1740"/>
          </a:p>
          <a:p>
            <a:pPr indent="-3390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40"/>
              <a:buChar char="●"/>
            </a:pPr>
            <a:r>
              <a:rPr lang="en-GB" sz="1740"/>
              <a:t>Other applications include:</a:t>
            </a:r>
            <a:endParaRPr sz="1740"/>
          </a:p>
          <a:p>
            <a:pPr indent="-32131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60"/>
              <a:buChar char="○"/>
            </a:pPr>
            <a:r>
              <a:rPr lang="en-GB" sz="1460"/>
              <a:t>Contour: Contour detection is often used for object recognition and shape analysis.</a:t>
            </a:r>
            <a:br>
              <a:rPr lang="en-GB" sz="1460"/>
            </a:br>
            <a:endParaRPr sz="1460"/>
          </a:p>
          <a:p>
            <a:pPr indent="-32131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60"/>
              <a:buChar char="○"/>
            </a:pPr>
            <a:r>
              <a:rPr lang="en-GB" sz="1460"/>
              <a:t>Feature Extraction: Capturing relevant information such as edges, corners, or texture patterns to be used in more advanced segmentation techniques.</a:t>
            </a:r>
            <a:br>
              <a:rPr lang="en-GB" sz="1460"/>
            </a:br>
            <a:endParaRPr sz="1460"/>
          </a:p>
          <a:p>
            <a:pPr indent="-32131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60"/>
              <a:buChar char="○"/>
            </a:pPr>
            <a:r>
              <a:rPr lang="en-GB" sz="1460"/>
              <a:t>Morphological Operations: modify the shape and structure of regions in the image for tasks like noise reduction or region enhancement.</a:t>
            </a:r>
            <a:endParaRPr sz="1460"/>
          </a:p>
        </p:txBody>
      </p:sp>
      <p:pic>
        <p:nvPicPr>
          <p:cNvPr id="683" name="Google Shape;68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0000" y="1557675"/>
            <a:ext cx="36766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8000" y="3329325"/>
            <a:ext cx="3838650" cy="2606217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82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8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691" name="Google Shape;691;p83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2" name="Google Shape;692;p83"/>
          <p:cNvSpPr txBox="1"/>
          <p:nvPr/>
        </p:nvSpPr>
        <p:spPr>
          <a:xfrm>
            <a:off x="311700" y="1536625"/>
            <a:ext cx="8874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skimage.segmentation </a:t>
            </a: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slic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skimage.color </a:t>
            </a: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label2rgb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 </a:t>
            </a: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io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numpy </a:t>
            </a: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np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Load a color image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 = io.imread(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'tokyo.jpg'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Obtain the segmentation with 1600 regions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segments = slic(image, n_segments=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1600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Put segments on top of original image to compare. 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The color of each segment is the average color of pixels in that segment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segmented_image = label2rgb(segments, image, kind=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"avg"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plt.imshow(segmented_image)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698" name="Google Shape;698;p84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9" name="Google Shape;699;p84"/>
          <p:cNvSpPr txBox="1"/>
          <p:nvPr/>
        </p:nvSpPr>
        <p:spPr>
          <a:xfrm>
            <a:off x="311700" y="1536625"/>
            <a:ext cx="8874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skimage.segmentation </a:t>
            </a: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slic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skimage.color </a:t>
            </a: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label2rgb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skimage </a:t>
            </a: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io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numpy </a:t>
            </a:r>
            <a:r>
              <a:rPr lang="en-GB" sz="15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np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Load a color image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image = io.imread(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'tokyo.jpg'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Obtain the segmentation with 1600 regions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segments = slic(image, n_segments=</a:t>
            </a:r>
            <a:r>
              <a:rPr lang="en-GB" sz="15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1600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Put segments on top of original image to compare. 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The color of each segment is the average color of pixels in that segment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segmented_image = label2rgb(segments, image, kind=</a:t>
            </a:r>
            <a:r>
              <a:rPr lang="en-GB" sz="15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"avg"</a:t>
            </a: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plt.imshow(segmented_image)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00" name="Google Shape;700;p84"/>
          <p:cNvSpPr txBox="1"/>
          <p:nvPr/>
        </p:nvSpPr>
        <p:spPr>
          <a:xfrm>
            <a:off x="4793775" y="2311600"/>
            <a:ext cx="3758400" cy="1046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SLIC (Simple Linear Iterative Clustering) algorithm, which combines k-means clustering to return coherent regions in the image that are similar in color and texture. </a:t>
            </a:r>
            <a:endParaRPr/>
          </a:p>
        </p:txBody>
      </p:sp>
      <p:cxnSp>
        <p:nvCxnSpPr>
          <p:cNvPr id="701" name="Google Shape;701;p84"/>
          <p:cNvCxnSpPr/>
          <p:nvPr/>
        </p:nvCxnSpPr>
        <p:spPr>
          <a:xfrm flipH="1" rot="10800000">
            <a:off x="5748200" y="3348700"/>
            <a:ext cx="8400" cy="622800"/>
          </a:xfrm>
          <a:prstGeom prst="straightConnector1">
            <a:avLst/>
          </a:prstGeom>
          <a:noFill/>
          <a:ln cap="flat" cmpd="sng" w="28575">
            <a:solidFill>
              <a:srgbClr val="F4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2" name="Google Shape;702;p84"/>
          <p:cNvCxnSpPr/>
          <p:nvPr/>
        </p:nvCxnSpPr>
        <p:spPr>
          <a:xfrm flipH="1">
            <a:off x="2080225" y="3971515"/>
            <a:ext cx="3676500" cy="8400"/>
          </a:xfrm>
          <a:prstGeom prst="straightConnector1">
            <a:avLst/>
          </a:prstGeom>
          <a:noFill/>
          <a:ln cap="flat" cmpd="sng" w="38100">
            <a:solidFill>
              <a:srgbClr val="F4CC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8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7</a:t>
            </a:r>
            <a:endParaRPr/>
          </a:p>
        </p:txBody>
      </p:sp>
      <p:sp>
        <p:nvSpPr>
          <p:cNvPr id="708" name="Google Shape;708;p85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9" name="Google Shape;709;p85"/>
          <p:cNvSpPr txBox="1"/>
          <p:nvPr/>
        </p:nvSpPr>
        <p:spPr>
          <a:xfrm>
            <a:off x="311700" y="1536625"/>
            <a:ext cx="887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10" name="Google Shape;710;p8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Modify the previous code and observe the results for different numbers of segments.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Remove the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kind </a:t>
            </a:r>
            <a:r>
              <a:rPr lang="en-GB"/>
              <a:t>parameter from </a:t>
            </a:r>
            <a:r>
              <a:rPr lang="en-GB">
                <a:latin typeface="Courier"/>
                <a:ea typeface="Courier"/>
                <a:cs typeface="Courier"/>
                <a:sym typeface="Courier"/>
              </a:rPr>
              <a:t>label2rgb</a:t>
            </a:r>
            <a:r>
              <a:rPr lang="en-GB"/>
              <a:t>. What happens to the output image? </a:t>
            </a:r>
            <a:endParaRPr/>
          </a:p>
        </p:txBody>
      </p:sp>
      <p:sp>
        <p:nvSpPr>
          <p:cNvPr id="711" name="Google Shape;711;p85"/>
          <p:cNvSpPr txBox="1"/>
          <p:nvPr/>
        </p:nvSpPr>
        <p:spPr>
          <a:xfrm>
            <a:off x="3934125" y="5376950"/>
            <a:ext cx="3147300" cy="1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Courier"/>
                <a:ea typeface="Courier"/>
                <a:cs typeface="Courier"/>
                <a:sym typeface="Courier"/>
              </a:rPr>
              <a:t>Solution in the next slide...</a:t>
            </a:r>
            <a:endParaRPr sz="24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8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7</a:t>
            </a:r>
            <a:endParaRPr/>
          </a:p>
        </p:txBody>
      </p:sp>
      <p:sp>
        <p:nvSpPr>
          <p:cNvPr id="717" name="Google Shape;717;p86"/>
          <p:cNvSpPr txBox="1"/>
          <p:nvPr>
            <p:ph idx="12" type="sldNum"/>
          </p:nvPr>
        </p:nvSpPr>
        <p:spPr>
          <a:xfrm>
            <a:off x="80188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18" name="Google Shape;718;p86"/>
          <p:cNvSpPr txBox="1"/>
          <p:nvPr/>
        </p:nvSpPr>
        <p:spPr>
          <a:xfrm>
            <a:off x="-450300" y="1536625"/>
            <a:ext cx="887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19" name="Google Shape;71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00" y="1536625"/>
            <a:ext cx="2964875" cy="19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425" y="4014675"/>
            <a:ext cx="2838224" cy="1892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9825" y="1536625"/>
            <a:ext cx="2964874" cy="19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86"/>
          <p:cNvSpPr txBox="1"/>
          <p:nvPr/>
        </p:nvSpPr>
        <p:spPr>
          <a:xfrm>
            <a:off x="546000" y="3714600"/>
            <a:ext cx="2314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2"/>
                </a:solidFill>
              </a:rPr>
              <a:t>500</a:t>
            </a:r>
            <a:r>
              <a:rPr lang="en-GB" sz="1700">
                <a:solidFill>
                  <a:schemeClr val="dk2"/>
                </a:solidFill>
              </a:rPr>
              <a:t> segments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723" name="Google Shape;723;p86"/>
          <p:cNvSpPr txBox="1"/>
          <p:nvPr/>
        </p:nvSpPr>
        <p:spPr>
          <a:xfrm>
            <a:off x="546000" y="1216350"/>
            <a:ext cx="2314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</a:rPr>
              <a:t>100 segments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724" name="Google Shape;724;p86"/>
          <p:cNvSpPr txBox="1"/>
          <p:nvPr/>
        </p:nvSpPr>
        <p:spPr>
          <a:xfrm>
            <a:off x="3455000" y="1216350"/>
            <a:ext cx="2314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</a:rPr>
              <a:t>10</a:t>
            </a:r>
            <a:r>
              <a:rPr lang="en-GB" sz="1700">
                <a:solidFill>
                  <a:schemeClr val="dk2"/>
                </a:solidFill>
              </a:rPr>
              <a:t>00 segments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id="725" name="Google Shape;725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5175" y="4020500"/>
            <a:ext cx="2887293" cy="19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86"/>
          <p:cNvSpPr txBox="1"/>
          <p:nvPr/>
        </p:nvSpPr>
        <p:spPr>
          <a:xfrm>
            <a:off x="3387006" y="3711053"/>
            <a:ext cx="2314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</a:rPr>
              <a:t>5</a:t>
            </a:r>
            <a:r>
              <a:rPr lang="en-GB" sz="1700">
                <a:solidFill>
                  <a:schemeClr val="dk2"/>
                </a:solidFill>
              </a:rPr>
              <a:t>000 segments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id="727" name="Google Shape;727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28000" y="3079530"/>
            <a:ext cx="2887299" cy="1884895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86"/>
          <p:cNvSpPr txBox="1"/>
          <p:nvPr/>
        </p:nvSpPr>
        <p:spPr>
          <a:xfrm>
            <a:off x="6529031" y="2783925"/>
            <a:ext cx="27660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</a:rPr>
              <a:t>100 segments, no avg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8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 options</a:t>
            </a:r>
            <a:endParaRPr/>
          </a:p>
        </p:txBody>
      </p:sp>
      <p:sp>
        <p:nvSpPr>
          <p:cNvPr id="734" name="Google Shape;734;p8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M</a:t>
            </a:r>
            <a:r>
              <a:rPr lang="en-GB" u="sng">
                <a:solidFill>
                  <a:schemeClr val="hlink"/>
                </a:solidFill>
                <a:hlinkClick r:id="rId4"/>
              </a:rPr>
              <a:t>agick</a:t>
            </a:r>
            <a:r>
              <a:rPr lang="en-GB"/>
              <a:t>: supports various image formats and allows resizing, cropping, rotating, applying filters, and adding text or graphics to the image.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u="sng">
                <a:solidFill>
                  <a:schemeClr val="hlink"/>
                </a:solidFill>
                <a:hlinkClick r:id="rId5"/>
              </a:rPr>
              <a:t>Imager</a:t>
            </a:r>
            <a:r>
              <a:rPr lang="en-GB"/>
              <a:t>: wide range of functions for image manipulation, filtering, morphological operations, and feature extraction.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u="sng">
                <a:solidFill>
                  <a:schemeClr val="hlink"/>
                </a:solidFill>
                <a:hlinkClick r:id="rId6"/>
              </a:rPr>
              <a:t>OpenImageR</a:t>
            </a:r>
            <a:r>
              <a:rPr lang="en-GB"/>
              <a:t>:  reading, writing, and basic processing of images.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And many others: </a:t>
            </a:r>
            <a:r>
              <a:rPr lang="en-GB" u="sng">
                <a:solidFill>
                  <a:schemeClr val="hlink"/>
                </a:solidFill>
                <a:hlinkClick r:id="rId7"/>
              </a:rPr>
              <a:t>EBImage</a:t>
            </a:r>
            <a:r>
              <a:rPr lang="en-GB"/>
              <a:t>, </a:t>
            </a:r>
            <a:r>
              <a:rPr lang="en-GB" u="sng">
                <a:solidFill>
                  <a:schemeClr val="hlink"/>
                </a:solidFill>
                <a:hlinkClick r:id="rId8"/>
              </a:rPr>
              <a:t>imagerExtra</a:t>
            </a:r>
            <a:r>
              <a:rPr lang="en-GB"/>
              <a:t>, </a:t>
            </a:r>
            <a:r>
              <a:rPr lang="en-GB" u="sng">
                <a:solidFill>
                  <a:schemeClr val="hlink"/>
                </a:solidFill>
                <a:hlinkClick r:id="rId9"/>
              </a:rPr>
              <a:t>pavo</a:t>
            </a:r>
            <a:r>
              <a:rPr lang="en-GB"/>
              <a:t>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87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8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Summary </a:t>
            </a:r>
            <a:endParaRPr/>
          </a:p>
        </p:txBody>
      </p:sp>
      <p:sp>
        <p:nvSpPr>
          <p:cNvPr id="741" name="Google Shape;741;p8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Digital image definition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Image </a:t>
            </a:r>
            <a:r>
              <a:rPr lang="en-GB" sz="2270"/>
              <a:t>file types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Loading and displaying images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Basic image manipulation operations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Definition of filtering and convolution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Image segmentation</a:t>
            </a:r>
            <a:endParaRPr sz="2270"/>
          </a:p>
          <a:p>
            <a:pPr indent="-37274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70"/>
              <a:buChar char="●"/>
            </a:pPr>
            <a:r>
              <a:rPr lang="en-GB" sz="2270"/>
              <a:t>List of R options</a:t>
            </a:r>
            <a:endParaRPr sz="2270"/>
          </a:p>
        </p:txBody>
      </p:sp>
      <p:sp>
        <p:nvSpPr>
          <p:cNvPr id="742" name="Google Shape;742;p88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8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748" name="Google Shape;748;p8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1900"/>
              <a:t>Rafael C. Gonzalez, Richard E. Woods., </a:t>
            </a:r>
            <a:r>
              <a:rPr i="1" lang="en-GB" sz="1900"/>
              <a:t>Digital image processing</a:t>
            </a:r>
            <a:r>
              <a:rPr lang="en-GB" sz="1900"/>
              <a:t>, Pearson, 2017 </a:t>
            </a:r>
            <a:endParaRPr/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lang="en-GB" sz="20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Image Processing in Python (Datacamp)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>
                <a:solidFill>
                  <a:schemeClr val="hlink"/>
                </a:solidFill>
                <a:uFill>
                  <a:noFill/>
                </a:uFill>
                <a:hlinkClick r:id="rId4"/>
              </a:rPr>
              <a:t>https://de.mathworks.com/discovery/image-enhancement.html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>
                <a:solidFill>
                  <a:schemeClr val="hlink"/>
                </a:solidFill>
                <a:uFill>
                  <a:noFill/>
                </a:uFill>
                <a:hlinkClick r:id="rId5"/>
              </a:rPr>
              <a:t>https://pub.towardsai.net/gaussian-blurring-a-gentle-introduction-e34aca1d9bbd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>
                <a:solidFill>
                  <a:schemeClr val="hlink"/>
                </a:solidFill>
                <a:uFill>
                  <a:noFill/>
                </a:uFill>
                <a:hlinkClick r:id="rId6"/>
              </a:rPr>
              <a:t>https://en.wikipedia.org/wiki/Kernel_(image_processing)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>
                <a:solidFill>
                  <a:schemeClr val="hlink"/>
                </a:solidFill>
                <a:uFill>
                  <a:noFill/>
                </a:uFill>
                <a:hlinkClick r:id="rId7"/>
              </a:rPr>
              <a:t>https://www.analyticsvidhya.com/blog/2022/07/a-brief-study-of-image-thresholding-algorithms/</a:t>
            </a:r>
            <a:endParaRPr/>
          </a:p>
        </p:txBody>
      </p:sp>
      <p:sp>
        <p:nvSpPr>
          <p:cNvPr id="749" name="Google Shape;749;p89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9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</a:t>
            </a:r>
            <a:endParaRPr/>
          </a:p>
        </p:txBody>
      </p:sp>
      <p:sp>
        <p:nvSpPr>
          <p:cNvPr id="755" name="Google Shape;755;p9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Please work on the assignment in week 11 folder. You will be required to submit it before week 12.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90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91"/>
          <p:cNvSpPr txBox="1"/>
          <p:nvPr>
            <p:ph type="title"/>
          </p:nvPr>
        </p:nvSpPr>
        <p:spPr>
          <a:xfrm>
            <a:off x="1388100" y="637525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Questions?</a:t>
            </a:r>
            <a:endParaRPr/>
          </a:p>
        </p:txBody>
      </p:sp>
      <p:sp>
        <p:nvSpPr>
          <p:cNvPr id="762" name="Google Shape;762;p91"/>
          <p:cNvSpPr txBox="1"/>
          <p:nvPr>
            <p:ph idx="12" type="sldNum"/>
          </p:nvPr>
        </p:nvSpPr>
        <p:spPr>
          <a:xfrm>
            <a:off x="8552258" y="6091822"/>
            <a:ext cx="583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8EA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