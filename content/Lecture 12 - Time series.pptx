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21E523-BBD5-4604-9C7E-2E15E138C299}">
  <a:tblStyle styleId="{E821E523-BBD5-4604-9C7E-2E15E138C29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slide" Target="slides/slide7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800"/>
              <a:t>Entered text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Slide 1: Introduction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Start with a brief introduction to the topic of image processing.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Mention that it's a crucial field in today's digital age.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Explain that you'll be covering the basics, real-world applications, and key terminology.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Slide 2: What is Image Processing?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Define image processing as the manipulation of an image to extract information or enhance its features.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Mention its wide range of applications, from photography to medical imaging.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Slide 3: Importance of Image Processing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Discuss the importance of image processing in various fields: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Medical: Diagnosis and treatment planning.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Entertainment: Special effects in movies and video games.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Security: Face recognition and surveillance.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Agriculture: Crop analysis and yield prediction.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Manufacturing: Quality control and defect detection.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Emphasize how it improves decision-making, saves time, and reduces errors.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Slide 4: Real-world Applications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4.1: Medical Imaging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Explain how image processing is used in medical imaging.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Mention applications like MRI, CT scans, and X-rays.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Highlight its role in disease detection and treatment planning.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4.2: Entertainment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Discuss how image processing enhances visual effects in movies and video games.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Mention CGI (Computer-Generated Imagery) and motion capture technology.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4.3: Security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Explain image processing's role in security through face recognition and surveillance systems.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Emphasize its significance in crime prevention and national security.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4.4: Agriculture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Discuss its applications in agriculture, such as crop analysis and yield prediction.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Explain how it helps farmers make informed decisions.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4.5: Manufacturing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Describe how image processing is used in manufacturing for quality control and defect detection.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Mention its role in ensuring product consistency.</a:t>
            </a:r>
            <a:endParaRPr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d03f3eb86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7d03f3eb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939e745d16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2939e745d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939e745d16_0_1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2939e745d1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939e745d16_0_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2939e745d1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939e745d16_0_7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2939e745d1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939e745d16_0_10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2939e745d16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ea4e876d65_0_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ea4e876d6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ea4e876d65_0_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ea4e876d6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ea4e876d65_0_2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ea4e876d6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ea4e876d65_0_3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ea4e876d6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ea4e876d65_0_4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ea4e876d6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ea4e876d65_0_5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ea4e876d6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ea4e876d65_0_6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ea4e876d6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939e745d16_0_12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939e745d1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ea4e876d65_0_8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ea4e876d6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ea4e876d65_0_9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ea4e876d65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ea4e876d65_0_10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ea4e876d65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ea4e876d65_0_1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1ea4e876d6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ea553c8e0f_0_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ea553c8e0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ea553c8e0f_0_2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ea553c8e0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ea553c8e0f_0_1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ea553c8e0f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ea553c8e0f_0_6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ea553c8e0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ea553c8e0f_0_8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1ea553c8e0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ea553c8e0f_0_14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ea553c8e0f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ea553c8e0f_0_16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ea553c8e0f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ea553c8e0f_0_17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ea553c8e0f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ea553c8e0f_0_18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ea553c8e0f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ea553c8e0f_0_29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1ea553c8e0f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1ea553c8e0f_0_20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1ea553c8e0f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ea553c8e0f_0_2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ea553c8e0f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ea553c8e0f_0_2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1ea553c8e0f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ea553c8e0f_0_2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ea553c8e0f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ea553c8e0f_0_24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1ea553c8e0f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ea553c8e0f_0_25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1ea553c8e0f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ea553c8e0f_0_27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ea553c8e0f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ea553c8e0f_0_3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ea553c8e0f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ea553c8e0f_0_33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1ea553c8e0f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96c2a8976c_0_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296c2a8976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96c2a8976c_0_2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296c2a8976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96c2a8976c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296c2a897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1ea553c8e0f_0_35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1ea553c8e0f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1ea553c8e0f_0_39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1ea553c8e0f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ea553c8e0f_0_40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ea553c8e0f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ea6c446506_0_5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ea6c44650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ea6c446506_0_15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ea6c446506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1ea6c446506_0_10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1ea6c446506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1ea6c446506_0_11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1ea6c446506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1ea6c446506_0_13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1ea6c446506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2939e745d16_0_13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2939e745d16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1ea6c446506_0_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1ea6c44650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96c2a8976c_0_4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96c2a8976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296c2a8976c_0_5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296c2a8976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296c2a8976c_0_6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296c2a8976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2f7b32f5ffe_0_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2f7b32f5ff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2f7b32f5ffe_0_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2f7b32f5ff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2f7b32f5ffe_0_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2f7b32f5ff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1ea6c446506_0_2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1ea6c44650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96c2a8976c_0_7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96c2a8976c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296c2a8976c_0_9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296c2a8976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296c2a8976c_0_9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296c2a8976c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296c2a8976c_0_10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296c2a8976c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296c2a8976c_0_1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296c2a8976c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296c2a8976c_0_12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296c2a8976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1ea6c446506_0_3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1ea6c44650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296c2a8976c_0_13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296c2a8976c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296c2a8976c_0_14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296c2a8976c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1ea6c446506_0_15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1ea6c446506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1ea6c446506_0_14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1ea6c446506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f7a46a8028_0_1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7" name="Google Shape;747;gf7a46a8028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88e6d0fa6b_2_2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88e6d0fa6b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fcb44cb6a3_1_55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fcb44cb6a3_1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4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8" name="Google Shape;768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629900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60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000"/>
          </a:p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_Pearson" showMasterSp="0">
  <p:cSld name="Title and Content_Pears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0" y="1"/>
            <a:ext cx="9144000" cy="8367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ook Antiqua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628800"/>
            <a:ext cx="8229600" cy="44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0" y="6597352"/>
            <a:ext cx="9144000" cy="28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500892" y="6504885"/>
            <a:ext cx="648000" cy="3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827585" y="6227885"/>
            <a:ext cx="828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GB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Punch, Enbody “The Practice of Computing Using Python”, ©2013 Pearson Addison-Wesley. All rights reserved</a:t>
            </a:r>
            <a:endParaRPr b="0" i="1" sz="12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600"/>
          </a:p>
        </p:txBody>
      </p:sp>
      <p:sp>
        <p:nvSpPr>
          <p:cNvPr id="9" name="Google Shape;9;p1"/>
          <p:cNvSpPr/>
          <p:nvPr/>
        </p:nvSpPr>
        <p:spPr>
          <a:xfrm>
            <a:off x="0" y="6542800"/>
            <a:ext cx="9140400" cy="3153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cs.python.org/3/library/datetime.html#strftime-and-strptime-format-code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pandas.pydata.org/docs/reference/resampling.html#computations-descriptive-stats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pandas.pydata.org/docs/reference/api/pandas.DataFrame.rolling.html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9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6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5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4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7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9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38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hyperlink" Target="https://wesmckinney.com/book/time-series" TargetMode="External"/><Relationship Id="rId4" Type="http://schemas.openxmlformats.org/officeDocument/2006/relationships/hyperlink" Target="https://pandas.pydata.org/docs/getting_started/intro_tutorials/09_timeseries.html" TargetMode="External"/><Relationship Id="rId5" Type="http://schemas.openxmlformats.org/officeDocument/2006/relationships/hyperlink" Target="https://archive.ics.uci.edu/dataset/312/dow+jones+index" TargetMode="External"/><Relationship Id="rId6" Type="http://schemas.openxmlformats.org/officeDocument/2006/relationships/hyperlink" Target="https://www.geeksforgeeks.org/time-series-data-visualization-in-python/" TargetMode="External"/><Relationship Id="rId7" Type="http://schemas.openxmlformats.org/officeDocument/2006/relationships/hyperlink" Target="https://campus.datacamp.com/courses/manipulating-time-series-data-in-python/" TargetMode="External"/><Relationship Id="rId8" Type="http://schemas.openxmlformats.org/officeDocument/2006/relationships/hyperlink" Target="https://campus.datacamp.com/courses/manipulating-time-series-data-in-r/" TargetMode="Externa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Working With Data DATA9910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Week 12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3803975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Lucas Rizzo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2375" y="3749896"/>
            <a:ext cx="3379925" cy="21277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>
            <p:ph idx="2" type="subTitle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email: lucas.rizzo@tudublin.ie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163942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Indicative schedule</a:t>
            </a:r>
            <a:endParaRPr/>
          </a:p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76" name="Google Shape;76;p16"/>
          <p:cNvGraphicFramePr/>
          <p:nvPr/>
        </p:nvGraphicFramePr>
        <p:xfrm>
          <a:off x="412000" y="7569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{E821E523-BBD5-4604-9C7E-2E15E138C299}</a:tableStyleId>
              </a:tblPr>
              <a:tblGrid>
                <a:gridCol w="1781900"/>
                <a:gridCol w="6247900"/>
              </a:tblGrid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1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Set up environment and R notebook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2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Review Python and practice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3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/>
                        <a:t>Review R</a:t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/>
                        <a:t>I</a:t>
                      </a:r>
                      <a:r>
                        <a:rPr lang="en-GB" sz="1200" u="none" cap="none" strike="noStrike"/>
                        <a:t>mporting data with R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4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Intro SQL and aggregate queries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5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Databases and scripting languages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b="1" sz="1200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6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Interpreting Data (summary statistics, data visualisation)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7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Review week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8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Data manipulation in R</a:t>
                      </a:r>
                      <a:endParaRPr sz="1200" u="none" cap="none" strike="noStrike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Pandas and Numpy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9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Data visualisation in Python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200" u="none" cap="none" strike="noStrike"/>
                        <a:t>Data processing (regular expressions)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10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Audio data (R and tuneR)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sz="1200" u="none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11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Image data (Python and skimage)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b="1" sz="1200" u="none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12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Time series (Python and Pandas)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13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Working on Assignment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200" u="sng" cap="none" strike="noStrike">
                          <a:solidFill>
                            <a:srgbClr val="E06666"/>
                          </a:solidFill>
                        </a:rPr>
                        <a:t>Assignment deadline</a:t>
                      </a:r>
                      <a:endParaRPr sz="1400" u="sng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Overview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27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Time series data definition</a:t>
            </a:r>
            <a:endParaRPr sz="2270"/>
          </a:p>
          <a:p>
            <a:pPr indent="-3727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Loading and converting time series data</a:t>
            </a:r>
            <a:endParaRPr sz="2270"/>
          </a:p>
          <a:p>
            <a:pPr indent="-3727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Manipulating time series</a:t>
            </a:r>
            <a:endParaRPr sz="2270"/>
          </a:p>
          <a:p>
            <a:pPr indent="-3727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Example visualisations for time series</a:t>
            </a:r>
            <a:endParaRPr/>
          </a:p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Time series data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536625"/>
            <a:ext cx="4208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Time series data is an </a:t>
            </a:r>
            <a:r>
              <a:rPr b="1" lang="en-GB" sz="2000"/>
              <a:t>important form of data in many different fields</a:t>
            </a:r>
            <a:r>
              <a:rPr lang="en-GB" sz="2000"/>
              <a:t>, such as finance, economics, ecology, neuroscience, and physics.</a:t>
            </a:r>
            <a:br>
              <a:rPr lang="en-GB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Anything that is </a:t>
            </a:r>
            <a:r>
              <a:rPr b="1" lang="en-GB" sz="2000"/>
              <a:t>recorded repeatedly at many points in time</a:t>
            </a:r>
            <a:r>
              <a:rPr lang="en-GB" sz="2000"/>
              <a:t> forms a time series.</a:t>
            </a:r>
            <a:br>
              <a:rPr lang="en-GB" sz="2000"/>
            </a:br>
            <a:endParaRPr sz="2000"/>
          </a:p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5681" y="1866512"/>
            <a:ext cx="4440350" cy="26677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311700" y="5109400"/>
            <a:ext cx="84048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GB" sz="2200">
                <a:solidFill>
                  <a:schemeClr val="dk2"/>
                </a:solidFill>
              </a:rPr>
              <a:t>Time series can have a </a:t>
            </a:r>
            <a:r>
              <a:rPr b="1" lang="en-GB" sz="2200">
                <a:solidFill>
                  <a:schemeClr val="dk2"/>
                </a:solidFill>
              </a:rPr>
              <a:t>fixed frequency</a:t>
            </a:r>
            <a:r>
              <a:rPr lang="en-GB" sz="2200">
                <a:solidFill>
                  <a:schemeClr val="dk2"/>
                </a:solidFill>
              </a:rPr>
              <a:t> or be </a:t>
            </a:r>
            <a:r>
              <a:rPr b="1" lang="en-GB" sz="2200">
                <a:solidFill>
                  <a:schemeClr val="dk2"/>
                </a:solidFill>
              </a:rPr>
              <a:t>irregular </a:t>
            </a:r>
            <a:r>
              <a:rPr lang="en-GB" sz="2200">
                <a:solidFill>
                  <a:schemeClr val="dk2"/>
                </a:solidFill>
              </a:rPr>
              <a:t>without a fixed unit of time or offset between units.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Time series data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536625"/>
            <a:ext cx="4208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Time series data is an </a:t>
            </a:r>
            <a:r>
              <a:rPr b="1" lang="en-GB" sz="2000"/>
              <a:t>important form of data in many different fields</a:t>
            </a:r>
            <a:r>
              <a:rPr lang="en-GB" sz="2000"/>
              <a:t>, such as finance, economics, ecology, neuroscience, and physics.</a:t>
            </a:r>
            <a:br>
              <a:rPr lang="en-GB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Anything that is </a:t>
            </a:r>
            <a:r>
              <a:rPr b="1" lang="en-GB" sz="2000"/>
              <a:t>recorded repeatedly at many points in time</a:t>
            </a:r>
            <a:r>
              <a:rPr lang="en-GB" sz="2000"/>
              <a:t> forms a time series.</a:t>
            </a:r>
            <a:br>
              <a:rPr lang="en-GB" sz="2000"/>
            </a:br>
            <a:endParaRPr sz="2000"/>
          </a:p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5681" y="1866512"/>
            <a:ext cx="4440350" cy="266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/>
        </p:nvSpPr>
        <p:spPr>
          <a:xfrm>
            <a:off x="311700" y="5109400"/>
            <a:ext cx="84048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GB" sz="2200">
                <a:solidFill>
                  <a:schemeClr val="dk2"/>
                </a:solidFill>
              </a:rPr>
              <a:t>Time series can have a </a:t>
            </a:r>
            <a:r>
              <a:rPr b="1" lang="en-GB" sz="2200">
                <a:solidFill>
                  <a:schemeClr val="dk2"/>
                </a:solidFill>
              </a:rPr>
              <a:t>fixed frequency</a:t>
            </a:r>
            <a:r>
              <a:rPr lang="en-GB" sz="2200">
                <a:solidFill>
                  <a:schemeClr val="dk2"/>
                </a:solidFill>
              </a:rPr>
              <a:t> or be </a:t>
            </a:r>
            <a:r>
              <a:rPr b="1" lang="en-GB" sz="2200">
                <a:solidFill>
                  <a:schemeClr val="dk2"/>
                </a:solidFill>
              </a:rPr>
              <a:t>irregular </a:t>
            </a:r>
            <a:r>
              <a:rPr lang="en-GB" sz="2200">
                <a:solidFill>
                  <a:schemeClr val="dk2"/>
                </a:solidFill>
              </a:rPr>
              <a:t>without a fixed unit of time or offset between units.</a:t>
            </a:r>
            <a:endParaRPr/>
          </a:p>
        </p:txBody>
      </p:sp>
      <p:sp>
        <p:nvSpPr>
          <p:cNvPr id="102" name="Google Shape;102;p19"/>
          <p:cNvSpPr txBox="1"/>
          <p:nvPr/>
        </p:nvSpPr>
        <p:spPr>
          <a:xfrm>
            <a:off x="6748625" y="45850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temporal dimension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5092325" y="1220400"/>
            <a:ext cx="1790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value component (quantitative or categorical data)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4639325" y="1866500"/>
            <a:ext cx="504300" cy="16803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5" name="Google Shape;105;p19"/>
          <p:cNvCxnSpPr>
            <a:stCxn id="104" idx="0"/>
            <a:endCxn id="103" idx="1"/>
          </p:cNvCxnSpPr>
          <p:nvPr/>
        </p:nvCxnSpPr>
        <p:spPr>
          <a:xfrm flipH="1" rot="10800000">
            <a:off x="4891475" y="1636100"/>
            <a:ext cx="201000" cy="230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" name="Google Shape;106;p19"/>
          <p:cNvSpPr/>
          <p:nvPr/>
        </p:nvSpPr>
        <p:spPr>
          <a:xfrm>
            <a:off x="8400975" y="4252975"/>
            <a:ext cx="392400" cy="3321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" name="Google Shape;107;p19"/>
          <p:cNvCxnSpPr>
            <a:endCxn id="106" idx="3"/>
          </p:cNvCxnSpPr>
          <p:nvPr/>
        </p:nvCxnSpPr>
        <p:spPr>
          <a:xfrm flipH="1" rot="10800000">
            <a:off x="8000041" y="4536440"/>
            <a:ext cx="458400" cy="108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Time series data</a:t>
            </a:r>
            <a:endParaRPr/>
          </a:p>
        </p:txBody>
      </p:sp>
      <p:sp>
        <p:nvSpPr>
          <p:cNvPr id="113" name="Google Shape;113;p2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311700" y="1723050"/>
            <a:ext cx="8404800" cy="48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GB" sz="2200">
                <a:solidFill>
                  <a:schemeClr val="dk2"/>
                </a:solidFill>
              </a:rPr>
              <a:t>Temporal insights: It allows us to </a:t>
            </a:r>
            <a:r>
              <a:rPr b="1" lang="en-GB" sz="2200">
                <a:solidFill>
                  <a:schemeClr val="dk2"/>
                </a:solidFill>
              </a:rPr>
              <a:t>uncover trends, patterns, and dependencies</a:t>
            </a:r>
            <a:r>
              <a:rPr lang="en-GB" sz="2200">
                <a:solidFill>
                  <a:schemeClr val="dk2"/>
                </a:solidFill>
              </a:rPr>
              <a:t> that may not be apparent in a single point or period of time.</a:t>
            </a:r>
            <a:endParaRPr sz="2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2200">
                <a:solidFill>
                  <a:schemeClr val="dk2"/>
                </a:solidFill>
              </a:rPr>
            </a:br>
            <a:br>
              <a:rPr lang="en-GB" sz="2200">
                <a:solidFill>
                  <a:schemeClr val="dk2"/>
                </a:solidFill>
              </a:rPr>
            </a:br>
            <a:br>
              <a:rPr lang="en-GB" sz="2200">
                <a:solidFill>
                  <a:schemeClr val="dk2"/>
                </a:solidFill>
              </a:rPr>
            </a:br>
            <a:br>
              <a:rPr lang="en-GB" sz="2200">
                <a:solidFill>
                  <a:schemeClr val="dk2"/>
                </a:solidFill>
              </a:rPr>
            </a:br>
            <a:br>
              <a:rPr lang="en-GB" sz="2200">
                <a:solidFill>
                  <a:schemeClr val="dk2"/>
                </a:solidFill>
              </a:rPr>
            </a:br>
            <a:endParaRPr sz="2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GB" sz="2200">
                <a:solidFill>
                  <a:schemeClr val="dk2"/>
                </a:solidFill>
              </a:rPr>
              <a:t>Data can reflect real-world phenomena such as </a:t>
            </a:r>
            <a:r>
              <a:rPr b="1" lang="en-GB" sz="2200">
                <a:solidFill>
                  <a:schemeClr val="dk2"/>
                </a:solidFill>
              </a:rPr>
              <a:t>stock prices, weather, user activity</a:t>
            </a:r>
            <a:r>
              <a:rPr lang="en-GB" sz="2200">
                <a:solidFill>
                  <a:schemeClr val="dk2"/>
                </a:solidFill>
              </a:rPr>
              <a:t>, and more.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3505800" y="2899275"/>
            <a:ext cx="21324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Climate Time Series</a:t>
            </a:r>
            <a:endParaRPr/>
          </a:p>
        </p:txBody>
      </p:sp>
      <p:sp>
        <p:nvSpPr>
          <p:cNvPr id="116" name="Google Shape;116;p20"/>
          <p:cNvSpPr txBox="1"/>
          <p:nvPr/>
        </p:nvSpPr>
        <p:spPr>
          <a:xfrm rot="-5400000">
            <a:off x="1489658" y="3472564"/>
            <a:ext cx="21327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Temperature</a:t>
            </a:r>
            <a:endParaRPr/>
          </a:p>
        </p:txBody>
      </p:sp>
      <p:sp>
        <p:nvSpPr>
          <p:cNvPr id="117" name="Google Shape;117;p20"/>
          <p:cNvSpPr txBox="1"/>
          <p:nvPr/>
        </p:nvSpPr>
        <p:spPr>
          <a:xfrm>
            <a:off x="2521975" y="5062800"/>
            <a:ext cx="723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2013-01-01</a:t>
            </a:r>
            <a:endParaRPr sz="700"/>
          </a:p>
        </p:txBody>
      </p:sp>
      <p:sp>
        <p:nvSpPr>
          <p:cNvPr id="118" name="Google Shape;118;p20"/>
          <p:cNvSpPr txBox="1"/>
          <p:nvPr/>
        </p:nvSpPr>
        <p:spPr>
          <a:xfrm>
            <a:off x="3033614" y="5058264"/>
            <a:ext cx="723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2013-07-20</a:t>
            </a:r>
            <a:endParaRPr sz="700"/>
          </a:p>
        </p:txBody>
      </p:sp>
      <p:sp>
        <p:nvSpPr>
          <p:cNvPr id="119" name="Google Shape;119;p20"/>
          <p:cNvSpPr txBox="1"/>
          <p:nvPr/>
        </p:nvSpPr>
        <p:spPr>
          <a:xfrm>
            <a:off x="3539811" y="5058264"/>
            <a:ext cx="723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2014-02-05</a:t>
            </a:r>
            <a:endParaRPr sz="700"/>
          </a:p>
        </p:txBody>
      </p:sp>
      <p:sp>
        <p:nvSpPr>
          <p:cNvPr id="120" name="Google Shape;120;p20"/>
          <p:cNvSpPr txBox="1"/>
          <p:nvPr/>
        </p:nvSpPr>
        <p:spPr>
          <a:xfrm>
            <a:off x="4082296" y="5062789"/>
            <a:ext cx="723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2014-08-24</a:t>
            </a:r>
            <a:endParaRPr sz="700"/>
          </a:p>
        </p:txBody>
      </p:sp>
      <p:sp>
        <p:nvSpPr>
          <p:cNvPr id="121" name="Google Shape;121;p20"/>
          <p:cNvSpPr txBox="1"/>
          <p:nvPr/>
        </p:nvSpPr>
        <p:spPr>
          <a:xfrm>
            <a:off x="4598471" y="5062804"/>
            <a:ext cx="723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2015-03-12</a:t>
            </a:r>
            <a:endParaRPr sz="700"/>
          </a:p>
        </p:txBody>
      </p:sp>
      <p:sp>
        <p:nvSpPr>
          <p:cNvPr id="122" name="Google Shape;122;p20"/>
          <p:cNvSpPr txBox="1"/>
          <p:nvPr/>
        </p:nvSpPr>
        <p:spPr>
          <a:xfrm>
            <a:off x="5104639" y="5062804"/>
            <a:ext cx="723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2015-09-28</a:t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23" name="Google Shape;123;p20"/>
          <p:cNvSpPr txBox="1"/>
          <p:nvPr/>
        </p:nvSpPr>
        <p:spPr>
          <a:xfrm>
            <a:off x="5588139" y="5065536"/>
            <a:ext cx="723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2016-04-15</a:t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24" name="Google Shape;124;p20"/>
          <p:cNvSpPr txBox="1"/>
          <p:nvPr/>
        </p:nvSpPr>
        <p:spPr>
          <a:xfrm>
            <a:off x="6095239" y="5058286"/>
            <a:ext cx="723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/>
              <a:t>2016-11-11</a:t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7425" y="3288000"/>
            <a:ext cx="3738600" cy="180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0"/>
          <p:cNvSpPr/>
          <p:nvPr/>
        </p:nvSpPr>
        <p:spPr>
          <a:xfrm>
            <a:off x="3024900" y="3362050"/>
            <a:ext cx="411000" cy="3861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0"/>
          <p:cNvSpPr/>
          <p:nvPr/>
        </p:nvSpPr>
        <p:spPr>
          <a:xfrm>
            <a:off x="3505800" y="4448275"/>
            <a:ext cx="411000" cy="3861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0"/>
          <p:cNvSpPr/>
          <p:nvPr/>
        </p:nvSpPr>
        <p:spPr>
          <a:xfrm>
            <a:off x="3851800" y="3336900"/>
            <a:ext cx="411000" cy="3861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0"/>
          <p:cNvSpPr/>
          <p:nvPr/>
        </p:nvSpPr>
        <p:spPr>
          <a:xfrm>
            <a:off x="4308600" y="4497825"/>
            <a:ext cx="411000" cy="3861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/>
          <p:nvPr/>
        </p:nvSpPr>
        <p:spPr>
          <a:xfrm>
            <a:off x="4643025" y="3362050"/>
            <a:ext cx="411000" cy="3861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5137825" y="4448275"/>
            <a:ext cx="411000" cy="3861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0"/>
          <p:cNvSpPr/>
          <p:nvPr/>
        </p:nvSpPr>
        <p:spPr>
          <a:xfrm>
            <a:off x="5434250" y="3362050"/>
            <a:ext cx="411000" cy="3861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Applications</a:t>
            </a:r>
            <a:endParaRPr/>
          </a:p>
        </p:txBody>
      </p:sp>
      <p:sp>
        <p:nvSpPr>
          <p:cNvPr id="138" name="Google Shape;138;p2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21"/>
          <p:cNvSpPr txBox="1"/>
          <p:nvPr/>
        </p:nvSpPr>
        <p:spPr>
          <a:xfrm>
            <a:off x="311700" y="1494450"/>
            <a:ext cx="8404800" cy="48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lang="en-GB" sz="2100">
                <a:solidFill>
                  <a:schemeClr val="dk2"/>
                </a:solidFill>
              </a:rPr>
              <a:t>Time series data can be used for:</a:t>
            </a:r>
            <a:endParaRPr sz="2100">
              <a:solidFill>
                <a:schemeClr val="dk2"/>
              </a:solidFill>
            </a:endParaRPr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○"/>
            </a:pPr>
            <a:r>
              <a:rPr b="1" lang="en-GB" sz="2100">
                <a:solidFill>
                  <a:schemeClr val="dk2"/>
                </a:solidFill>
              </a:rPr>
              <a:t>Forecasting:</a:t>
            </a:r>
            <a:r>
              <a:rPr lang="en-GB" sz="2100">
                <a:solidFill>
                  <a:schemeClr val="dk2"/>
                </a:solidFill>
              </a:rPr>
              <a:t> modeling and forecasting, like predicting stock prices, sales, and demand.</a:t>
            </a:r>
            <a:endParaRPr sz="2100">
              <a:solidFill>
                <a:schemeClr val="dk2"/>
              </a:solidFill>
            </a:endParaRPr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○"/>
            </a:pPr>
            <a:r>
              <a:rPr b="1" lang="en-GB" sz="2100">
                <a:solidFill>
                  <a:schemeClr val="dk2"/>
                </a:solidFill>
              </a:rPr>
              <a:t>Anomaly Detection:</a:t>
            </a:r>
            <a:r>
              <a:rPr lang="en-GB" sz="2100">
                <a:solidFill>
                  <a:schemeClr val="dk2"/>
                </a:solidFill>
              </a:rPr>
              <a:t> identifying unusual patterns or anomalies in data, crucial for fraud detection and cybersecurity.</a:t>
            </a:r>
            <a:endParaRPr sz="2100">
              <a:solidFill>
                <a:schemeClr val="dk2"/>
              </a:solidFill>
            </a:endParaRPr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○"/>
            </a:pPr>
            <a:r>
              <a:rPr b="1" lang="en-GB" sz="2100">
                <a:solidFill>
                  <a:schemeClr val="dk2"/>
                </a:solidFill>
              </a:rPr>
              <a:t>Monitoring and Control:</a:t>
            </a:r>
            <a:r>
              <a:rPr lang="en-GB" sz="2100">
                <a:solidFill>
                  <a:schemeClr val="dk2"/>
                </a:solidFill>
              </a:rPr>
              <a:t> helping monitor system performance and make real-time adjustments.</a:t>
            </a:r>
            <a:endParaRPr sz="2100">
              <a:solidFill>
                <a:schemeClr val="dk2"/>
              </a:solidFill>
            </a:endParaRPr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○"/>
            </a:pPr>
            <a:r>
              <a:rPr b="1" lang="en-GB" sz="2100">
                <a:solidFill>
                  <a:schemeClr val="dk2"/>
                </a:solidFill>
              </a:rPr>
              <a:t>Sensor Data:</a:t>
            </a:r>
            <a:r>
              <a:rPr lang="en-GB" sz="2100">
                <a:solidFill>
                  <a:schemeClr val="dk2"/>
                </a:solidFill>
              </a:rPr>
              <a:t> IoT applications, where sensors generate time-stamped data for various measurements.</a:t>
            </a:r>
            <a:endParaRPr sz="2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311700" y="3647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Types of t</a:t>
            </a:r>
            <a:r>
              <a:rPr lang="en-GB"/>
              <a:t>ime series data </a:t>
            </a:r>
            <a:endParaRPr/>
          </a:p>
        </p:txBody>
      </p:sp>
      <p:sp>
        <p:nvSpPr>
          <p:cNvPr id="145" name="Google Shape;145;p2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22"/>
          <p:cNvSpPr txBox="1"/>
          <p:nvPr/>
        </p:nvSpPr>
        <p:spPr>
          <a:xfrm>
            <a:off x="0" y="1260150"/>
            <a:ext cx="5695200" cy="49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lang="en-GB" sz="2100">
                <a:solidFill>
                  <a:schemeClr val="dk2"/>
                </a:solidFill>
              </a:rPr>
              <a:t>Type depends on the application</a:t>
            </a:r>
            <a:endParaRPr sz="2100">
              <a:solidFill>
                <a:schemeClr val="dk2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○"/>
            </a:pPr>
            <a:r>
              <a:rPr b="1" lang="en-GB" sz="2100">
                <a:solidFill>
                  <a:schemeClr val="dk2"/>
                </a:solidFill>
              </a:rPr>
              <a:t>Timestamps</a:t>
            </a:r>
            <a:r>
              <a:rPr lang="en-GB" sz="2100">
                <a:solidFill>
                  <a:schemeClr val="dk2"/>
                </a:solidFill>
              </a:rPr>
              <a:t>: specific instants in time.</a:t>
            </a:r>
            <a:endParaRPr b="1" sz="2100">
              <a:solidFill>
                <a:schemeClr val="dk2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○"/>
            </a:pPr>
            <a:r>
              <a:rPr b="1" lang="en-GB" sz="2100">
                <a:solidFill>
                  <a:schemeClr val="dk2"/>
                </a:solidFill>
              </a:rPr>
              <a:t>Fixed periods</a:t>
            </a:r>
            <a:r>
              <a:rPr lang="en-GB" sz="2100">
                <a:solidFill>
                  <a:schemeClr val="dk2"/>
                </a:solidFill>
              </a:rPr>
              <a:t>: such as the whole month of January 2017, or the whole year 2020.</a:t>
            </a:r>
            <a:endParaRPr sz="2100">
              <a:solidFill>
                <a:schemeClr val="dk2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○"/>
            </a:pPr>
            <a:r>
              <a:rPr b="1" lang="en-GB" sz="2100">
                <a:solidFill>
                  <a:schemeClr val="dk2"/>
                </a:solidFill>
              </a:rPr>
              <a:t>Intervals of time</a:t>
            </a:r>
            <a:r>
              <a:rPr lang="en-GB" sz="2100">
                <a:solidFill>
                  <a:schemeClr val="dk2"/>
                </a:solidFill>
              </a:rPr>
              <a:t>: indicated by a start and end timestamp. Periods can be thought of as special cases of intervals.</a:t>
            </a:r>
            <a:endParaRPr sz="2100">
              <a:solidFill>
                <a:schemeClr val="dk2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○"/>
            </a:pPr>
            <a:r>
              <a:rPr b="1" lang="en-GB" sz="2100">
                <a:solidFill>
                  <a:schemeClr val="dk2"/>
                </a:solidFill>
              </a:rPr>
              <a:t>Experiment or elapsed time</a:t>
            </a:r>
            <a:r>
              <a:rPr lang="en-GB" sz="2100">
                <a:solidFill>
                  <a:schemeClr val="dk2"/>
                </a:solidFill>
              </a:rPr>
              <a:t>: each timestamp is a measure of time relative to a particular start time starting from 0.</a:t>
            </a:r>
            <a:endParaRPr sz="2100">
              <a:solidFill>
                <a:schemeClr val="dk2"/>
              </a:solidFill>
            </a:endParaRPr>
          </a:p>
        </p:txBody>
      </p:sp>
      <p:pic>
        <p:nvPicPr>
          <p:cNvPr id="147" name="Google Shape;14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1500" y="1508825"/>
            <a:ext cx="3055325" cy="458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 txBox="1"/>
          <p:nvPr/>
        </p:nvSpPr>
        <p:spPr>
          <a:xfrm>
            <a:off x="5204750" y="604025"/>
            <a:ext cx="40554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700">
                <a:solidFill>
                  <a:schemeClr val="dk2"/>
                </a:solidFill>
              </a:rPr>
              <a:t>D</a:t>
            </a:r>
            <a:r>
              <a:rPr i="1" lang="en-GB" sz="1700">
                <a:solidFill>
                  <a:schemeClr val="dk2"/>
                </a:solidFill>
              </a:rPr>
              <a:t>iameter of a cookie baking each minute since being placed in the oven</a:t>
            </a:r>
            <a:endParaRPr i="1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 Series Basics</a:t>
            </a:r>
            <a:endParaRPr/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Python standard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datetime </a:t>
            </a:r>
            <a:r>
              <a:rPr lang="en-GB"/>
              <a:t>library includes data types for date and time data</a:t>
            </a:r>
            <a:endParaRPr/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6" name="Google Shape;15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400" y="2633851"/>
            <a:ext cx="8520601" cy="2973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 Series Basics</a:t>
            </a:r>
            <a:endParaRPr/>
          </a:p>
        </p:txBody>
      </p:sp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t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imedelta</a:t>
            </a:r>
            <a:r>
              <a:rPr lang="en-GB"/>
              <a:t>  is used to represent the temporal difference between two datetime objects</a:t>
            </a:r>
            <a:endParaRPr/>
          </a:p>
        </p:txBody>
      </p:sp>
      <p:sp>
        <p:nvSpPr>
          <p:cNvPr id="163" name="Google Shape;163;p2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4" name="Google Shape;1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975" y="2674450"/>
            <a:ext cx="6267826" cy="326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 Series Basics</a:t>
            </a:r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strptime </a:t>
            </a:r>
            <a:r>
              <a:rPr lang="en-GB"/>
              <a:t>method can convert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str </a:t>
            </a:r>
            <a:r>
              <a:rPr lang="en-GB"/>
              <a:t>objects to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date time </a:t>
            </a:r>
            <a:r>
              <a:rPr lang="en-GB"/>
              <a:t>objects passing a format specification: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2" name="Google Shape;17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725" y="2766425"/>
            <a:ext cx="7003625" cy="141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7725" y="4726698"/>
            <a:ext cx="7805975" cy="12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1</a:t>
            </a:r>
            <a:endParaRPr/>
          </a:p>
        </p:txBody>
      </p:sp>
      <p:sp>
        <p:nvSpPr>
          <p:cNvPr id="179" name="Google Shape;179;p2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Check the documentation for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strftime</a:t>
            </a:r>
            <a:r>
              <a:rPr lang="en-GB"/>
              <a:t> </a:t>
            </a:r>
            <a:r>
              <a:rPr lang="en-GB"/>
              <a:t>and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strptime </a:t>
            </a:r>
            <a:r>
              <a:rPr lang="en-GB"/>
              <a:t>method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here</a:t>
            </a:r>
            <a:r>
              <a:rPr lang="en-GB"/>
              <a:t>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Given the following time string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 '2023-10-26 14:45:00'</a:t>
            </a:r>
            <a:r>
              <a:rPr lang="en-GB"/>
              <a:t> create a datetime object with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strptime </a:t>
            </a:r>
            <a:r>
              <a:rPr lang="en-GB"/>
              <a:t>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Use the datetime object and create two strings with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strftime</a:t>
            </a:r>
            <a:r>
              <a:rPr lang="en-GB"/>
              <a:t>. The strings should have the following format: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Month DD, YYYY - HH:MM AM/PM</a:t>
            </a:r>
            <a:r>
              <a:rPr lang="en-GB"/>
              <a:t>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GB">
                <a:latin typeface="Courier"/>
                <a:ea typeface="Courier"/>
                <a:cs typeface="Courier"/>
                <a:sym typeface="Courier"/>
              </a:rPr>
              <a:t>HH:MM AM/PM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80" name="Google Shape;180;p2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1" name="Google Shape;181;p26"/>
          <p:cNvSpPr txBox="1"/>
          <p:nvPr/>
        </p:nvSpPr>
        <p:spPr>
          <a:xfrm>
            <a:off x="4527425" y="4995425"/>
            <a:ext cx="3658200" cy="11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Courier"/>
                <a:ea typeface="Courier"/>
                <a:cs typeface="Courier"/>
                <a:sym typeface="Courier"/>
              </a:rPr>
              <a:t>Answer in the next slide</a:t>
            </a:r>
            <a:r>
              <a:rPr lang="en-GB" sz="2300">
                <a:latin typeface="Courier"/>
                <a:ea typeface="Courier"/>
                <a:cs typeface="Courier"/>
                <a:sym typeface="Courier"/>
              </a:rPr>
              <a:t>...</a:t>
            </a:r>
            <a:endParaRPr sz="23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1</a:t>
            </a:r>
            <a:endParaRPr/>
          </a:p>
        </p:txBody>
      </p:sp>
      <p:sp>
        <p:nvSpPr>
          <p:cNvPr id="187" name="Google Shape;187;p2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8" name="Google Shape;18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83442"/>
            <a:ext cx="8520600" cy="3755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 Series Basics</a:t>
            </a:r>
            <a:endParaRPr/>
          </a:p>
        </p:txBody>
      </p:sp>
      <p:sp>
        <p:nvSpPr>
          <p:cNvPr id="194" name="Google Shape;194;p2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Pandas is also able to work with dates.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pandas.to_datetime</a:t>
            </a:r>
            <a:r>
              <a:rPr lang="en-GB"/>
              <a:t> method parses many different kinds of date representations. </a:t>
            </a:r>
            <a:endParaRPr/>
          </a:p>
        </p:txBody>
      </p:sp>
      <p:sp>
        <p:nvSpPr>
          <p:cNvPr id="195" name="Google Shape;195;p2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96" name="Google Shape;19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780" y="3051091"/>
            <a:ext cx="7854851" cy="142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125" y="4637691"/>
            <a:ext cx="7854850" cy="1858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 Series Basics</a:t>
            </a:r>
            <a:endParaRPr/>
          </a:p>
        </p:txBody>
      </p:sp>
      <p:sp>
        <p:nvSpPr>
          <p:cNvPr id="203" name="Google Shape;203;p2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Pandas is also able to work with dates.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pandas.to_datetime</a:t>
            </a:r>
            <a:r>
              <a:rPr lang="en-GB"/>
              <a:t> method parses many different kinds of date representations. </a:t>
            </a:r>
            <a:endParaRPr/>
          </a:p>
        </p:txBody>
      </p:sp>
      <p:sp>
        <p:nvSpPr>
          <p:cNvPr id="204" name="Google Shape;204;p2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05" name="Google Shape;20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780" y="3051091"/>
            <a:ext cx="7854851" cy="142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125" y="4637691"/>
            <a:ext cx="7854850" cy="1858054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9"/>
          <p:cNvSpPr/>
          <p:nvPr/>
        </p:nvSpPr>
        <p:spPr>
          <a:xfrm>
            <a:off x="2836795" y="4632497"/>
            <a:ext cx="1002900" cy="4395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9"/>
          <p:cNvSpPr txBox="1"/>
          <p:nvPr/>
        </p:nvSpPr>
        <p:spPr>
          <a:xfrm>
            <a:off x="3878125" y="4441675"/>
            <a:ext cx="2550000" cy="56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It can handle missing values as ‘NaT’ (not a time)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Loading and handling time series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To load time series data we can use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read_csv </a:t>
            </a:r>
            <a:r>
              <a:rPr lang="en-GB"/>
              <a:t>method from </a:t>
            </a:r>
            <a:r>
              <a:rPr lang="en-GB"/>
              <a:t>pandas</a:t>
            </a:r>
            <a:r>
              <a:rPr lang="en-GB"/>
              <a:t>. For example: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	data = pd.read_csv(</a:t>
            </a:r>
            <a:r>
              <a:rPr lang="en-GB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'dow_jones_index.csv'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	data.head()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16" name="Google Shape;21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925" y="4158150"/>
            <a:ext cx="8622151" cy="1606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2</a:t>
            </a:r>
            <a:endParaRPr/>
          </a:p>
        </p:txBody>
      </p:sp>
      <p:sp>
        <p:nvSpPr>
          <p:cNvPr id="222" name="Google Shape;222;p3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3" name="Google Shape;223;p3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Download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dow_jones_index.csv</a:t>
            </a:r>
            <a:r>
              <a:rPr lang="en-GB"/>
              <a:t> file from brightspace and load it using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read_csv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Create a copy of the dataframe containing only IBM stock information.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Use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pd.to_datetime</a:t>
            </a:r>
            <a:r>
              <a:rPr lang="en-GB"/>
              <a:t> to convert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date </a:t>
            </a:r>
            <a:r>
              <a:rPr lang="en-GB"/>
              <a:t>column to the correct type.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Set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date </a:t>
            </a:r>
            <a:r>
              <a:rPr lang="en-GB"/>
              <a:t>column as the index using </a:t>
            </a:r>
            <a:r>
              <a:rPr lang="en-GB"/>
              <a:t>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set_index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Get the first and last date in the series</a:t>
            </a:r>
            <a:endParaRPr/>
          </a:p>
        </p:txBody>
      </p:sp>
      <p:sp>
        <p:nvSpPr>
          <p:cNvPr id="224" name="Google Shape;224;p31"/>
          <p:cNvSpPr txBox="1"/>
          <p:nvPr/>
        </p:nvSpPr>
        <p:spPr>
          <a:xfrm>
            <a:off x="4527425" y="4995425"/>
            <a:ext cx="3658200" cy="11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 sz="23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2</a:t>
            </a:r>
            <a:endParaRPr/>
          </a:p>
        </p:txBody>
      </p:sp>
      <p:sp>
        <p:nvSpPr>
          <p:cNvPr id="230" name="Google Shape;230;p3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31" name="Google Shape;23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875" y="1776576"/>
            <a:ext cx="8150250" cy="214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3</a:t>
            </a:r>
            <a:endParaRPr/>
          </a:p>
        </p:txBody>
      </p:sp>
      <p:sp>
        <p:nvSpPr>
          <p:cNvPr id="237" name="Google Shape;237;p3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8" name="Google Shape;238;p33"/>
          <p:cNvSpPr txBox="1"/>
          <p:nvPr/>
        </p:nvSpPr>
        <p:spPr>
          <a:xfrm>
            <a:off x="4527425" y="4995425"/>
            <a:ext cx="3658200" cy="11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 sz="23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39" name="Google Shape;239;p3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Change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open </a:t>
            </a:r>
            <a:r>
              <a:rPr lang="en-GB"/>
              <a:t>column to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float</a:t>
            </a:r>
            <a:r>
              <a:rPr lang="en-GB"/>
              <a:t>. Hint: you will need to format it to remove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$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Using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plot </a:t>
            </a:r>
            <a:r>
              <a:rPr lang="en-GB"/>
              <a:t>function plot the open price for IBM stocks from January 2011 till February 2011. Hint: you can use slice to get a subset of the dataframe.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3</a:t>
            </a:r>
            <a:endParaRPr/>
          </a:p>
        </p:txBody>
      </p:sp>
      <p:sp>
        <p:nvSpPr>
          <p:cNvPr id="245" name="Google Shape;245;p3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46" name="Google Shape;24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2088" y="2934125"/>
            <a:ext cx="4161724" cy="3537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750" y="1315800"/>
            <a:ext cx="8646598" cy="146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Resampling and Frequency Conversion</a:t>
            </a:r>
            <a:endParaRPr/>
          </a:p>
        </p:txBody>
      </p:sp>
      <p:sp>
        <p:nvSpPr>
          <p:cNvPr id="253" name="Google Shape;253;p3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2200"/>
              <a:buFont typeface="Roboto Mono"/>
              <a:buChar char="●"/>
            </a:pPr>
            <a:r>
              <a:rPr b="1" lang="en-GB"/>
              <a:t>Resampling</a:t>
            </a:r>
            <a:r>
              <a:rPr lang="en-GB"/>
              <a:t>: the process of converting a time series from one frequency to another. Possible types (but not all) include: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/>
              <a:t>Downsampling</a:t>
            </a:r>
            <a:r>
              <a:rPr lang="en-GB"/>
              <a:t>: higher frequency data to lower frequency data. </a:t>
            </a:r>
            <a:r>
              <a:rPr lang="en-GB"/>
              <a:t>Usually though data aggregation.</a:t>
            </a:r>
            <a:r>
              <a:rPr lang="en-GB"/>
              <a:t> 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/>
              <a:t>Upsampling</a:t>
            </a:r>
            <a:r>
              <a:rPr lang="en-GB"/>
              <a:t>: lower frequency data to higher frequency data. Usually through interpolation.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Resampling and Frequency Conversion</a:t>
            </a:r>
            <a:endParaRPr/>
          </a:p>
        </p:txBody>
      </p:sp>
      <p:sp>
        <p:nvSpPr>
          <p:cNvPr id="260" name="Google Shape;260;p3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2" name="Google Shape;262;p36"/>
          <p:cNvSpPr txBox="1"/>
          <p:nvPr/>
        </p:nvSpPr>
        <p:spPr>
          <a:xfrm>
            <a:off x="439375" y="4928600"/>
            <a:ext cx="1872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IBM Open Weekly Stock Prices</a:t>
            </a:r>
            <a:endParaRPr b="1"/>
          </a:p>
        </p:txBody>
      </p:sp>
      <p:pic>
        <p:nvPicPr>
          <p:cNvPr id="263" name="Google Shape;26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925" y="2156825"/>
            <a:ext cx="1562100" cy="27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Resampling and Frequency Conversion</a:t>
            </a:r>
            <a:endParaRPr/>
          </a:p>
        </p:txBody>
      </p:sp>
      <p:sp>
        <p:nvSpPr>
          <p:cNvPr id="269" name="Google Shape;269;p3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1" name="Google Shape;271;p37"/>
          <p:cNvSpPr txBox="1"/>
          <p:nvPr/>
        </p:nvSpPr>
        <p:spPr>
          <a:xfrm>
            <a:off x="439375" y="4928600"/>
            <a:ext cx="1872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IBM Open Weekly Stock Prices</a:t>
            </a:r>
            <a:endParaRPr b="1"/>
          </a:p>
        </p:txBody>
      </p:sp>
      <p:cxnSp>
        <p:nvCxnSpPr>
          <p:cNvPr id="272" name="Google Shape;272;p37"/>
          <p:cNvCxnSpPr>
            <a:endCxn id="273" idx="1"/>
          </p:cNvCxnSpPr>
          <p:nvPr/>
        </p:nvCxnSpPr>
        <p:spPr>
          <a:xfrm flipH="1" rot="10800000">
            <a:off x="2295525" y="2303025"/>
            <a:ext cx="944100" cy="906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4" name="Google Shape;274;p37"/>
          <p:cNvSpPr txBox="1"/>
          <p:nvPr/>
        </p:nvSpPr>
        <p:spPr>
          <a:xfrm>
            <a:off x="5463475" y="1913350"/>
            <a:ext cx="2935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Open Monthly Stock Prices. Aggregation through the mean.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75" name="Google Shape;275;p37"/>
          <p:cNvSpPr txBox="1"/>
          <p:nvPr/>
        </p:nvSpPr>
        <p:spPr>
          <a:xfrm>
            <a:off x="3392225" y="1330375"/>
            <a:ext cx="316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7474F"/>
                </a:solidFill>
                <a:highlight>
                  <a:srgbClr val="FFF2CC"/>
                </a:highlight>
                <a:latin typeface="Roboto Mono"/>
                <a:ea typeface="Roboto Mono"/>
                <a:cs typeface="Roboto Mono"/>
                <a:sym typeface="Roboto Mono"/>
              </a:rPr>
              <a:t>data_ibm.resample(</a:t>
            </a:r>
            <a:r>
              <a:rPr b="1" lang="en-GB" sz="1200">
                <a:solidFill>
                  <a:srgbClr val="388E3C"/>
                </a:solidFill>
                <a:highlight>
                  <a:srgbClr val="FFF2CC"/>
                </a:highlight>
                <a:latin typeface="Roboto Mono"/>
                <a:ea typeface="Roboto Mono"/>
                <a:cs typeface="Roboto Mono"/>
                <a:sym typeface="Roboto Mono"/>
              </a:rPr>
              <a:t>"ME"</a:t>
            </a:r>
            <a:r>
              <a:rPr b="1" lang="en-GB" sz="1200">
                <a:solidFill>
                  <a:srgbClr val="37474F"/>
                </a:solidFill>
                <a:highlight>
                  <a:srgbClr val="FFF2CC"/>
                </a:highlight>
                <a:latin typeface="Roboto Mono"/>
                <a:ea typeface="Roboto Mono"/>
                <a:cs typeface="Roboto Mono"/>
                <a:sym typeface="Roboto Mono"/>
              </a:rPr>
              <a:t>).mean()</a:t>
            </a:r>
            <a:endParaRPr b="1" sz="1200">
              <a:solidFill>
                <a:srgbClr val="37474F"/>
              </a:solidFill>
              <a:highlight>
                <a:srgbClr val="FFF2CC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76" name="Google Shape;27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925" y="2156825"/>
            <a:ext cx="156210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2225" y="1699675"/>
            <a:ext cx="175260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7"/>
          <p:cNvSpPr txBox="1"/>
          <p:nvPr/>
        </p:nvSpPr>
        <p:spPr>
          <a:xfrm>
            <a:off x="2167500" y="2541525"/>
            <a:ext cx="1562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F0000"/>
                </a:solidFill>
                <a:highlight>
                  <a:schemeClr val="lt1"/>
                </a:highlight>
              </a:rPr>
              <a:t>Downsampling</a:t>
            </a:r>
            <a:endParaRPr b="1" sz="13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Resampling and Frequency Conversion</a:t>
            </a:r>
            <a:endParaRPr/>
          </a:p>
        </p:txBody>
      </p:sp>
      <p:sp>
        <p:nvSpPr>
          <p:cNvPr id="284" name="Google Shape;284;p3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6" name="Google Shape;286;p38"/>
          <p:cNvSpPr txBox="1"/>
          <p:nvPr/>
        </p:nvSpPr>
        <p:spPr>
          <a:xfrm>
            <a:off x="439375" y="4928600"/>
            <a:ext cx="1872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IBM Open Weekly Stock Prices</a:t>
            </a:r>
            <a:endParaRPr b="1"/>
          </a:p>
        </p:txBody>
      </p:sp>
      <p:cxnSp>
        <p:nvCxnSpPr>
          <p:cNvPr id="287" name="Google Shape;287;p38"/>
          <p:cNvCxnSpPr>
            <a:endCxn id="288" idx="1"/>
          </p:cNvCxnSpPr>
          <p:nvPr/>
        </p:nvCxnSpPr>
        <p:spPr>
          <a:xfrm flipH="1" rot="10800000">
            <a:off x="2295525" y="2303025"/>
            <a:ext cx="944100" cy="906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9" name="Google Shape;289;p38"/>
          <p:cNvSpPr txBox="1"/>
          <p:nvPr/>
        </p:nvSpPr>
        <p:spPr>
          <a:xfrm>
            <a:off x="5463475" y="1913350"/>
            <a:ext cx="2935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Open Monthly Stock Prices. Aggregation through the mean.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90" name="Google Shape;290;p38"/>
          <p:cNvSpPr txBox="1"/>
          <p:nvPr/>
        </p:nvSpPr>
        <p:spPr>
          <a:xfrm>
            <a:off x="3392225" y="1330375"/>
            <a:ext cx="316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7474F"/>
                </a:solidFill>
                <a:highlight>
                  <a:srgbClr val="FFF2CC"/>
                </a:highlight>
                <a:latin typeface="Roboto Mono"/>
                <a:ea typeface="Roboto Mono"/>
                <a:cs typeface="Roboto Mono"/>
                <a:sym typeface="Roboto Mono"/>
              </a:rPr>
              <a:t>data_ibm.resample(</a:t>
            </a:r>
            <a:r>
              <a:rPr b="1" lang="en-GB" sz="1200">
                <a:solidFill>
                  <a:srgbClr val="388E3C"/>
                </a:solidFill>
                <a:highlight>
                  <a:srgbClr val="FFF2CC"/>
                </a:highlight>
                <a:latin typeface="Roboto Mono"/>
                <a:ea typeface="Roboto Mono"/>
                <a:cs typeface="Roboto Mono"/>
                <a:sym typeface="Roboto Mono"/>
              </a:rPr>
              <a:t>"ME"</a:t>
            </a:r>
            <a:r>
              <a:rPr b="1" lang="en-GB" sz="1200">
                <a:solidFill>
                  <a:srgbClr val="37474F"/>
                </a:solidFill>
                <a:highlight>
                  <a:srgbClr val="FFF2CC"/>
                </a:highlight>
                <a:latin typeface="Roboto Mono"/>
                <a:ea typeface="Roboto Mono"/>
                <a:cs typeface="Roboto Mono"/>
                <a:sym typeface="Roboto Mono"/>
              </a:rPr>
              <a:t>).mean()</a:t>
            </a:r>
            <a:endParaRPr b="1" sz="1200">
              <a:solidFill>
                <a:srgbClr val="37474F"/>
              </a:solidFill>
              <a:highlight>
                <a:srgbClr val="FFF2CC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91" name="Google Shape;29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925" y="2156825"/>
            <a:ext cx="156210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2225" y="1699675"/>
            <a:ext cx="17526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2388" y="3086100"/>
            <a:ext cx="1652275" cy="2867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4" name="Google Shape;294;p38"/>
          <p:cNvCxnSpPr>
            <a:endCxn id="293" idx="1"/>
          </p:cNvCxnSpPr>
          <p:nvPr/>
        </p:nvCxnSpPr>
        <p:spPr>
          <a:xfrm>
            <a:off x="2319788" y="3418912"/>
            <a:ext cx="1122600" cy="1100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5" name="Google Shape;295;p38"/>
          <p:cNvSpPr txBox="1"/>
          <p:nvPr/>
        </p:nvSpPr>
        <p:spPr>
          <a:xfrm>
            <a:off x="2167500" y="2541525"/>
            <a:ext cx="1562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F0000"/>
                </a:solidFill>
                <a:highlight>
                  <a:schemeClr val="lt1"/>
                </a:highlight>
              </a:rPr>
              <a:t>Downsampling</a:t>
            </a:r>
            <a:endParaRPr b="1" sz="13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sp>
        <p:nvSpPr>
          <p:cNvPr id="296" name="Google Shape;296;p38"/>
          <p:cNvSpPr txBox="1"/>
          <p:nvPr/>
        </p:nvSpPr>
        <p:spPr>
          <a:xfrm>
            <a:off x="2281025" y="3665950"/>
            <a:ext cx="1562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F0000"/>
                </a:solidFill>
                <a:highlight>
                  <a:schemeClr val="lt1"/>
                </a:highlight>
              </a:rPr>
              <a:t>Upsampling</a:t>
            </a:r>
            <a:endParaRPr b="1" sz="13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sp>
        <p:nvSpPr>
          <p:cNvPr id="297" name="Google Shape;297;p38"/>
          <p:cNvSpPr txBox="1"/>
          <p:nvPr/>
        </p:nvSpPr>
        <p:spPr>
          <a:xfrm>
            <a:off x="2338158" y="60678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7474F"/>
                </a:solidFill>
                <a:highlight>
                  <a:srgbClr val="FFF2CC"/>
                </a:highlight>
                <a:latin typeface="Roboto Mono"/>
                <a:ea typeface="Roboto Mono"/>
                <a:cs typeface="Roboto Mono"/>
                <a:sym typeface="Roboto Mono"/>
              </a:rPr>
              <a:t>data_ibm.resample(</a:t>
            </a:r>
            <a:r>
              <a:rPr b="1" lang="en-GB" sz="1200">
                <a:solidFill>
                  <a:srgbClr val="388E3C"/>
                </a:solidFill>
                <a:highlight>
                  <a:srgbClr val="FFF2CC"/>
                </a:highlight>
                <a:latin typeface="Roboto Mono"/>
                <a:ea typeface="Roboto Mono"/>
                <a:cs typeface="Roboto Mono"/>
                <a:sym typeface="Roboto Mono"/>
              </a:rPr>
              <a:t>'D'</a:t>
            </a:r>
            <a:r>
              <a:rPr b="1" lang="en-GB" sz="1200">
                <a:solidFill>
                  <a:srgbClr val="37474F"/>
                </a:solidFill>
                <a:highlight>
                  <a:srgbClr val="FFF2CC"/>
                </a:highlight>
                <a:latin typeface="Roboto Mono"/>
                <a:ea typeface="Roboto Mono"/>
                <a:cs typeface="Roboto Mono"/>
                <a:sym typeface="Roboto Mono"/>
              </a:rPr>
              <a:t>).</a:t>
            </a:r>
            <a:r>
              <a:rPr b="1" lang="en-GB" sz="1200">
                <a:solidFill>
                  <a:srgbClr val="37474F"/>
                </a:solidFill>
                <a:highlight>
                  <a:srgbClr val="FFF2CC"/>
                </a:highlight>
                <a:latin typeface="Roboto Mono"/>
                <a:ea typeface="Roboto Mono"/>
                <a:cs typeface="Roboto Mono"/>
                <a:sym typeface="Roboto Mono"/>
              </a:rPr>
              <a:t>ffill()</a:t>
            </a:r>
            <a:endParaRPr b="1" sz="1200">
              <a:solidFill>
                <a:srgbClr val="37474F"/>
              </a:solidFill>
              <a:highlight>
                <a:srgbClr val="FFF2CC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298" name="Google Shape;298;p38"/>
          <p:cNvCxnSpPr/>
          <p:nvPr/>
        </p:nvCxnSpPr>
        <p:spPr>
          <a:xfrm flipH="1">
            <a:off x="5213600" y="3795675"/>
            <a:ext cx="14400" cy="17760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9" name="Google Shape;299;p38"/>
          <p:cNvSpPr/>
          <p:nvPr/>
        </p:nvSpPr>
        <p:spPr>
          <a:xfrm>
            <a:off x="4440225" y="3272875"/>
            <a:ext cx="654300" cy="472800"/>
          </a:xfrm>
          <a:prstGeom prst="ellipse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8"/>
          <p:cNvSpPr txBox="1"/>
          <p:nvPr/>
        </p:nvSpPr>
        <p:spPr>
          <a:xfrm>
            <a:off x="5094650" y="3086100"/>
            <a:ext cx="10527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A86E8"/>
                </a:solidFill>
              </a:rPr>
              <a:t>Propagated till </a:t>
            </a:r>
            <a:r>
              <a:rPr lang="en-GB" sz="1200">
                <a:solidFill>
                  <a:srgbClr val="4A86E8"/>
                </a:solidFill>
              </a:rPr>
              <a:t>next </a:t>
            </a:r>
            <a:r>
              <a:rPr lang="en-GB" sz="1200">
                <a:solidFill>
                  <a:srgbClr val="4A86E8"/>
                </a:solidFill>
              </a:rPr>
              <a:t>occurrence</a:t>
            </a:r>
            <a:endParaRPr sz="1200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Resampling and Frequency Conversion</a:t>
            </a:r>
            <a:endParaRPr/>
          </a:p>
        </p:txBody>
      </p:sp>
      <p:sp>
        <p:nvSpPr>
          <p:cNvPr id="306" name="Google Shape;306;p3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8" name="Google Shape;308;p39"/>
          <p:cNvSpPr txBox="1"/>
          <p:nvPr/>
        </p:nvSpPr>
        <p:spPr>
          <a:xfrm>
            <a:off x="439375" y="4928600"/>
            <a:ext cx="1872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IBM Open Weekly Stock Prices</a:t>
            </a:r>
            <a:endParaRPr b="1"/>
          </a:p>
        </p:txBody>
      </p:sp>
      <p:cxnSp>
        <p:nvCxnSpPr>
          <p:cNvPr id="309" name="Google Shape;309;p39"/>
          <p:cNvCxnSpPr>
            <a:endCxn id="310" idx="1"/>
          </p:cNvCxnSpPr>
          <p:nvPr/>
        </p:nvCxnSpPr>
        <p:spPr>
          <a:xfrm flipH="1" rot="10800000">
            <a:off x="2295525" y="2303025"/>
            <a:ext cx="944100" cy="906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1" name="Google Shape;311;p39"/>
          <p:cNvSpPr txBox="1"/>
          <p:nvPr/>
        </p:nvSpPr>
        <p:spPr>
          <a:xfrm>
            <a:off x="5463475" y="1913350"/>
            <a:ext cx="29358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Open Monthly Stock Prices. Aggregation through the mean.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12" name="Google Shape;312;p39"/>
          <p:cNvSpPr txBox="1"/>
          <p:nvPr/>
        </p:nvSpPr>
        <p:spPr>
          <a:xfrm>
            <a:off x="3392225" y="1330375"/>
            <a:ext cx="316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7474F"/>
                </a:solidFill>
                <a:highlight>
                  <a:srgbClr val="FFF2CC"/>
                </a:highlight>
                <a:latin typeface="Roboto Mono"/>
                <a:ea typeface="Roboto Mono"/>
                <a:cs typeface="Roboto Mono"/>
                <a:sym typeface="Roboto Mono"/>
              </a:rPr>
              <a:t>data_ibm.resample(</a:t>
            </a:r>
            <a:r>
              <a:rPr b="1" lang="en-GB" sz="1200">
                <a:solidFill>
                  <a:srgbClr val="388E3C"/>
                </a:solidFill>
                <a:highlight>
                  <a:srgbClr val="FFF2CC"/>
                </a:highlight>
                <a:latin typeface="Roboto Mono"/>
                <a:ea typeface="Roboto Mono"/>
                <a:cs typeface="Roboto Mono"/>
                <a:sym typeface="Roboto Mono"/>
              </a:rPr>
              <a:t>"ME"</a:t>
            </a:r>
            <a:r>
              <a:rPr b="1" lang="en-GB" sz="1200">
                <a:solidFill>
                  <a:srgbClr val="37474F"/>
                </a:solidFill>
                <a:highlight>
                  <a:srgbClr val="FFF2CC"/>
                </a:highlight>
                <a:latin typeface="Roboto Mono"/>
                <a:ea typeface="Roboto Mono"/>
                <a:cs typeface="Roboto Mono"/>
                <a:sym typeface="Roboto Mono"/>
              </a:rPr>
              <a:t>).mean()</a:t>
            </a:r>
            <a:endParaRPr b="1" sz="1200">
              <a:solidFill>
                <a:srgbClr val="37474F"/>
              </a:solidFill>
              <a:highlight>
                <a:srgbClr val="FFF2CC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13" name="Google Shape;31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925" y="2156825"/>
            <a:ext cx="156210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2225" y="1699675"/>
            <a:ext cx="17526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2388" y="3086100"/>
            <a:ext cx="1652275" cy="2867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6" name="Google Shape;316;p39"/>
          <p:cNvCxnSpPr>
            <a:endCxn id="315" idx="1"/>
          </p:cNvCxnSpPr>
          <p:nvPr/>
        </p:nvCxnSpPr>
        <p:spPr>
          <a:xfrm>
            <a:off x="2319788" y="3418912"/>
            <a:ext cx="1122600" cy="1100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7" name="Google Shape;317;p39"/>
          <p:cNvSpPr txBox="1"/>
          <p:nvPr/>
        </p:nvSpPr>
        <p:spPr>
          <a:xfrm>
            <a:off x="2167500" y="2541525"/>
            <a:ext cx="1562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F0000"/>
                </a:solidFill>
                <a:highlight>
                  <a:schemeClr val="lt1"/>
                </a:highlight>
              </a:rPr>
              <a:t>Downsampling</a:t>
            </a:r>
            <a:endParaRPr b="1" sz="13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sp>
        <p:nvSpPr>
          <p:cNvPr id="318" name="Google Shape;318;p39"/>
          <p:cNvSpPr txBox="1"/>
          <p:nvPr/>
        </p:nvSpPr>
        <p:spPr>
          <a:xfrm>
            <a:off x="2281025" y="3665950"/>
            <a:ext cx="1562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F0000"/>
                </a:solidFill>
                <a:highlight>
                  <a:schemeClr val="lt1"/>
                </a:highlight>
              </a:rPr>
              <a:t>Upsampling</a:t>
            </a:r>
            <a:endParaRPr b="1" sz="13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sp>
        <p:nvSpPr>
          <p:cNvPr id="319" name="Google Shape;319;p39"/>
          <p:cNvSpPr txBox="1"/>
          <p:nvPr/>
        </p:nvSpPr>
        <p:spPr>
          <a:xfrm>
            <a:off x="2338158" y="60678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7474F"/>
                </a:solidFill>
                <a:highlight>
                  <a:srgbClr val="FFF2CC"/>
                </a:highlight>
                <a:latin typeface="Roboto Mono"/>
                <a:ea typeface="Roboto Mono"/>
                <a:cs typeface="Roboto Mono"/>
                <a:sym typeface="Roboto Mono"/>
              </a:rPr>
              <a:t>data_ibm.resample(</a:t>
            </a:r>
            <a:r>
              <a:rPr b="1" lang="en-GB" sz="1200">
                <a:solidFill>
                  <a:srgbClr val="388E3C"/>
                </a:solidFill>
                <a:highlight>
                  <a:srgbClr val="FFF2CC"/>
                </a:highlight>
                <a:latin typeface="Roboto Mono"/>
                <a:ea typeface="Roboto Mono"/>
                <a:cs typeface="Roboto Mono"/>
                <a:sym typeface="Roboto Mono"/>
              </a:rPr>
              <a:t>'D'</a:t>
            </a:r>
            <a:r>
              <a:rPr b="1" lang="en-GB" sz="1200">
                <a:solidFill>
                  <a:srgbClr val="37474F"/>
                </a:solidFill>
                <a:highlight>
                  <a:srgbClr val="FFF2CC"/>
                </a:highlight>
                <a:latin typeface="Roboto Mono"/>
                <a:ea typeface="Roboto Mono"/>
                <a:cs typeface="Roboto Mono"/>
                <a:sym typeface="Roboto Mono"/>
              </a:rPr>
              <a:t>).</a:t>
            </a:r>
            <a:r>
              <a:rPr b="1" lang="en-GB" sz="1200">
                <a:solidFill>
                  <a:srgbClr val="37474F"/>
                </a:solidFill>
                <a:highlight>
                  <a:srgbClr val="FFF2CC"/>
                </a:highlight>
                <a:latin typeface="Roboto Mono"/>
                <a:ea typeface="Roboto Mono"/>
                <a:cs typeface="Roboto Mono"/>
                <a:sym typeface="Roboto Mono"/>
              </a:rPr>
              <a:t>ffill()</a:t>
            </a:r>
            <a:endParaRPr b="1" sz="1200">
              <a:solidFill>
                <a:srgbClr val="37474F"/>
              </a:solidFill>
              <a:highlight>
                <a:srgbClr val="FFF2CC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20" name="Google Shape;320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71875" y="3128325"/>
            <a:ext cx="1604991" cy="28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9"/>
          <p:cNvSpPr txBox="1"/>
          <p:nvPr/>
        </p:nvSpPr>
        <p:spPr>
          <a:xfrm>
            <a:off x="5516827" y="60918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7474F"/>
                </a:solidFill>
                <a:highlight>
                  <a:srgbClr val="FFF2CC"/>
                </a:highlight>
                <a:latin typeface="Roboto Mono"/>
                <a:ea typeface="Roboto Mono"/>
                <a:cs typeface="Roboto Mono"/>
                <a:sym typeface="Roboto Mono"/>
              </a:rPr>
              <a:t>data_ibm.resample(</a:t>
            </a:r>
            <a:r>
              <a:rPr b="1" lang="en-GB" sz="1200">
                <a:solidFill>
                  <a:srgbClr val="388E3C"/>
                </a:solidFill>
                <a:highlight>
                  <a:srgbClr val="FFF2CC"/>
                </a:highlight>
                <a:latin typeface="Roboto Mono"/>
                <a:ea typeface="Roboto Mono"/>
                <a:cs typeface="Roboto Mono"/>
                <a:sym typeface="Roboto Mono"/>
              </a:rPr>
              <a:t>'D'</a:t>
            </a:r>
            <a:r>
              <a:rPr b="1" lang="en-GB" sz="1200">
                <a:solidFill>
                  <a:srgbClr val="37474F"/>
                </a:solidFill>
                <a:highlight>
                  <a:srgbClr val="FFF2CC"/>
                </a:highlight>
                <a:latin typeface="Roboto Mono"/>
                <a:ea typeface="Roboto Mono"/>
                <a:cs typeface="Roboto Mono"/>
                <a:sym typeface="Roboto Mono"/>
              </a:rPr>
              <a:t>).</a:t>
            </a:r>
            <a:r>
              <a:rPr b="1" lang="en-GB" sz="1200">
                <a:solidFill>
                  <a:srgbClr val="37474F"/>
                </a:solidFill>
                <a:highlight>
                  <a:srgbClr val="FFF2CC"/>
                </a:highlight>
                <a:latin typeface="Roboto Mono"/>
                <a:ea typeface="Roboto Mono"/>
                <a:cs typeface="Roboto Mono"/>
                <a:sym typeface="Roboto Mono"/>
              </a:rPr>
              <a:t>bfill()</a:t>
            </a:r>
            <a:endParaRPr b="1" sz="1200">
              <a:solidFill>
                <a:srgbClr val="37474F"/>
              </a:solidFill>
              <a:highlight>
                <a:srgbClr val="FFF2CC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322" name="Google Shape;322;p39"/>
          <p:cNvCxnSpPr/>
          <p:nvPr/>
        </p:nvCxnSpPr>
        <p:spPr>
          <a:xfrm flipH="1">
            <a:off x="5213600" y="3795675"/>
            <a:ext cx="14400" cy="17760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3" name="Google Shape;323;p39"/>
          <p:cNvSpPr/>
          <p:nvPr/>
        </p:nvSpPr>
        <p:spPr>
          <a:xfrm>
            <a:off x="4440225" y="3272875"/>
            <a:ext cx="654300" cy="472800"/>
          </a:xfrm>
          <a:prstGeom prst="ellipse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9"/>
          <p:cNvSpPr txBox="1"/>
          <p:nvPr/>
        </p:nvSpPr>
        <p:spPr>
          <a:xfrm>
            <a:off x="5094650" y="3086100"/>
            <a:ext cx="10527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A86E8"/>
                </a:solidFill>
              </a:rPr>
              <a:t>Propagated till next occurrence</a:t>
            </a:r>
            <a:endParaRPr sz="1200">
              <a:solidFill>
                <a:srgbClr val="4A86E8"/>
              </a:solidFill>
            </a:endParaRPr>
          </a:p>
        </p:txBody>
      </p:sp>
      <p:cxnSp>
        <p:nvCxnSpPr>
          <p:cNvPr id="325" name="Google Shape;325;p39"/>
          <p:cNvCxnSpPr/>
          <p:nvPr/>
        </p:nvCxnSpPr>
        <p:spPr>
          <a:xfrm rot="10800000">
            <a:off x="8107000" y="3781400"/>
            <a:ext cx="0" cy="18405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6" name="Google Shape;326;p39"/>
          <p:cNvSpPr/>
          <p:nvPr/>
        </p:nvSpPr>
        <p:spPr>
          <a:xfrm>
            <a:off x="7422575" y="5571675"/>
            <a:ext cx="654300" cy="472800"/>
          </a:xfrm>
          <a:prstGeom prst="ellipse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9"/>
          <p:cNvSpPr txBox="1"/>
          <p:nvPr/>
        </p:nvSpPr>
        <p:spPr>
          <a:xfrm>
            <a:off x="8101317" y="5453300"/>
            <a:ext cx="10527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A86E8"/>
                </a:solidFill>
              </a:rPr>
              <a:t>Propagated till next occurrence</a:t>
            </a:r>
            <a:endParaRPr sz="1200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Resampling and Frequency Conversion</a:t>
            </a:r>
            <a:endParaRPr/>
          </a:p>
        </p:txBody>
      </p:sp>
      <p:sp>
        <p:nvSpPr>
          <p:cNvPr id="333" name="Google Shape;333;p4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2200"/>
              <a:buFont typeface="Roboto Mono"/>
              <a:buChar char="●"/>
            </a:pPr>
            <a:r>
              <a:rPr lang="en-GB"/>
              <a:t>The </a:t>
            </a:r>
            <a:r>
              <a:rPr b="1" lang="en-GB">
                <a:solidFill>
                  <a:srgbClr val="4A86E8"/>
                </a:solidFill>
                <a:latin typeface="Courier"/>
                <a:ea typeface="Courier"/>
                <a:cs typeface="Courier"/>
                <a:sym typeface="Courier"/>
              </a:rPr>
              <a:t>asfreq </a:t>
            </a:r>
            <a:r>
              <a:rPr lang="en-GB"/>
              <a:t>method can be used to convert time series data to a </a:t>
            </a:r>
            <a:r>
              <a:rPr b="1" lang="en-GB"/>
              <a:t>different frequency</a:t>
            </a:r>
            <a:r>
              <a:rPr lang="en-GB"/>
              <a:t>. 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It does not aggregate data; instead, it </a:t>
            </a:r>
            <a:r>
              <a:rPr b="1" lang="en-GB"/>
              <a:t>changes the frequency of the data</a:t>
            </a:r>
            <a:r>
              <a:rPr lang="en-GB"/>
              <a:t> while </a:t>
            </a:r>
            <a:r>
              <a:rPr b="1" lang="en-GB"/>
              <a:t>maintaining the existing values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35" name="Google Shape;33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413" y="3695700"/>
            <a:ext cx="1800225" cy="27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0"/>
          <p:cNvSpPr txBox="1"/>
          <p:nvPr/>
        </p:nvSpPr>
        <p:spPr>
          <a:xfrm>
            <a:off x="2095500" y="3895725"/>
            <a:ext cx="3000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data_ibm.asfreq(</a:t>
            </a:r>
            <a:r>
              <a:rPr lang="en-GB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"B"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37474F"/>
                </a:solidFill>
              </a:rPr>
              <a:t>Business day frequency.</a:t>
            </a:r>
            <a:endParaRPr b="1">
              <a:solidFill>
                <a:srgbClr val="37474F"/>
              </a:solidFill>
            </a:endParaRPr>
          </a:p>
        </p:txBody>
      </p:sp>
      <p:pic>
        <p:nvPicPr>
          <p:cNvPr id="337" name="Google Shape;33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2463" y="3695688"/>
            <a:ext cx="2257425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0"/>
          <p:cNvSpPr txBox="1"/>
          <p:nvPr/>
        </p:nvSpPr>
        <p:spPr>
          <a:xfrm>
            <a:off x="6767525" y="3810000"/>
            <a:ext cx="3000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data_ibm.asfreq(</a:t>
            </a:r>
            <a:r>
              <a:rPr lang="en-GB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"H"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37474F"/>
                </a:solidFill>
              </a:rPr>
              <a:t>Hourly</a:t>
            </a:r>
            <a:r>
              <a:rPr b="1" lang="en-GB">
                <a:solidFill>
                  <a:srgbClr val="37474F"/>
                </a:solidFill>
              </a:rPr>
              <a:t> frequency.</a:t>
            </a:r>
            <a:endParaRPr b="1">
              <a:solidFill>
                <a:srgbClr val="37474F"/>
              </a:solidFill>
            </a:endParaRPr>
          </a:p>
        </p:txBody>
      </p:sp>
      <p:sp>
        <p:nvSpPr>
          <p:cNvPr id="339" name="Google Shape;339;p40"/>
          <p:cNvSpPr/>
          <p:nvPr/>
        </p:nvSpPr>
        <p:spPr>
          <a:xfrm>
            <a:off x="279646" y="3667171"/>
            <a:ext cx="4131000" cy="27825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0"/>
          <p:cNvSpPr/>
          <p:nvPr/>
        </p:nvSpPr>
        <p:spPr>
          <a:xfrm>
            <a:off x="4462475" y="3666525"/>
            <a:ext cx="4559700" cy="20007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4</a:t>
            </a:r>
            <a:endParaRPr/>
          </a:p>
        </p:txBody>
      </p:sp>
      <p:sp>
        <p:nvSpPr>
          <p:cNvPr id="346" name="Google Shape;346;p4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7" name="Google Shape;347;p41"/>
          <p:cNvSpPr txBox="1"/>
          <p:nvPr/>
        </p:nvSpPr>
        <p:spPr>
          <a:xfrm>
            <a:off x="4527425" y="4995425"/>
            <a:ext cx="3658200" cy="11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 sz="23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48" name="Google Shape;348;p4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Still using the IBM stock values, resample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high </a:t>
            </a:r>
            <a:r>
              <a:rPr lang="en-GB"/>
              <a:t>feature to monthly intervals, keeping the maximum value of each month (you will also need to convert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high </a:t>
            </a:r>
            <a:r>
              <a:rPr lang="en-GB"/>
              <a:t>to float).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Resample the monthly values to quarterly, keeping the mean of each month.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Hint: check the possible aggregation functions for resample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here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4</a:t>
            </a:r>
            <a:endParaRPr/>
          </a:p>
        </p:txBody>
      </p:sp>
      <p:sp>
        <p:nvSpPr>
          <p:cNvPr id="354" name="Google Shape;354;p4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55" name="Google Shape;35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850" y="1395627"/>
            <a:ext cx="5693924" cy="253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850" y="4241699"/>
            <a:ext cx="6821550" cy="185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Moving Window Functions</a:t>
            </a:r>
            <a:endParaRPr/>
          </a:p>
        </p:txBody>
      </p:sp>
      <p:sp>
        <p:nvSpPr>
          <p:cNvPr id="362" name="Google Shape;362;p43"/>
          <p:cNvSpPr txBox="1"/>
          <p:nvPr>
            <p:ph idx="1" type="body"/>
          </p:nvPr>
        </p:nvSpPr>
        <p:spPr>
          <a:xfrm>
            <a:off x="311700" y="1308033"/>
            <a:ext cx="8520600" cy="455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Commonly, statistics and other functions for time series data are evaluated over a sliding window.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</a:t>
            </a:r>
            <a:r>
              <a:rPr lang="en-GB"/>
              <a:t>indow functions calculate metrics for the data inside the window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Moving Window Functions</a:t>
            </a:r>
            <a:endParaRPr/>
          </a:p>
        </p:txBody>
      </p:sp>
      <p:sp>
        <p:nvSpPr>
          <p:cNvPr id="369" name="Google Shape;369;p44"/>
          <p:cNvSpPr txBox="1"/>
          <p:nvPr>
            <p:ph idx="1" type="body"/>
          </p:nvPr>
        </p:nvSpPr>
        <p:spPr>
          <a:xfrm>
            <a:off x="311700" y="1308033"/>
            <a:ext cx="8520600" cy="455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Commonly, statistics and other functions for time series data are evaluated over a sliding window.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Window functions calculate metrics for the data inside the window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71" name="Google Shape;37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513" y="3109913"/>
            <a:ext cx="3305175" cy="3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44"/>
          <p:cNvSpPr/>
          <p:nvPr/>
        </p:nvSpPr>
        <p:spPr>
          <a:xfrm>
            <a:off x="1786600" y="3442525"/>
            <a:ext cx="2242500" cy="357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4"/>
          <p:cNvSpPr txBox="1"/>
          <p:nvPr/>
        </p:nvSpPr>
        <p:spPr>
          <a:xfrm>
            <a:off x="4429125" y="3343275"/>
            <a:ext cx="3571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4-week moving average window, to calculate mean open stock price from the previous 4 weeks.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Moving Window Functions</a:t>
            </a:r>
            <a:endParaRPr/>
          </a:p>
        </p:txBody>
      </p:sp>
      <p:sp>
        <p:nvSpPr>
          <p:cNvPr id="379" name="Google Shape;379;p45"/>
          <p:cNvSpPr txBox="1"/>
          <p:nvPr>
            <p:ph idx="1" type="body"/>
          </p:nvPr>
        </p:nvSpPr>
        <p:spPr>
          <a:xfrm>
            <a:off x="311700" y="1308033"/>
            <a:ext cx="8520600" cy="455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Commonly, statistics and other functions for time series data are evaluated over a sliding window.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Window functions calculate metrics for the data inside the window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81" name="Google Shape;38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513" y="3109913"/>
            <a:ext cx="3305175" cy="3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5"/>
          <p:cNvSpPr/>
          <p:nvPr/>
        </p:nvSpPr>
        <p:spPr>
          <a:xfrm>
            <a:off x="1786600" y="3785425"/>
            <a:ext cx="2242500" cy="357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5"/>
          <p:cNvSpPr/>
          <p:nvPr/>
        </p:nvSpPr>
        <p:spPr>
          <a:xfrm>
            <a:off x="1786600" y="3429000"/>
            <a:ext cx="1060500" cy="357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45"/>
          <p:cNvSpPr txBox="1"/>
          <p:nvPr/>
        </p:nvSpPr>
        <p:spPr>
          <a:xfrm>
            <a:off x="4429125" y="3343275"/>
            <a:ext cx="3571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4-week moving average window, to calculate mean open stock price from the previous 4 weeks.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Moving Window Functions</a:t>
            </a:r>
            <a:endParaRPr/>
          </a:p>
        </p:txBody>
      </p:sp>
      <p:sp>
        <p:nvSpPr>
          <p:cNvPr id="390" name="Google Shape;390;p46"/>
          <p:cNvSpPr txBox="1"/>
          <p:nvPr>
            <p:ph idx="1" type="body"/>
          </p:nvPr>
        </p:nvSpPr>
        <p:spPr>
          <a:xfrm>
            <a:off x="311700" y="1308033"/>
            <a:ext cx="8520600" cy="455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Commonly, statistics and other functions for time series data are evaluated over a sliding window.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Window functions calculate metrics for the data inside the window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92" name="Google Shape;39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513" y="3109913"/>
            <a:ext cx="3305175" cy="3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6"/>
          <p:cNvSpPr/>
          <p:nvPr/>
        </p:nvSpPr>
        <p:spPr>
          <a:xfrm>
            <a:off x="1786600" y="4185475"/>
            <a:ext cx="2242500" cy="357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6"/>
          <p:cNvSpPr/>
          <p:nvPr/>
        </p:nvSpPr>
        <p:spPr>
          <a:xfrm>
            <a:off x="1786600" y="3829050"/>
            <a:ext cx="1060500" cy="357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46"/>
          <p:cNvSpPr/>
          <p:nvPr/>
        </p:nvSpPr>
        <p:spPr>
          <a:xfrm>
            <a:off x="1786600" y="3429000"/>
            <a:ext cx="1060500" cy="399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6"/>
          <p:cNvSpPr txBox="1"/>
          <p:nvPr/>
        </p:nvSpPr>
        <p:spPr>
          <a:xfrm>
            <a:off x="4429125" y="3343275"/>
            <a:ext cx="3571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4-week moving average window, to calculate mean open stock price from the previous 4 weeks.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Moving Window Functions</a:t>
            </a:r>
            <a:endParaRPr/>
          </a:p>
        </p:txBody>
      </p:sp>
      <p:sp>
        <p:nvSpPr>
          <p:cNvPr id="402" name="Google Shape;402;p47"/>
          <p:cNvSpPr txBox="1"/>
          <p:nvPr>
            <p:ph idx="1" type="body"/>
          </p:nvPr>
        </p:nvSpPr>
        <p:spPr>
          <a:xfrm>
            <a:off x="311700" y="1308033"/>
            <a:ext cx="8520600" cy="455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Commonly, statistics and other functions for time series data are evaluated over a sliding window.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Window functions calculate metrics for the data inside the window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04" name="Google Shape;40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513" y="3109913"/>
            <a:ext cx="3305175" cy="3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47"/>
          <p:cNvSpPr/>
          <p:nvPr/>
        </p:nvSpPr>
        <p:spPr>
          <a:xfrm>
            <a:off x="1786600" y="4576000"/>
            <a:ext cx="2242500" cy="357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7"/>
          <p:cNvSpPr/>
          <p:nvPr/>
        </p:nvSpPr>
        <p:spPr>
          <a:xfrm>
            <a:off x="1786600" y="4219575"/>
            <a:ext cx="1060500" cy="357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47"/>
          <p:cNvSpPr/>
          <p:nvPr/>
        </p:nvSpPr>
        <p:spPr>
          <a:xfrm>
            <a:off x="1786600" y="3819525"/>
            <a:ext cx="1060500" cy="399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47"/>
          <p:cNvSpPr/>
          <p:nvPr/>
        </p:nvSpPr>
        <p:spPr>
          <a:xfrm>
            <a:off x="1786600" y="3419475"/>
            <a:ext cx="1060500" cy="399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47"/>
          <p:cNvSpPr txBox="1"/>
          <p:nvPr/>
        </p:nvSpPr>
        <p:spPr>
          <a:xfrm>
            <a:off x="4429125" y="3343275"/>
            <a:ext cx="3571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4-week moving average window, to calculate mean open stock price from the previous 4 weeks.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Moving Window Functions</a:t>
            </a:r>
            <a:endParaRPr/>
          </a:p>
        </p:txBody>
      </p:sp>
      <p:sp>
        <p:nvSpPr>
          <p:cNvPr id="415" name="Google Shape;415;p48"/>
          <p:cNvSpPr txBox="1"/>
          <p:nvPr>
            <p:ph idx="1" type="body"/>
          </p:nvPr>
        </p:nvSpPr>
        <p:spPr>
          <a:xfrm>
            <a:off x="311700" y="1308033"/>
            <a:ext cx="8520600" cy="455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Commonly, statistics and other functions for time series data are evaluated over a sliding window.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Window functions calculate metrics for the data inside the window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17" name="Google Shape;41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513" y="3109913"/>
            <a:ext cx="3305175" cy="3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48"/>
          <p:cNvSpPr/>
          <p:nvPr/>
        </p:nvSpPr>
        <p:spPr>
          <a:xfrm>
            <a:off x="1786600" y="4937950"/>
            <a:ext cx="2242500" cy="357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8"/>
          <p:cNvSpPr/>
          <p:nvPr/>
        </p:nvSpPr>
        <p:spPr>
          <a:xfrm>
            <a:off x="1786600" y="4581525"/>
            <a:ext cx="1060500" cy="357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8"/>
          <p:cNvSpPr/>
          <p:nvPr/>
        </p:nvSpPr>
        <p:spPr>
          <a:xfrm>
            <a:off x="1786600" y="4181475"/>
            <a:ext cx="1060500" cy="399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8"/>
          <p:cNvSpPr/>
          <p:nvPr/>
        </p:nvSpPr>
        <p:spPr>
          <a:xfrm>
            <a:off x="1786600" y="3781425"/>
            <a:ext cx="1060500" cy="399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8"/>
          <p:cNvSpPr txBox="1"/>
          <p:nvPr/>
        </p:nvSpPr>
        <p:spPr>
          <a:xfrm>
            <a:off x="4429125" y="3343275"/>
            <a:ext cx="3571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4-week moving average window, to calculate mean open stock price from the previous 4 weeks.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Moving Window Functions</a:t>
            </a:r>
            <a:endParaRPr/>
          </a:p>
        </p:txBody>
      </p:sp>
      <p:sp>
        <p:nvSpPr>
          <p:cNvPr id="428" name="Google Shape;428;p49"/>
          <p:cNvSpPr txBox="1"/>
          <p:nvPr>
            <p:ph idx="1" type="body"/>
          </p:nvPr>
        </p:nvSpPr>
        <p:spPr>
          <a:xfrm>
            <a:off x="311700" y="1308033"/>
            <a:ext cx="8520600" cy="455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Commonly, statistics and other functions for time series data are evaluated over a sliding window.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Window functions calculate metrics for the data inside the window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30" name="Google Shape;43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513" y="3109913"/>
            <a:ext cx="3305175" cy="3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49"/>
          <p:cNvSpPr/>
          <p:nvPr/>
        </p:nvSpPr>
        <p:spPr>
          <a:xfrm>
            <a:off x="1786600" y="5280850"/>
            <a:ext cx="2242500" cy="357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9"/>
          <p:cNvSpPr/>
          <p:nvPr/>
        </p:nvSpPr>
        <p:spPr>
          <a:xfrm>
            <a:off x="1786600" y="4924425"/>
            <a:ext cx="1060500" cy="357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9"/>
          <p:cNvSpPr/>
          <p:nvPr/>
        </p:nvSpPr>
        <p:spPr>
          <a:xfrm>
            <a:off x="1786600" y="4524375"/>
            <a:ext cx="1060500" cy="399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9"/>
          <p:cNvSpPr/>
          <p:nvPr/>
        </p:nvSpPr>
        <p:spPr>
          <a:xfrm>
            <a:off x="1786600" y="4124325"/>
            <a:ext cx="1060500" cy="399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9"/>
          <p:cNvSpPr txBox="1"/>
          <p:nvPr/>
        </p:nvSpPr>
        <p:spPr>
          <a:xfrm>
            <a:off x="4429125" y="3343275"/>
            <a:ext cx="3571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4-week moving average window, to calculate mean open stock price from the previous 4 weeks.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Moving Window Functions</a:t>
            </a:r>
            <a:endParaRPr/>
          </a:p>
        </p:txBody>
      </p:sp>
      <p:sp>
        <p:nvSpPr>
          <p:cNvPr id="441" name="Google Shape;441;p50"/>
          <p:cNvSpPr txBox="1"/>
          <p:nvPr>
            <p:ph idx="1" type="body"/>
          </p:nvPr>
        </p:nvSpPr>
        <p:spPr>
          <a:xfrm>
            <a:off x="311700" y="1308033"/>
            <a:ext cx="8520600" cy="455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Commonly, statistics and other functions for time series data are evaluated over a sliding window.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Window functions calculate metrics for the data inside the window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5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43" name="Google Shape;44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513" y="3109913"/>
            <a:ext cx="3305175" cy="3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50"/>
          <p:cNvSpPr/>
          <p:nvPr/>
        </p:nvSpPr>
        <p:spPr>
          <a:xfrm>
            <a:off x="1786600" y="5699950"/>
            <a:ext cx="2242500" cy="357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50"/>
          <p:cNvSpPr/>
          <p:nvPr/>
        </p:nvSpPr>
        <p:spPr>
          <a:xfrm>
            <a:off x="1786600" y="5343525"/>
            <a:ext cx="1060500" cy="357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50"/>
          <p:cNvSpPr/>
          <p:nvPr/>
        </p:nvSpPr>
        <p:spPr>
          <a:xfrm>
            <a:off x="1786600" y="4943475"/>
            <a:ext cx="1060500" cy="399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50"/>
          <p:cNvSpPr/>
          <p:nvPr/>
        </p:nvSpPr>
        <p:spPr>
          <a:xfrm>
            <a:off x="1786600" y="4543425"/>
            <a:ext cx="1060500" cy="399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50"/>
          <p:cNvSpPr txBox="1"/>
          <p:nvPr/>
        </p:nvSpPr>
        <p:spPr>
          <a:xfrm>
            <a:off x="4429125" y="3343275"/>
            <a:ext cx="3571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4-week moving average window, to calculate mean open stock price from the previous 4 weeks.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Moving Window Functions</a:t>
            </a:r>
            <a:endParaRPr/>
          </a:p>
        </p:txBody>
      </p:sp>
      <p:sp>
        <p:nvSpPr>
          <p:cNvPr id="454" name="Google Shape;454;p51"/>
          <p:cNvSpPr txBox="1"/>
          <p:nvPr>
            <p:ph idx="1" type="body"/>
          </p:nvPr>
        </p:nvSpPr>
        <p:spPr>
          <a:xfrm>
            <a:off x="311700" y="1308033"/>
            <a:ext cx="8520600" cy="455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Commonly, statistics and other functions for time series data are evaluated over a sliding window.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Window functions calculate metrics for the data inside the window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5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56" name="Google Shape;45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513" y="3109913"/>
            <a:ext cx="3305175" cy="3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51"/>
          <p:cNvSpPr/>
          <p:nvPr/>
        </p:nvSpPr>
        <p:spPr>
          <a:xfrm>
            <a:off x="1786600" y="6033325"/>
            <a:ext cx="2242500" cy="357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51"/>
          <p:cNvSpPr/>
          <p:nvPr/>
        </p:nvSpPr>
        <p:spPr>
          <a:xfrm>
            <a:off x="1786600" y="5676900"/>
            <a:ext cx="1060500" cy="357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51"/>
          <p:cNvSpPr/>
          <p:nvPr/>
        </p:nvSpPr>
        <p:spPr>
          <a:xfrm>
            <a:off x="1786600" y="5276850"/>
            <a:ext cx="1060500" cy="399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51"/>
          <p:cNvSpPr/>
          <p:nvPr/>
        </p:nvSpPr>
        <p:spPr>
          <a:xfrm>
            <a:off x="1786600" y="4876800"/>
            <a:ext cx="1060500" cy="399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51"/>
          <p:cNvSpPr txBox="1"/>
          <p:nvPr/>
        </p:nvSpPr>
        <p:spPr>
          <a:xfrm>
            <a:off x="4429125" y="3343275"/>
            <a:ext cx="3571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4-week moving average window, to calculate mean open stock price from the previous 4 weeks.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Moving Window Functions</a:t>
            </a:r>
            <a:endParaRPr/>
          </a:p>
        </p:txBody>
      </p:sp>
      <p:sp>
        <p:nvSpPr>
          <p:cNvPr id="467" name="Google Shape;467;p52"/>
          <p:cNvSpPr txBox="1"/>
          <p:nvPr>
            <p:ph idx="1" type="body"/>
          </p:nvPr>
        </p:nvSpPr>
        <p:spPr>
          <a:xfrm>
            <a:off x="311700" y="1308033"/>
            <a:ext cx="8520600" cy="455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GB" sz="2300"/>
              <a:t>The </a:t>
            </a:r>
            <a:r>
              <a:rPr lang="en-GB" sz="2300">
                <a:latin typeface="Courier"/>
                <a:ea typeface="Courier"/>
                <a:cs typeface="Courier"/>
                <a:sym typeface="Courier"/>
              </a:rPr>
              <a:t>rolling </a:t>
            </a:r>
            <a:r>
              <a:rPr lang="en-GB" sz="2300"/>
              <a:t>operator can be used to create moving windows of fixed size.</a:t>
            </a:r>
            <a:br>
              <a:rPr lang="en-GB" sz="2300"/>
            </a:br>
            <a:br>
              <a:rPr lang="en-GB" sz="2300"/>
            </a:br>
            <a:endParaRPr sz="23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-3746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GB" sz="2300"/>
              <a:t>This can be useful for smoothing data and to observe trends through time.</a:t>
            </a:r>
            <a:br>
              <a:rPr lang="en-GB" sz="2300"/>
            </a:br>
            <a:endParaRPr sz="2300"/>
          </a:p>
          <a:p>
            <a:pPr indent="-3746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GB" sz="2300"/>
              <a:t>Like other statistical functions, these also automatically exclude missing data</a:t>
            </a:r>
            <a:endParaRPr sz="23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468" name="Google Shape;468;p5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9" name="Google Shape;469;p52"/>
          <p:cNvSpPr txBox="1"/>
          <p:nvPr/>
        </p:nvSpPr>
        <p:spPr>
          <a:xfrm>
            <a:off x="790575" y="2533650"/>
            <a:ext cx="809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moving_average = data_ibm[</a:t>
            </a:r>
            <a:r>
              <a:rPr lang="en-GB" sz="16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'open'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].rolling(window=</a:t>
            </a:r>
            <a:r>
              <a:rPr lang="en-GB" sz="16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GB" sz="16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).mean()</a:t>
            </a:r>
            <a:endParaRPr sz="16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470" name="Google Shape;470;p52"/>
          <p:cNvCxnSpPr/>
          <p:nvPr/>
        </p:nvCxnSpPr>
        <p:spPr>
          <a:xfrm>
            <a:off x="6067425" y="2905125"/>
            <a:ext cx="8859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" name="Google Shape;471;p52"/>
          <p:cNvCxnSpPr/>
          <p:nvPr/>
        </p:nvCxnSpPr>
        <p:spPr>
          <a:xfrm>
            <a:off x="7143750" y="2905125"/>
            <a:ext cx="8001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2" name="Google Shape;472;p52"/>
          <p:cNvSpPr txBox="1"/>
          <p:nvPr/>
        </p:nvSpPr>
        <p:spPr>
          <a:xfrm>
            <a:off x="5391150" y="2905125"/>
            <a:ext cx="16764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Four last records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73" name="Google Shape;473;p52"/>
          <p:cNvSpPr txBox="1"/>
          <p:nvPr/>
        </p:nvSpPr>
        <p:spPr>
          <a:xfrm>
            <a:off x="7067550" y="2907600"/>
            <a:ext cx="16764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Average metric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Moving Window Functions</a:t>
            </a:r>
            <a:endParaRPr/>
          </a:p>
        </p:txBody>
      </p:sp>
      <p:sp>
        <p:nvSpPr>
          <p:cNvPr id="479" name="Google Shape;479;p5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0" name="Google Shape;480;p53"/>
          <p:cNvSpPr txBox="1"/>
          <p:nvPr/>
        </p:nvSpPr>
        <p:spPr>
          <a:xfrm>
            <a:off x="311700" y="1466850"/>
            <a:ext cx="81369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moving_average = data_ibm[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'open'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].rolling(window=</a:t>
            </a:r>
            <a:r>
              <a:rPr lang="en-GB" sz="1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q10 = moving_average.quantile(</a:t>
            </a:r>
            <a:r>
              <a:rPr lang="en-GB" sz="1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0.1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).to_frame(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"q10"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mean = moving_average.mean().to_frame(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"mean"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q90 = moving_average.quantile(</a:t>
            </a:r>
            <a:r>
              <a:rPr lang="en-GB" sz="1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0.9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).to_frame(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"q90"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pd.concat([q10, mean, q90], axis=</a:t>
            </a:r>
            <a:r>
              <a:rPr lang="en-GB" sz="1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).plot()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Moving Window Functions</a:t>
            </a:r>
            <a:endParaRPr/>
          </a:p>
        </p:txBody>
      </p:sp>
      <p:sp>
        <p:nvSpPr>
          <p:cNvPr id="486" name="Google Shape;486;p5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7" name="Google Shape;487;p54"/>
          <p:cNvSpPr txBox="1"/>
          <p:nvPr/>
        </p:nvSpPr>
        <p:spPr>
          <a:xfrm>
            <a:off x="311700" y="1466850"/>
            <a:ext cx="81369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moving_average = data_ibm[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'open'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].rolling(window=</a:t>
            </a:r>
            <a:r>
              <a:rPr lang="en-GB" sz="1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q10 = moving_average.quantile(</a:t>
            </a:r>
            <a:r>
              <a:rPr lang="en-GB" sz="1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0.1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).to_frame(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"q10"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mean = moving_average.mean().to_frame(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"mean"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q90 = moving_average.quantile(</a:t>
            </a:r>
            <a:r>
              <a:rPr lang="en-GB" sz="1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0.9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).to_frame(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"q90"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pd.concat([q10, mean, q90], axis=</a:t>
            </a:r>
            <a:r>
              <a:rPr lang="en-GB" sz="1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).plot()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88" name="Google Shape;488;p54"/>
          <p:cNvSpPr txBox="1"/>
          <p:nvPr/>
        </p:nvSpPr>
        <p:spPr>
          <a:xfrm>
            <a:off x="6308025" y="1356875"/>
            <a:ext cx="19812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0000"/>
                </a:solidFill>
              </a:rPr>
              <a:t>Moving windows of fixed size 4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489" name="Google Shape;489;p54"/>
          <p:cNvSpPr txBox="1"/>
          <p:nvPr/>
        </p:nvSpPr>
        <p:spPr>
          <a:xfrm>
            <a:off x="6279450" y="1986325"/>
            <a:ext cx="2229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0000"/>
                </a:solidFill>
              </a:rPr>
              <a:t>Evaluation of different percentiles and conversion to data frame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490" name="Google Shape;490;p54"/>
          <p:cNvSpPr txBox="1"/>
          <p:nvPr/>
        </p:nvSpPr>
        <p:spPr>
          <a:xfrm>
            <a:off x="5353050" y="2756400"/>
            <a:ext cx="26193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0000"/>
                </a:solidFill>
              </a:rPr>
              <a:t>Plot of all moving windows in the same graph</a:t>
            </a:r>
            <a:endParaRPr sz="13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Moving Window Functions</a:t>
            </a:r>
            <a:endParaRPr/>
          </a:p>
        </p:txBody>
      </p:sp>
      <p:sp>
        <p:nvSpPr>
          <p:cNvPr id="496" name="Google Shape;496;p5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97" name="Google Shape;497;p55"/>
          <p:cNvSpPr txBox="1"/>
          <p:nvPr/>
        </p:nvSpPr>
        <p:spPr>
          <a:xfrm>
            <a:off x="311700" y="1466850"/>
            <a:ext cx="81369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moving_average = data_ibm[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'open'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].rolling(window=</a:t>
            </a:r>
            <a:r>
              <a:rPr lang="en-GB" sz="1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q10 = moving_average.quantile(</a:t>
            </a:r>
            <a:r>
              <a:rPr lang="en-GB" sz="1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0.1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).to_frame(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"q10"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mean = moving_average.mean().to_frame(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"mean"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q90 = moving_average.quantile(</a:t>
            </a:r>
            <a:r>
              <a:rPr lang="en-GB" sz="1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0.9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).to_frame(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"q90"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pd.concat([q10, mean, q90], axis=</a:t>
            </a:r>
            <a:r>
              <a:rPr lang="en-GB" sz="1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).plot()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98" name="Google Shape;498;p55"/>
          <p:cNvSpPr txBox="1"/>
          <p:nvPr/>
        </p:nvSpPr>
        <p:spPr>
          <a:xfrm>
            <a:off x="6308025" y="1356875"/>
            <a:ext cx="19812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0000"/>
                </a:solidFill>
              </a:rPr>
              <a:t>Moving windows of fixed size 4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499" name="Google Shape;499;p55"/>
          <p:cNvSpPr txBox="1"/>
          <p:nvPr/>
        </p:nvSpPr>
        <p:spPr>
          <a:xfrm>
            <a:off x="6279450" y="1986325"/>
            <a:ext cx="2229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0000"/>
                </a:solidFill>
              </a:rPr>
              <a:t>Evaluation of different percentiles and conversion to data frame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500" name="Google Shape;500;p55"/>
          <p:cNvSpPr txBox="1"/>
          <p:nvPr/>
        </p:nvSpPr>
        <p:spPr>
          <a:xfrm>
            <a:off x="5353050" y="2756400"/>
            <a:ext cx="26193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0000"/>
                </a:solidFill>
              </a:rPr>
              <a:t>Plot of all moving windows in the same graph</a:t>
            </a:r>
            <a:endParaRPr sz="1300">
              <a:solidFill>
                <a:srgbClr val="FF0000"/>
              </a:solidFill>
            </a:endParaRPr>
          </a:p>
        </p:txBody>
      </p:sp>
      <p:pic>
        <p:nvPicPr>
          <p:cNvPr id="501" name="Google Shape;50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625" y="3495675"/>
            <a:ext cx="4429124" cy="329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Moving Window Functions</a:t>
            </a:r>
            <a:endParaRPr/>
          </a:p>
        </p:txBody>
      </p:sp>
      <p:sp>
        <p:nvSpPr>
          <p:cNvPr id="507" name="Google Shape;507;p5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8" name="Google Shape;508;p56"/>
          <p:cNvSpPr txBox="1"/>
          <p:nvPr/>
        </p:nvSpPr>
        <p:spPr>
          <a:xfrm>
            <a:off x="311700" y="1466850"/>
            <a:ext cx="81369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moving_average = data_ibm[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'open'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].rolling(window=</a:t>
            </a:r>
            <a:r>
              <a:rPr lang="en-GB" sz="1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q10 = moving_average.quantile(</a:t>
            </a:r>
            <a:r>
              <a:rPr lang="en-GB" sz="1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0.1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).to_frame(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"q10"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mean = moving_average.mean().to_frame(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"mean"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q90 = moving_average.quantile(</a:t>
            </a:r>
            <a:r>
              <a:rPr lang="en-GB" sz="1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0.9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).to_frame(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"q90"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pd.concat([q10, mean, q90], axis=</a:t>
            </a:r>
            <a:r>
              <a:rPr lang="en-GB" sz="1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).plot()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09" name="Google Shape;509;p56"/>
          <p:cNvSpPr txBox="1"/>
          <p:nvPr/>
        </p:nvSpPr>
        <p:spPr>
          <a:xfrm>
            <a:off x="6308025" y="1356875"/>
            <a:ext cx="19812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0000"/>
                </a:solidFill>
              </a:rPr>
              <a:t>Moving windows of fixed size 4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510" name="Google Shape;510;p56"/>
          <p:cNvSpPr txBox="1"/>
          <p:nvPr/>
        </p:nvSpPr>
        <p:spPr>
          <a:xfrm>
            <a:off x="6279450" y="1986325"/>
            <a:ext cx="2229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0000"/>
                </a:solidFill>
              </a:rPr>
              <a:t>Evaluation of different percentiles and conversion to data frame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511" name="Google Shape;511;p56"/>
          <p:cNvSpPr txBox="1"/>
          <p:nvPr/>
        </p:nvSpPr>
        <p:spPr>
          <a:xfrm>
            <a:off x="5353050" y="2756400"/>
            <a:ext cx="26193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0000"/>
                </a:solidFill>
              </a:rPr>
              <a:t>Plot of all moving windows in the same graph</a:t>
            </a:r>
            <a:endParaRPr sz="1300">
              <a:solidFill>
                <a:srgbClr val="FF0000"/>
              </a:solidFill>
            </a:endParaRPr>
          </a:p>
        </p:txBody>
      </p:sp>
      <p:pic>
        <p:nvPicPr>
          <p:cNvPr id="512" name="Google Shape;51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625" y="3495675"/>
            <a:ext cx="4429124" cy="329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56"/>
          <p:cNvSpPr txBox="1"/>
          <p:nvPr/>
        </p:nvSpPr>
        <p:spPr>
          <a:xfrm>
            <a:off x="5410200" y="4242300"/>
            <a:ext cx="26193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What can we observe in the graph?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Moving Window Functions</a:t>
            </a:r>
            <a:endParaRPr/>
          </a:p>
        </p:txBody>
      </p:sp>
      <p:sp>
        <p:nvSpPr>
          <p:cNvPr id="519" name="Google Shape;519;p5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20" name="Google Shape;520;p57"/>
          <p:cNvSpPr txBox="1"/>
          <p:nvPr/>
        </p:nvSpPr>
        <p:spPr>
          <a:xfrm>
            <a:off x="311700" y="1466850"/>
            <a:ext cx="81369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moving_average = data_ibm[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'open'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].rolling(window=</a:t>
            </a:r>
            <a:r>
              <a:rPr lang="en-GB" sz="1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q10 = moving_average.quantile(</a:t>
            </a:r>
            <a:r>
              <a:rPr lang="en-GB" sz="1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0.1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).to_frame(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"q10"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mean = moving_average.mean().to_frame(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"mean"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q90 = moving_average.quantile(</a:t>
            </a:r>
            <a:r>
              <a:rPr lang="en-GB" sz="1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0.9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).to_frame(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"q90"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pd.concat([q10, mean, q90], axis=</a:t>
            </a:r>
            <a:r>
              <a:rPr lang="en-GB" sz="1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).plot()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21" name="Google Shape;521;p57"/>
          <p:cNvSpPr txBox="1"/>
          <p:nvPr/>
        </p:nvSpPr>
        <p:spPr>
          <a:xfrm>
            <a:off x="6308025" y="1356875"/>
            <a:ext cx="19812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0000"/>
                </a:solidFill>
              </a:rPr>
              <a:t>Moving windows of fixed size 4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522" name="Google Shape;522;p57"/>
          <p:cNvSpPr txBox="1"/>
          <p:nvPr/>
        </p:nvSpPr>
        <p:spPr>
          <a:xfrm>
            <a:off x="6279450" y="1986325"/>
            <a:ext cx="2229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0000"/>
                </a:solidFill>
              </a:rPr>
              <a:t>Evaluation of different percentiles and conversion to data frame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523" name="Google Shape;523;p57"/>
          <p:cNvSpPr txBox="1"/>
          <p:nvPr/>
        </p:nvSpPr>
        <p:spPr>
          <a:xfrm>
            <a:off x="5353050" y="2756400"/>
            <a:ext cx="26193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0000"/>
                </a:solidFill>
              </a:rPr>
              <a:t>Plot of all moving windows in the same graph</a:t>
            </a:r>
            <a:endParaRPr sz="1300">
              <a:solidFill>
                <a:srgbClr val="FF0000"/>
              </a:solidFill>
            </a:endParaRPr>
          </a:p>
        </p:txBody>
      </p:sp>
      <p:pic>
        <p:nvPicPr>
          <p:cNvPr id="524" name="Google Shape;52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625" y="3495675"/>
            <a:ext cx="4429124" cy="329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57"/>
          <p:cNvSpPr txBox="1"/>
          <p:nvPr/>
        </p:nvSpPr>
        <p:spPr>
          <a:xfrm>
            <a:off x="5410200" y="4242300"/>
            <a:ext cx="26193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What can we observe in the graph?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Different gaps indicate more/less variation over time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526" name="Google Shape;526;p57"/>
          <p:cNvCxnSpPr/>
          <p:nvPr/>
        </p:nvCxnSpPr>
        <p:spPr>
          <a:xfrm flipH="1" rot="10800000">
            <a:off x="1466850" y="5143575"/>
            <a:ext cx="19200" cy="86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7" name="Google Shape;527;p57"/>
          <p:cNvCxnSpPr/>
          <p:nvPr/>
        </p:nvCxnSpPr>
        <p:spPr>
          <a:xfrm flipH="1" rot="10800000">
            <a:off x="2224775" y="4363329"/>
            <a:ext cx="4200" cy="186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57"/>
          <p:cNvCxnSpPr/>
          <p:nvPr/>
        </p:nvCxnSpPr>
        <p:spPr>
          <a:xfrm rot="10800000">
            <a:off x="3093350" y="4431800"/>
            <a:ext cx="0" cy="471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9" name="Google Shape;529;p57"/>
          <p:cNvCxnSpPr/>
          <p:nvPr/>
        </p:nvCxnSpPr>
        <p:spPr>
          <a:xfrm flipH="1" rot="10800000">
            <a:off x="3787000" y="3726550"/>
            <a:ext cx="2700" cy="68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0" name="Google Shape;530;p57"/>
          <p:cNvCxnSpPr/>
          <p:nvPr/>
        </p:nvCxnSpPr>
        <p:spPr>
          <a:xfrm flipH="1" rot="10800000">
            <a:off x="4477625" y="3839901"/>
            <a:ext cx="3000" cy="112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5</a:t>
            </a:r>
            <a:endParaRPr/>
          </a:p>
        </p:txBody>
      </p:sp>
      <p:sp>
        <p:nvSpPr>
          <p:cNvPr id="536" name="Google Shape;536;p5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37" name="Google Shape;537;p58"/>
          <p:cNvSpPr txBox="1"/>
          <p:nvPr/>
        </p:nvSpPr>
        <p:spPr>
          <a:xfrm>
            <a:off x="4527425" y="4995425"/>
            <a:ext cx="3658200" cy="11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Courier"/>
                <a:ea typeface="Courier"/>
                <a:cs typeface="Courier"/>
                <a:sym typeface="Courier"/>
              </a:rPr>
              <a:t>Answer in the next slide...</a:t>
            </a:r>
            <a:endParaRPr sz="23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38" name="Google Shape;538;p5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Get the stock prices for GE, IBM, and MSFT.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Calculate the 4-week rolling mean of their open stock prices.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/>
              <a:t>Plot all three rolling mean in a single graph.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Hint: Try to create a loop that will iterate over the different companies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5</a:t>
            </a:r>
            <a:endParaRPr/>
          </a:p>
        </p:txBody>
      </p:sp>
      <p:sp>
        <p:nvSpPr>
          <p:cNvPr id="544" name="Google Shape;544;p5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45" name="Google Shape;54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275" y="1471173"/>
            <a:ext cx="6276376" cy="231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8625" y="3516625"/>
            <a:ext cx="4086226" cy="30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Handling missing values</a:t>
            </a:r>
            <a:endParaRPr/>
          </a:p>
        </p:txBody>
      </p:sp>
      <p:sp>
        <p:nvSpPr>
          <p:cNvPr id="552" name="Google Shape;552;p6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GB" sz="2300"/>
              <a:t>Some of the previous operators can be used as a </a:t>
            </a:r>
            <a:r>
              <a:rPr b="1" lang="en-GB" sz="2300"/>
              <a:t>simple way to handle missing data</a:t>
            </a:r>
            <a:r>
              <a:rPr lang="en-GB" sz="2300"/>
              <a:t>. For example:</a:t>
            </a:r>
            <a:endParaRPr sz="2300"/>
          </a:p>
          <a:p>
            <a:pPr indent="-3492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GB" sz="1900"/>
              <a:t>Imputation with mean</a:t>
            </a:r>
            <a:endParaRPr sz="1900"/>
          </a:p>
          <a:p>
            <a:pPr indent="-3492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GB" sz="1900"/>
              <a:t>Forward Fill: 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data[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'value'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].fillna(method=</a:t>
            </a:r>
            <a:r>
              <a:rPr b="1"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'ffill'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inplace=</a:t>
            </a:r>
            <a:r>
              <a:rPr lang="en-GB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900"/>
          </a:p>
          <a:p>
            <a:pPr indent="-3492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GB" sz="1900"/>
              <a:t>Backward Fill: 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data[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'value'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].fillna(method=</a:t>
            </a:r>
            <a:r>
              <a:rPr b="1"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'bfill'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inplace=</a:t>
            </a:r>
            <a:r>
              <a:rPr lang="en-GB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900"/>
          </a:p>
          <a:p>
            <a:pPr indent="-3492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GB" sz="1900"/>
              <a:t>Moving averages</a:t>
            </a:r>
            <a:endParaRPr sz="1900"/>
          </a:p>
        </p:txBody>
      </p:sp>
      <p:sp>
        <p:nvSpPr>
          <p:cNvPr id="553" name="Google Shape;553;p6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4" name="Google Shape;554;p60"/>
          <p:cNvSpPr txBox="1"/>
          <p:nvPr/>
        </p:nvSpPr>
        <p:spPr>
          <a:xfrm>
            <a:off x="2739750" y="2440100"/>
            <a:ext cx="754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Handling missing values</a:t>
            </a:r>
            <a:endParaRPr/>
          </a:p>
        </p:txBody>
      </p:sp>
      <p:sp>
        <p:nvSpPr>
          <p:cNvPr id="560" name="Google Shape;560;p6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GB" sz="2300"/>
              <a:t>Some of the previous operators can be used as a </a:t>
            </a:r>
            <a:r>
              <a:rPr b="1" lang="en-GB" sz="2300"/>
              <a:t>simple way to handle missing data</a:t>
            </a:r>
            <a:r>
              <a:rPr lang="en-GB" sz="2300"/>
              <a:t>. For example:</a:t>
            </a:r>
            <a:endParaRPr sz="2300"/>
          </a:p>
          <a:p>
            <a:pPr indent="-3492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GB" sz="1900"/>
              <a:t>Imputation with mean</a:t>
            </a:r>
            <a:endParaRPr sz="1900"/>
          </a:p>
          <a:p>
            <a:pPr indent="-3492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GB" sz="1900"/>
              <a:t>Forward Fill: 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data[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'value'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].fillna(method=</a:t>
            </a:r>
            <a:r>
              <a:rPr b="1"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'ffill'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inplace=</a:t>
            </a:r>
            <a:r>
              <a:rPr lang="en-GB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900"/>
          </a:p>
          <a:p>
            <a:pPr indent="-3492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GB" sz="1900"/>
              <a:t>Backward Fill: 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data[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'value'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].fillna(method=</a:t>
            </a:r>
            <a:r>
              <a:rPr b="1"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'bfill'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inplace=</a:t>
            </a:r>
            <a:r>
              <a:rPr lang="en-GB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900"/>
          </a:p>
          <a:p>
            <a:pPr indent="-3492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GB" sz="1900"/>
              <a:t>Moving averages</a:t>
            </a:r>
            <a:br>
              <a:rPr lang="en-GB" sz="1900"/>
            </a:br>
            <a:endParaRPr sz="1900"/>
          </a:p>
          <a:p>
            <a:pPr indent="-3746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-GB" sz="2300"/>
              <a:t>Ignoring or removing missing</a:t>
            </a:r>
            <a:r>
              <a:rPr lang="en-GB" sz="2300"/>
              <a:t> values might also be a valid alternative if the amount is not too high.</a:t>
            </a:r>
            <a:br>
              <a:rPr lang="en-GB" sz="2300"/>
            </a:br>
            <a:endParaRPr sz="2300"/>
          </a:p>
          <a:p>
            <a:pPr indent="-3746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GB" sz="2300"/>
              <a:t>More </a:t>
            </a:r>
            <a:r>
              <a:rPr b="1" lang="en-GB" sz="2300"/>
              <a:t>elaborated methods</a:t>
            </a:r>
            <a:r>
              <a:rPr lang="en-GB" sz="2300"/>
              <a:t> can also be used:</a:t>
            </a:r>
            <a:endParaRPr sz="2300"/>
          </a:p>
          <a:p>
            <a:pPr indent="-3492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GB" sz="1900"/>
              <a:t>K-Nearest Neighbors: weighted average of the K-nearest time points</a:t>
            </a:r>
            <a:endParaRPr sz="1900"/>
          </a:p>
          <a:p>
            <a:pPr indent="-3492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GB" sz="1900"/>
              <a:t>ML models: regression, neural networks</a:t>
            </a:r>
            <a:endParaRPr sz="1900"/>
          </a:p>
          <a:p>
            <a:pPr indent="-3492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GB" sz="1900"/>
              <a:t>Domain specific approaches. For example, using external/domain knowledge to estimate values.</a:t>
            </a:r>
            <a:endParaRPr sz="1900"/>
          </a:p>
        </p:txBody>
      </p:sp>
      <p:sp>
        <p:nvSpPr>
          <p:cNvPr id="561" name="Google Shape;561;p6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62" name="Google Shape;562;p61"/>
          <p:cNvSpPr txBox="1"/>
          <p:nvPr/>
        </p:nvSpPr>
        <p:spPr>
          <a:xfrm>
            <a:off x="2739750" y="2440100"/>
            <a:ext cx="754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6</a:t>
            </a:r>
            <a:endParaRPr/>
          </a:p>
        </p:txBody>
      </p:sp>
      <p:sp>
        <p:nvSpPr>
          <p:cNvPr id="568" name="Google Shape;568;p6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69" name="Google Shape;569;p62"/>
          <p:cNvSpPr txBox="1"/>
          <p:nvPr/>
        </p:nvSpPr>
        <p:spPr>
          <a:xfrm>
            <a:off x="5340125" y="5982250"/>
            <a:ext cx="3658200" cy="11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highlight>
                  <a:schemeClr val="lt1"/>
                </a:highlight>
                <a:latin typeface="Courier"/>
                <a:ea typeface="Courier"/>
                <a:cs typeface="Courier"/>
                <a:sym typeface="Courier"/>
              </a:rPr>
              <a:t>Answer </a:t>
            </a:r>
            <a:r>
              <a:rPr lang="en-GB" sz="2300">
                <a:highlight>
                  <a:schemeClr val="lt1"/>
                </a:highlight>
                <a:latin typeface="Courier"/>
                <a:ea typeface="Courier"/>
                <a:cs typeface="Courier"/>
                <a:sym typeface="Courier"/>
              </a:rPr>
              <a:t>in the next slide...</a:t>
            </a:r>
            <a:endParaRPr sz="2300">
              <a:highlight>
                <a:schemeClr val="lt1"/>
              </a:highlight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70" name="Google Shape;570;p62"/>
          <p:cNvSpPr txBox="1"/>
          <p:nvPr>
            <p:ph idx="1" type="body"/>
          </p:nvPr>
        </p:nvSpPr>
        <p:spPr>
          <a:xfrm>
            <a:off x="311700" y="1536627"/>
            <a:ext cx="8520600" cy="34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449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40"/>
              <a:buChar char="●"/>
            </a:pPr>
            <a:r>
              <a:rPr lang="en-GB" sz="2140"/>
              <a:t>Let’s fill missing values with a moving average window.</a:t>
            </a:r>
            <a:endParaRPr sz="2140"/>
          </a:p>
          <a:p>
            <a:pPr indent="-36449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40"/>
              <a:buChar char="●"/>
            </a:pPr>
            <a:r>
              <a:rPr lang="en-GB" sz="2140"/>
              <a:t>Use the data below as a simple example:</a:t>
            </a:r>
            <a:endParaRPr sz="214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214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214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214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214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214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2140"/>
          </a:p>
          <a:p>
            <a:pPr indent="-36449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40"/>
              <a:buAutoNum type="arabicPeriod"/>
            </a:pPr>
            <a:r>
              <a:rPr lang="en-GB" sz="2140"/>
              <a:t>Create a </a:t>
            </a:r>
            <a:r>
              <a:rPr lang="en-GB" sz="2140">
                <a:latin typeface="Courier"/>
                <a:ea typeface="Courier"/>
                <a:cs typeface="Courier"/>
                <a:sym typeface="Courier"/>
              </a:rPr>
              <a:t>rolling </a:t>
            </a:r>
            <a:r>
              <a:rPr lang="en-GB" sz="2140"/>
              <a:t>window of size 3 and calculate the moving average</a:t>
            </a:r>
            <a:endParaRPr sz="2140"/>
          </a:p>
          <a:p>
            <a:pPr indent="-36449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40"/>
              <a:buAutoNum type="arabicPeriod"/>
            </a:pPr>
            <a:r>
              <a:rPr lang="en-GB" sz="2140"/>
              <a:t>Using the </a:t>
            </a:r>
            <a:r>
              <a:rPr lang="en-GB" sz="2140">
                <a:latin typeface="Courier"/>
                <a:ea typeface="Courier"/>
                <a:cs typeface="Courier"/>
                <a:sym typeface="Courier"/>
              </a:rPr>
              <a:t>fillna </a:t>
            </a:r>
            <a:r>
              <a:rPr lang="en-GB" sz="2140"/>
              <a:t>method, pass the previous result to replace </a:t>
            </a:r>
            <a:r>
              <a:rPr lang="en-GB" sz="2140">
                <a:latin typeface="Courier"/>
                <a:ea typeface="Courier"/>
                <a:cs typeface="Courier"/>
                <a:sym typeface="Courier"/>
              </a:rPr>
              <a:t>NAs</a:t>
            </a:r>
            <a:endParaRPr sz="214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4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40"/>
              <a:t>Hint: You will need to use the </a:t>
            </a:r>
            <a:r>
              <a:rPr lang="en-GB" sz="2140" u="sng">
                <a:solidFill>
                  <a:schemeClr val="hlink"/>
                </a:solidFill>
                <a:latin typeface="Courier"/>
                <a:ea typeface="Courier"/>
                <a:cs typeface="Courier"/>
                <a:sym typeface="Courier"/>
                <a:hlinkClick r:id="rId3"/>
              </a:rPr>
              <a:t>min_periods</a:t>
            </a:r>
            <a:r>
              <a:rPr lang="en-GB" sz="2140"/>
              <a:t> parameter of the </a:t>
            </a:r>
            <a:r>
              <a:rPr lang="en-GB" sz="2140">
                <a:latin typeface="Courier"/>
                <a:ea typeface="Courier"/>
                <a:cs typeface="Courier"/>
                <a:sym typeface="Courier"/>
              </a:rPr>
              <a:t>rolling </a:t>
            </a:r>
            <a:r>
              <a:rPr lang="en-GB" sz="2140"/>
              <a:t>method.</a:t>
            </a:r>
            <a:endParaRPr sz="2140"/>
          </a:p>
        </p:txBody>
      </p:sp>
      <p:sp>
        <p:nvSpPr>
          <p:cNvPr id="571" name="Google Shape;571;p62"/>
          <p:cNvSpPr txBox="1"/>
          <p:nvPr/>
        </p:nvSpPr>
        <p:spPr>
          <a:xfrm>
            <a:off x="470925" y="2384025"/>
            <a:ext cx="79092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data = {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'Date'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pd.date_range(start=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'2023-11-02'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periods=</a:t>
            </a:r>
            <a:r>
              <a:rPr lang="en-GB" sz="13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freq=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'D'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'Value'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r>
              <a:rPr lang="en-GB" sz="13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1.1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3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2.2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np.nan, </a:t>
            </a:r>
            <a:r>
              <a:rPr lang="en-GB" sz="13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4.4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3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5.5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np.nan, np.nan, </a:t>
            </a:r>
            <a:r>
              <a:rPr lang="en-GB" sz="13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8.8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3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9.9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3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10.0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data = pd.DataFrame(data)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6</a:t>
            </a:r>
            <a:endParaRPr/>
          </a:p>
        </p:txBody>
      </p:sp>
      <p:sp>
        <p:nvSpPr>
          <p:cNvPr id="577" name="Google Shape;577;p6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78" name="Google Shape;57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325" y="2229425"/>
            <a:ext cx="8620400" cy="2509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6</a:t>
            </a:r>
            <a:endParaRPr/>
          </a:p>
        </p:txBody>
      </p:sp>
      <p:sp>
        <p:nvSpPr>
          <p:cNvPr id="584" name="Google Shape;584;p6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85" name="Google Shape;585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9126" y="1784550"/>
            <a:ext cx="4098975" cy="398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Visualisation</a:t>
            </a:r>
            <a:endParaRPr/>
          </a:p>
        </p:txBody>
      </p:sp>
      <p:sp>
        <p:nvSpPr>
          <p:cNvPr id="591" name="Google Shape;591;p6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Visualisations are important to </a:t>
            </a:r>
            <a:r>
              <a:rPr lang="en-GB"/>
              <a:t>help you </a:t>
            </a:r>
            <a:r>
              <a:rPr b="1" lang="en-GB"/>
              <a:t>gain insights</a:t>
            </a:r>
            <a:r>
              <a:rPr lang="en-GB"/>
              <a:t> with</a:t>
            </a:r>
            <a:r>
              <a:rPr lang="en-GB"/>
              <a:t> time series data.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/>
              <a:t>Line Plots</a:t>
            </a:r>
            <a:r>
              <a:rPr lang="en-GB"/>
              <a:t>: fundamental visualization for time series data.</a:t>
            </a:r>
            <a:endParaRPr/>
          </a:p>
          <a:p>
            <a:pPr indent="-3429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Can be enhanced to illustrate events or anomalies in the data. For example, highlighting points above/below a certain threshold.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/>
              <a:t>Bar plots</a:t>
            </a:r>
            <a:r>
              <a:rPr lang="en-GB"/>
              <a:t>: good for comparison of </a:t>
            </a:r>
            <a:r>
              <a:rPr lang="en-GB"/>
              <a:t>aggregated data, such as monthly or yearly summaries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/>
              <a:t>Histograms and boxplots</a:t>
            </a:r>
            <a:r>
              <a:rPr lang="en-GB"/>
              <a:t>: can still be used to describe frequency and data distribution on specific periods of time.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/>
              <a:t>Heatmaps</a:t>
            </a:r>
            <a:r>
              <a:rPr lang="en-GB"/>
              <a:t>: these can divide date ranges into “bins”. The total number of points that fall within a bin determine its value and color.</a:t>
            </a:r>
            <a:endParaRPr/>
          </a:p>
        </p:txBody>
      </p:sp>
      <p:sp>
        <p:nvSpPr>
          <p:cNvPr id="592" name="Google Shape;592;p6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 Plot</a:t>
            </a:r>
            <a:endParaRPr/>
          </a:p>
        </p:txBody>
      </p:sp>
      <p:sp>
        <p:nvSpPr>
          <p:cNvPr id="598" name="Google Shape;598;p6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99" name="Google Shape;59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09267"/>
            <a:ext cx="8247458" cy="4318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 Plot</a:t>
            </a:r>
            <a:endParaRPr/>
          </a:p>
        </p:txBody>
      </p:sp>
      <p:sp>
        <p:nvSpPr>
          <p:cNvPr id="605" name="Google Shape;605;p6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06" name="Google Shape;60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09267"/>
            <a:ext cx="8247458" cy="43187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7" name="Google Shape;607;p67"/>
          <p:cNvCxnSpPr/>
          <p:nvPr/>
        </p:nvCxnSpPr>
        <p:spPr>
          <a:xfrm>
            <a:off x="2313400" y="2176550"/>
            <a:ext cx="4056300" cy="0"/>
          </a:xfrm>
          <a:prstGeom prst="straightConnector1">
            <a:avLst/>
          </a:prstGeom>
          <a:noFill/>
          <a:ln cap="flat" cmpd="sng" w="28575">
            <a:solidFill>
              <a:srgbClr val="F9CB9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" name="Google Shape;608;p67"/>
          <p:cNvCxnSpPr/>
          <p:nvPr/>
        </p:nvCxnSpPr>
        <p:spPr>
          <a:xfrm>
            <a:off x="673550" y="4857350"/>
            <a:ext cx="40563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9" name="Google Shape;609;p67"/>
          <p:cNvSpPr txBox="1"/>
          <p:nvPr/>
        </p:nvSpPr>
        <p:spPr>
          <a:xfrm>
            <a:off x="2158950" y="2269525"/>
            <a:ext cx="26436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6B26B"/>
                </a:solidFill>
                <a:highlight>
                  <a:schemeClr val="lt1"/>
                </a:highlight>
              </a:rPr>
              <a:t>Points above the line are considered anomalies</a:t>
            </a:r>
            <a:endParaRPr>
              <a:solidFill>
                <a:srgbClr val="F6B26B"/>
              </a:solidFill>
              <a:highlight>
                <a:schemeClr val="lt1"/>
              </a:highlight>
            </a:endParaRPr>
          </a:p>
        </p:txBody>
      </p:sp>
      <p:sp>
        <p:nvSpPr>
          <p:cNvPr id="610" name="Google Shape;610;p67"/>
          <p:cNvSpPr txBox="1"/>
          <p:nvPr/>
        </p:nvSpPr>
        <p:spPr>
          <a:xfrm>
            <a:off x="3019750" y="4284061"/>
            <a:ext cx="26436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highlight>
                  <a:schemeClr val="lt1"/>
                </a:highlight>
              </a:rPr>
              <a:t>Points below the line are considered events</a:t>
            </a:r>
            <a:endParaRPr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 Plot</a:t>
            </a:r>
            <a:endParaRPr/>
          </a:p>
        </p:txBody>
      </p:sp>
      <p:sp>
        <p:nvSpPr>
          <p:cNvPr id="616" name="Google Shape;616;p6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7" name="Google Shape;617;p68"/>
          <p:cNvSpPr txBox="1"/>
          <p:nvPr/>
        </p:nvSpPr>
        <p:spPr>
          <a:xfrm>
            <a:off x="311700" y="1356875"/>
            <a:ext cx="87432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pandas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pd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numpy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np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matplotlib.pyplot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plt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plt.figure(figsize=(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12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plt.plot(data_ibm.index, data_ibm[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], label=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'Time Series Data'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color=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'blue'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Detect events and anomalies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anomaly_indices = data_ibm[data_ibm[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 &gt; 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170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].index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event_indices = data_ibm[data_ibm[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 &lt; 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150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].index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plt.scatter(event_indices, data_ibm[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][event_indices], color=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'red'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label=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'Event'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plt.scatter(anomaly_indices, data_ibm[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][anomaly_indices], color=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'orange'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label=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'Anomaly'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Add labels and legend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plt.xlabel(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'Date'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plt.ylabel(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 Value'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plt.title(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'Event and Anomaly Detection in Time Series Data'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plt.legend()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Show the plot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plt.grid(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plt.show()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6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 Plot</a:t>
            </a:r>
            <a:endParaRPr/>
          </a:p>
        </p:txBody>
      </p:sp>
      <p:sp>
        <p:nvSpPr>
          <p:cNvPr id="623" name="Google Shape;623;p6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24" name="Google Shape;624;p69"/>
          <p:cNvSpPr txBox="1"/>
          <p:nvPr/>
        </p:nvSpPr>
        <p:spPr>
          <a:xfrm>
            <a:off x="311700" y="1356875"/>
            <a:ext cx="85206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pandas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pd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numpy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np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matplotlib.pyplot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plt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plt.figure(figsize=(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12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plt.plot(data_ibm.index, data_ibm[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], label=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'Time Series Data'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color=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'blue'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Detect events and anomalies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anomaly_indices = data_ibm[data_ibm[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 &gt; 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170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].index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event_indices = data_ibm[data_ibm[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 &lt; 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150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].index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plt.scatter(event_indices, data_ibm[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][event_indices], color=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'red'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label=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'Event'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plt.scatter(anomaly_indices, data_ibm[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][anomaly_indices], color=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'orange'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label=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'Anomaly'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Add labels and legend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plt.xlabel(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'Date'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plt.ylabel(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 Value'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plt.title(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'Event and Anomaly Detection in Time Series Data'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plt.legend()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Show the plot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plt.grid(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plt.show()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625" name="Google Shape;625;p69"/>
          <p:cNvCxnSpPr/>
          <p:nvPr/>
        </p:nvCxnSpPr>
        <p:spPr>
          <a:xfrm>
            <a:off x="4632500" y="3085150"/>
            <a:ext cx="276900" cy="9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6" name="Google Shape;626;p69"/>
          <p:cNvCxnSpPr/>
          <p:nvPr/>
        </p:nvCxnSpPr>
        <p:spPr>
          <a:xfrm>
            <a:off x="4432555" y="3285095"/>
            <a:ext cx="276900" cy="9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7" name="Google Shape;627;p69"/>
          <p:cNvSpPr txBox="1"/>
          <p:nvPr/>
        </p:nvSpPr>
        <p:spPr>
          <a:xfrm>
            <a:off x="4572000" y="2598025"/>
            <a:ext cx="29418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Threshold values used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7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7</a:t>
            </a:r>
            <a:endParaRPr/>
          </a:p>
        </p:txBody>
      </p:sp>
      <p:sp>
        <p:nvSpPr>
          <p:cNvPr id="633" name="Google Shape;633;p7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4" name="Google Shape;634;p70"/>
          <p:cNvSpPr txBox="1"/>
          <p:nvPr/>
        </p:nvSpPr>
        <p:spPr>
          <a:xfrm>
            <a:off x="4816400" y="5479825"/>
            <a:ext cx="3658200" cy="11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Courier"/>
                <a:ea typeface="Courier"/>
                <a:cs typeface="Courier"/>
                <a:sym typeface="Courier"/>
              </a:rPr>
              <a:t>Solutions </a:t>
            </a:r>
            <a:r>
              <a:rPr lang="en-GB" sz="2300">
                <a:latin typeface="Courier"/>
                <a:ea typeface="Courier"/>
                <a:cs typeface="Courier"/>
                <a:sym typeface="Courier"/>
              </a:rPr>
              <a:t>in the next slide...</a:t>
            </a:r>
            <a:endParaRPr sz="23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35" name="Google Shape;635;p70"/>
          <p:cNvSpPr txBox="1"/>
          <p:nvPr>
            <p:ph idx="1" type="body"/>
          </p:nvPr>
        </p:nvSpPr>
        <p:spPr>
          <a:xfrm>
            <a:off x="234175" y="1416727"/>
            <a:ext cx="8520600" cy="34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449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40"/>
              <a:buChar char="●"/>
            </a:pPr>
            <a:r>
              <a:rPr lang="en-GB" sz="2140"/>
              <a:t>Using the values and moving averages</a:t>
            </a:r>
            <a:br>
              <a:rPr lang="en-GB" sz="2140"/>
            </a:br>
            <a:r>
              <a:rPr lang="en-GB" sz="2140"/>
              <a:t>calculated on Task 6 plot a line graph</a:t>
            </a:r>
            <a:br>
              <a:rPr lang="en-GB" sz="2140"/>
            </a:br>
            <a:r>
              <a:rPr lang="en-GB" sz="2140"/>
              <a:t>showing both columns over time.</a:t>
            </a:r>
            <a:br>
              <a:rPr lang="en-GB" sz="2140"/>
            </a:br>
            <a:endParaRPr sz="2140"/>
          </a:p>
          <a:p>
            <a:pPr indent="-36449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40"/>
              <a:buChar char="●"/>
            </a:pPr>
            <a:r>
              <a:rPr lang="en-GB" sz="2140"/>
              <a:t>Highlight the value points in which</a:t>
            </a:r>
            <a:br>
              <a:rPr lang="en-GB" sz="2140"/>
            </a:br>
            <a:r>
              <a:rPr lang="en-GB" sz="2140">
                <a:latin typeface="Courier"/>
                <a:ea typeface="Courier"/>
                <a:cs typeface="Courier"/>
                <a:sym typeface="Courier"/>
              </a:rPr>
              <a:t>value - moving_average &gt; 1</a:t>
            </a:r>
            <a:r>
              <a:rPr lang="en-GB" sz="2140"/>
              <a:t>.</a:t>
            </a:r>
            <a:endParaRPr sz="214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214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214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214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214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40"/>
              <a:t>Hint: You will need to specify the dates and values using </a:t>
            </a:r>
            <a:r>
              <a:rPr lang="en-GB" sz="2140">
                <a:latin typeface="Courier"/>
                <a:ea typeface="Courier"/>
                <a:cs typeface="Courier"/>
                <a:sym typeface="Courier"/>
              </a:rPr>
              <a:t>.loc</a:t>
            </a:r>
            <a:r>
              <a:rPr lang="en-GB" sz="2140"/>
              <a:t> after detecting the points of interest and plotting the scatter plot.</a:t>
            </a:r>
            <a:endParaRPr sz="214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214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214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214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40"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id="636" name="Google Shape;63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1913" y="1183338"/>
            <a:ext cx="2752725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7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7</a:t>
            </a:r>
            <a:endParaRPr/>
          </a:p>
        </p:txBody>
      </p:sp>
      <p:sp>
        <p:nvSpPr>
          <p:cNvPr id="642" name="Google Shape;642;p7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43" name="Google Shape;64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825" y="1509704"/>
            <a:ext cx="7372350" cy="38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7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7</a:t>
            </a:r>
            <a:endParaRPr/>
          </a:p>
        </p:txBody>
      </p:sp>
      <p:sp>
        <p:nvSpPr>
          <p:cNvPr id="649" name="Google Shape;649;p7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50" name="Google Shape;65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050" y="1507033"/>
            <a:ext cx="8679900" cy="4099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7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Heatmap</a:t>
            </a:r>
            <a:endParaRPr/>
          </a:p>
        </p:txBody>
      </p:sp>
      <p:sp>
        <p:nvSpPr>
          <p:cNvPr id="656" name="Google Shape;656;p7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57" name="Google Shape;65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925" y="2001577"/>
            <a:ext cx="8160325" cy="236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7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Heatmap</a:t>
            </a:r>
            <a:endParaRPr/>
          </a:p>
        </p:txBody>
      </p:sp>
      <p:sp>
        <p:nvSpPr>
          <p:cNvPr id="663" name="Google Shape;663;p7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64" name="Google Shape;664;p74"/>
          <p:cNvSpPr txBox="1"/>
          <p:nvPr/>
        </p:nvSpPr>
        <p:spPr>
          <a:xfrm>
            <a:off x="158875" y="1442250"/>
            <a:ext cx="96027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pandas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pd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numpy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np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matplotlib.pyplot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plt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Reshape the data to create a pivot table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pivot_table = data_ibm.pivot_table(index=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'date'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columns=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aggfunc=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'size'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fill_value=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plt.figure(figsize=(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plt.imshow(pivot_table)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Customize the heatmap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plt.xlabel(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'Date'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plt.ylabel(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plt.colorbar(label=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'Frequency'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plt.title(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'Event Frequency Heatmap'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plt.xticks(</a:t>
            </a:r>
            <a:r>
              <a:rPr lang="en-GB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len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(pivot_table.index)), pivot_table.index.strftime(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'%Y-%m-%d'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 rotation=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90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plt.yticks(</a:t>
            </a:r>
            <a:r>
              <a:rPr lang="en-GB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len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(pivot_table.columns)), pivot_table.columns)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plt.show()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7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Heatmap</a:t>
            </a:r>
            <a:endParaRPr/>
          </a:p>
        </p:txBody>
      </p:sp>
      <p:sp>
        <p:nvSpPr>
          <p:cNvPr id="670" name="Google Shape;670;p7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1" name="Google Shape;671;p75"/>
          <p:cNvSpPr txBox="1"/>
          <p:nvPr/>
        </p:nvSpPr>
        <p:spPr>
          <a:xfrm>
            <a:off x="158875" y="1442250"/>
            <a:ext cx="96027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pandas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pd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numpy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np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matplotlib.pyplot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plt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Reshape the data to create a pivot table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pivot_table = data_ibm.pivot_table(index=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'date'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columns=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aggfunc=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'size'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fill_value=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plt.figure(figsize=(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plt.imshow(pivot_table)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Customize the heatmap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plt.xlabel(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'Date'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plt.ylabel(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plt.colorbar(label=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'Frequency'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plt.title(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'Event Frequency Heatmap'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plt.xticks(</a:t>
            </a:r>
            <a:r>
              <a:rPr lang="en-GB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len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(pivot_table.index)), pivot_table.index.strftime(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'%Y-%m-%d'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 rotation=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90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plt.yticks(</a:t>
            </a:r>
            <a:r>
              <a:rPr lang="en-GB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len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(pivot_table.columns)), pivot_table.columns)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plt.show()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672" name="Google Shape;672;p75"/>
          <p:cNvCxnSpPr/>
          <p:nvPr/>
        </p:nvCxnSpPr>
        <p:spPr>
          <a:xfrm>
            <a:off x="2349444" y="2645778"/>
            <a:ext cx="1060200" cy="9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3" name="Google Shape;673;p75"/>
          <p:cNvSpPr txBox="1"/>
          <p:nvPr/>
        </p:nvSpPr>
        <p:spPr>
          <a:xfrm>
            <a:off x="3177425" y="2645775"/>
            <a:ext cx="2388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highlight>
                  <a:schemeClr val="lt1"/>
                </a:highlight>
              </a:rPr>
              <a:t>Reshape the dataframe </a:t>
            </a:r>
            <a:endParaRPr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7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Heatmap</a:t>
            </a:r>
            <a:endParaRPr/>
          </a:p>
        </p:txBody>
      </p:sp>
      <p:sp>
        <p:nvSpPr>
          <p:cNvPr id="679" name="Google Shape;679;p7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0" name="Google Shape;680;p76"/>
          <p:cNvSpPr txBox="1"/>
          <p:nvPr/>
        </p:nvSpPr>
        <p:spPr>
          <a:xfrm>
            <a:off x="158875" y="1442250"/>
            <a:ext cx="96027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pandas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pd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numpy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np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matplotlib.pyplot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plt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Reshape the data to create a pivot table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pivot_table = data_ibm.pivot_table(index=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'date'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columns=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aggfunc=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'size'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fill_value=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plt.figure(figsize=(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plt.imshow(pivot_table)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Customize the heatmap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plt.xlabel(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'Date'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plt.ylabel(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plt.colorbar(label=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'Frequency'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plt.title(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'Event Frequency Heatmap'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plt.xticks(</a:t>
            </a:r>
            <a:r>
              <a:rPr lang="en-GB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len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(pivot_table.index)), pivot_table.index.strftime(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'%Y-%m-%d'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 rotation=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90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plt.yticks(</a:t>
            </a:r>
            <a:r>
              <a:rPr lang="en-GB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len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(pivot_table.columns)), pivot_table.columns)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plt.show()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681" name="Google Shape;681;p76"/>
          <p:cNvCxnSpPr/>
          <p:nvPr/>
        </p:nvCxnSpPr>
        <p:spPr>
          <a:xfrm flipH="1" rot="10800000">
            <a:off x="3466969" y="2664828"/>
            <a:ext cx="2436000" cy="9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2" name="Google Shape;682;p76"/>
          <p:cNvSpPr txBox="1"/>
          <p:nvPr/>
        </p:nvSpPr>
        <p:spPr>
          <a:xfrm>
            <a:off x="3766225" y="2712645"/>
            <a:ext cx="2388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highlight>
                  <a:schemeClr val="lt1"/>
                </a:highlight>
              </a:rPr>
              <a:t>Index and </a:t>
            </a:r>
            <a:r>
              <a:rPr lang="en-GB">
                <a:solidFill>
                  <a:srgbClr val="FF0000"/>
                </a:solidFill>
                <a:highlight>
                  <a:schemeClr val="lt1"/>
                </a:highlight>
              </a:rPr>
              <a:t>columns</a:t>
            </a:r>
            <a:r>
              <a:rPr lang="en-GB">
                <a:solidFill>
                  <a:srgbClr val="FF0000"/>
                </a:solidFill>
                <a:highlight>
                  <a:schemeClr val="lt1"/>
                </a:highlight>
              </a:rPr>
              <a:t> used</a:t>
            </a:r>
            <a:endParaRPr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7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Heatmap</a:t>
            </a:r>
            <a:endParaRPr/>
          </a:p>
        </p:txBody>
      </p:sp>
      <p:sp>
        <p:nvSpPr>
          <p:cNvPr id="688" name="Google Shape;688;p7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9" name="Google Shape;689;p77"/>
          <p:cNvSpPr txBox="1"/>
          <p:nvPr/>
        </p:nvSpPr>
        <p:spPr>
          <a:xfrm>
            <a:off x="158875" y="1442250"/>
            <a:ext cx="96027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pandas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pd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numpy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np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matplotlib.pyplot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plt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Reshape the data to create a pivot table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pivot_table = data_ibm.pivot_table(index=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'date'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columns=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aggfunc=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'size'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fill_value=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plt.figure(figsize=(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plt.imshow(pivot_table)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Customize the heatmap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plt.xlabel(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'Date'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plt.ylabel(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plt.colorbar(label=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'Frequency'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plt.title(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'Event Frequency Heatmap'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plt.xticks(</a:t>
            </a:r>
            <a:r>
              <a:rPr lang="en-GB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len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(pivot_table.index)), pivot_table.index.strftime(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'%Y-%m-%d'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 rotation=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90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plt.yticks(</a:t>
            </a:r>
            <a:r>
              <a:rPr lang="en-GB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len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(pivot_table.columns)), pivot_table.columns)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plt.show()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690" name="Google Shape;690;p77"/>
          <p:cNvCxnSpPr/>
          <p:nvPr/>
        </p:nvCxnSpPr>
        <p:spPr>
          <a:xfrm flipH="1" rot="10800000">
            <a:off x="6208269" y="2693502"/>
            <a:ext cx="1184700" cy="9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1" name="Google Shape;691;p77"/>
          <p:cNvSpPr txBox="1"/>
          <p:nvPr/>
        </p:nvSpPr>
        <p:spPr>
          <a:xfrm>
            <a:off x="6208275" y="2760395"/>
            <a:ext cx="2388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highlight>
                  <a:schemeClr val="lt1"/>
                </a:highlight>
              </a:rPr>
              <a:t>Size counts the number of occurrences for each combination of 'date' and 'open'</a:t>
            </a:r>
            <a:endParaRPr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7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Heatmap</a:t>
            </a:r>
            <a:endParaRPr/>
          </a:p>
        </p:txBody>
      </p:sp>
      <p:sp>
        <p:nvSpPr>
          <p:cNvPr id="697" name="Google Shape;697;p7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8" name="Google Shape;698;p78"/>
          <p:cNvSpPr txBox="1"/>
          <p:nvPr/>
        </p:nvSpPr>
        <p:spPr>
          <a:xfrm>
            <a:off x="158875" y="1442250"/>
            <a:ext cx="96027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pandas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pd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numpy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np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matplotlib.pyplot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plt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Reshape the data to create a pivot table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pivot_table = data_ibm.pivot_table(index=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'date'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columns=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aggfunc=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'size'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fill_value=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plt.figure(figsize=(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plt.imshow(pivot_table)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Customize the heatmap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plt.xlabel(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'Date'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plt.ylabel(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plt.colorbar(label=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'Frequency'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plt.title(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'Event Frequency Heatmap'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plt.xticks(</a:t>
            </a:r>
            <a:r>
              <a:rPr lang="en-GB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len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(pivot_table.index)), pivot_table.index.strftime(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'%Y-%m-%d'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), rotation=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90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plt.yticks(</a:t>
            </a:r>
            <a:r>
              <a:rPr lang="en-GB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len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(pivot_table.columns)), pivot_table.columns)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plt.show()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699" name="Google Shape;699;p78"/>
          <p:cNvCxnSpPr/>
          <p:nvPr/>
        </p:nvCxnSpPr>
        <p:spPr>
          <a:xfrm flipH="1" rot="10800000">
            <a:off x="7647594" y="2655302"/>
            <a:ext cx="1184700" cy="9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0" name="Google Shape;700;p78"/>
          <p:cNvSpPr txBox="1"/>
          <p:nvPr/>
        </p:nvSpPr>
        <p:spPr>
          <a:xfrm>
            <a:off x="6444300" y="2712620"/>
            <a:ext cx="2388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highlight>
                  <a:schemeClr val="lt1"/>
                </a:highlight>
              </a:rPr>
              <a:t>In case of no </a:t>
            </a:r>
            <a:r>
              <a:rPr lang="en-GB">
                <a:solidFill>
                  <a:srgbClr val="FF0000"/>
                </a:solidFill>
                <a:highlight>
                  <a:schemeClr val="lt1"/>
                </a:highlight>
              </a:rPr>
              <a:t>occurrences</a:t>
            </a:r>
            <a:r>
              <a:rPr lang="en-GB">
                <a:solidFill>
                  <a:srgbClr val="FF0000"/>
                </a:solidFill>
                <a:highlight>
                  <a:schemeClr val="lt1"/>
                </a:highlight>
              </a:rPr>
              <a:t> of open in a date, cell will be filled with 0</a:t>
            </a:r>
            <a:endParaRPr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7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Heatmap</a:t>
            </a:r>
            <a:endParaRPr/>
          </a:p>
        </p:txBody>
      </p:sp>
      <p:sp>
        <p:nvSpPr>
          <p:cNvPr id="706" name="Google Shape;706;p7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07" name="Google Shape;70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225" y="1356875"/>
            <a:ext cx="5071999" cy="4907424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79"/>
          <p:cNvSpPr txBox="1"/>
          <p:nvPr/>
        </p:nvSpPr>
        <p:spPr>
          <a:xfrm>
            <a:off x="6304000" y="2387875"/>
            <a:ext cx="22065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Is this visualization good?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8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plot</a:t>
            </a:r>
            <a:endParaRPr/>
          </a:p>
        </p:txBody>
      </p:sp>
      <p:sp>
        <p:nvSpPr>
          <p:cNvPr id="714" name="Google Shape;714;p8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15" name="Google Shape;71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3850" y="1701901"/>
            <a:ext cx="6258350" cy="39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81"/>
          <p:cNvSpPr txBox="1"/>
          <p:nvPr>
            <p:ph type="title"/>
          </p:nvPr>
        </p:nvSpPr>
        <p:spPr>
          <a:xfrm>
            <a:off x="311700" y="3647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plot</a:t>
            </a:r>
            <a:endParaRPr/>
          </a:p>
        </p:txBody>
      </p:sp>
      <p:sp>
        <p:nvSpPr>
          <p:cNvPr id="721" name="Google Shape;721;p8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22" name="Google Shape;722;p81"/>
          <p:cNvSpPr txBox="1"/>
          <p:nvPr/>
        </p:nvSpPr>
        <p:spPr>
          <a:xfrm>
            <a:off x="311700" y="909958"/>
            <a:ext cx="8832300" cy="5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pandas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pd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matplotlib.pyplot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plt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numpy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np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pivot_table = data_ibm.pivot(columns=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'stock'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values=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'open'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dates = pivot_table.index.strftime(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'%B %d, %Y'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groups = pivot_table.columns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bar_width = 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0.40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Create an array of x-axis positions for each group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x = np.arange(</a:t>
            </a:r>
            <a:r>
              <a:rPr lang="en-GB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len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(dates))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fig, ax = plt.subplots(figsize=(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i, group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enumerate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(groups):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ax.bar(x + i * (bar_width), pivot_table[group], width=bar_width, label=group)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ax.set_xlabel(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'Date'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ax.set_ylabel(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'Value'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ax.set_title(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'Daily comparison'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ax.set_xticks(x + (bar_width * (</a:t>
            </a:r>
            <a:r>
              <a:rPr lang="en-GB" sz="12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len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(groups) - 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 / 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ax.set_xticklabels(months)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ax.legend(title=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'Stocks'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ax.set_ylim(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15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30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plt.xticks(rotation=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90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plt.show()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82"/>
          <p:cNvSpPr txBox="1"/>
          <p:nvPr>
            <p:ph type="title"/>
          </p:nvPr>
        </p:nvSpPr>
        <p:spPr>
          <a:xfrm>
            <a:off x="311700" y="3647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plot</a:t>
            </a:r>
            <a:endParaRPr/>
          </a:p>
        </p:txBody>
      </p:sp>
      <p:sp>
        <p:nvSpPr>
          <p:cNvPr id="728" name="Google Shape;728;p8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29" name="Google Shape;72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3500" y="1128267"/>
            <a:ext cx="6477000" cy="498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8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Box plots</a:t>
            </a:r>
            <a:endParaRPr/>
          </a:p>
        </p:txBody>
      </p:sp>
      <p:sp>
        <p:nvSpPr>
          <p:cNvPr id="735" name="Google Shape;735;p8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36" name="Google Shape;736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4225" y="1356876"/>
            <a:ext cx="6215526" cy="472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8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Box plots</a:t>
            </a:r>
            <a:endParaRPr/>
          </a:p>
        </p:txBody>
      </p:sp>
      <p:sp>
        <p:nvSpPr>
          <p:cNvPr id="742" name="Google Shape;742;p84"/>
          <p:cNvSpPr txBox="1"/>
          <p:nvPr>
            <p:ph idx="1" type="body"/>
          </p:nvPr>
        </p:nvSpPr>
        <p:spPr>
          <a:xfrm>
            <a:off x="311700" y="12318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seaborn </a:t>
            </a:r>
            <a:r>
              <a:rPr lang="en-GB" sz="14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sns</a:t>
            </a:r>
            <a:endParaRPr sz="14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data_ibm[</a:t>
            </a:r>
            <a:r>
              <a:rPr lang="en-GB" sz="14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"month"</a:t>
            </a:r>
            <a:r>
              <a:rPr lang="en-GB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 = data_ibm.index.month</a:t>
            </a:r>
            <a:endParaRPr sz="14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sns.boxplot(data=data_ibm, x=</a:t>
            </a:r>
            <a:r>
              <a:rPr lang="en-GB" sz="14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"month"</a:t>
            </a:r>
            <a:r>
              <a:rPr lang="en-GB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y=</a:t>
            </a:r>
            <a:r>
              <a:rPr lang="en-GB" sz="14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"open"</a:t>
            </a:r>
            <a:r>
              <a:rPr lang="en-GB" sz="14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4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743" name="Google Shape;743;p8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44" name="Google Shape;744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409" y="2278174"/>
            <a:ext cx="5525175" cy="417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8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Summary </a:t>
            </a:r>
            <a:endParaRPr/>
          </a:p>
        </p:txBody>
      </p:sp>
      <p:sp>
        <p:nvSpPr>
          <p:cNvPr id="750" name="Google Shape;750;p8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27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Time series data definition</a:t>
            </a:r>
            <a:endParaRPr sz="2270"/>
          </a:p>
          <a:p>
            <a:pPr indent="-3727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Loading and converting time series data</a:t>
            </a:r>
            <a:endParaRPr sz="2270"/>
          </a:p>
          <a:p>
            <a:pPr indent="-3727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Resampling and </a:t>
            </a:r>
            <a:r>
              <a:rPr lang="en-GB" sz="2270"/>
              <a:t>frequency conversion</a:t>
            </a:r>
            <a:endParaRPr sz="2270"/>
          </a:p>
          <a:p>
            <a:pPr indent="-3727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Handling missing values</a:t>
            </a:r>
            <a:endParaRPr sz="2270"/>
          </a:p>
          <a:p>
            <a:pPr indent="-3727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Data visualisations</a:t>
            </a:r>
            <a:endParaRPr sz="2270"/>
          </a:p>
        </p:txBody>
      </p:sp>
      <p:sp>
        <p:nvSpPr>
          <p:cNvPr id="751" name="Google Shape;751;p8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8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References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57" name="Google Shape;757;p8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u="sng">
                <a:solidFill>
                  <a:schemeClr val="hlink"/>
                </a:solidFill>
                <a:hlinkClick r:id="rId3"/>
              </a:rPr>
              <a:t>Python for Data Analysis 3E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u="sng">
                <a:solidFill>
                  <a:schemeClr val="hlink"/>
                </a:solidFill>
                <a:hlinkClick r:id="rId4"/>
              </a:rPr>
              <a:t>Pandas documentation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u="sng">
                <a:solidFill>
                  <a:schemeClr val="hlink"/>
                </a:solidFill>
                <a:hlinkClick r:id="rId5"/>
              </a:rPr>
              <a:t>UCI repository for stock data used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u="sng">
                <a:solidFill>
                  <a:schemeClr val="hlink"/>
                </a:solidFill>
                <a:hlinkClick r:id="rId6"/>
              </a:rPr>
              <a:t>Geeks for Geeks tutorial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camp courses: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u="sng">
                <a:solidFill>
                  <a:schemeClr val="hlink"/>
                </a:solidFill>
                <a:hlinkClick r:id="rId7"/>
              </a:rPr>
              <a:t>Time series in Python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u="sng">
                <a:solidFill>
                  <a:schemeClr val="hlink"/>
                </a:solidFill>
                <a:hlinkClick r:id="rId8"/>
              </a:rPr>
              <a:t>Time series in R</a:t>
            </a:r>
            <a:endParaRPr/>
          </a:p>
        </p:txBody>
      </p:sp>
      <p:sp>
        <p:nvSpPr>
          <p:cNvPr id="758" name="Google Shape;758;p8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8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Lab</a:t>
            </a:r>
            <a:endParaRPr/>
          </a:p>
        </p:txBody>
      </p:sp>
      <p:sp>
        <p:nvSpPr>
          <p:cNvPr id="764" name="Google Shape;764;p8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Please complete the lab on Week 12 folder.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8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88"/>
          <p:cNvSpPr txBox="1"/>
          <p:nvPr>
            <p:ph type="title"/>
          </p:nvPr>
        </p:nvSpPr>
        <p:spPr>
          <a:xfrm>
            <a:off x="1388100" y="637525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/>
              <a:t>Questions?</a:t>
            </a:r>
            <a:endParaRPr/>
          </a:p>
        </p:txBody>
      </p:sp>
      <p:sp>
        <p:nvSpPr>
          <p:cNvPr id="771" name="Google Shape;771;p8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8EA4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