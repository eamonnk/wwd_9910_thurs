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A4FDF0-C1BC-4E4D-B6AD-4D73E5A41458}">
  <a:tblStyle styleId="{96A4FDF0-C1BC-4E4D-B6AD-4D73E5A4145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ca7a9c3ee_0_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7ca7a9c3e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cb44cb6a3_1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fcb44cb6a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fcb44cb6a3_1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fcb44cb6a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fcb44cb6a3_1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fcb44cb6a3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fcb44cb6a3_1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fcb44cb6a3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fcb44cb6a3_1_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fcb44cb6a3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fcb44cb6a3_1_1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fcb44cb6a3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fcb44cb6a3_1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fcb44cb6a3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fcb44cb6a3_1_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fcb44cb6a3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fcb44cb6a3_1_1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fcb44cb6a3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fcb44cb6a3_1_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fcb44cb6a3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fcb44cb6a3_1_1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fcb44cb6a3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fcb44cb6a3_1_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fcb44cb6a3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fcb44cb6a3_1_1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fcb44cb6a3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fcb44cb6a3_1_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fcb44cb6a3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fcb44cb6a3_1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fcb44cb6a3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fcb44cb6a3_1_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fcb44cb6a3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fcb44cb6a3_1_17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fcb44cb6a3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fcb44cb6a3_1_7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fcb44cb6a3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fcb44cb6a3_1_7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fcb44cb6a3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fcb44cb6a3_1_18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fcb44cb6a3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fcb44cb6a3_1_19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fcb44cb6a3_1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fcb44cb6a3_1_20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fcb44cb6a3_1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72f5882568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72f588256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fcb44cb6a3_1_20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fcb44cb6a3_1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fcb44cb6a3_1_2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fcb44cb6a3_1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fcb44cb6a3_1_2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fcb44cb6a3_1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fcb44cb6a3_1_22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fcb44cb6a3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fcb44cb6a3_1_30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fcb44cb6a3_1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fcb44cb6a3_1_2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fcb44cb6a3_1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fcb44cb6a3_1_23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fcb44cb6a3_1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cb44cb6a3_1_24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cb44cb6a3_1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fcb44cb6a3_1_25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fcb44cb6a3_1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fcb44cb6a3_1_2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fcb44cb6a3_1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fcb44cb6a3_1_26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fcb44cb6a3_1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fcb44cb6a3_1_26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fcb44cb6a3_1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fcb44cb6a3_1_27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fcb44cb6a3_1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fcb44cb6a3_1_28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fcb44cb6a3_1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fcb44cb6a3_1_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fcb44cb6a3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fcb44cb6a3_1_40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fcb44cb6a3_1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fcb44cb6a3_1_4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fcb44cb6a3_1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fcb44cb6a3_1_4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fcb44cb6a3_1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fcb44cb6a3_1_4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fcb44cb6a3_1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fcb44cb6a3_1_48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fcb44cb6a3_1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fcb44cb6a3_1_49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fcb44cb6a3_1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fcb44cb6a3_1_4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fcb44cb6a3_1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fcb44cb6a3_1_50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fcb44cb6a3_1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fcb44cb6a3_1_51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fcb44cb6a3_1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fcb44cb6a3_1_45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fcb44cb6a3_1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fcb44cb6a3_1_4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fcb44cb6a3_1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fcb44cb6a3_1_46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fcb44cb6a3_1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fcb44cb6a3_1_46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fcb44cb6a3_1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fcb44cb6a3_1_47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fcb44cb6a3_1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fcb44cb6a3_1_54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fcb44cb6a3_1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fcb44cb6a3_1_54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fcb44cb6a3_1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fcb44cb6a3_1_58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fcb44cb6a3_1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fcb44cb6a3_1_58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fcb44cb6a3_1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fcb44cb6a3_1_59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fcb44cb6a3_1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fcb44cb6a3_1_59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fcb44cb6a3_1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f7a46a8028_0_1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gf7a46a802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fcb44cb6a3_1_55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fcb44cb6a3_1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629900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60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000"/>
          </a:p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_Pearson" showMasterSp="0">
  <p:cSld name="Title and Content_Pears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0" y="1"/>
            <a:ext cx="9144000" cy="8367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ook Antiqua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628800"/>
            <a:ext cx="8229600" cy="44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0" y="6597352"/>
            <a:ext cx="9144000" cy="28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500892" y="6504885"/>
            <a:ext cx="648000" cy="3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827585" y="6227885"/>
            <a:ext cx="82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GB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Punch, Enbody “The Practice of Computing Using Python”, ©2013 Pearson Addison-Wesley. All rights reserved</a:t>
            </a:r>
            <a:endParaRPr b="0" i="1" sz="12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600"/>
          </a:p>
        </p:txBody>
      </p:sp>
      <p:sp>
        <p:nvSpPr>
          <p:cNvPr id="9" name="Google Shape;9;p1"/>
          <p:cNvSpPr/>
          <p:nvPr/>
        </p:nvSpPr>
        <p:spPr>
          <a:xfrm>
            <a:off x="0" y="6542800"/>
            <a:ext cx="9140400" cy="3153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businessinsider.com/the-20-best-paid-ceos-of-the-ftse-100-2017-8?r=US&amp;IR=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regex101.com" TargetMode="External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www.asciitable.com" TargetMode="External"/><Relationship Id="rId4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docs.python.org/3/howto/regex.html#compilation-flags" TargetMode="External"/><Relationship Id="rId4" Type="http://schemas.openxmlformats.org/officeDocument/2006/relationships/image" Target="../media/image3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4.png"/><Relationship Id="rId4" Type="http://schemas.openxmlformats.org/officeDocument/2006/relationships/image" Target="../media/image2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0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Working With Data DATA9910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Week 9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3803975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Lucas Rizzo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2375" y="3749896"/>
            <a:ext cx="3379925" cy="21277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email: lucas.rizzo@tudublin.ie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163942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Indicative schedule</a:t>
            </a:r>
            <a:endParaRPr/>
          </a:p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412000" y="756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{96A4FDF0-C1BC-4E4D-B6AD-4D73E5A41458}</a:tableStyleId>
              </a:tblPr>
              <a:tblGrid>
                <a:gridCol w="1781900"/>
                <a:gridCol w="6247900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Set up environment and R notebook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Python and practice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3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Review R</a:t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I</a:t>
                      </a:r>
                      <a:r>
                        <a:rPr lang="en-GB" sz="1200" u="none" cap="none" strike="noStrike"/>
                        <a:t>mporting data with R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4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Intro SQL and aggregate queries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5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Databases and scripting languages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6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Interpreting Data (summary statistics, data visualisation)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7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week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8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manipulation in R</a:t>
                      </a:r>
                      <a:endParaRPr sz="1200" u="none" cap="none" strike="noStrike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Pandas and Numpy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9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visualisation in Python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200" u="none" cap="none" strike="noStrike"/>
                        <a:t>Data processing (regular expressions)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10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Audio data (R and tuneR)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Image data (Python and skimage)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Time series (Python and Pandas)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13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Working on Assignment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200" u="sng" cap="none" strike="noStrike">
                          <a:solidFill>
                            <a:srgbClr val="E06666"/>
                          </a:solidFill>
                        </a:rPr>
                        <a:t>Assignment deadline</a:t>
                      </a:r>
                      <a:endParaRPr sz="1400" u="sng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Overview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Regular expressions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Identifying patterns in text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Capturing groups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Examples in Python and R</a:t>
            </a:r>
            <a:endParaRPr/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025" y="3533050"/>
            <a:ext cx="7162850" cy="29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7378400" y="4193775"/>
            <a:ext cx="1707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50505"/>
                </a:solidFill>
                <a:highlight>
                  <a:srgbClr val="FFFFFF"/>
                </a:highlight>
              </a:rPr>
              <a:t>every code review with regex ever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Regular Expressions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159300" y="1536625"/>
            <a:ext cx="37527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Regular Expressions are tools for advanced pattern matching in text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Useful for: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File searches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Find and replace in text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Extracting data from free-text sources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2350" y="1257292"/>
            <a:ext cx="4850699" cy="4193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to Use Regular Expressions?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536625"/>
            <a:ext cx="81282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Extracting data from text-based sources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Text must follow regular patterns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RegEx is about identifying and exploiting patterns in the text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1 – Identifying Patterns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Go to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https://www.businessinsider.com/the-20-best-paid-ceos-of-the-ftse-100-2017-8?r=US&amp;IR=T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What information can we extract from this list?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 words, identify the pattern that each entry follows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1813950" y="4075450"/>
            <a:ext cx="551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1 - Answer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20 highest-paid FTSE 100 CEOs and their salaries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Each entry follows a pattern like that:</a:t>
            </a:r>
            <a:endParaRPr/>
          </a:p>
          <a:p>
            <a:pPr indent="-368300" lvl="0" marL="9144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Number </a:t>
            </a:r>
            <a:endParaRPr/>
          </a:p>
          <a:p>
            <a:pPr indent="-368300" lvl="0" marL="9144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Dot (.)</a:t>
            </a:r>
            <a:endParaRPr/>
          </a:p>
          <a:p>
            <a:pPr indent="-368300" lvl="0" marL="9144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Name </a:t>
            </a:r>
            <a:endParaRPr/>
          </a:p>
          <a:p>
            <a:pPr indent="-368300" lvl="0" marL="9144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Comma (,) </a:t>
            </a:r>
            <a:endParaRPr/>
          </a:p>
          <a:p>
            <a:pPr indent="-368300" lvl="0" marL="9144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Company</a:t>
            </a:r>
            <a:endParaRPr/>
          </a:p>
          <a:p>
            <a:pPr indent="-368300" lvl="0" marL="9144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Dash (-) </a:t>
            </a:r>
            <a:endParaRPr/>
          </a:p>
          <a:p>
            <a:pPr indent="-368300" lvl="0" marL="9144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Value in million pounds</a:t>
            </a:r>
            <a:endParaRPr/>
          </a:p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250" y="5360683"/>
            <a:ext cx="5473080" cy="461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175" y="5899233"/>
            <a:ext cx="4491266" cy="461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 Regular Expressions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Regular expressions can be fiddly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Having an easy place to test it will help us develop our own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It's always good to test out your regular expressions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https://regex101.com</a:t>
            </a:r>
            <a:r>
              <a:rPr lang="en-GB"/>
              <a:t> is a free online tool to allow you to do this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474518"/>
            <a:ext cx="8520602" cy="2617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Matching Individual Characters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It's simple to match individual characters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Regex allows us to search for a substring simply by inputting it directly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This is similar to the basic find/replace functionality in a text-editor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88" y="681600"/>
            <a:ext cx="8717226" cy="462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</a:t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How can we write a regex that will match each of the following words?</a:t>
            </a:r>
            <a:endParaRPr/>
          </a:p>
        </p:txBody>
      </p:sp>
      <p:sp>
        <p:nvSpPr>
          <p:cNvPr id="145" name="Google Shape;145;p2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3900" y="2776288"/>
            <a:ext cx="3848100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</a:t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How can we write a regex that will match each of the following words?</a:t>
            </a:r>
            <a:endParaRPr/>
          </a:p>
        </p:txBody>
      </p:sp>
      <p:sp>
        <p:nvSpPr>
          <p:cNvPr id="153" name="Google Shape;153;p2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3900" y="2776288"/>
            <a:ext cx="384810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5377000" y="3429000"/>
            <a:ext cx="259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Some letter followed by </a:t>
            </a:r>
            <a:r>
              <a:rPr lang="en-GB" sz="22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an</a:t>
            </a:r>
            <a:endParaRPr sz="2200"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Dot Character</a:t>
            </a:r>
            <a:endParaRPr/>
          </a:p>
        </p:txBody>
      </p:sp>
      <p:sp>
        <p:nvSpPr>
          <p:cNvPr id="161" name="Google Shape;161;p2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Within a regular expression the character </a:t>
            </a:r>
            <a:r>
              <a:rPr b="1" lang="en-GB">
                <a:solidFill>
                  <a:srgbClr val="0B5394"/>
                </a:solidFill>
              </a:rPr>
              <a:t>.</a:t>
            </a:r>
            <a:r>
              <a:rPr lang="en-GB">
                <a:solidFill>
                  <a:srgbClr val="0B5394"/>
                </a:solidFill>
              </a:rPr>
              <a:t> </a:t>
            </a:r>
            <a:r>
              <a:rPr lang="en-GB"/>
              <a:t>(dot) means "match any single character"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Dot Character</a:t>
            </a:r>
            <a:endParaRPr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Within a regular expression the character</a:t>
            </a:r>
            <a:r>
              <a:rPr lang="en-GB">
                <a:solidFill>
                  <a:srgbClr val="0B5394"/>
                </a:solidFill>
              </a:rPr>
              <a:t> </a:t>
            </a:r>
            <a:r>
              <a:rPr b="1" lang="en-GB">
                <a:solidFill>
                  <a:srgbClr val="0B5394"/>
                </a:solidFill>
              </a:rPr>
              <a:t>.</a:t>
            </a:r>
            <a:r>
              <a:rPr lang="en-GB"/>
              <a:t> (dot) means "match any single character"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638" y="2818951"/>
            <a:ext cx="8762723" cy="296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The Dot Character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If </a:t>
            </a:r>
            <a:r>
              <a:rPr b="1" lang="en-GB">
                <a:solidFill>
                  <a:srgbClr val="0B5394"/>
                </a:solidFill>
              </a:rPr>
              <a:t>.</a:t>
            </a:r>
            <a:r>
              <a:rPr lang="en-GB"/>
              <a:t> means "match anything" how do we match an actual full stop?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Dot Character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If </a:t>
            </a:r>
            <a:r>
              <a:rPr b="1" lang="en-GB"/>
              <a:t>.</a:t>
            </a:r>
            <a:r>
              <a:rPr lang="en-GB"/>
              <a:t> means "match anything" how do we match an actual full stop?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●"/>
            </a:pPr>
            <a:r>
              <a:rPr b="1"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\.</a:t>
            </a:r>
            <a:endParaRPr b="1"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5" name="Google Shape;18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600" y="2987226"/>
            <a:ext cx="8762799" cy="29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2 - Using the dot </a:t>
            </a:r>
            <a:endParaRPr/>
          </a:p>
        </p:txBody>
      </p:sp>
      <p:sp>
        <p:nvSpPr>
          <p:cNvPr id="191" name="Google Shape;191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How can we write a regex that will match each of the following words?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3" name="Google Shape;1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7950" y="2650088"/>
            <a:ext cx="384810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1"/>
          <p:cNvSpPr txBox="1"/>
          <p:nvPr/>
        </p:nvSpPr>
        <p:spPr>
          <a:xfrm>
            <a:off x="863100" y="5514375"/>
            <a:ext cx="551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Task 2 - Answer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1" name="Google Shape;20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050" y="2292488"/>
            <a:ext cx="8397901" cy="286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</a:t>
            </a:r>
            <a:endParaRPr/>
          </a:p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How do we match only the words in green?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9" name="Google Shape;2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9450" y="2297298"/>
            <a:ext cx="3220100" cy="379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</a:t>
            </a:r>
            <a:endParaRPr/>
          </a:p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How do we match only the words in green?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17" name="Google Shape;21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9450" y="2297298"/>
            <a:ext cx="3220100" cy="3794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4"/>
          <p:cNvSpPr txBox="1"/>
          <p:nvPr/>
        </p:nvSpPr>
        <p:spPr>
          <a:xfrm>
            <a:off x="5377000" y="3429000"/>
            <a:ext cx="259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Only </a:t>
            </a:r>
            <a:r>
              <a:rPr lang="en-GB" sz="22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c</a:t>
            </a:r>
            <a:r>
              <a:rPr lang="en-GB" sz="2200"/>
              <a:t>, </a:t>
            </a:r>
            <a:r>
              <a:rPr lang="en-GB" sz="22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m </a:t>
            </a:r>
            <a:r>
              <a:rPr lang="en-GB" sz="2200"/>
              <a:t>and </a:t>
            </a:r>
            <a:r>
              <a:rPr lang="en-GB" sz="22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f</a:t>
            </a:r>
            <a:r>
              <a:rPr lang="en-GB" sz="2200"/>
              <a:t> </a:t>
            </a:r>
            <a:r>
              <a:rPr lang="en-GB" sz="2200"/>
              <a:t>followed by </a:t>
            </a:r>
            <a:r>
              <a:rPr lang="en-GB" sz="22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an</a:t>
            </a:r>
            <a:endParaRPr sz="2200"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Matching Specific Characters</a:t>
            </a:r>
            <a:endParaRPr/>
          </a:p>
        </p:txBody>
      </p:sp>
      <p:sp>
        <p:nvSpPr>
          <p:cNvPr id="224" name="Google Shape;224;p3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If we want to allow multiple options for a match we can specify them inside square brackets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expression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[abc]</a:t>
            </a:r>
            <a:r>
              <a:rPr lang="en-GB"/>
              <a:t> will match a single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lang="en-GB"/>
              <a:t>,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b</a:t>
            </a:r>
            <a:r>
              <a:rPr lang="en-GB"/>
              <a:t> or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c</a:t>
            </a:r>
            <a:r>
              <a:rPr lang="en-GB"/>
              <a:t> character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26" name="Google Shape;22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275" y="3021275"/>
            <a:ext cx="8591450" cy="296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3 - Matching Specific Characters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232" name="Google Shape;232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How can we write a regex that will match only the words in green?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34" name="Google Shape;23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5975" y="2517048"/>
            <a:ext cx="3220100" cy="3794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6"/>
          <p:cNvSpPr txBox="1"/>
          <p:nvPr/>
        </p:nvSpPr>
        <p:spPr>
          <a:xfrm>
            <a:off x="5488200" y="3680900"/>
            <a:ext cx="3344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3 - Answer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241" name="Google Shape;241;p3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42" name="Google Shape;24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09267"/>
            <a:ext cx="8839203" cy="3955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 Patterns</a:t>
            </a:r>
            <a:endParaRPr/>
          </a:p>
        </p:txBody>
      </p:sp>
      <p:sp>
        <p:nvSpPr>
          <p:cNvPr id="248" name="Google Shape;248;p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Sometimes it's more useful to specify what we don't want to match rather than what we do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Regular expressions allow us to do this using a negative matching syntax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Negative matching uses square brackets and starts with the hat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^</a:t>
            </a:r>
            <a:r>
              <a:rPr lang="en-GB"/>
              <a:t> character.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[^abc]</a:t>
            </a:r>
            <a:r>
              <a:rPr lang="en-GB"/>
              <a:t> will match any single </a:t>
            </a:r>
            <a:r>
              <a:rPr lang="en-GB"/>
              <a:t>character</a:t>
            </a:r>
            <a:r>
              <a:rPr lang="en-GB"/>
              <a:t> except for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lang="en-GB"/>
              <a:t>,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b</a:t>
            </a:r>
            <a:r>
              <a:rPr lang="en-GB"/>
              <a:t> or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c</a:t>
            </a:r>
            <a:endParaRPr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</a:t>
            </a:r>
            <a:endParaRPr/>
          </a:p>
        </p:txBody>
      </p:sp>
      <p:sp>
        <p:nvSpPr>
          <p:cNvPr id="255" name="Google Shape;255;p3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Using negative matching, how do we match only the words in green?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57" name="Google Shape;25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5750" y="2583322"/>
            <a:ext cx="3012500" cy="337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</a:t>
            </a:r>
            <a:endParaRPr/>
          </a:p>
        </p:txBody>
      </p:sp>
      <p:sp>
        <p:nvSpPr>
          <p:cNvPr id="263" name="Google Shape;263;p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Using negative matching, how do we match only the words in green?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65" name="Google Shape;26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766400"/>
            <a:ext cx="8520600" cy="3142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</a:t>
            </a:r>
            <a:endParaRPr/>
          </a:p>
        </p:txBody>
      </p:sp>
      <p:sp>
        <p:nvSpPr>
          <p:cNvPr id="271" name="Google Shape;271;p4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How do we match any word beginning with a capital letter?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73" name="Google Shape;27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3948" y="2389200"/>
            <a:ext cx="3956100" cy="370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Character Ranges</a:t>
            </a:r>
            <a:endParaRPr/>
          </a:p>
        </p:txBody>
      </p:sp>
      <p:sp>
        <p:nvSpPr>
          <p:cNvPr id="279" name="Google Shape;279;p42"/>
          <p:cNvSpPr txBox="1"/>
          <p:nvPr>
            <p:ph idx="1" type="body"/>
          </p:nvPr>
        </p:nvSpPr>
        <p:spPr>
          <a:xfrm>
            <a:off x="311700" y="1536625"/>
            <a:ext cx="3735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Every character in a string is represented using an ASCII code</a:t>
            </a:r>
            <a:endParaRPr/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Capital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lang="en-GB"/>
              <a:t> has a code of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65</a:t>
            </a:r>
            <a:r>
              <a:rPr lang="en-GB"/>
              <a:t>, capital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B</a:t>
            </a:r>
            <a:r>
              <a:rPr lang="en-GB"/>
              <a:t> has a code of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66</a:t>
            </a:r>
            <a:r>
              <a:rPr lang="en-GB">
                <a:solidFill>
                  <a:srgbClr val="0B5394"/>
                </a:solidFill>
              </a:rPr>
              <a:t> </a:t>
            </a:r>
            <a:r>
              <a:rPr lang="en-GB"/>
              <a:t>etc.</a:t>
            </a:r>
            <a:endParaRPr/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Lower-case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lang="en-GB"/>
              <a:t> has a code of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97</a:t>
            </a:r>
            <a:r>
              <a:rPr lang="en-GB"/>
              <a:t>, lower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z</a:t>
            </a:r>
            <a:r>
              <a:rPr lang="en-GB"/>
              <a:t> has a code of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122</a:t>
            </a:r>
            <a:endParaRPr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The full range of codes can be found online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http://www.asciitable.com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81" name="Google Shape;28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8950" y="1733425"/>
            <a:ext cx="4684376" cy="320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Character Ranges</a:t>
            </a:r>
            <a:endParaRPr/>
          </a:p>
        </p:txBody>
      </p:sp>
      <p:sp>
        <p:nvSpPr>
          <p:cNvPr id="287" name="Google Shape;287;p4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473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Because each character has an underlying numeric code, we can use ranges to specify characters inside square brackets</a:t>
            </a:r>
            <a:endParaRPr/>
          </a:p>
          <a:p>
            <a:pPr indent="-3473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A-Z]</a:t>
            </a:r>
            <a:r>
              <a:rPr lang="en-GB"/>
              <a:t> will match any character with a code between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65</a:t>
            </a:r>
            <a:r>
              <a:rPr lang="en-GB"/>
              <a:t> (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lang="en-GB"/>
              <a:t>) and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90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/>
              <a:t>(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Z</a:t>
            </a:r>
            <a:r>
              <a:rPr lang="en-GB"/>
              <a:t>)</a:t>
            </a:r>
            <a:endParaRPr/>
          </a:p>
          <a:p>
            <a:pPr indent="-3473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[a-z]</a:t>
            </a:r>
            <a:r>
              <a:rPr lang="en-GB"/>
              <a:t> will match any character with a code between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97</a:t>
            </a:r>
            <a:r>
              <a:rPr lang="en-GB">
                <a:solidFill>
                  <a:srgbClr val="0B5394"/>
                </a:solidFill>
              </a:rPr>
              <a:t> </a:t>
            </a:r>
            <a:r>
              <a:rPr lang="en-GB"/>
              <a:t>(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lang="en-GB"/>
              <a:t>) and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122 </a:t>
            </a:r>
            <a:r>
              <a:rPr lang="en-GB"/>
              <a:t>(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z</a:t>
            </a:r>
            <a:r>
              <a:rPr lang="en-GB"/>
              <a:t>)</a:t>
            </a:r>
            <a:endParaRPr/>
          </a:p>
          <a:p>
            <a:pPr indent="-3473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[A-Za-z0-9]</a:t>
            </a:r>
            <a:r>
              <a:rPr lang="en-GB"/>
              <a:t> will match any </a:t>
            </a:r>
            <a:r>
              <a:rPr lang="en-GB"/>
              <a:t>uppercase</a:t>
            </a:r>
            <a:r>
              <a:rPr lang="en-GB"/>
              <a:t> or </a:t>
            </a:r>
            <a:r>
              <a:rPr lang="en-GB"/>
              <a:t>lowercase</a:t>
            </a:r>
            <a:r>
              <a:rPr lang="en-GB"/>
              <a:t> letter or number</a:t>
            </a:r>
            <a:endParaRPr/>
          </a:p>
          <a:p>
            <a:pPr indent="-3473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-</a:t>
            </a:r>
            <a:r>
              <a:rPr lang="en-GB"/>
              <a:t> symbol is a special character when used inside square brackets</a:t>
            </a:r>
            <a:endParaRPr/>
          </a:p>
          <a:p>
            <a:pPr indent="-3473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If we want to match a </a:t>
            </a:r>
            <a:r>
              <a:rPr lang="en-GB">
                <a:solidFill>
                  <a:srgbClr val="1155CC"/>
                </a:solidFill>
                <a:latin typeface="Courier"/>
                <a:ea typeface="Courier"/>
                <a:cs typeface="Courier"/>
                <a:sym typeface="Courier"/>
              </a:rPr>
              <a:t>-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/>
              <a:t>character, it needs to be the first symbol inside the brackets</a:t>
            </a:r>
            <a:endParaRPr/>
          </a:p>
          <a:p>
            <a:pPr indent="-34464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15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[-A-Za-z]</a:t>
            </a:r>
            <a:r>
              <a:rPr lang="en-GB" sz="2150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sz="2150"/>
              <a:t>matches any letter or a </a:t>
            </a:r>
            <a:r>
              <a:rPr lang="en-GB" sz="215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-</a:t>
            </a:r>
            <a:r>
              <a:rPr lang="en-GB" sz="2150"/>
              <a:t> character</a:t>
            </a:r>
            <a:endParaRPr sz="2150"/>
          </a:p>
        </p:txBody>
      </p:sp>
      <p:sp>
        <p:nvSpPr>
          <p:cNvPr id="288" name="Google Shape;288;p4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4 - Character Ranges </a:t>
            </a:r>
            <a:endParaRPr/>
          </a:p>
        </p:txBody>
      </p:sp>
      <p:sp>
        <p:nvSpPr>
          <p:cNvPr id="294" name="Google Shape;294;p4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How can we write a regex that will match only the words in green?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96" name="Google Shape;29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9050" y="2516300"/>
            <a:ext cx="4154400" cy="38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4"/>
          <p:cNvSpPr txBox="1"/>
          <p:nvPr/>
        </p:nvSpPr>
        <p:spPr>
          <a:xfrm>
            <a:off x="6169775" y="3487375"/>
            <a:ext cx="2850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4 - Character Ranges </a:t>
            </a:r>
            <a:endParaRPr/>
          </a:p>
        </p:txBody>
      </p:sp>
      <p:sp>
        <p:nvSpPr>
          <p:cNvPr id="303" name="Google Shape;303;p4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04" name="Google Shape;30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34467"/>
            <a:ext cx="8839198" cy="3285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Metacharacters</a:t>
            </a:r>
            <a:endParaRPr/>
          </a:p>
        </p:txBody>
      </p:sp>
      <p:sp>
        <p:nvSpPr>
          <p:cNvPr id="310" name="Google Shape;310;p4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We've seen how we can use character ranges to match different types of characters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These involve a lot of keystrokes, so RegEx allow us to use metacharacters (or shortcuts) for different types of ranges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\d</a:t>
            </a:r>
            <a:r>
              <a:rPr lang="en-GB"/>
              <a:t> matches any numeric digit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\D</a:t>
            </a:r>
            <a:r>
              <a:rPr lang="en-GB"/>
              <a:t> matches any non-digit character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\s</a:t>
            </a:r>
            <a:r>
              <a:rPr lang="en-GB"/>
              <a:t> matches any whitespace character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\S</a:t>
            </a:r>
            <a:r>
              <a:rPr lang="en-GB"/>
              <a:t> matches any non-whitespace character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\w</a:t>
            </a:r>
            <a:r>
              <a:rPr lang="en-GB"/>
              <a:t> matches any alphanumeric character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</a:t>
            </a:r>
            <a:endParaRPr/>
          </a:p>
        </p:txBody>
      </p:sp>
      <p:sp>
        <p:nvSpPr>
          <p:cNvPr id="317" name="Google Shape;317;p4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How do we match any word with more than one character?</a:t>
            </a:r>
            <a:endParaRPr/>
          </a:p>
        </p:txBody>
      </p:sp>
      <p:sp>
        <p:nvSpPr>
          <p:cNvPr id="318" name="Google Shape;318;p4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19" name="Google Shape;31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5512" y="3033024"/>
            <a:ext cx="4912975" cy="2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Repetition</a:t>
            </a:r>
            <a:endParaRPr/>
          </a:p>
        </p:txBody>
      </p:sp>
      <p:sp>
        <p:nvSpPr>
          <p:cNvPr id="325" name="Google Shape;325;p4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Say we wanted to match 3 digits, we could do this using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\d\d\d</a:t>
            </a:r>
            <a:endParaRPr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However, RegEx gives us an easier way to do this, using curly brace notation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●"/>
            </a:pP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[&lt;match&gt;]{&lt;repetitions&gt;}</a:t>
            </a:r>
            <a:endParaRPr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[&lt;match&gt;]{&lt;min repetitions&gt;, &lt;max repetitions&gt;}</a:t>
            </a:r>
            <a:endParaRPr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use this to match 3 z's using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z{3}</a:t>
            </a:r>
            <a:r>
              <a:rPr lang="en-GB"/>
              <a:t> or between 2 and 5 digits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[\d]{2,5}</a:t>
            </a:r>
            <a:endParaRPr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5 - Repetition</a:t>
            </a:r>
            <a:endParaRPr/>
          </a:p>
        </p:txBody>
      </p:sp>
      <p:sp>
        <p:nvSpPr>
          <p:cNvPr id="332" name="Google Shape;332;p4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Write a regular expression which will match between 3 and 5 consecutive vowels (not the whole word, just the vowel cluster)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4" name="Google Shape;334;p49"/>
          <p:cNvSpPr txBox="1"/>
          <p:nvPr/>
        </p:nvSpPr>
        <p:spPr>
          <a:xfrm>
            <a:off x="6169775" y="3487375"/>
            <a:ext cx="2850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335" name="Google Shape;33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3798" y="2734148"/>
            <a:ext cx="4148875" cy="319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Task 5 - Answer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5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42" name="Google Shape;34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275" y="2019525"/>
            <a:ext cx="8484923" cy="294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Kleene Star and Kleene Plus</a:t>
            </a:r>
            <a:endParaRPr/>
          </a:p>
        </p:txBody>
      </p:sp>
      <p:sp>
        <p:nvSpPr>
          <p:cNvPr id="348" name="Google Shape;348;p5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Named after Stephen Kole Kleene (the inventor of Regex)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en-GB"/>
              <a:t> after a character matches zero or more of that character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+</a:t>
            </a:r>
            <a:r>
              <a:rPr lang="en-GB"/>
              <a:t> after a character matches one or more of that character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5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50" name="Google Shape;35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313" y="3506400"/>
            <a:ext cx="4943475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51"/>
          <p:cNvSpPr txBox="1"/>
          <p:nvPr/>
        </p:nvSpPr>
        <p:spPr>
          <a:xfrm>
            <a:off x="5721075" y="3617400"/>
            <a:ext cx="20952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[a]+</a:t>
            </a:r>
            <a:endParaRPr sz="4000"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[b]+</a:t>
            </a:r>
            <a:endParaRPr sz="4000"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[c]+</a:t>
            </a:r>
            <a:endParaRPr sz="4000"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6 - Repetition </a:t>
            </a:r>
            <a:endParaRPr/>
          </a:p>
        </p:txBody>
      </p:sp>
      <p:sp>
        <p:nvSpPr>
          <p:cNvPr id="357" name="Google Shape;357;p5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Write a regular expression which will match any word containing between 3 and 5 consecutive vowels (the </a:t>
            </a:r>
            <a:r>
              <a:rPr lang="en-GB" u="sng"/>
              <a:t>whole word</a:t>
            </a:r>
            <a:r>
              <a:rPr lang="en-GB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5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59" name="Google Shape;35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8898" y="2994573"/>
            <a:ext cx="4148875" cy="3198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52"/>
          <p:cNvSpPr txBox="1"/>
          <p:nvPr/>
        </p:nvSpPr>
        <p:spPr>
          <a:xfrm>
            <a:off x="6169775" y="3487375"/>
            <a:ext cx="2850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Task 6 - Answer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5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67" name="Google Shape;36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700" y="1993750"/>
            <a:ext cx="8726048" cy="298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Optionality</a:t>
            </a:r>
            <a:endParaRPr/>
          </a:p>
        </p:txBody>
      </p:sp>
      <p:sp>
        <p:nvSpPr>
          <p:cNvPr id="373" name="Google Shape;373;p5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?</a:t>
            </a:r>
            <a:r>
              <a:rPr lang="en-GB"/>
              <a:t> operator matches zero or one of the preceding character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Similar to the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en-GB"/>
              <a:t> character but doesn't allow repetition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Can also be used with square brackets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75" name="Google Shape;37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375" y="3141075"/>
            <a:ext cx="4142976" cy="295075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54"/>
          <p:cNvSpPr txBox="1"/>
          <p:nvPr/>
        </p:nvSpPr>
        <p:spPr>
          <a:xfrm>
            <a:off x="4863700" y="3963325"/>
            <a:ext cx="408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[\d]+ files? found</a:t>
            </a:r>
            <a:endParaRPr sz="2800"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77" name="Google Shape;377;p54"/>
          <p:cNvCxnSpPr/>
          <p:nvPr/>
        </p:nvCxnSpPr>
        <p:spPr>
          <a:xfrm rot="10800000">
            <a:off x="6176275" y="4484925"/>
            <a:ext cx="437700" cy="129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" name="Google Shape;378;p54"/>
          <p:cNvCxnSpPr/>
          <p:nvPr/>
        </p:nvCxnSpPr>
        <p:spPr>
          <a:xfrm flipH="1" rot="10800000">
            <a:off x="7489100" y="4493475"/>
            <a:ext cx="126300" cy="137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9" name="Google Shape;379;p54"/>
          <p:cNvSpPr txBox="1"/>
          <p:nvPr/>
        </p:nvSpPr>
        <p:spPr>
          <a:xfrm>
            <a:off x="6277400" y="5755675"/>
            <a:ext cx="2056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Note the spaces</a:t>
            </a:r>
            <a:endParaRPr sz="17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 Boundaries</a:t>
            </a:r>
            <a:endParaRPr/>
          </a:p>
        </p:txBody>
      </p:sp>
      <p:sp>
        <p:nvSpPr>
          <p:cNvPr id="385" name="Google Shape;385;p5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Sometimes it's useful to match the beginning and ending of a line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^ </a:t>
            </a:r>
            <a:r>
              <a:rPr lang="en-GB"/>
              <a:t>character (when not in square brackets) denotes the start of a line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$</a:t>
            </a:r>
            <a:r>
              <a:rPr lang="en-GB"/>
              <a:t> character denotes the end of a 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87" name="Google Shape;38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513" y="4837324"/>
            <a:ext cx="8094974" cy="15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5"/>
          <p:cNvSpPr txBox="1"/>
          <p:nvPr/>
        </p:nvSpPr>
        <p:spPr>
          <a:xfrm>
            <a:off x="2633800" y="4134925"/>
            <a:ext cx="495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^Mission:.*successful$</a:t>
            </a:r>
            <a:endParaRPr sz="2800"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Capturing Groups</a:t>
            </a:r>
            <a:endParaRPr/>
          </a:p>
        </p:txBody>
      </p:sp>
      <p:sp>
        <p:nvSpPr>
          <p:cNvPr id="394" name="Google Shape;394;p5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So far we've only talked about matching strings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Often we want to do something with the text we matched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For example, we may want to extract the image dimensions and extensions from the filenames in the example below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hasselhoff_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1640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890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png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lolcat_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1720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580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jpg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[^_]*_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(\d+)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(\d+)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\.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([a-zA-Z]{3})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5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Capturing Groups</a:t>
            </a:r>
            <a:endParaRPr/>
          </a:p>
        </p:txBody>
      </p:sp>
      <p:sp>
        <p:nvSpPr>
          <p:cNvPr id="401" name="Google Shape;401;p5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So far we've only talked about matching strings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Often we want to do something with the text we matched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For example, we may want to extract the image dimensions and extensions from the filenames in the example below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hasselhoff_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1640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890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png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lolcat_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1720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580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jpg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[^_]*_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(\d+)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(\d+)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\.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([a-zA-Z]{3})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5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3" name="Google Shape;403;p57"/>
          <p:cNvSpPr/>
          <p:nvPr/>
        </p:nvSpPr>
        <p:spPr>
          <a:xfrm>
            <a:off x="395500" y="4569225"/>
            <a:ext cx="1001400" cy="7152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4" name="Google Shape;404;p57"/>
          <p:cNvCxnSpPr>
            <a:endCxn id="403" idx="4"/>
          </p:cNvCxnSpPr>
          <p:nvPr/>
        </p:nvCxnSpPr>
        <p:spPr>
          <a:xfrm rot="10800000">
            <a:off x="896200" y="5284425"/>
            <a:ext cx="887700" cy="799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5" name="Google Shape;405;p57"/>
          <p:cNvSpPr txBox="1"/>
          <p:nvPr/>
        </p:nvSpPr>
        <p:spPr>
          <a:xfrm>
            <a:off x="1910150" y="5679950"/>
            <a:ext cx="35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Anything except </a:t>
            </a:r>
            <a:r>
              <a:rPr lang="en-GB" sz="18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_ </a:t>
            </a:r>
            <a:r>
              <a:rPr lang="en-GB" sz="1800"/>
              <a:t>repeated 0 or more times</a:t>
            </a:r>
            <a:endParaRPr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Capturing Groups</a:t>
            </a:r>
            <a:endParaRPr/>
          </a:p>
        </p:txBody>
      </p:sp>
      <p:sp>
        <p:nvSpPr>
          <p:cNvPr id="411" name="Google Shape;411;p5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So far we've only talked about matching strings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Often we want to do something with the text we matched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For example, we may want to extract the image dimensions and extensions from the filenames in the example below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hasselhoff_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1640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890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png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lolcat_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1720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580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jpg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[^_]*_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(\d+)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(\d+)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\.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([a-zA-Z]{3})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3" name="Google Shape;413;p58"/>
          <p:cNvSpPr/>
          <p:nvPr/>
        </p:nvSpPr>
        <p:spPr>
          <a:xfrm>
            <a:off x="1245375" y="4922625"/>
            <a:ext cx="462900" cy="390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4" name="Google Shape;414;p58"/>
          <p:cNvCxnSpPr>
            <a:endCxn id="413" idx="4"/>
          </p:cNvCxnSpPr>
          <p:nvPr/>
        </p:nvCxnSpPr>
        <p:spPr>
          <a:xfrm rot="10800000">
            <a:off x="1476825" y="5312625"/>
            <a:ext cx="887700" cy="799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5" name="Google Shape;415;p58"/>
          <p:cNvSpPr txBox="1"/>
          <p:nvPr/>
        </p:nvSpPr>
        <p:spPr>
          <a:xfrm>
            <a:off x="2499175" y="5764075"/>
            <a:ext cx="191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A dash </a:t>
            </a:r>
            <a:r>
              <a:rPr lang="en-GB" sz="21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_</a:t>
            </a:r>
            <a:endParaRPr sz="2100"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Capturing Groups</a:t>
            </a:r>
            <a:endParaRPr/>
          </a:p>
        </p:txBody>
      </p:sp>
      <p:sp>
        <p:nvSpPr>
          <p:cNvPr id="421" name="Google Shape;421;p5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So far we've only talked about matching strings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Often we want to do something with the text we matched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For example, we may want to extract the image dimensions and extensions from the filenames in the example below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hasselhoff_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1640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890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png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lolcat_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1720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580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jpg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[^_]*_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(\d+)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(\d+)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\.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([a-zA-Z]{3})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5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3" name="Google Shape;423;p59"/>
          <p:cNvSpPr/>
          <p:nvPr/>
        </p:nvSpPr>
        <p:spPr>
          <a:xfrm>
            <a:off x="1607200" y="4636525"/>
            <a:ext cx="925500" cy="6099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4" name="Google Shape;424;p59"/>
          <p:cNvCxnSpPr>
            <a:endCxn id="423" idx="4"/>
          </p:cNvCxnSpPr>
          <p:nvPr/>
        </p:nvCxnSpPr>
        <p:spPr>
          <a:xfrm rot="10800000">
            <a:off x="2069950" y="5246425"/>
            <a:ext cx="991200" cy="922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5" name="Google Shape;425;p59"/>
          <p:cNvSpPr txBox="1"/>
          <p:nvPr/>
        </p:nvSpPr>
        <p:spPr>
          <a:xfrm>
            <a:off x="3041021" y="5767175"/>
            <a:ext cx="3833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Our first group, indicating the width of the image</a:t>
            </a:r>
            <a:endParaRPr sz="2100"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Capturing Groups</a:t>
            </a:r>
            <a:endParaRPr/>
          </a:p>
        </p:txBody>
      </p:sp>
      <p:sp>
        <p:nvSpPr>
          <p:cNvPr id="431" name="Google Shape;431;p6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So far we've only talked about matching strings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Often we want to do something with the text we matched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For example, we may want to extract the image dimensions and extensions from the filenames in the example below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hasselhoff_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1640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890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png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lolcat_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1720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580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jpg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[^_]*_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(\d+)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(\d+)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\.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([a-zA-Z]{3})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6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3" name="Google Shape;433;p60"/>
          <p:cNvSpPr/>
          <p:nvPr/>
        </p:nvSpPr>
        <p:spPr>
          <a:xfrm>
            <a:off x="2494975" y="4721725"/>
            <a:ext cx="340800" cy="4365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4" name="Google Shape;434;p60"/>
          <p:cNvCxnSpPr>
            <a:endCxn id="433" idx="4"/>
          </p:cNvCxnSpPr>
          <p:nvPr/>
        </p:nvCxnSpPr>
        <p:spPr>
          <a:xfrm rot="10800000">
            <a:off x="2665375" y="5158225"/>
            <a:ext cx="991200" cy="922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5" name="Google Shape;435;p60"/>
          <p:cNvSpPr txBox="1"/>
          <p:nvPr/>
        </p:nvSpPr>
        <p:spPr>
          <a:xfrm>
            <a:off x="3789946" y="5741925"/>
            <a:ext cx="3833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An </a:t>
            </a:r>
            <a:r>
              <a:rPr lang="en-GB" sz="2100">
                <a:latin typeface="Courier"/>
                <a:ea typeface="Courier"/>
                <a:cs typeface="Courier"/>
                <a:sym typeface="Courier"/>
              </a:rPr>
              <a:t>x</a:t>
            </a:r>
            <a:endParaRPr sz="2100"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Capturing Groups</a:t>
            </a:r>
            <a:endParaRPr/>
          </a:p>
        </p:txBody>
      </p:sp>
      <p:sp>
        <p:nvSpPr>
          <p:cNvPr id="441" name="Google Shape;441;p6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So far we've only talked about matching strings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Often we want to do something with the text we matched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For example, we may want to extract the image dimensions and extensions from the filenames in the example below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hasselhoff_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1640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890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png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lolcat_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1720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580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jpg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[^_]*_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(\d+)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(\d+)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\.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([a-zA-Z]{3})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6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43" name="Google Shape;443;p61"/>
          <p:cNvSpPr/>
          <p:nvPr/>
        </p:nvSpPr>
        <p:spPr>
          <a:xfrm>
            <a:off x="2844175" y="4636525"/>
            <a:ext cx="925500" cy="6099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4" name="Google Shape;444;p61"/>
          <p:cNvCxnSpPr>
            <a:endCxn id="443" idx="4"/>
          </p:cNvCxnSpPr>
          <p:nvPr/>
        </p:nvCxnSpPr>
        <p:spPr>
          <a:xfrm rot="10800000">
            <a:off x="3306925" y="5246425"/>
            <a:ext cx="991200" cy="922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5" name="Google Shape;445;p61"/>
          <p:cNvSpPr txBox="1"/>
          <p:nvPr/>
        </p:nvSpPr>
        <p:spPr>
          <a:xfrm>
            <a:off x="4353721" y="5708275"/>
            <a:ext cx="3833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Our second group, indicating the length of the image</a:t>
            </a:r>
            <a:endParaRPr sz="2100"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Capturing Groups</a:t>
            </a:r>
            <a:endParaRPr/>
          </a:p>
        </p:txBody>
      </p:sp>
      <p:sp>
        <p:nvSpPr>
          <p:cNvPr id="451" name="Google Shape;451;p6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So far we've only talked about matching strings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Often we want to do something with the text we matched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For example, we may want to extract the image dimensions and extensions from the filenames in the example below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hasselhoff_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1640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890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png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lolcat_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1720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580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jpg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[^_]*_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(\d+)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(\d+)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\.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([a-zA-Z]{3})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6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3" name="Google Shape;453;p62"/>
          <p:cNvSpPr/>
          <p:nvPr/>
        </p:nvSpPr>
        <p:spPr>
          <a:xfrm>
            <a:off x="3694075" y="4636525"/>
            <a:ext cx="521700" cy="5247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4" name="Google Shape;454;p62"/>
          <p:cNvCxnSpPr>
            <a:endCxn id="453" idx="4"/>
          </p:cNvCxnSpPr>
          <p:nvPr/>
        </p:nvCxnSpPr>
        <p:spPr>
          <a:xfrm rot="10800000">
            <a:off x="3954925" y="5161225"/>
            <a:ext cx="991200" cy="922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5" name="Google Shape;455;p62"/>
          <p:cNvSpPr txBox="1"/>
          <p:nvPr/>
        </p:nvSpPr>
        <p:spPr>
          <a:xfrm>
            <a:off x="4925921" y="5708275"/>
            <a:ext cx="3833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A dot </a:t>
            </a:r>
            <a:r>
              <a:rPr lang="en-GB" sz="21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r>
              <a:rPr lang="en-GB" sz="2100"/>
              <a:t> (dots need to be escaped)</a:t>
            </a:r>
            <a:endParaRPr sz="2100"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Capturing Groups</a:t>
            </a:r>
            <a:endParaRPr/>
          </a:p>
        </p:txBody>
      </p:sp>
      <p:sp>
        <p:nvSpPr>
          <p:cNvPr id="461" name="Google Shape;461;p6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So far we've only talked about matching strings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Often we want to do something with the text we matched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For example, we may want to extract the image dimensions and extensions from the filenames in the example below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hasselhoff_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1640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890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png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lolcat_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1720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580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jpg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[^_]*_</a:t>
            </a:r>
            <a:r>
              <a:rPr lang="en-GB" sz="2600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(\d+)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en-GB" sz="2600">
                <a:solidFill>
                  <a:srgbClr val="990000"/>
                </a:solidFill>
                <a:latin typeface="Courier"/>
                <a:ea typeface="Courier"/>
                <a:cs typeface="Courier"/>
                <a:sym typeface="Courier"/>
              </a:rPr>
              <a:t>(\d+)</a:t>
            </a:r>
            <a:r>
              <a:rPr lang="en-GB" sz="2600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\.</a:t>
            </a:r>
            <a:r>
              <a:rPr lang="en-GB" sz="2600">
                <a:solidFill>
                  <a:srgbClr val="BF9000"/>
                </a:solidFill>
                <a:latin typeface="Courier"/>
                <a:ea typeface="Courier"/>
                <a:cs typeface="Courier"/>
                <a:sym typeface="Courier"/>
              </a:rPr>
              <a:t>([a-zA-Z]{3})</a:t>
            </a:r>
            <a:endParaRPr sz="2600">
              <a:solidFill>
                <a:srgbClr val="BF9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6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3" name="Google Shape;463;p63"/>
          <p:cNvSpPr/>
          <p:nvPr/>
        </p:nvSpPr>
        <p:spPr>
          <a:xfrm>
            <a:off x="4140050" y="4577600"/>
            <a:ext cx="2642100" cy="7152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4" name="Google Shape;464;p63"/>
          <p:cNvCxnSpPr>
            <a:endCxn id="463" idx="4"/>
          </p:cNvCxnSpPr>
          <p:nvPr/>
        </p:nvCxnSpPr>
        <p:spPr>
          <a:xfrm flipH="1" rot="10800000">
            <a:off x="4838600" y="5292800"/>
            <a:ext cx="622500" cy="572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5" name="Google Shape;465;p63"/>
          <p:cNvSpPr txBox="1"/>
          <p:nvPr/>
        </p:nvSpPr>
        <p:spPr>
          <a:xfrm>
            <a:off x="1114971" y="5590475"/>
            <a:ext cx="3833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The third group. Three letters, upper or lower case.</a:t>
            </a:r>
            <a:endParaRPr sz="2100"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Capturing Groups</a:t>
            </a:r>
            <a:endParaRPr/>
          </a:p>
        </p:txBody>
      </p:sp>
      <p:sp>
        <p:nvSpPr>
          <p:cNvPr id="471" name="Google Shape;471;p6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72" name="Google Shape;47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575" y="1551375"/>
            <a:ext cx="8556848" cy="3651599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64"/>
          <p:cNvSpPr txBox="1"/>
          <p:nvPr>
            <p:ph idx="1" type="body"/>
          </p:nvPr>
        </p:nvSpPr>
        <p:spPr>
          <a:xfrm>
            <a:off x="293575" y="5514030"/>
            <a:ext cx="8520600" cy="15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More on how to use groups in the next slides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RegEx in Python</a:t>
            </a:r>
            <a:endParaRPr/>
          </a:p>
        </p:txBody>
      </p:sp>
      <p:sp>
        <p:nvSpPr>
          <p:cNvPr id="479" name="Google Shape;479;p6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Regular expressions are available through Python's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re</a:t>
            </a:r>
            <a:r>
              <a:rPr lang="en-GB"/>
              <a:t> module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First we build our pattern up as a string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pattern = </a:t>
            </a:r>
            <a:r>
              <a:rPr lang="en-GB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"(\d+) \w \w [aeiou]$"</a:t>
            </a:r>
            <a:endParaRPr>
              <a:solidFill>
                <a:srgbClr val="38761D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Then we create a regular expression from the pattern using re.compile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regex = re.compile(pattern)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6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Python Regexes</a:t>
            </a:r>
            <a:endParaRPr/>
          </a:p>
        </p:txBody>
      </p:sp>
      <p:sp>
        <p:nvSpPr>
          <p:cNvPr id="486" name="Google Shape;486;p6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Once we have our regular expression object we can use it to search 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Python gives us 3 methods to search text using a regex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re.match()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re.search()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Courier"/>
              <a:buChar char="○"/>
            </a:pP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re.findall()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6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match() function</a:t>
            </a:r>
            <a:endParaRPr/>
          </a:p>
        </p:txBody>
      </p:sp>
      <p:sp>
        <p:nvSpPr>
          <p:cNvPr id="493" name="Google Shape;493;p6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match()</a:t>
            </a:r>
            <a:r>
              <a:rPr lang="en-GB"/>
              <a:t> function will check if the regex matches the text but will only look at the beginning of the string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B5394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6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95" name="Google Shape;49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475" y="2995075"/>
            <a:ext cx="743902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search() function</a:t>
            </a:r>
            <a:endParaRPr/>
          </a:p>
        </p:txBody>
      </p:sp>
      <p:sp>
        <p:nvSpPr>
          <p:cNvPr id="501" name="Google Shape;501;p6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search()</a:t>
            </a:r>
            <a:r>
              <a:rPr lang="en-GB"/>
              <a:t> function will search right through the string, returning the first match it finds (None otherwise)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6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03" name="Google Shape;50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2925811"/>
            <a:ext cx="7878601" cy="177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findall() function</a:t>
            </a:r>
            <a:endParaRPr/>
          </a:p>
        </p:txBody>
      </p:sp>
      <p:sp>
        <p:nvSpPr>
          <p:cNvPr id="509" name="Google Shape;509;p6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f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indall()</a:t>
            </a:r>
            <a:r>
              <a:rPr lang="en-GB"/>
              <a:t> is similar to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search()</a:t>
            </a:r>
            <a:r>
              <a:rPr lang="en-GB"/>
              <a:t> but it will return every match within the string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6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11" name="Google Shape;51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63" y="2833150"/>
            <a:ext cx="8429625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Compilation Flags</a:t>
            </a:r>
            <a:endParaRPr/>
          </a:p>
        </p:txBody>
      </p:sp>
      <p:sp>
        <p:nvSpPr>
          <p:cNvPr id="517" name="Google Shape;517;p7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control the behaviour of the Regex when we compile it using flags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https://docs.python.org/3/howto/regex.html#compilation-flags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IGNORECASE </a:t>
            </a:r>
            <a:r>
              <a:rPr lang="en-GB"/>
              <a:t>flag matches both upper and lower case letters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MULTILINE </a:t>
            </a:r>
            <a:r>
              <a:rPr lang="en-GB"/>
              <a:t>flag enables the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^</a:t>
            </a:r>
            <a:r>
              <a:rPr lang="en-GB"/>
              <a:t> and </a:t>
            </a:r>
            <a:r>
              <a:rPr lang="en-GB">
                <a:solidFill>
                  <a:srgbClr val="0B5394"/>
                </a:solidFill>
                <a:latin typeface="Courier"/>
                <a:ea typeface="Courier"/>
                <a:cs typeface="Courier"/>
                <a:sym typeface="Courier"/>
              </a:rPr>
              <a:t>$</a:t>
            </a:r>
            <a:r>
              <a:rPr lang="en-GB"/>
              <a:t> symbols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7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19" name="Google Shape;51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575" y="4771413"/>
            <a:ext cx="8124825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7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groups() function</a:t>
            </a:r>
            <a:endParaRPr/>
          </a:p>
        </p:txBody>
      </p:sp>
      <p:sp>
        <p:nvSpPr>
          <p:cNvPr id="525" name="Google Shape;525;p7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When we get a match object back we can check for our capturing groups using the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 groups()</a:t>
            </a:r>
            <a:r>
              <a:rPr lang="en-GB"/>
              <a:t> function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Matches are returned as a tuple so we can assign to multiple variables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also return a group by index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7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7" name="Google Shape;52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925" y="4088113"/>
            <a:ext cx="5657850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RegEx in 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7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Also in R we can use certain functions to replace patterns in a string or to extract them.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package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stringr </a:t>
            </a:r>
            <a:r>
              <a:rPr lang="en-GB"/>
              <a:t>offers some functions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7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35" name="Google Shape;53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400" y="2893875"/>
            <a:ext cx="4266874" cy="3355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6175" y="2988150"/>
            <a:ext cx="4266875" cy="340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RegEx in 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7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43" name="Google Shape;54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500" y="1585175"/>
            <a:ext cx="4744169" cy="450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RegEx in 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7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R offers </a:t>
            </a:r>
            <a:r>
              <a:rPr lang="en-GB"/>
              <a:t>a number of pre-built classes that you can use inside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[]</a:t>
            </a:r>
            <a:r>
              <a:rPr lang="en-GB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[:punct:]</a:t>
            </a:r>
            <a:r>
              <a:rPr lang="en-GB"/>
              <a:t>: punctuation.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[:alpha:]</a:t>
            </a:r>
            <a:r>
              <a:rPr lang="en-GB"/>
              <a:t>: letters.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[:lower:]</a:t>
            </a:r>
            <a:r>
              <a:rPr lang="en-GB"/>
              <a:t>: lowercase letters.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[:upper:]</a:t>
            </a:r>
            <a:r>
              <a:rPr lang="en-GB"/>
              <a:t>: upper class letters.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[:digit:]</a:t>
            </a:r>
            <a:r>
              <a:rPr lang="en-GB"/>
              <a:t>: digits.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[:xdigit:]</a:t>
            </a:r>
            <a:r>
              <a:rPr lang="en-GB"/>
              <a:t>: hex digits.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[:alnum:]</a:t>
            </a:r>
            <a:r>
              <a:rPr lang="en-GB"/>
              <a:t>: letters and numbers.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[:cntrl:]</a:t>
            </a:r>
            <a:r>
              <a:rPr lang="en-GB"/>
              <a:t>: control characters.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[:graph:]</a:t>
            </a:r>
            <a:r>
              <a:rPr lang="en-GB"/>
              <a:t>: letters, numbers, and punctuation.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[:print:]</a:t>
            </a:r>
            <a:r>
              <a:rPr lang="en-GB"/>
              <a:t>: letters, numbers, punctuation, and whitespace.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[:space:]</a:t>
            </a:r>
            <a:r>
              <a:rPr lang="en-GB"/>
              <a:t>: space characters (basically equivalent to \s).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[:blank:]</a:t>
            </a:r>
            <a:r>
              <a:rPr lang="en-GB"/>
              <a:t>: space and tab.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RegEx in 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7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57" name="Google Shape;55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050" y="1683773"/>
            <a:ext cx="7337649" cy="411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Summary </a:t>
            </a:r>
            <a:endParaRPr/>
          </a:p>
        </p:txBody>
      </p:sp>
      <p:sp>
        <p:nvSpPr>
          <p:cNvPr id="563" name="Google Shape;563;p7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27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Regular expressions and when to use them</a:t>
            </a:r>
            <a:endParaRPr sz="2270"/>
          </a:p>
          <a:p>
            <a:pPr indent="-3727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Identifying patterns</a:t>
            </a:r>
            <a:endParaRPr sz="2270"/>
          </a:p>
          <a:p>
            <a:pPr indent="-3727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Capturing groups</a:t>
            </a:r>
            <a:endParaRPr sz="2270"/>
          </a:p>
          <a:p>
            <a:pPr indent="-3727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Examples in Python and R</a:t>
            </a:r>
            <a:endParaRPr sz="2270"/>
          </a:p>
        </p:txBody>
      </p:sp>
      <p:sp>
        <p:nvSpPr>
          <p:cNvPr id="564" name="Google Shape;564;p7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</a:t>
            </a:r>
            <a:endParaRPr/>
          </a:p>
        </p:txBody>
      </p:sp>
      <p:sp>
        <p:nvSpPr>
          <p:cNvPr id="570" name="Google Shape;570;p7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Step-by-step walkthrough in your Jupyter Notebook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7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8"/>
          <p:cNvSpPr txBox="1"/>
          <p:nvPr>
            <p:ph type="title"/>
          </p:nvPr>
        </p:nvSpPr>
        <p:spPr>
          <a:xfrm>
            <a:off x="1388100" y="637525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Questions?</a:t>
            </a:r>
            <a:endParaRPr/>
          </a:p>
        </p:txBody>
      </p:sp>
      <p:sp>
        <p:nvSpPr>
          <p:cNvPr id="577" name="Google Shape;577;p7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8EA4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