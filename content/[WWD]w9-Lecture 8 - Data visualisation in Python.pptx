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826E6A-F70F-4A27-8E39-FB9B0895F165}">
  <a:tblStyle styleId="{CE826E6A-F70F-4A27-8E39-FB9B0895F16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ca87074b3_0_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7ca87074b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f978c7aa60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f978c7aa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978c7aa60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f978c7aa6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f978c7aa60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f978c7aa6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978c7aa60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978c7aa6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f978c7aa60_0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f978c7aa6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f978c7aa60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f978c7aa6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f978c7aa60_0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f978c7aa6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f978c7aa60_0_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f978c7aa6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f978c7aa60_0_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f978c7aa6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f978c7aa60_0_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f978c7aa6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f978c7aa60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f978c7aa6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f978c7aa60_0_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f978c7aa6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f978c7aa60_0_7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f978c7aa6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f7551a9b81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f7551a9b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f7551a9b81_0_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f7551a9b8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7551a9b81_0_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f7551a9b8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f7551a9b81_0_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f7551a9b8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f7551a9b81_0_5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f7551a9b8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f978c7aa60_0_7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f978c7aa6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f978c7aa60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f978c7aa6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f978c7aa60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f978c7aa6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f978c7aa60_0_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f978c7aa6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f978c7aa60_0_10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f978c7aa6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f978c7aa60_0_10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f978c7aa60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f978c7aa60_0_1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f978c7aa60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f978c7aa60_0_1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f978c7aa6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f67640a912_0_7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f67640a91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f67640a912_0_7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f67640a91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f67640a912_0_8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f67640a91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f67640a912_0_8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f67640a91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fb779c888c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fb779c88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fb779c888c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fb779c888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fb779c888c_0_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fb779c888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f7a46a8028_0_1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f7a46a802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629900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60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000"/>
          </a:p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_Pearson" showMasterSp="0">
  <p:cSld name="Title and Content_Pears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0" y="1"/>
            <a:ext cx="9144000" cy="836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ok Antiqua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628800"/>
            <a:ext cx="8229600" cy="44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0" y="6597352"/>
            <a:ext cx="9144000" cy="28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500892" y="6504885"/>
            <a:ext cx="648000" cy="3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827585" y="6227885"/>
            <a:ext cx="82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GB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Punch, Enbody “The Practice of Computing Using Python”, ©2013 Pearson Addison-Wesley. All rights reserved</a:t>
            </a:r>
            <a:endParaRPr b="0" i="1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600"/>
          </a:p>
        </p:txBody>
      </p:sp>
      <p:sp>
        <p:nvSpPr>
          <p:cNvPr id="9" name="Google Shape;9;p1"/>
          <p:cNvSpPr/>
          <p:nvPr/>
        </p:nvSpPr>
        <p:spPr>
          <a:xfrm>
            <a:off x="0" y="6542800"/>
            <a:ext cx="9140400" cy="31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matplotlib.org/stable/tutorials/introductory/usage.html#sphx-glr-tutorials-introductory-usage-py" TargetMode="External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hyperlink" Target="https://matplotlib.org/stable/api/_as_gen/matplotlib.pyplot.subplots.html#matplotlib.pyplot.subplots" TargetMode="External"/><Relationship Id="rId10" Type="http://schemas.openxmlformats.org/officeDocument/2006/relationships/hyperlink" Target="https://matplotlib.org/stable/api/_as_gen/matplotlib.pyplot.subplots.html#matplotlib.pyplot.subplots" TargetMode="External"/><Relationship Id="rId13" Type="http://schemas.openxmlformats.org/officeDocument/2006/relationships/hyperlink" Target="https://matplotlib.org/stable/api/_as_gen/matplotlib.pyplot.subplots.html#matplotlib.pyplot.subplots" TargetMode="External"/><Relationship Id="rId12" Type="http://schemas.openxmlformats.org/officeDocument/2006/relationships/hyperlink" Target="https://matplotlib.org/stable/api/_as_gen/matplotlib.pyplot.subplots.html#matplotlib.pyplot.subplots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matplotlib.org/stable/api/figure_api.html#matplotlib.figure.Figure" TargetMode="External"/><Relationship Id="rId4" Type="http://schemas.openxmlformats.org/officeDocument/2006/relationships/hyperlink" Target="https://matplotlib.org/stable/api/figure_api.html#matplotlib.figure.Figure" TargetMode="External"/><Relationship Id="rId9" Type="http://schemas.openxmlformats.org/officeDocument/2006/relationships/hyperlink" Target="https://matplotlib.org/stable/api/figure_api.html#matplotlib.figure.Figure" TargetMode="External"/><Relationship Id="rId5" Type="http://schemas.openxmlformats.org/officeDocument/2006/relationships/hyperlink" Target="https://matplotlib.org/stable/api/_as_gen/matplotlib.pyplot.subplots.html#matplotlib.pyplot.subplots" TargetMode="External"/><Relationship Id="rId6" Type="http://schemas.openxmlformats.org/officeDocument/2006/relationships/hyperlink" Target="https://matplotlib.org/stable/api/_as_gen/matplotlib.pyplot.subplots.html#matplotlib.pyplot.subplots" TargetMode="External"/><Relationship Id="rId7" Type="http://schemas.openxmlformats.org/officeDocument/2006/relationships/hyperlink" Target="https://matplotlib.org/stable/api/_as_gen/matplotlib.pyplot.subplots.html#matplotlib.pyplot.subplots" TargetMode="External"/><Relationship Id="rId8" Type="http://schemas.openxmlformats.org/officeDocument/2006/relationships/hyperlink" Target="https://matplotlib.org/stable/api/_as_gen/matplotlib.pyplot.subplots.html#matplotlib.pyplot.subplot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matplotlib.org/stable/api/_as_gen/matplotlib.pyplot.plot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matplotlib.org/stable/gallery/style_sheets/style_sheets_reference.html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Relationship Id="rId4" Type="http://schemas.openxmlformats.org/officeDocument/2006/relationships/hyperlink" Target="https://matplotlib.org/stable/gallery/index.html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app.datacamp.com/learn/courses/introduction-to-data-visualization-with-seaborn" TargetMode="External"/><Relationship Id="rId4" Type="http://schemas.openxmlformats.org/officeDocument/2006/relationships/hyperlink" Target="https://app.datacamp.com/learn/courses/intermediate-data-visualization-with-seaborn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Working With Data DATA9910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Week 9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3803975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Lucas Rizzo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2375" y="3749896"/>
            <a:ext cx="3379925" cy="21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email: lucas.rizzo@tudublin.ie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16394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Indicative schedule</a:t>
            </a:r>
            <a:endParaRPr/>
          </a:p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412000" y="756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{CE826E6A-F70F-4A27-8E39-FB9B0895F165}</a:tableStyleId>
              </a:tblPr>
              <a:tblGrid>
                <a:gridCol w="1781900"/>
                <a:gridCol w="6247900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Set up environment and R notebook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Python and practice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3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Review R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I</a:t>
                      </a:r>
                      <a:r>
                        <a:rPr lang="en-GB" sz="1200" u="none" cap="none" strike="noStrike"/>
                        <a:t>mporting data with R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4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Intro SQL and aggregate queries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5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Databases and scripting languages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6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Interpreting Data (summary statistics, data visualisation)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7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week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8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manipulation in R</a:t>
                      </a:r>
                      <a:endParaRPr sz="1200" u="none" cap="none" strike="noStrike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Pandas and Numpy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9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visualisation in Python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200" u="none" cap="none" strike="noStrike"/>
                        <a:t>Data processing (regular expressions)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10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Audio data (R and tuneR)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Image data (Python and skimage)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Time series (Python and Pandas)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13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Working on Assignment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200" u="sng" cap="none" strike="noStrike">
                          <a:solidFill>
                            <a:srgbClr val="E06666"/>
                          </a:solidFill>
                        </a:rPr>
                        <a:t>Assignment deadline</a:t>
                      </a:r>
                      <a:endParaRPr sz="1400" u="sng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Overview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Introduction to Python </a:t>
            </a:r>
            <a:r>
              <a:rPr lang="en-GB"/>
              <a:t>data viz package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matplotlib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Plotting</a:t>
            </a:r>
            <a:r>
              <a:rPr lang="en-GB"/>
              <a:t> concepts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Overlaying plots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Aesthetics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Different chart types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Grid plots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Visualisation in Python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 is renowned for its data visualisation capabilities (ggplot2)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Python's main data viz package is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matplotlib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Seaborn </a:t>
            </a:r>
            <a:r>
              <a:rPr lang="en-GB"/>
              <a:t>package is another well knows </a:t>
            </a:r>
            <a:r>
              <a:rPr lang="en-GB"/>
              <a:t>Python data viz package. It</a:t>
            </a:r>
            <a:r>
              <a:rPr lang="en-GB"/>
              <a:t> is a wrapper around matplotlib that makes graphs look a little nicer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Visualisation: R vs Python</a:t>
            </a:r>
            <a:endParaRPr/>
          </a:p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500" y="1780600"/>
            <a:ext cx="8582225" cy="352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Matplotlib Components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536625"/>
            <a:ext cx="37107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Matplotlib's architecture is based 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Figures (Essentially a blank page)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Axes (a graph; not to be confused with axis)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Artists (The individual elements on a graph)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125" y="1072925"/>
            <a:ext cx="4759424" cy="475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Concepts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536625"/>
            <a:ext cx="8520600" cy="49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368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Figure</a:t>
            </a:r>
            <a:r>
              <a:rPr lang="en-GB"/>
              <a:t>: the whole figure. The figure keeps track of all the child Axes, a smattering of 'special' artists (titles, figure legends, etc).</a:t>
            </a:r>
            <a:endParaRPr/>
          </a:p>
          <a:p>
            <a:pPr indent="-3368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Axes</a:t>
            </a:r>
            <a:r>
              <a:rPr lang="en-GB"/>
              <a:t>: This is what you think of as 'a plot', it is the region of the image with the data space.</a:t>
            </a:r>
            <a:endParaRPr/>
          </a:p>
          <a:p>
            <a:pPr indent="-3368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Artist:</a:t>
            </a:r>
            <a:r>
              <a:rPr lang="en-GB"/>
              <a:t> </a:t>
            </a:r>
            <a:r>
              <a:rPr lang="en-GB"/>
              <a:t>Basically, everything you can see on the figure is an artist (even the Figure, Axes, and Axis objects).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https://matplotlib.org/stable/tutorials/introductory/usage.html#sphx-glr-tutorials-introductory-usage-py</a:t>
            </a:r>
            <a:r>
              <a:rPr lang="en-GB"/>
              <a:t> </a:t>
            </a:r>
            <a:endParaRPr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4900" y="3434275"/>
            <a:ext cx="5041750" cy="20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Examples of creating</a:t>
            </a:r>
            <a:r>
              <a:rPr lang="en-GB"/>
              <a:t> figures using pyplot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702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GB" sz="1700">
                <a:solidFill>
                  <a:srgbClr val="0E84B5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matplotlib.pyplot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GB" sz="1700">
                <a:solidFill>
                  <a:srgbClr val="00702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GB" sz="1700">
                <a:solidFill>
                  <a:srgbClr val="0E84B5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plt</a:t>
            </a:r>
            <a:endParaRPr sz="1700">
              <a:solidFill>
                <a:srgbClr val="333333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27000" rtl="0" algn="l">
              <a:lnSpc>
                <a:spcPct val="120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702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GB" sz="1700">
                <a:solidFill>
                  <a:srgbClr val="0E84B5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numpy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GB" sz="1700">
                <a:solidFill>
                  <a:srgbClr val="00702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GB" sz="1700">
                <a:solidFill>
                  <a:srgbClr val="0E84B5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np</a:t>
            </a:r>
            <a:endParaRPr b="1" sz="1700">
              <a:solidFill>
                <a:srgbClr val="0E84B5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27000" rtl="0" algn="l">
              <a:lnSpc>
                <a:spcPct val="120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hlink"/>
                </a:solidFill>
                <a:highlight>
                  <a:srgbClr val="F8F8F8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3"/>
              </a:rPr>
              <a:t>fig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700">
                <a:solidFill>
                  <a:srgbClr val="666666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plt</a:t>
            </a:r>
            <a:r>
              <a:rPr lang="en-GB" sz="1700">
                <a:solidFill>
                  <a:srgbClr val="666666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figure()  </a:t>
            </a:r>
            <a:r>
              <a:rPr i="1" lang="en-GB" sz="1700">
                <a:solidFill>
                  <a:srgbClr val="40809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# an empty figure with no Axes</a:t>
            </a:r>
            <a:endParaRPr sz="1700">
              <a:solidFill>
                <a:srgbClr val="333333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27000" rtl="0" algn="l">
              <a:lnSpc>
                <a:spcPct val="120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hlink"/>
                </a:solidFill>
                <a:highlight>
                  <a:srgbClr val="F8F8F8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4"/>
              </a:rPr>
              <a:t>fig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, ax </a:t>
            </a:r>
            <a:r>
              <a:rPr lang="en-GB" sz="1700">
                <a:solidFill>
                  <a:srgbClr val="666666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700">
                <a:solidFill>
                  <a:schemeClr val="hlink"/>
                </a:solidFill>
                <a:highlight>
                  <a:srgbClr val="F8F8F8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6"/>
              </a:rPr>
              <a:t>plt</a:t>
            </a:r>
            <a:r>
              <a:rPr lang="en-GB" sz="1700">
                <a:solidFill>
                  <a:srgbClr val="666666"/>
                </a:solidFill>
                <a:highlight>
                  <a:srgbClr val="F8F8F8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.</a:t>
            </a:r>
            <a:r>
              <a:rPr lang="en-GB" sz="1700">
                <a:solidFill>
                  <a:schemeClr val="hlink"/>
                </a:solidFill>
                <a:highlight>
                  <a:srgbClr val="F8F8F8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8"/>
              </a:rPr>
              <a:t>subplots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()  </a:t>
            </a:r>
            <a:r>
              <a:rPr i="1" lang="en-GB" sz="1700">
                <a:solidFill>
                  <a:srgbClr val="40809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# a figure with a single Axes</a:t>
            </a:r>
            <a:endParaRPr sz="1700">
              <a:solidFill>
                <a:srgbClr val="333333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27000" rtl="0" algn="l">
              <a:lnSpc>
                <a:spcPct val="120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hlink"/>
                </a:solidFill>
                <a:highlight>
                  <a:srgbClr val="F8F8F8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9"/>
              </a:rPr>
              <a:t>fig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, axs </a:t>
            </a:r>
            <a:r>
              <a:rPr lang="en-GB" sz="1700">
                <a:solidFill>
                  <a:srgbClr val="666666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700">
                <a:solidFill>
                  <a:schemeClr val="hlink"/>
                </a:solidFill>
                <a:highlight>
                  <a:srgbClr val="F8F8F8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11"/>
              </a:rPr>
              <a:t>plt</a:t>
            </a:r>
            <a:r>
              <a:rPr lang="en-GB" sz="1700">
                <a:solidFill>
                  <a:srgbClr val="666666"/>
                </a:solidFill>
                <a:highlight>
                  <a:srgbClr val="F8F8F8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.</a:t>
            </a:r>
            <a:r>
              <a:rPr lang="en-GB" sz="1700">
                <a:solidFill>
                  <a:schemeClr val="hlink"/>
                </a:solidFill>
                <a:highlight>
                  <a:srgbClr val="F8F8F8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13"/>
              </a:rPr>
              <a:t>subplots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 sz="1700">
                <a:solidFill>
                  <a:srgbClr val="20805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sz="1700">
                <a:solidFill>
                  <a:srgbClr val="20805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GB" sz="1700">
                <a:solidFill>
                  <a:srgbClr val="333333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i="1" lang="en-GB" sz="1700">
                <a:solidFill>
                  <a:srgbClr val="40809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# a figure with a 2x2 grid of Axes</a:t>
            </a:r>
            <a:endParaRPr i="1" sz="1700">
              <a:solidFill>
                <a:srgbClr val="408090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27000" rtl="0" algn="l">
              <a:lnSpc>
                <a:spcPct val="1202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0E84B5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Importing Matplotlib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Install matplotlib from the terminal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	&gt; pip install matplotlib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Import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matplotlib.pyplot</a:t>
            </a:r>
            <a:r>
              <a:rPr lang="en-GB"/>
              <a:t> in your Python code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Import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numpy </a:t>
            </a:r>
            <a:r>
              <a:rPr lang="en-GB"/>
              <a:t>in your Python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3" y="4093150"/>
            <a:ext cx="4377300" cy="111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plot() function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We can create a basic plot using the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plot()</a:t>
            </a:r>
            <a:r>
              <a:rPr lang="en-GB" sz="2000"/>
              <a:t> function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plot()</a:t>
            </a:r>
            <a:r>
              <a:rPr lang="en-GB" sz="2000"/>
              <a:t> function returns a line graph by default, but has lots of parameters which can be configured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Matplotlib also provides convenience functions such as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scatter()</a:t>
            </a:r>
            <a:r>
              <a:rPr lang="en-GB" sz="2000"/>
              <a:t> which set some sensible defaults for different types of plots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13" y="4032075"/>
            <a:ext cx="324802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8349" y="3585099"/>
            <a:ext cx="3929300" cy="26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1: Using the format string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Have a look at the documentation for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plot()</a:t>
            </a:r>
            <a:r>
              <a:rPr lang="en-GB"/>
              <a:t> (link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GB"/>
              <a:t> and in the Jupyter notebook)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fmt </a:t>
            </a:r>
            <a:r>
              <a:rPr lang="en-GB"/>
              <a:t>(format) parameter to create a plot with magenta downward-facing triangles as markers all connected by a dashed 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5" name="Google Shape;145;p25"/>
          <p:cNvSpPr txBox="1"/>
          <p:nvPr/>
        </p:nvSpPr>
        <p:spPr>
          <a:xfrm>
            <a:off x="1168775" y="4464900"/>
            <a:ext cx="55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Task 1: Answer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25" y="1486552"/>
            <a:ext cx="5109424" cy="430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Overlaying Plots</a:t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1700" y="1536625"/>
            <a:ext cx="42603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Matplotlib lets us build our plot up one line of code at a time</a:t>
            </a: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Each call to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plot() </a:t>
            </a:r>
            <a:r>
              <a:rPr lang="en-GB"/>
              <a:t>before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plt.show()</a:t>
            </a:r>
            <a:r>
              <a:rPr lang="en-GB"/>
              <a:t> adds a visualisation to the current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Axes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When we're done we can call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plt.show()</a:t>
            </a:r>
            <a:r>
              <a:rPr lang="en-GB"/>
              <a:t> to show the current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Axes </a:t>
            </a:r>
            <a:r>
              <a:rPr lang="en-GB"/>
              <a:t>and make sure all future calls to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plot()</a:t>
            </a:r>
            <a:r>
              <a:rPr lang="en-GB"/>
              <a:t> are added to a new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Axes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148" y="2149375"/>
            <a:ext cx="3955925" cy="25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2: Overlaying Plots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Create 20 numbers evenly spaced between 0 and 3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Plot the function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y=x</a:t>
            </a:r>
            <a:r>
              <a:rPr lang="en-GB"/>
              <a:t> using blue stars connected by a solid line (i.e. if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x=1</a:t>
            </a:r>
            <a:r>
              <a:rPr lang="en-GB"/>
              <a:t> then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y=1</a:t>
            </a:r>
            <a:r>
              <a:rPr lang="en-GB"/>
              <a:t>; if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x=2</a:t>
            </a:r>
            <a:r>
              <a:rPr lang="en-GB"/>
              <a:t> then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y=2</a:t>
            </a:r>
            <a:r>
              <a:rPr lang="en-GB"/>
              <a:t> etc.)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Plot the function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y=x**2</a:t>
            </a:r>
            <a:r>
              <a:rPr lang="en-GB"/>
              <a:t> using yellow upward facing triangles connected by a dashed line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Plot the function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y=x**3</a:t>
            </a:r>
            <a:r>
              <a:rPr lang="en-GB"/>
              <a:t> using green pentagrams connected by a dotted line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Ensure all of the above series are plotted on the same Axes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8" name="Google Shape;168;p28"/>
          <p:cNvSpPr txBox="1"/>
          <p:nvPr/>
        </p:nvSpPr>
        <p:spPr>
          <a:xfrm>
            <a:off x="1008900" y="5306375"/>
            <a:ext cx="55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Task 2: Answer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1700" y="1416717"/>
            <a:ext cx="4600575" cy="48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Different Chart Types</a:t>
            </a:r>
            <a:endParaRPr/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</a:t>
            </a:r>
            <a:r>
              <a:rPr lang="en-GB"/>
              <a:t> we have geoms referring to the different plot types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Matplotlib doesn't really have an equivalent word (chart type?)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looked at all the major chart types in Week 6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/>
              <a:t>Task</a:t>
            </a:r>
            <a:r>
              <a:rPr lang="en-GB"/>
              <a:t>: </a:t>
            </a:r>
            <a:r>
              <a:rPr lang="en-GB"/>
              <a:t>U</a:t>
            </a:r>
            <a:r>
              <a:rPr lang="en-GB"/>
              <a:t>se the jupyter notebook to explore how to create each of these chart types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Scatter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Histograms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Boxplots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Bar charts</a:t>
            </a:r>
            <a:endParaRPr sz="2200"/>
          </a:p>
        </p:txBody>
      </p:sp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Scatter</a:t>
            </a:r>
            <a:endParaRPr/>
          </a:p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925" y="1460817"/>
            <a:ext cx="55435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3900" y="3062350"/>
            <a:ext cx="4758625" cy="31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Histograms</a:t>
            </a:r>
            <a:endParaRPr/>
          </a:p>
        </p:txBody>
      </p:sp>
      <p:sp>
        <p:nvSpPr>
          <p:cNvPr id="196" name="Google Shape;196;p3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7" name="Google Shape;1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25" y="1441477"/>
            <a:ext cx="4690350" cy="16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5475" y="2677050"/>
            <a:ext cx="4826424" cy="360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Boxplots</a:t>
            </a:r>
            <a:endParaRPr/>
          </a:p>
        </p:txBody>
      </p:sp>
      <p:sp>
        <p:nvSpPr>
          <p:cNvPr id="204" name="Google Shape;204;p3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5" name="Google Shape;2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675" y="1441476"/>
            <a:ext cx="5270451" cy="21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9200" y="3086575"/>
            <a:ext cx="4700524" cy="34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212" name="Google Shape;212;p3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3" name="Google Shape;21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00" y="1248117"/>
            <a:ext cx="5924550" cy="51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0775" y="1993577"/>
            <a:ext cx="3647375" cy="32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220" name="Google Shape;220;p3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00" y="1248117"/>
            <a:ext cx="5924550" cy="51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0775" y="1993577"/>
            <a:ext cx="3647375" cy="324648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5"/>
          <p:cNvSpPr/>
          <p:nvPr/>
        </p:nvSpPr>
        <p:spPr>
          <a:xfrm>
            <a:off x="2586275" y="4754125"/>
            <a:ext cx="668400" cy="52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Subplots</a:t>
            </a:r>
            <a:endParaRPr/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311700" y="1536625"/>
            <a:ext cx="39378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</a:t>
            </a:r>
            <a:r>
              <a:rPr lang="en-GB"/>
              <a:t> we looked at faceting i.e. creating small multiples of plots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This was very useful for looking at how distributions changed  according to a categorical variable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Matplotlib uses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subplot()</a:t>
            </a:r>
            <a:r>
              <a:rPr lang="en-GB"/>
              <a:t> function to achieve the same 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1" name="Google Shape;2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1650" y="1900675"/>
            <a:ext cx="4279300" cy="30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Subplot</a:t>
            </a:r>
            <a:endParaRPr/>
          </a:p>
        </p:txBody>
      </p:sp>
      <p:sp>
        <p:nvSpPr>
          <p:cNvPr id="237" name="Google Shape;237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Matplotlib supports grid-like subplots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plt.subplot(&lt;num rows&gt;, &lt;num cols&gt;, &lt;index&gt;)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index refers to the index of the plot you want to work on next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Plot indices start at 1 in the top left and move left-to-right top-to-bottom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Sometimes people use the ridiculous syntax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plt.subplot(231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)</a:t>
            </a:r>
            <a:r>
              <a:rPr lang="en-GB"/>
              <a:t>, meaning 2 rows, 3 columns with current index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Subplot</a:t>
            </a:r>
            <a:endParaRPr/>
          </a:p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45" name="Google Shape;2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500" y="1478200"/>
            <a:ext cx="5297089" cy="455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2764" y="2376467"/>
            <a:ext cx="3230411" cy="2105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3: Using Subplot</a:t>
            </a:r>
            <a:endParaRPr/>
          </a:p>
        </p:txBody>
      </p:sp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jupyter notebook gives you an array of 4 sets of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/>
              <a:t> values and an array of 4 sets of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y</a:t>
            </a:r>
            <a:r>
              <a:rPr lang="en-GB"/>
              <a:t> values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Plot each pair of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x,y</a:t>
            </a:r>
            <a:r>
              <a:rPr lang="en-GB"/>
              <a:t> values in a 2 x 2 grid using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matplotlib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Use the colors </a:t>
            </a:r>
            <a:r>
              <a:rPr lang="en-GB">
                <a:solidFill>
                  <a:srgbClr val="FF0000"/>
                </a:solidFill>
              </a:rPr>
              <a:t>red</a:t>
            </a:r>
            <a:r>
              <a:rPr lang="en-GB"/>
              <a:t>, </a:t>
            </a:r>
            <a:r>
              <a:rPr lang="en-GB">
                <a:solidFill>
                  <a:srgbClr val="6AA84F"/>
                </a:solidFill>
              </a:rPr>
              <a:t>green</a:t>
            </a:r>
            <a:r>
              <a:rPr lang="en-GB"/>
              <a:t>, </a:t>
            </a:r>
            <a:r>
              <a:rPr lang="en-GB">
                <a:solidFill>
                  <a:srgbClr val="4A86E8"/>
                </a:solidFill>
              </a:rPr>
              <a:t>blue </a:t>
            </a:r>
            <a:r>
              <a:rPr lang="en-GB"/>
              <a:t>and </a:t>
            </a:r>
            <a:r>
              <a:rPr lang="en-GB">
                <a:solidFill>
                  <a:srgbClr val="F1C232"/>
                </a:solidFill>
              </a:rPr>
              <a:t>yellow </a:t>
            </a:r>
            <a:r>
              <a:rPr lang="en-GB"/>
              <a:t>for each plot respectively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Advanced: Do this using a for loop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4" name="Google Shape;254;p39"/>
          <p:cNvSpPr txBox="1"/>
          <p:nvPr/>
        </p:nvSpPr>
        <p:spPr>
          <a:xfrm>
            <a:off x="1168775" y="4464900"/>
            <a:ext cx="55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Tips </a:t>
            </a: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in the next slide...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Task 3: Tips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Think which type of graph will give you the x,y points.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Check how to change the points’ colors.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Once you are able to plot one try to use subplot.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Once you manage to use subplot identify the parameters that need to be placed in a loop.</a:t>
            </a:r>
            <a:endParaRPr/>
          </a:p>
        </p:txBody>
      </p:sp>
      <p:sp>
        <p:nvSpPr>
          <p:cNvPr id="261" name="Google Shape;261;p4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40"/>
          <p:cNvSpPr txBox="1"/>
          <p:nvPr/>
        </p:nvSpPr>
        <p:spPr>
          <a:xfrm>
            <a:off x="1168775" y="4464900"/>
            <a:ext cx="55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Answer</a:t>
            </a: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 in the next slide...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Task 3: Answer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9" name="Google Shape;26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50" y="1483325"/>
            <a:ext cx="5570199" cy="407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1975" y="1122326"/>
            <a:ext cx="2396275" cy="479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Adding Elements to Plots</a:t>
            </a:r>
            <a:endParaRPr/>
          </a:p>
        </p:txBody>
      </p:sp>
      <p:sp>
        <p:nvSpPr>
          <p:cNvPr id="276" name="Google Shape;276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Good plots have lots of signposting, x axis, y axis,  title etc.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Adding these elements is easy with matplotlib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/>
              <a:t>Task: </a:t>
            </a:r>
            <a:r>
              <a:rPr lang="en-GB"/>
              <a:t>Work through the Jupyter notebook to practice adding elements to your plots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Labels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Legends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Axis Calibration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Pandas with Matplotlib</a:t>
            </a:r>
            <a:endParaRPr/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we want to pass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Pandas </a:t>
            </a:r>
            <a:r>
              <a:rPr lang="en-GB"/>
              <a:t>columns into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matplotlib </a:t>
            </a:r>
            <a:r>
              <a:rPr lang="en-GB"/>
              <a:t>we first need to convert them to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numpy </a:t>
            </a:r>
            <a:r>
              <a:rPr lang="en-GB"/>
              <a:t>arrays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.values</a:t>
            </a:r>
            <a:r>
              <a:rPr lang="en-GB"/>
              <a:t> property of a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Pandas </a:t>
            </a:r>
            <a:r>
              <a:rPr lang="en-GB"/>
              <a:t>column returns that column as a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numpy </a:t>
            </a:r>
            <a:r>
              <a:rPr lang="en-GB"/>
              <a:t>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5" name="Google Shape;28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225" y="3429000"/>
            <a:ext cx="4038675" cy="274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Tight Integration</a:t>
            </a:r>
            <a:endParaRPr/>
          </a:p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311700" y="1536625"/>
            <a:ext cx="41817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 easier (but less powerful) way is to use the plotting functions built into pandas datasets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These functions are convenience functions which use the underlying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matplotlib </a:t>
            </a:r>
            <a:r>
              <a:rPr lang="en-GB"/>
              <a:t>functions to do their job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Quicker and easier to write, but less easy to customize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93" name="Google Shape;29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9125" y="1880475"/>
            <a:ext cx="4263050" cy="32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4: Colour By Column Value with Pandas</a:t>
            </a:r>
            <a:endParaRPr/>
          </a:p>
        </p:txBody>
      </p:sp>
      <p:sp>
        <p:nvSpPr>
          <p:cNvPr id="299" name="Google Shape;299;p4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c</a:t>
            </a:r>
            <a:r>
              <a:rPr lang="en-GB"/>
              <a:t> parameter to the pandas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plot.scatter</a:t>
            </a:r>
            <a:r>
              <a:rPr lang="en-GB"/>
              <a:t> function lets us use a column to change the colour of markers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Unlike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</a:t>
            </a:r>
            <a:r>
              <a:rPr lang="en-GB"/>
              <a:t>, whatever column we choose must contain valid colour names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Use the data manipulation techniques we learned last week to create a colour column on the pandas dataframe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Use this column to ensure that the following colour scheme is used (based on the species column)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setosa is </a:t>
            </a:r>
            <a:r>
              <a:rPr lang="en-GB">
                <a:solidFill>
                  <a:srgbClr val="38761D"/>
                </a:solidFill>
              </a:rPr>
              <a:t>green</a:t>
            </a:r>
            <a:endParaRPr>
              <a:solidFill>
                <a:srgbClr val="38761D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versicolor is </a:t>
            </a:r>
            <a:r>
              <a:rPr lang="en-GB">
                <a:solidFill>
                  <a:srgbClr val="990000"/>
                </a:solidFill>
              </a:rPr>
              <a:t>red</a:t>
            </a:r>
            <a:endParaRPr>
              <a:solidFill>
                <a:srgbClr val="99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virginica is </a:t>
            </a:r>
            <a:r>
              <a:rPr lang="en-GB">
                <a:solidFill>
                  <a:srgbClr val="0B5394"/>
                </a:solidFill>
              </a:rPr>
              <a:t>blue</a:t>
            </a:r>
            <a:endParaRPr>
              <a:solidFill>
                <a:srgbClr val="0B5394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Plot the sepal_length by the sepal_width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1" name="Google Shape;301;p45"/>
          <p:cNvSpPr txBox="1"/>
          <p:nvPr/>
        </p:nvSpPr>
        <p:spPr>
          <a:xfrm>
            <a:off x="3739850" y="5499550"/>
            <a:ext cx="55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Tips in the next slide...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4: Tips</a:t>
            </a:r>
            <a:endParaRPr/>
          </a:p>
        </p:txBody>
      </p:sp>
      <p:sp>
        <p:nvSpPr>
          <p:cNvPr id="307" name="Google Shape;307;p4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.loc </a:t>
            </a:r>
            <a:r>
              <a:rPr lang="en-GB"/>
              <a:t>for </a:t>
            </a:r>
            <a:r>
              <a:rPr lang="en-GB"/>
              <a:t>selecting data and creating a new colour column.</a:t>
            </a:r>
            <a:endParaRPr/>
          </a:p>
        </p:txBody>
      </p:sp>
      <p:sp>
        <p:nvSpPr>
          <p:cNvPr id="308" name="Google Shape;308;p4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9" name="Google Shape;309;p46"/>
          <p:cNvSpPr txBox="1"/>
          <p:nvPr/>
        </p:nvSpPr>
        <p:spPr>
          <a:xfrm>
            <a:off x="2102825" y="2905800"/>
            <a:ext cx="55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Answer </a:t>
            </a: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in the next slide...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4: Answer</a:t>
            </a:r>
            <a:endParaRPr/>
          </a:p>
        </p:txBody>
      </p:sp>
      <p:sp>
        <p:nvSpPr>
          <p:cNvPr id="315" name="Google Shape;315;p4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16" name="Google Shape;31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50" y="1669174"/>
            <a:ext cx="7766425" cy="372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Choosing a style</a:t>
            </a:r>
            <a:endParaRPr/>
          </a:p>
        </p:txBody>
      </p:sp>
      <p:sp>
        <p:nvSpPr>
          <p:cNvPr id="322" name="Google Shape;322;p4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Matplotlib allows for easy customisation using styles.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can see a style sheet reference in the documentation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GB"/>
              <a:t>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Some quick guidelines: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Dark backgrounds are usually less visible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Colorblind-friendly styles: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seaborn-colorblind </a:t>
            </a:r>
            <a:r>
              <a:rPr lang="en-GB"/>
              <a:t>and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tableau-colorblind10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you want to print your graphs you can use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grayscale </a:t>
            </a:r>
            <a:r>
              <a:rPr lang="en-GB"/>
              <a:t>style.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Try these styles in your notebook!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Saving to external files</a:t>
            </a:r>
            <a:endParaRPr/>
          </a:p>
        </p:txBody>
      </p:sp>
      <p:sp>
        <p:nvSpPr>
          <p:cNvPr id="329" name="Google Shape;329;p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easily save graphs to external files using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fig.savefig</a:t>
            </a:r>
            <a:r>
              <a:rPr lang="en-GB"/>
              <a:t> method.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manipulate the quality, dpi and size of the figures.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Try the examples in the notebook and check the files saved in the current working directory.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examples!</a:t>
            </a:r>
            <a:endParaRPr/>
          </a:p>
        </p:txBody>
      </p:sp>
      <p:sp>
        <p:nvSpPr>
          <p:cNvPr id="336" name="Google Shape;336;p50"/>
          <p:cNvSpPr txBox="1"/>
          <p:nvPr>
            <p:ph idx="1" type="body"/>
          </p:nvPr>
        </p:nvSpPr>
        <p:spPr>
          <a:xfrm>
            <a:off x="311700" y="1536625"/>
            <a:ext cx="3651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you want to check other visualisations with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matplotlib </a:t>
            </a:r>
            <a:r>
              <a:rPr lang="en-GB"/>
              <a:t>check their gallery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is never a problem to start from some of the examples =)</a:t>
            </a:r>
            <a:endParaRPr/>
          </a:p>
        </p:txBody>
      </p:sp>
      <p:sp>
        <p:nvSpPr>
          <p:cNvPr id="337" name="Google Shape;337;p5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38" name="Google Shape;33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925" y="1068550"/>
            <a:ext cx="4360849" cy="417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/>
          <p:cNvSpPr txBox="1"/>
          <p:nvPr/>
        </p:nvSpPr>
        <p:spPr>
          <a:xfrm>
            <a:off x="3155525" y="5334950"/>
            <a:ext cx="585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hlink"/>
                </a:solidFill>
                <a:hlinkClick r:id="rId4"/>
              </a:rPr>
              <a:t>https://matplotlib.org/stable/gallery/index.html</a:t>
            </a:r>
            <a:r>
              <a:rPr lang="en-GB" sz="2200">
                <a:solidFill>
                  <a:schemeClr val="dk2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Summary and </a:t>
            </a:r>
            <a:r>
              <a:rPr lang="en-GB"/>
              <a:t>further</a:t>
            </a:r>
            <a:r>
              <a:rPr lang="en-GB"/>
              <a:t> reading</a:t>
            </a:r>
            <a:endParaRPr/>
          </a:p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27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Python has some powerful visualisation tools provided by the </a:t>
            </a:r>
            <a:r>
              <a:rPr lang="en-GB" sz="2270">
                <a:latin typeface="Courier"/>
                <a:ea typeface="Courier"/>
                <a:cs typeface="Courier"/>
                <a:sym typeface="Courier"/>
              </a:rPr>
              <a:t>matplotlib </a:t>
            </a:r>
            <a:r>
              <a:rPr lang="en-GB" sz="2270"/>
              <a:t>package</a:t>
            </a:r>
            <a:endParaRPr sz="2270"/>
          </a:p>
          <a:p>
            <a:pPr indent="-3727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Good for quick and dirty visualisations</a:t>
            </a:r>
            <a:endParaRPr sz="2270"/>
          </a:p>
          <a:p>
            <a:pPr indent="-3727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Probably not as good as R in terms of ease-of-use or quality-of-output (though the </a:t>
            </a:r>
            <a:r>
              <a:rPr lang="en-GB" sz="2270">
                <a:latin typeface="Courier"/>
                <a:ea typeface="Courier"/>
                <a:cs typeface="Courier"/>
                <a:sym typeface="Courier"/>
              </a:rPr>
              <a:t>Seaborn </a:t>
            </a:r>
            <a:r>
              <a:rPr lang="en-GB" sz="2270"/>
              <a:t>package slightly improves graph appearance)</a:t>
            </a:r>
            <a:endParaRPr sz="2270"/>
          </a:p>
          <a:p>
            <a:pPr indent="-3727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Good to know both, which one you use is a matter of personal preference. </a:t>
            </a:r>
            <a:endParaRPr sz="2270"/>
          </a:p>
          <a:p>
            <a:pPr indent="-3727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A Seaborn introduction can be found in DataCamp</a:t>
            </a:r>
            <a:endParaRPr sz="2270"/>
          </a:p>
          <a:p>
            <a:pPr indent="-37274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70"/>
              <a:buChar char="○"/>
            </a:pPr>
            <a:r>
              <a:rPr lang="en-GB" sz="2270" u="sng">
                <a:solidFill>
                  <a:schemeClr val="hlink"/>
                </a:solidFill>
                <a:hlinkClick r:id="rId3"/>
              </a:rPr>
              <a:t>Data Visualisation with Seaborn</a:t>
            </a:r>
            <a:endParaRPr sz="2270"/>
          </a:p>
          <a:p>
            <a:pPr indent="-37274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70"/>
              <a:buChar char="○"/>
            </a:pPr>
            <a:r>
              <a:rPr lang="en-GB" sz="2270" u="sng">
                <a:solidFill>
                  <a:schemeClr val="hlink"/>
                </a:solidFill>
                <a:hlinkClick r:id="rId4"/>
              </a:rPr>
              <a:t>Intermediate Data Visualisation with Searborn</a:t>
            </a:r>
            <a:endParaRPr sz="227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27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27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227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70"/>
          </a:p>
        </p:txBody>
      </p:sp>
      <p:sp>
        <p:nvSpPr>
          <p:cNvPr id="346" name="Google Shape;346;p5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1388100" y="637525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Questions?</a:t>
            </a:r>
            <a:endParaRPr/>
          </a:p>
        </p:txBody>
      </p:sp>
      <p:sp>
        <p:nvSpPr>
          <p:cNvPr id="352" name="Google Shape;352;p5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8EA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